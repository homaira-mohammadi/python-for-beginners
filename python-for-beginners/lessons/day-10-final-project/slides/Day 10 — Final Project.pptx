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DM Sans" pitchFamily="34" charset="0"/>
      <p:regular r:id="rId21"/>
      <p:bold r:id="rId22"/>
    </p:embeddedFon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Congratulations on reaching the last lesson! Today students use everything they learned to build a real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to celebrate. Ask students which lesson was their favourite and which was the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crash live. Ask: is it fair that a whole program stops because of one typo? This motivates try/except.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errors you can catch: ZeroDivisionError (dividing by 0), KeyError (missing dictionary key), IndexError (bad list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copy this helper into any project. The notebook version also checks a minimum and maximum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Pseudocode is writing the steps in normal words before writing Python. Do steps 1 to 4 on the board with the class for the Student Grade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functions one at a time with the class, testing each before moving on. The full code is in the Day 10 lesson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full program from the notebook and add a few students together. Ideas to improve it: delete a student, sort by average, show failing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often write 100 lines and then run it for the first time, and get 10 errors at once. Professionals run their code every few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Briefs and example solutions for the first three are in the Day 10 exercises and solutions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can also be your marking rubric. Students can tick each item before they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Presentations can be in the next class. Encourage classmates to ask one question after each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code a little every day. Small daily practice beats long sessions once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students. Congratulate them on finishing the course, and remind them where to find all the materials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210403"/>
            <a:ext cx="1270000" cy="1270000"/>
          </a:xfrm>
          <a:prstGeom prst="rect">
            <a:avLst/>
          </a:prstGeom>
        </p:spPr>
      </p:pic>
      <p:sp>
        <p:nvSpPr>
          <p:cNvPr id="4" name="Text 1"/>
          <p:cNvSpPr/>
          <p:nvPr/>
        </p:nvSpPr>
        <p:spPr>
          <a:xfrm>
            <a:off x="812800" y="268360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10</a:t>
            </a:r>
            <a:endParaRPr lang="en-US" sz="1200" dirty="0"/>
          </a:p>
        </p:txBody>
      </p:sp>
      <p:sp>
        <p:nvSpPr>
          <p:cNvPr id="5" name="Text 2"/>
          <p:cNvSpPr/>
          <p:nvPr>
            <p:ph type="title"/>
          </p:nvPr>
        </p:nvSpPr>
        <p:spPr>
          <a:xfrm>
            <a:off x="812800" y="3100123"/>
            <a:ext cx="512775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1F2A37"/>
                </a:solidFill>
                <a:latin typeface="DM Sans" pitchFamily="34" charset="0"/>
                <a:ea typeface="DM Sans" pitchFamily="34" charset="-122"/>
                <a:cs typeface="DM Sans" pitchFamily="34" charset="-120"/>
              </a:rPr>
              <a:t>Final Project 🏆</a:t>
            </a:r>
            <a:endParaRPr lang="en-US" sz="5600" dirty="0"/>
          </a:p>
        </p:txBody>
      </p:sp>
      <p:sp>
        <p:nvSpPr>
          <p:cNvPr id="6" name="Text 3"/>
          <p:cNvSpPr/>
          <p:nvPr/>
        </p:nvSpPr>
        <p:spPr>
          <a:xfrm>
            <a:off x="812800" y="4796764"/>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Putting it all together</a:t>
            </a:r>
            <a:endParaRPr lang="en-US" sz="2200" dirty="0"/>
          </a:p>
        </p:txBody>
      </p:sp>
      <p:sp>
        <p:nvSpPr>
          <p:cNvPr id="7" name="Text 4"/>
          <p:cNvSpPr/>
          <p:nvPr/>
        </p:nvSpPr>
        <p:spPr>
          <a:xfrm>
            <a:off x="812800" y="5363170"/>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3975" y="1948921"/>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Handle errors with </a:t>
            </a:r>
            <a:r>
              <a:rPr lang="en-US" sz="1600" b="1" dirty="0">
                <a:solidFill>
                  <a:srgbClr val="1F2A37"/>
                </a:solidFill>
                <a:latin typeface="DM Sans" pitchFamily="34" charset="0"/>
                <a:ea typeface="DM Sans" pitchFamily="34" charset="-122"/>
                <a:cs typeface="DM Sans" pitchFamily="34" charset="-120"/>
              </a:rPr>
              <a:t>try / except</a:t>
            </a:r>
            <a:endParaRPr lang="en-US" sz="1600" dirty="0"/>
          </a:p>
        </p:txBody>
      </p:sp>
      <p:sp>
        <p:nvSpPr>
          <p:cNvPr id="9" name="Text 6"/>
          <p:cNvSpPr/>
          <p:nvPr/>
        </p:nvSpPr>
        <p:spPr>
          <a:xfrm>
            <a:off x="6403975" y="2724415"/>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Plan a project like a programmer</a:t>
            </a:r>
            <a:endParaRPr lang="en-US" sz="1600" dirty="0"/>
          </a:p>
        </p:txBody>
      </p:sp>
      <p:sp>
        <p:nvSpPr>
          <p:cNvPr id="10" name="Text 7"/>
          <p:cNvSpPr/>
          <p:nvPr/>
        </p:nvSpPr>
        <p:spPr>
          <a:xfrm>
            <a:off x="6403975" y="3499908"/>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Build a Student Grade Manager</a:t>
            </a:r>
            <a:endParaRPr lang="en-US" sz="1600" dirty="0"/>
          </a:p>
        </p:txBody>
      </p:sp>
      <p:sp>
        <p:nvSpPr>
          <p:cNvPr id="11" name="Text 8"/>
          <p:cNvSpPr/>
          <p:nvPr/>
        </p:nvSpPr>
        <p:spPr>
          <a:xfrm>
            <a:off x="6400800" y="4272227"/>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Choose and build </a:t>
            </a:r>
            <a:r>
              <a:rPr lang="en-US" sz="1600" b="1" dirty="0">
                <a:solidFill>
                  <a:srgbClr val="1F2A37"/>
                </a:solidFill>
                <a:latin typeface="DM Sans" pitchFamily="34" charset="0"/>
                <a:ea typeface="DM Sans" pitchFamily="34" charset="-122"/>
                <a:cs typeface="DM Sans" pitchFamily="34" charset="-120"/>
              </a:rPr>
              <a:t>your own</a:t>
            </a:r>
            <a:r>
              <a:rPr lang="en-US" sz="1600" dirty="0">
                <a:solidFill>
                  <a:srgbClr val="1F2A37"/>
                </a:solidFill>
                <a:latin typeface="DM Sans" pitchFamily="34" charset="0"/>
                <a:ea typeface="DM Sans" pitchFamily="34" charset="-122"/>
                <a:cs typeface="DM Sans" pitchFamily="34" charset="-120"/>
              </a:rPr>
              <a:t> 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LOOK HOW FAR YOU’VE COME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Everything you’ve learned</a:t>
            </a:r>
            <a:endParaRPr lang="en-US" sz="3600" dirty="0"/>
          </a:p>
        </p:txBody>
      </p:sp>
      <p:sp>
        <p:nvSpPr>
          <p:cNvPr id="4" name="Text 2"/>
          <p:cNvSpPr/>
          <p:nvPr/>
        </p:nvSpPr>
        <p:spPr>
          <a:xfrm>
            <a:off x="815975" y="1938603"/>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1</a:t>
            </a:r>
            <a:r>
              <a:rPr lang="en-US" sz="1400" dirty="0">
                <a:solidFill>
                  <a:srgbClr val="1F2A37"/>
                </a:solidFill>
                <a:latin typeface="DM Sans" pitchFamily="34" charset="0"/>
                <a:ea typeface="DM Sans" pitchFamily="34" charset="-122"/>
                <a:cs typeface="DM Sans" pitchFamily="34" charset="-120"/>
              </a:rPr>
              <a:t> print() &amp; comments</a:t>
            </a:r>
            <a:endParaRPr lang="en-US" sz="1400" dirty="0"/>
          </a:p>
        </p:txBody>
      </p:sp>
      <p:sp>
        <p:nvSpPr>
          <p:cNvPr id="5" name="Text 3"/>
          <p:cNvSpPr/>
          <p:nvPr/>
        </p:nvSpPr>
        <p:spPr>
          <a:xfrm>
            <a:off x="4380442" y="1938603"/>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2</a:t>
            </a:r>
            <a:r>
              <a:rPr lang="en-US" sz="1400" dirty="0">
                <a:solidFill>
                  <a:srgbClr val="1F2A37"/>
                </a:solidFill>
                <a:latin typeface="DM Sans" pitchFamily="34" charset="0"/>
                <a:ea typeface="DM Sans" pitchFamily="34" charset="-122"/>
                <a:cs typeface="DM Sans" pitchFamily="34" charset="-120"/>
              </a:rPr>
              <a:t> variables, input &amp; operators</a:t>
            </a:r>
            <a:endParaRPr lang="en-US" sz="1400" dirty="0"/>
          </a:p>
        </p:txBody>
      </p:sp>
      <p:sp>
        <p:nvSpPr>
          <p:cNvPr id="6" name="Text 4"/>
          <p:cNvSpPr/>
          <p:nvPr/>
        </p:nvSpPr>
        <p:spPr>
          <a:xfrm>
            <a:off x="7944909" y="1938603"/>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3</a:t>
            </a:r>
            <a:r>
              <a:rPr lang="en-US" sz="1400" dirty="0">
                <a:solidFill>
                  <a:srgbClr val="1F2A37"/>
                </a:solidFill>
                <a:latin typeface="DM Sans" pitchFamily="34" charset="0"/>
                <a:ea typeface="DM Sans" pitchFamily="34" charset="-122"/>
                <a:cs typeface="DM Sans" pitchFamily="34" charset="-120"/>
              </a:rPr>
              <a:t> if / elif / else</a:t>
            </a:r>
            <a:endParaRPr lang="en-US" sz="1400" dirty="0"/>
          </a:p>
        </p:txBody>
      </p:sp>
      <p:sp>
        <p:nvSpPr>
          <p:cNvPr id="7" name="Text 5"/>
          <p:cNvSpPr/>
          <p:nvPr/>
        </p:nvSpPr>
        <p:spPr>
          <a:xfrm>
            <a:off x="815975" y="2627776"/>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4</a:t>
            </a:r>
            <a:r>
              <a:rPr lang="en-US" sz="1400" dirty="0">
                <a:solidFill>
                  <a:srgbClr val="1F2A37"/>
                </a:solidFill>
                <a:latin typeface="DM Sans" pitchFamily="34" charset="0"/>
                <a:ea typeface="DM Sans" pitchFamily="34" charset="-122"/>
                <a:cs typeface="DM Sans" pitchFamily="34" charset="-120"/>
              </a:rPr>
              <a:t> while loops</a:t>
            </a:r>
            <a:endParaRPr lang="en-US" sz="1400" dirty="0"/>
          </a:p>
        </p:txBody>
      </p:sp>
      <p:sp>
        <p:nvSpPr>
          <p:cNvPr id="8" name="Text 6"/>
          <p:cNvSpPr/>
          <p:nvPr/>
        </p:nvSpPr>
        <p:spPr>
          <a:xfrm>
            <a:off x="4380442" y="2627776"/>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5</a:t>
            </a:r>
            <a:r>
              <a:rPr lang="en-US" sz="1400" dirty="0">
                <a:solidFill>
                  <a:srgbClr val="1F2A37"/>
                </a:solidFill>
                <a:latin typeface="DM Sans" pitchFamily="34" charset="0"/>
                <a:ea typeface="DM Sans" pitchFamily="34" charset="-122"/>
                <a:cs typeface="DM Sans" pitchFamily="34" charset="-120"/>
              </a:rPr>
              <a:t> for loops &amp; range()</a:t>
            </a:r>
            <a:endParaRPr lang="en-US" sz="1400" dirty="0"/>
          </a:p>
        </p:txBody>
      </p:sp>
      <p:sp>
        <p:nvSpPr>
          <p:cNvPr id="9" name="Text 7"/>
          <p:cNvSpPr/>
          <p:nvPr/>
        </p:nvSpPr>
        <p:spPr>
          <a:xfrm>
            <a:off x="7944909" y="2627776"/>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6</a:t>
            </a:r>
            <a:r>
              <a:rPr lang="en-US" sz="1400" dirty="0">
                <a:solidFill>
                  <a:srgbClr val="1F2A37"/>
                </a:solidFill>
                <a:latin typeface="DM Sans" pitchFamily="34" charset="0"/>
                <a:ea typeface="DM Sans" pitchFamily="34" charset="-122"/>
                <a:cs typeface="DM Sans" pitchFamily="34" charset="-120"/>
              </a:rPr>
              <a:t> strings</a:t>
            </a:r>
            <a:endParaRPr lang="en-US" sz="1400" dirty="0"/>
          </a:p>
        </p:txBody>
      </p:sp>
      <p:sp>
        <p:nvSpPr>
          <p:cNvPr id="10" name="Text 8"/>
          <p:cNvSpPr/>
          <p:nvPr/>
        </p:nvSpPr>
        <p:spPr>
          <a:xfrm>
            <a:off x="815975" y="3316949"/>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7</a:t>
            </a:r>
            <a:r>
              <a:rPr lang="en-US" sz="1400" dirty="0">
                <a:solidFill>
                  <a:srgbClr val="1F2A37"/>
                </a:solidFill>
                <a:latin typeface="DM Sans" pitchFamily="34" charset="0"/>
                <a:ea typeface="DM Sans" pitchFamily="34" charset="-122"/>
                <a:cs typeface="DM Sans" pitchFamily="34" charset="-120"/>
              </a:rPr>
              <a:t> lists</a:t>
            </a:r>
            <a:endParaRPr lang="en-US" sz="1400" dirty="0"/>
          </a:p>
        </p:txBody>
      </p:sp>
      <p:sp>
        <p:nvSpPr>
          <p:cNvPr id="11" name="Text 9"/>
          <p:cNvSpPr/>
          <p:nvPr/>
        </p:nvSpPr>
        <p:spPr>
          <a:xfrm>
            <a:off x="4380442" y="3316949"/>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8</a:t>
            </a:r>
            <a:r>
              <a:rPr lang="en-US" sz="1400" dirty="0">
                <a:solidFill>
                  <a:srgbClr val="1F2A37"/>
                </a:solidFill>
                <a:latin typeface="DM Sans" pitchFamily="34" charset="0"/>
                <a:ea typeface="DM Sans" pitchFamily="34" charset="-122"/>
                <a:cs typeface="DM Sans" pitchFamily="34" charset="-120"/>
              </a:rPr>
              <a:t> functions</a:t>
            </a:r>
            <a:endParaRPr lang="en-US" sz="1400" dirty="0"/>
          </a:p>
        </p:txBody>
      </p:sp>
      <p:sp>
        <p:nvSpPr>
          <p:cNvPr id="12" name="Text 10"/>
          <p:cNvSpPr/>
          <p:nvPr/>
        </p:nvSpPr>
        <p:spPr>
          <a:xfrm>
            <a:off x="7944909" y="3316949"/>
            <a:ext cx="3431117" cy="555823"/>
          </a:xfrm>
          <a:prstGeom prst="roundRect">
            <a:avLst>
              <a:gd name="adj" fmla="val 15423"/>
            </a:avLst>
          </a:prstGeom>
          <a:solidFill>
            <a:srgbClr val="FFFFFF"/>
          </a:solidFill>
          <a:ln w="6350">
            <a:solidFill>
              <a:srgbClr val="D5DEE8"/>
            </a:solidFill>
            <a:prstDash val="solid"/>
          </a:ln>
        </p:spPr>
        <p:txBody>
          <a:bodyPr wrap="square" lIns="153750" tIns="128350" rIns="61548" bIns="102950" rtlCol="0" anchor="t">
            <a:normAutofit/>
          </a:bodyPr>
          <a:lstStyle/>
          <a:p>
            <a:pPr algn="l" indent="0" marL="0">
              <a:lnSpc>
                <a:spcPts val="1960"/>
              </a:lnSpc>
              <a:buNone/>
            </a:pPr>
            <a:r>
              <a:rPr lang="en-US" sz="1400" b="1" dirty="0">
                <a:solidFill>
                  <a:srgbClr val="3776AB"/>
                </a:solidFill>
                <a:latin typeface="DM Sans" pitchFamily="34" charset="0"/>
                <a:ea typeface="DM Sans" pitchFamily="34" charset="-122"/>
                <a:cs typeface="DM Sans" pitchFamily="34" charset="-120"/>
              </a:rPr>
              <a:t>9</a:t>
            </a:r>
            <a:r>
              <a:rPr lang="en-US" sz="1400" dirty="0">
                <a:solidFill>
                  <a:srgbClr val="1F2A37"/>
                </a:solidFill>
                <a:latin typeface="DM Sans" pitchFamily="34" charset="0"/>
                <a:ea typeface="DM Sans" pitchFamily="34" charset="-122"/>
                <a:cs typeface="DM Sans" pitchFamily="34" charset="-120"/>
              </a:rPr>
              <a:t> dictionaries &amp; tuples</a:t>
            </a:r>
            <a:endParaRPr lang="en-US" sz="1400" dirty="0"/>
          </a:p>
        </p:txBody>
      </p:sp>
      <p:sp>
        <p:nvSpPr>
          <p:cNvPr id="13" name="Text 11"/>
          <p:cNvSpPr/>
          <p:nvPr/>
        </p:nvSpPr>
        <p:spPr>
          <a:xfrm>
            <a:off x="812800" y="418074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That’s enough to build </a:t>
            </a:r>
            <a:r>
              <a:rPr lang="en-US" sz="1600" b="1" dirty="0">
                <a:solidFill>
                  <a:srgbClr val="4A5568"/>
                </a:solidFill>
                <a:latin typeface="DM Sans" pitchFamily="34" charset="0"/>
                <a:ea typeface="DM Sans" pitchFamily="34" charset="-122"/>
                <a:cs typeface="DM Sans" pitchFamily="34" charset="-120"/>
              </a:rPr>
              <a:t>real programs</a:t>
            </a:r>
            <a:r>
              <a:rPr lang="en-US" sz="1600" dirty="0">
                <a:solidFill>
                  <a:srgbClr val="4A5568"/>
                </a:solidFill>
                <a:latin typeface="DM Sans" pitchFamily="34" charset="0"/>
                <a:ea typeface="DM Sans" pitchFamily="34" charset="-122"/>
                <a:cs typeface="DM Sans" pitchFamily="34" charset="-120"/>
              </a:rPr>
              <a:t>! 💪</a:t>
            </a:r>
            <a:endParaRPr lang="en-US" sz="16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ONE LAST PROBLEM</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if the user types “twenty”?</a:t>
            </a:r>
            <a:endParaRPr lang="en-US" sz="3600" dirty="0"/>
          </a:p>
        </p:txBody>
      </p:sp>
      <p:sp>
        <p:nvSpPr>
          <p:cNvPr id="4" name="Text 2"/>
          <p:cNvSpPr/>
          <p:nvPr/>
        </p:nvSpPr>
        <p:spPr>
          <a:xfrm>
            <a:off x="812800" y="1986228"/>
            <a:ext cx="5080000" cy="934707"/>
          </a:xfrm>
          <a:prstGeom prst="roundRect">
            <a:avLst>
              <a:gd name="adj" fmla="val 13587"/>
            </a:avLst>
          </a:prstGeom>
          <a:solidFill>
            <a:srgbClr val="1F2A37"/>
          </a:solidFill>
          <a:ln/>
        </p:spPr>
        <p:txBody>
          <a:bodyPr wrap="square" lIns="318403" tIns="267603" rIns="18733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age = int(input(</a:t>
            </a:r>
            <a:r>
              <a:rPr lang="en-US" sz="1600" dirty="0">
                <a:solidFill>
                  <a:srgbClr val="F2C94C"/>
                </a:solidFill>
                <a:latin typeface="JetBrains Mono" pitchFamily="49" charset="0"/>
                <a:ea typeface="JetBrains Mono" pitchFamily="49" charset="-122"/>
                <a:cs typeface="JetBrains Mono" pitchFamily="49" charset="-120"/>
              </a:rPr>
              <a:t>"Age: "</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5" name="Text 3"/>
          <p:cNvSpPr/>
          <p:nvPr/>
        </p:nvSpPr>
        <p:spPr>
          <a:xfrm>
            <a:off x="812800" y="3047935"/>
            <a:ext cx="5080000" cy="1026054"/>
          </a:xfrm>
          <a:prstGeom prst="roundRect">
            <a:avLst>
              <a:gd name="adj" fmla="val 12378"/>
            </a:avLst>
          </a:prstGeom>
          <a:solidFill>
            <a:srgbClr val="EEF2F6"/>
          </a:solidFill>
          <a:ln/>
        </p:spPr>
        <p:txBody>
          <a:bodyPr wrap="square" lIns="293003" tIns="191403" rIns="108091" bIns="1660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Age: twenty</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ValueError: invalid literal for int()</a:t>
            </a:r>
            <a:endParaRPr lang="en-US" sz="1400" dirty="0"/>
          </a:p>
        </p:txBody>
      </p:sp>
      <p:sp>
        <p:nvSpPr>
          <p:cNvPr id="6" name="Shape 4"/>
          <p:cNvSpPr/>
          <p:nvPr/>
        </p:nvSpPr>
        <p:spPr>
          <a:xfrm>
            <a:off x="812800" y="3047935"/>
            <a:ext cx="5080000" cy="1026054"/>
          </a:xfrm>
          <a:custGeom>
            <a:avLst/>
            <a:gdLst/>
            <a:ahLst/>
            <a:cxnLst/>
            <a:rect l="l" t="t" r="r" b="b"/>
            <a:pathLst>
              <a:path w="5080000" h="1026054">
                <a:moveTo>
                  <a:pt x="127000" y="1026054"/>
                </a:moveTo>
                <a:lnTo>
                  <a:pt x="127000" y="1026054"/>
                </a:lnTo>
                <a:arcTo hR="127000" wR="127000" stAng="5400000" swAng="5400000"/>
                <a:lnTo>
                  <a:pt x="0" y="127000"/>
                </a:lnTo>
                <a:arcTo hR="127000" wR="127000" stAng="10800000" swAng="5400000"/>
                <a:lnTo>
                  <a:pt x="127000" y="0"/>
                </a:lnTo>
                <a:arcTo hR="127000" wR="76200" stAng="16200000" swAng="-5400000"/>
                <a:lnTo>
                  <a:pt x="50800" y="899054"/>
                </a:lnTo>
                <a:arcTo hR="127000" wR="76200" stAng="10800000" swAng="-5400000"/>
                <a:close/>
              </a:path>
            </a:pathLst>
          </a:custGeom>
          <a:solidFill>
            <a:srgbClr val="3776AB"/>
          </a:solidFill>
          <a:ln/>
        </p:spPr>
      </p:sp>
      <p:sp>
        <p:nvSpPr>
          <p:cNvPr id="7" name="Text 5"/>
          <p:cNvSpPr/>
          <p:nvPr/>
        </p:nvSpPr>
        <p:spPr>
          <a:xfrm>
            <a:off x="6299200" y="2189361"/>
            <a:ext cx="5232400" cy="356857"/>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F2A37"/>
                </a:solidFill>
                <a:latin typeface="DM Sans" pitchFamily="34" charset="0"/>
                <a:ea typeface="DM Sans" pitchFamily="34" charset="-122"/>
                <a:cs typeface="DM Sans" pitchFamily="34" charset="-120"/>
              </a:rPr>
              <a:t>The program </a:t>
            </a:r>
            <a:r>
              <a:rPr lang="en-US" sz="1800" b="1" dirty="0">
                <a:solidFill>
                  <a:srgbClr val="1F2A37"/>
                </a:solidFill>
                <a:latin typeface="DM Sans" pitchFamily="34" charset="0"/>
                <a:ea typeface="DM Sans" pitchFamily="34" charset="-122"/>
                <a:cs typeface="DM Sans" pitchFamily="34" charset="-120"/>
              </a:rPr>
              <a:t>crashes</a:t>
            </a:r>
            <a:r>
              <a:rPr lang="en-US" sz="1800" dirty="0">
                <a:solidFill>
                  <a:srgbClr val="1F2A37"/>
                </a:solidFill>
                <a:latin typeface="DM Sans" pitchFamily="34" charset="0"/>
                <a:ea typeface="DM Sans" pitchFamily="34" charset="-122"/>
                <a:cs typeface="DM Sans" pitchFamily="34" charset="-120"/>
              </a:rPr>
              <a:t> 💥</a:t>
            </a:r>
            <a:endParaRPr lang="en-US" sz="1800" dirty="0"/>
          </a:p>
        </p:txBody>
      </p:sp>
      <p:sp>
        <p:nvSpPr>
          <p:cNvPr id="8" name="Text 6"/>
          <p:cNvSpPr/>
          <p:nvPr/>
        </p:nvSpPr>
        <p:spPr>
          <a:xfrm>
            <a:off x="6299200" y="2698618"/>
            <a:ext cx="5232400" cy="356857"/>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1F2A37"/>
                </a:solidFill>
                <a:latin typeface="DM Sans" pitchFamily="34" charset="0"/>
                <a:ea typeface="DM Sans" pitchFamily="34" charset="-122"/>
                <a:cs typeface="DM Sans" pitchFamily="34" charset="-120"/>
              </a:rPr>
              <a:t>Real users make mistakes all the time.</a:t>
            </a:r>
            <a:endParaRPr lang="en-US" sz="1800" dirty="0"/>
          </a:p>
        </p:txBody>
      </p:sp>
      <p:sp>
        <p:nvSpPr>
          <p:cNvPr id="9" name="Text 7"/>
          <p:cNvSpPr/>
          <p:nvPr/>
        </p:nvSpPr>
        <p:spPr>
          <a:xfrm>
            <a:off x="6299200" y="3207876"/>
            <a:ext cx="5232400"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We need a way to </a:t>
            </a:r>
            <a:r>
              <a:rPr lang="en-US" sz="1800" b="1" dirty="0">
                <a:solidFill>
                  <a:srgbClr val="4A5568"/>
                </a:solidFill>
                <a:latin typeface="DM Sans" pitchFamily="34" charset="0"/>
                <a:ea typeface="DM Sans" pitchFamily="34" charset="-122"/>
                <a:cs typeface="DM Sans" pitchFamily="34" charset="-120"/>
              </a:rPr>
              <a:t>catch</a:t>
            </a:r>
            <a:r>
              <a:rPr lang="en-US" sz="1800" dirty="0">
                <a:solidFill>
                  <a:srgbClr val="4A5568"/>
                </a:solidFill>
                <a:latin typeface="DM Sans" pitchFamily="34" charset="0"/>
                <a:ea typeface="DM Sans" pitchFamily="34" charset="-122"/>
                <a:cs typeface="DM Sans" pitchFamily="34" charset="-120"/>
              </a:rPr>
              <a:t> the error and ask again.</a:t>
            </a:r>
            <a:endParaRPr lang="en-US" sz="18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TRY / EXCEPT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Catch the error instead of crashing</a:t>
            </a:r>
            <a:endParaRPr lang="en-US" sz="3600" dirty="0"/>
          </a:p>
        </p:txBody>
      </p:sp>
      <p:sp>
        <p:nvSpPr>
          <p:cNvPr id="4" name="Text 2"/>
          <p:cNvSpPr/>
          <p:nvPr/>
        </p:nvSpPr>
        <p:spPr>
          <a:xfrm>
            <a:off x="812800" y="1986228"/>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560241"/>
          </a:xfrm>
          <a:prstGeom prst="roundRect">
            <a:avLst>
              <a:gd name="adj" fmla="val 4960"/>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text = </a:t>
            </a:r>
            <a:r>
              <a:rPr lang="en-US" sz="1600" dirty="0">
                <a:solidFill>
                  <a:srgbClr val="F2C94C"/>
                </a:solidFill>
                <a:latin typeface="JetBrains Mono" pitchFamily="49" charset="0"/>
                <a:ea typeface="JetBrains Mono" pitchFamily="49" charset="-122"/>
                <a:cs typeface="JetBrains Mono" pitchFamily="49" charset="-120"/>
              </a:rPr>
              <a:t>"twenty"</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try</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age = int(text)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"Age:"</a:t>
            </a:r>
            <a:r>
              <a:rPr lang="en-US" sz="1600" dirty="0">
                <a:solidFill>
                  <a:srgbClr val="E8EDF3"/>
                </a:solidFill>
                <a:latin typeface="JetBrains Mono" pitchFamily="49" charset="0"/>
                <a:ea typeface="JetBrains Mono" pitchFamily="49" charset="-122"/>
                <a:cs typeface="JetBrains Mono" pitchFamily="49" charset="-120"/>
              </a:rPr>
              <a:t>, age)</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except</a:t>
            </a:r>
            <a:r>
              <a:rPr lang="en-US" sz="1600" dirty="0">
                <a:solidFill>
                  <a:srgbClr val="E8EDF3"/>
                </a:solidFill>
                <a:latin typeface="JetBrains Mono" pitchFamily="49" charset="0"/>
                <a:ea typeface="JetBrains Mono" pitchFamily="49" charset="-122"/>
                <a:cs typeface="JetBrains Mono" pitchFamily="49" charset="-120"/>
              </a:rPr>
              <a:t> ValueError:</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"Not a number!"</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7315200" y="1986228"/>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934707"/>
          </a:xfrm>
          <a:prstGeom prst="roundRect">
            <a:avLst>
              <a:gd name="adj" fmla="val 13587"/>
            </a:avLst>
          </a:prstGeom>
          <a:solidFill>
            <a:srgbClr val="EEF2F6"/>
          </a:solidFill>
          <a:ln/>
        </p:spPr>
        <p:txBody>
          <a:bodyPr wrap="square" lIns="318403" tIns="267603" rIns="165495" bIns="242203" rtlCol="0" anchor="t">
            <a:normAutofit/>
          </a:bodyPr>
          <a:lstStyle/>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Not a number!</a:t>
            </a:r>
            <a:endParaRPr lang="en-US" sz="1600" dirty="0"/>
          </a:p>
        </p:txBody>
      </p:sp>
      <p:sp>
        <p:nvSpPr>
          <p:cNvPr id="8" name="Shape 6"/>
          <p:cNvSpPr/>
          <p:nvPr/>
        </p:nvSpPr>
        <p:spPr>
          <a:xfrm>
            <a:off x="7315200" y="2362135"/>
            <a:ext cx="4064000" cy="934707"/>
          </a:xfrm>
          <a:custGeom>
            <a:avLst/>
            <a:gdLst/>
            <a:ahLst/>
            <a:cxnLst/>
            <a:rect l="l" t="t" r="r" b="b"/>
            <a:pathLst>
              <a:path w="4064000" h="934707">
                <a:moveTo>
                  <a:pt x="127000" y="934707"/>
                </a:moveTo>
                <a:lnTo>
                  <a:pt x="127000" y="934707"/>
                </a:lnTo>
                <a:arcTo hR="127000" wR="127000" stAng="5400000" swAng="5400000"/>
                <a:lnTo>
                  <a:pt x="0" y="127000"/>
                </a:lnTo>
                <a:arcTo hR="127000" wR="127000" stAng="10800000" swAng="5400000"/>
                <a:lnTo>
                  <a:pt x="127000" y="0"/>
                </a:lnTo>
                <a:arcTo hR="127000" wR="76200" stAng="16200000" swAng="-5400000"/>
                <a:lnTo>
                  <a:pt x="50800" y="807707"/>
                </a:lnTo>
                <a:arcTo hR="127000" wR="76200" stAng="10800000" swAng="-5400000"/>
                <a:close/>
              </a:path>
            </a:pathLst>
          </a:custGeom>
          <a:solidFill>
            <a:srgbClr val="3776AB"/>
          </a:solidFill>
          <a:ln/>
        </p:spPr>
      </p:sp>
      <p:sp>
        <p:nvSpPr>
          <p:cNvPr id="9" name="Text 7"/>
          <p:cNvSpPr/>
          <p:nvPr/>
        </p:nvSpPr>
        <p:spPr>
          <a:xfrm>
            <a:off x="7315200" y="3423841"/>
            <a:ext cx="41859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try</a:t>
            </a:r>
            <a:r>
              <a:rPr lang="en-US" sz="1500" dirty="0">
                <a:solidFill>
                  <a:srgbClr val="4A5568"/>
                </a:solidFill>
                <a:latin typeface="DM Sans" pitchFamily="34" charset="0"/>
                <a:ea typeface="DM Sans" pitchFamily="34" charset="-122"/>
                <a:cs typeface="DM Sans" pitchFamily="34" charset="-120"/>
              </a:rPr>
              <a:t>: code that might fail</a:t>
            </a:r>
            <a:endParaRPr lang="en-US" sz="1500" dirty="0"/>
          </a:p>
          <a:p>
            <a:pPr algn="l" indent="0" marL="0">
              <a:lnSpc>
                <a:spcPts val="2175"/>
              </a:lnSpc>
              <a:buNone/>
            </a:pPr>
            <a:r>
              <a:rPr lang="en-US" sz="1500" b="1" dirty="0">
                <a:solidFill>
                  <a:srgbClr val="4A5568"/>
                </a:solidFill>
                <a:latin typeface="DM Sans" pitchFamily="34" charset="0"/>
                <a:ea typeface="DM Sans" pitchFamily="34" charset="-122"/>
                <a:cs typeface="DM Sans" pitchFamily="34" charset="-120"/>
              </a:rPr>
              <a:t>except</a:t>
            </a:r>
            <a:r>
              <a:rPr lang="en-US" sz="1500" dirty="0">
                <a:solidFill>
                  <a:srgbClr val="4A5568"/>
                </a:solidFill>
                <a:latin typeface="DM Sans" pitchFamily="34" charset="0"/>
                <a:ea typeface="DM Sans" pitchFamily="34" charset="-122"/>
                <a:cs typeface="DM Sans" pitchFamily="34" charset="-120"/>
              </a:rPr>
              <a:t>: what to do if it fails</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A HELPER FOR EVERY PROJECT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Keep asking until it’s a number</a:t>
            </a:r>
            <a:endParaRPr lang="en-US" sz="3600" dirty="0"/>
          </a:p>
        </p:txBody>
      </p:sp>
      <p:sp>
        <p:nvSpPr>
          <p:cNvPr id="4" name="Text 2"/>
          <p:cNvSpPr/>
          <p:nvPr/>
        </p:nvSpPr>
        <p:spPr>
          <a:xfrm>
            <a:off x="812800" y="1935429"/>
            <a:ext cx="6126427" cy="2763308"/>
          </a:xfrm>
          <a:prstGeom prst="roundRect">
            <a:avLst>
              <a:gd name="adj" fmla="val 4596"/>
            </a:avLst>
          </a:prstGeom>
          <a:solidFill>
            <a:srgbClr val="1F2A37"/>
          </a:solidFill>
          <a:ln/>
        </p:spPr>
        <p:txBody>
          <a:bodyPr wrap="square" lIns="293003" tIns="242203" rIns="129022" bIns="216803" rtlCol="0" anchor="t">
            <a:normAutofit/>
          </a:bodyPr>
          <a:lstStyle/>
          <a:p>
            <a:pPr algn="l" indent="0" marL="0">
              <a:lnSpc>
                <a:spcPts val="2170"/>
              </a:lnSpc>
              <a:buNone/>
            </a:pPr>
            <a:r>
              <a:rPr lang="en-US" sz="1400" dirty="0">
                <a:solidFill>
                  <a:srgbClr val="8EC1F0"/>
                </a:solidFill>
                <a:latin typeface="JetBrains Mono" pitchFamily="49" charset="0"/>
                <a:ea typeface="JetBrains Mono" pitchFamily="49" charset="-122"/>
                <a:cs typeface="JetBrains Mono" pitchFamily="49" charset="-120"/>
              </a:rPr>
              <a:t>def</a:t>
            </a:r>
            <a:r>
              <a:rPr lang="en-US" sz="1400" dirty="0">
                <a:solidFill>
                  <a:srgbClr val="E8EDF3"/>
                </a:solidFill>
                <a:latin typeface="JetBrains Mono" pitchFamily="49" charset="0"/>
                <a:ea typeface="JetBrains Mono" pitchFamily="49" charset="-122"/>
                <a:cs typeface="JetBrains Mono" pitchFamily="49" charset="-120"/>
              </a:rPr>
              <a:t> get_int(prompt):</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while</a:t>
            </a:r>
            <a:r>
              <a:rPr lang="en-US" sz="1400" dirty="0">
                <a:solidFill>
                  <a:srgbClr val="E8EDF3"/>
                </a:solidFill>
                <a:latin typeface="JetBrains Mono" pitchFamily="49" charset="0"/>
                <a:ea typeface="JetBrains Mono" pitchFamily="49" charset="-122"/>
                <a:cs typeface="JetBrains Mono" pitchFamily="49" charset="-120"/>
              </a:rPr>
              <a:t> True:</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try</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return</a:t>
            </a:r>
            <a:r>
              <a:rPr lang="en-US" sz="1400" dirty="0">
                <a:solidFill>
                  <a:srgbClr val="E8EDF3"/>
                </a:solidFill>
                <a:latin typeface="JetBrains Mono" pitchFamily="49" charset="0"/>
                <a:ea typeface="JetBrains Mono" pitchFamily="49" charset="-122"/>
                <a:cs typeface="JetBrains Mono" pitchFamily="49" charset="-120"/>
              </a:rPr>
              <a:t> int(input(prompt))</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a:t>
            </a:r>
            <a:r>
              <a:rPr lang="en-US" sz="1400" dirty="0">
                <a:solidFill>
                  <a:srgbClr val="8EC1F0"/>
                </a:solidFill>
                <a:latin typeface="JetBrains Mono" pitchFamily="49" charset="0"/>
                <a:ea typeface="JetBrains Mono" pitchFamily="49" charset="-122"/>
                <a:cs typeface="JetBrains Mono" pitchFamily="49" charset="-120"/>
              </a:rPr>
              <a:t>except</a:t>
            </a:r>
            <a:r>
              <a:rPr lang="en-US" sz="1400" dirty="0">
                <a:solidFill>
                  <a:srgbClr val="E8EDF3"/>
                </a:solidFill>
                <a:latin typeface="JetBrains Mono" pitchFamily="49" charset="0"/>
                <a:ea typeface="JetBrains Mono" pitchFamily="49" charset="-122"/>
                <a:cs typeface="JetBrains Mono" pitchFamily="49" charset="-120"/>
              </a:rPr>
              <a:t> ValueError:</a:t>
            </a: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            print(</a:t>
            </a:r>
            <a:r>
              <a:rPr lang="en-US" sz="1400" dirty="0">
                <a:solidFill>
                  <a:srgbClr val="F2C94C"/>
                </a:solidFill>
                <a:latin typeface="JetBrains Mono" pitchFamily="49" charset="0"/>
                <a:ea typeface="JetBrains Mono" pitchFamily="49" charset="-122"/>
                <a:cs typeface="JetBrains Mono" pitchFamily="49" charset="-120"/>
              </a:rPr>
              <a:t>"Please type a number."</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170"/>
              </a:lnSpc>
              <a:buNone/>
            </a:pPr>
            <a:endParaRPr lang="en-US" sz="1400" dirty="0"/>
          </a:p>
          <a:p>
            <a:pPr algn="l" indent="0" marL="0">
              <a:lnSpc>
                <a:spcPts val="2170"/>
              </a:lnSpc>
              <a:buNone/>
            </a:pPr>
            <a:r>
              <a:rPr lang="en-US" sz="1400" dirty="0">
                <a:solidFill>
                  <a:srgbClr val="E8EDF3"/>
                </a:solidFill>
                <a:latin typeface="JetBrains Mono" pitchFamily="49" charset="0"/>
                <a:ea typeface="JetBrains Mono" pitchFamily="49" charset="-122"/>
                <a:cs typeface="JetBrains Mono" pitchFamily="49" charset="-120"/>
              </a:rPr>
              <a:t>age = get_int(</a:t>
            </a:r>
            <a:r>
              <a:rPr lang="en-US" sz="1400" dirty="0">
                <a:solidFill>
                  <a:srgbClr val="F2C94C"/>
                </a:solidFill>
                <a:latin typeface="JetBrains Mono" pitchFamily="49" charset="0"/>
                <a:ea typeface="JetBrains Mono" pitchFamily="49" charset="-122"/>
                <a:cs typeface="JetBrains Mono" pitchFamily="49" charset="-120"/>
              </a:rPr>
              <a:t>"Age: "</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7294828" y="1935429"/>
            <a:ext cx="4084307" cy="1310481"/>
          </a:xfrm>
          <a:prstGeom prst="roundRect">
            <a:avLst>
              <a:gd name="adj" fmla="val 9691"/>
            </a:avLst>
          </a:prstGeom>
          <a:solidFill>
            <a:srgbClr val="FFFFFF"/>
          </a:solidFill>
          <a:ln/>
        </p:spPr>
        <p:txBody>
          <a:bodyPr wrap="square" lIns="293003" tIns="191403" rIns="137962" bIns="1660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Age: twenty</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Please type a number.</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Age: 20</a:t>
            </a:r>
            <a:endParaRPr lang="en-US" sz="1400" dirty="0"/>
          </a:p>
        </p:txBody>
      </p:sp>
      <p:sp>
        <p:nvSpPr>
          <p:cNvPr id="6" name="Shape 4"/>
          <p:cNvSpPr/>
          <p:nvPr/>
        </p:nvSpPr>
        <p:spPr>
          <a:xfrm>
            <a:off x="7294828" y="1935429"/>
            <a:ext cx="4084307" cy="1310481"/>
          </a:xfrm>
          <a:custGeom>
            <a:avLst/>
            <a:gdLst/>
            <a:ahLst/>
            <a:cxnLst/>
            <a:rect l="l" t="t" r="r" b="b"/>
            <a:pathLst>
              <a:path w="4084307" h="1310481">
                <a:moveTo>
                  <a:pt x="127000" y="1310481"/>
                </a:moveTo>
                <a:lnTo>
                  <a:pt x="127000" y="1310481"/>
                </a:lnTo>
                <a:arcTo hR="127000" wR="127000" stAng="5400000" swAng="5400000"/>
                <a:lnTo>
                  <a:pt x="0" y="127000"/>
                </a:lnTo>
                <a:arcTo hR="127000" wR="127000" stAng="10800000" swAng="5400000"/>
                <a:lnTo>
                  <a:pt x="127000" y="0"/>
                </a:lnTo>
                <a:arcTo hR="127000" wR="76200" stAng="16200000" swAng="-5400000"/>
                <a:lnTo>
                  <a:pt x="50800" y="1183481"/>
                </a:lnTo>
                <a:arcTo hR="127000" wR="76200" stAng="10800000" swAng="-5400000"/>
                <a:close/>
              </a:path>
            </a:pathLst>
          </a:custGeom>
          <a:solidFill>
            <a:srgbClr val="3776AB"/>
          </a:solidFill>
          <a:ln/>
        </p:spPr>
      </p:sp>
      <p:sp>
        <p:nvSpPr>
          <p:cNvPr id="7" name="Text 5"/>
          <p:cNvSpPr/>
          <p:nvPr/>
        </p:nvSpPr>
        <p:spPr>
          <a:xfrm>
            <a:off x="7294828" y="3398310"/>
            <a:ext cx="420683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Combines a </a:t>
            </a:r>
            <a:r>
              <a:rPr lang="en-US" sz="1500" b="1" dirty="0">
                <a:solidFill>
                  <a:srgbClr val="4A5568"/>
                </a:solidFill>
                <a:latin typeface="DM Sans" pitchFamily="34" charset="0"/>
                <a:ea typeface="DM Sans" pitchFamily="34" charset="-122"/>
                <a:cs typeface="DM Sans" pitchFamily="34" charset="-120"/>
              </a:rPr>
              <a:t>function</a:t>
            </a:r>
            <a:r>
              <a:rPr lang="en-US" sz="1500" dirty="0">
                <a:solidFill>
                  <a:srgbClr val="4A5568"/>
                </a:solidFill>
                <a:latin typeface="DM Sans" pitchFamily="34" charset="0"/>
                <a:ea typeface="DM Sans" pitchFamily="34" charset="-122"/>
                <a:cs typeface="DM Sans" pitchFamily="34" charset="-120"/>
              </a:rPr>
              <a:t>, a </a:t>
            </a:r>
            <a:r>
              <a:rPr lang="en-US" sz="1500" b="1" dirty="0">
                <a:solidFill>
                  <a:srgbClr val="4A5568"/>
                </a:solidFill>
                <a:latin typeface="DM Sans" pitchFamily="34" charset="0"/>
                <a:ea typeface="DM Sans" pitchFamily="34" charset="-122"/>
                <a:cs typeface="DM Sans" pitchFamily="34" charset="-120"/>
              </a:rPr>
              <a:t>while</a:t>
            </a:r>
            <a:r>
              <a:rPr lang="en-US" sz="1500" dirty="0">
                <a:solidFill>
                  <a:srgbClr val="4A5568"/>
                </a:solidFill>
                <a:latin typeface="DM Sans" pitchFamily="34" charset="0"/>
                <a:ea typeface="DM Sans" pitchFamily="34" charset="-122"/>
                <a:cs typeface="DM Sans" pitchFamily="34" charset="-120"/>
              </a:rPr>
              <a:t> loop and </a:t>
            </a:r>
            <a:r>
              <a:rPr lang="en-US" sz="1500" b="1" dirty="0">
                <a:solidFill>
                  <a:srgbClr val="4A5568"/>
                </a:solidFill>
                <a:latin typeface="DM Sans" pitchFamily="34" charset="0"/>
                <a:ea typeface="DM Sans" pitchFamily="34" charset="-122"/>
                <a:cs typeface="DM Sans" pitchFamily="34" charset="-120"/>
              </a:rPr>
              <a:t>try / except</a:t>
            </a:r>
            <a:r>
              <a:rPr lang="en-US" sz="1500" dirty="0">
                <a:solidFill>
                  <a:srgbClr val="4A5568"/>
                </a:solidFill>
                <a:latin typeface="DM Sans" pitchFamily="34" charset="0"/>
                <a:ea typeface="DM Sans" pitchFamily="34" charset="-122"/>
                <a:cs typeface="DM Sans" pitchFamily="34" charset="-120"/>
              </a:rPr>
              <a:t>.</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THINK BEFORE YOU TYPE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How programmers plan a project</a:t>
            </a:r>
            <a:endParaRPr lang="en-US" sz="3600" dirty="0"/>
          </a:p>
        </p:txBody>
      </p:sp>
      <p:sp>
        <p:nvSpPr>
          <p:cNvPr id="4" name="Shape 2"/>
          <p:cNvSpPr/>
          <p:nvPr/>
        </p:nvSpPr>
        <p:spPr>
          <a:xfrm>
            <a:off x="815975" y="1989404"/>
            <a:ext cx="3397250" cy="1536171"/>
          </a:xfrm>
          <a:prstGeom prst="roundRect">
            <a:avLst>
              <a:gd name="adj" fmla="val 8061"/>
            </a:avLst>
          </a:prstGeom>
          <a:solidFill>
            <a:srgbClr val="FFFFFF"/>
          </a:solidFill>
          <a:ln w="6350">
            <a:solidFill>
              <a:srgbClr val="D5DEE8"/>
            </a:solidFill>
            <a:prstDash val="solid"/>
          </a:ln>
        </p:spPr>
      </p:sp>
      <p:sp>
        <p:nvSpPr>
          <p:cNvPr id="5" name="Text 3"/>
          <p:cNvSpPr/>
          <p:nvPr/>
        </p:nvSpPr>
        <p:spPr>
          <a:xfrm>
            <a:off x="1071033" y="221906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1</a:t>
            </a:r>
            <a:endParaRPr lang="en-US" sz="2200" dirty="0"/>
          </a:p>
        </p:txBody>
      </p:sp>
      <p:sp>
        <p:nvSpPr>
          <p:cNvPr id="6" name="Text 4"/>
          <p:cNvSpPr/>
          <p:nvPr/>
        </p:nvSpPr>
        <p:spPr>
          <a:xfrm>
            <a:off x="1071033" y="268638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Understand</a:t>
            </a:r>
            <a:endParaRPr lang="en-US" sz="1600" dirty="0"/>
          </a:p>
        </p:txBody>
      </p:sp>
      <p:sp>
        <p:nvSpPr>
          <p:cNvPr id="7" name="Text 5"/>
          <p:cNvSpPr/>
          <p:nvPr/>
        </p:nvSpPr>
        <p:spPr>
          <a:xfrm>
            <a:off x="1071033" y="3047008"/>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What should it do? Who uses it?</a:t>
            </a:r>
            <a:endParaRPr lang="en-US" sz="1400" dirty="0"/>
          </a:p>
        </p:txBody>
      </p:sp>
      <p:sp>
        <p:nvSpPr>
          <p:cNvPr id="8" name="Shape 6"/>
          <p:cNvSpPr/>
          <p:nvPr/>
        </p:nvSpPr>
        <p:spPr>
          <a:xfrm>
            <a:off x="4397375" y="1989404"/>
            <a:ext cx="3397250" cy="1536171"/>
          </a:xfrm>
          <a:prstGeom prst="roundRect">
            <a:avLst>
              <a:gd name="adj" fmla="val 8061"/>
            </a:avLst>
          </a:prstGeom>
          <a:solidFill>
            <a:srgbClr val="FFFFFF"/>
          </a:solidFill>
          <a:ln w="6350">
            <a:solidFill>
              <a:srgbClr val="D5DEE8"/>
            </a:solidFill>
            <a:prstDash val="solid"/>
          </a:ln>
        </p:spPr>
      </p:sp>
      <p:sp>
        <p:nvSpPr>
          <p:cNvPr id="9" name="Text 7"/>
          <p:cNvSpPr/>
          <p:nvPr/>
        </p:nvSpPr>
        <p:spPr>
          <a:xfrm>
            <a:off x="4652433" y="221906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2</a:t>
            </a:r>
            <a:endParaRPr lang="en-US" sz="2200" dirty="0"/>
          </a:p>
        </p:txBody>
      </p:sp>
      <p:sp>
        <p:nvSpPr>
          <p:cNvPr id="10" name="Text 8"/>
          <p:cNvSpPr/>
          <p:nvPr/>
        </p:nvSpPr>
        <p:spPr>
          <a:xfrm>
            <a:off x="4652433" y="268638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Plan the data</a:t>
            </a:r>
            <a:endParaRPr lang="en-US" sz="1600" dirty="0"/>
          </a:p>
        </p:txBody>
      </p:sp>
      <p:sp>
        <p:nvSpPr>
          <p:cNvPr id="11" name="Text 9"/>
          <p:cNvSpPr/>
          <p:nvPr/>
        </p:nvSpPr>
        <p:spPr>
          <a:xfrm>
            <a:off x="4652433" y="3047008"/>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Which lists and dictionaries?</a:t>
            </a:r>
            <a:endParaRPr lang="en-US" sz="1400" dirty="0"/>
          </a:p>
        </p:txBody>
      </p:sp>
      <p:sp>
        <p:nvSpPr>
          <p:cNvPr id="12" name="Shape 10"/>
          <p:cNvSpPr/>
          <p:nvPr/>
        </p:nvSpPr>
        <p:spPr>
          <a:xfrm>
            <a:off x="7978775" y="1989404"/>
            <a:ext cx="3397250" cy="1536171"/>
          </a:xfrm>
          <a:prstGeom prst="roundRect">
            <a:avLst>
              <a:gd name="adj" fmla="val 8061"/>
            </a:avLst>
          </a:prstGeom>
          <a:solidFill>
            <a:srgbClr val="FFFFFF"/>
          </a:solidFill>
          <a:ln w="6350">
            <a:solidFill>
              <a:srgbClr val="D5DEE8"/>
            </a:solidFill>
            <a:prstDash val="solid"/>
          </a:ln>
        </p:spPr>
      </p:sp>
      <p:sp>
        <p:nvSpPr>
          <p:cNvPr id="13" name="Text 11"/>
          <p:cNvSpPr/>
          <p:nvPr/>
        </p:nvSpPr>
        <p:spPr>
          <a:xfrm>
            <a:off x="8233834" y="221906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3</a:t>
            </a:r>
            <a:endParaRPr lang="en-US" sz="2200" dirty="0"/>
          </a:p>
        </p:txBody>
      </p:sp>
      <p:sp>
        <p:nvSpPr>
          <p:cNvPr id="14" name="Text 12"/>
          <p:cNvSpPr/>
          <p:nvPr/>
        </p:nvSpPr>
        <p:spPr>
          <a:xfrm>
            <a:off x="8233834" y="268638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Split into jobs</a:t>
            </a:r>
            <a:endParaRPr lang="en-US" sz="1600" dirty="0"/>
          </a:p>
        </p:txBody>
      </p:sp>
      <p:sp>
        <p:nvSpPr>
          <p:cNvPr id="15" name="Text 13"/>
          <p:cNvSpPr/>
          <p:nvPr/>
        </p:nvSpPr>
        <p:spPr>
          <a:xfrm>
            <a:off x="8233834" y="3047008"/>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Each job becomes a function</a:t>
            </a:r>
            <a:endParaRPr lang="en-US" sz="1400" dirty="0"/>
          </a:p>
        </p:txBody>
      </p:sp>
      <p:sp>
        <p:nvSpPr>
          <p:cNvPr id="16" name="Shape 14"/>
          <p:cNvSpPr/>
          <p:nvPr/>
        </p:nvSpPr>
        <p:spPr>
          <a:xfrm>
            <a:off x="815975" y="3709724"/>
            <a:ext cx="3397250" cy="1536171"/>
          </a:xfrm>
          <a:prstGeom prst="roundRect">
            <a:avLst>
              <a:gd name="adj" fmla="val 8061"/>
            </a:avLst>
          </a:prstGeom>
          <a:solidFill>
            <a:srgbClr val="FFFFFF"/>
          </a:solidFill>
          <a:ln w="6350">
            <a:solidFill>
              <a:srgbClr val="D5DEE8"/>
            </a:solidFill>
            <a:prstDash val="solid"/>
          </a:ln>
        </p:spPr>
      </p:sp>
      <p:sp>
        <p:nvSpPr>
          <p:cNvPr id="17" name="Text 15"/>
          <p:cNvSpPr/>
          <p:nvPr/>
        </p:nvSpPr>
        <p:spPr>
          <a:xfrm>
            <a:off x="1071033" y="393938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4</a:t>
            </a:r>
            <a:endParaRPr lang="en-US" sz="2200" dirty="0"/>
          </a:p>
        </p:txBody>
      </p:sp>
      <p:sp>
        <p:nvSpPr>
          <p:cNvPr id="18" name="Text 16"/>
          <p:cNvSpPr/>
          <p:nvPr/>
        </p:nvSpPr>
        <p:spPr>
          <a:xfrm>
            <a:off x="1071033" y="440670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Write pseudocode</a:t>
            </a:r>
            <a:endParaRPr lang="en-US" sz="1600" dirty="0"/>
          </a:p>
        </p:txBody>
      </p:sp>
      <p:sp>
        <p:nvSpPr>
          <p:cNvPr id="19" name="Text 17"/>
          <p:cNvSpPr/>
          <p:nvPr/>
        </p:nvSpPr>
        <p:spPr>
          <a:xfrm>
            <a:off x="1071033" y="4767331"/>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The steps in plain words</a:t>
            </a:r>
            <a:endParaRPr lang="en-US" sz="1400" dirty="0"/>
          </a:p>
        </p:txBody>
      </p:sp>
      <p:sp>
        <p:nvSpPr>
          <p:cNvPr id="20" name="Shape 18"/>
          <p:cNvSpPr/>
          <p:nvPr/>
        </p:nvSpPr>
        <p:spPr>
          <a:xfrm>
            <a:off x="4397375" y="3709724"/>
            <a:ext cx="3397250" cy="1536171"/>
          </a:xfrm>
          <a:prstGeom prst="roundRect">
            <a:avLst>
              <a:gd name="adj" fmla="val 8061"/>
            </a:avLst>
          </a:prstGeom>
          <a:solidFill>
            <a:srgbClr val="FFFFFF"/>
          </a:solidFill>
          <a:ln w="6350">
            <a:solidFill>
              <a:srgbClr val="D5DEE8"/>
            </a:solidFill>
            <a:prstDash val="solid"/>
          </a:ln>
        </p:spPr>
      </p:sp>
      <p:sp>
        <p:nvSpPr>
          <p:cNvPr id="21" name="Text 19"/>
          <p:cNvSpPr/>
          <p:nvPr/>
        </p:nvSpPr>
        <p:spPr>
          <a:xfrm>
            <a:off x="4652433" y="393938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5</a:t>
            </a:r>
            <a:endParaRPr lang="en-US" sz="2200" dirty="0"/>
          </a:p>
        </p:txBody>
      </p:sp>
      <p:sp>
        <p:nvSpPr>
          <p:cNvPr id="22" name="Text 20"/>
          <p:cNvSpPr/>
          <p:nvPr/>
        </p:nvSpPr>
        <p:spPr>
          <a:xfrm>
            <a:off x="4652433" y="440670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Build &amp; test</a:t>
            </a:r>
            <a:endParaRPr lang="en-US" sz="1600" dirty="0"/>
          </a:p>
        </p:txBody>
      </p:sp>
      <p:sp>
        <p:nvSpPr>
          <p:cNvPr id="23" name="Text 21"/>
          <p:cNvSpPr/>
          <p:nvPr/>
        </p:nvSpPr>
        <p:spPr>
          <a:xfrm>
            <a:off x="4652433" y="4767331"/>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One small piece at a time</a:t>
            </a:r>
            <a:endParaRPr lang="en-US" sz="1400" dirty="0"/>
          </a:p>
        </p:txBody>
      </p:sp>
      <p:sp>
        <p:nvSpPr>
          <p:cNvPr id="24" name="Shape 22"/>
          <p:cNvSpPr/>
          <p:nvPr/>
        </p:nvSpPr>
        <p:spPr>
          <a:xfrm>
            <a:off x="7978775" y="3709724"/>
            <a:ext cx="3397250" cy="1536171"/>
          </a:xfrm>
          <a:prstGeom prst="roundRect">
            <a:avLst>
              <a:gd name="adj" fmla="val 8061"/>
            </a:avLst>
          </a:prstGeom>
          <a:solidFill>
            <a:srgbClr val="FFFFFF"/>
          </a:solidFill>
          <a:ln w="6350">
            <a:solidFill>
              <a:srgbClr val="D5DEE8"/>
            </a:solidFill>
            <a:prstDash val="solid"/>
          </a:ln>
        </p:spPr>
      </p:sp>
      <p:sp>
        <p:nvSpPr>
          <p:cNvPr id="25" name="Text 23"/>
          <p:cNvSpPr/>
          <p:nvPr/>
        </p:nvSpPr>
        <p:spPr>
          <a:xfrm>
            <a:off x="8233834" y="3939381"/>
            <a:ext cx="297374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6</a:t>
            </a:r>
            <a:endParaRPr lang="en-US" sz="2200" dirty="0"/>
          </a:p>
        </p:txBody>
      </p:sp>
      <p:sp>
        <p:nvSpPr>
          <p:cNvPr id="26" name="Text 24"/>
          <p:cNvSpPr/>
          <p:nvPr/>
        </p:nvSpPr>
        <p:spPr>
          <a:xfrm>
            <a:off x="8233834" y="4406702"/>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Improve</a:t>
            </a:r>
            <a:endParaRPr lang="en-US" sz="1600" dirty="0"/>
          </a:p>
        </p:txBody>
      </p:sp>
      <p:sp>
        <p:nvSpPr>
          <p:cNvPr id="27" name="Text 25"/>
          <p:cNvSpPr/>
          <p:nvPr/>
        </p:nvSpPr>
        <p:spPr>
          <a:xfrm>
            <a:off x="8233834" y="4767331"/>
            <a:ext cx="297374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DM Sans" pitchFamily="34" charset="0"/>
                <a:ea typeface="DM Sans" pitchFamily="34" charset="-122"/>
                <a:cs typeface="DM Sans" pitchFamily="34" charset="-120"/>
              </a:rPr>
              <a:t>Handle bad input, tidy output</a:t>
            </a:r>
            <a:endParaRPr lang="en-US" sz="14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OUR PROJECT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Student Grade Manager</a:t>
            </a:r>
            <a:endParaRPr lang="en-US" sz="3600" dirty="0"/>
          </a:p>
        </p:txBody>
      </p:sp>
      <p:sp>
        <p:nvSpPr>
          <p:cNvPr id="4" name="Text 2"/>
          <p:cNvSpPr/>
          <p:nvPr/>
        </p:nvSpPr>
        <p:spPr>
          <a:xfrm>
            <a:off x="812800" y="1935429"/>
            <a:ext cx="525856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The data: name → list of scores</a:t>
            </a:r>
            <a:endParaRPr lang="en-US" sz="1400" dirty="0"/>
          </a:p>
        </p:txBody>
      </p:sp>
      <p:sp>
        <p:nvSpPr>
          <p:cNvPr id="5" name="Text 3"/>
          <p:cNvSpPr/>
          <p:nvPr/>
        </p:nvSpPr>
        <p:spPr>
          <a:xfrm>
            <a:off x="812800" y="2311335"/>
            <a:ext cx="5105400" cy="1778000"/>
          </a:xfrm>
          <a:prstGeom prst="roundRect">
            <a:avLst>
              <a:gd name="adj" fmla="val 7143"/>
            </a:avLst>
          </a:prstGeom>
          <a:solidFill>
            <a:srgbClr val="1F2A37"/>
          </a:solidFill>
          <a:ln/>
        </p:spPr>
        <p:txBody>
          <a:bodyPr wrap="square" lIns="293003" tIns="242203" rIns="159653"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students = {</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"Sara"</a:t>
            </a:r>
            <a:r>
              <a:rPr lang="en-US" sz="1500" dirty="0">
                <a:solidFill>
                  <a:srgbClr val="E8EDF3"/>
                </a:solidFill>
                <a:latin typeface="JetBrains Mono" pitchFamily="49" charset="0"/>
                <a:ea typeface="JetBrains Mono" pitchFamily="49" charset="-122"/>
                <a:cs typeface="JetBrains Mono" pitchFamily="49" charset="-120"/>
              </a:rPr>
              <a:t>: [88, 61],</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C94C"/>
                </a:solidFill>
                <a:latin typeface="JetBrains Mono" pitchFamily="49" charset="0"/>
                <a:ea typeface="JetBrains Mono" pitchFamily="49" charset="-122"/>
                <a:cs typeface="JetBrains Mono" pitchFamily="49" charset="-120"/>
              </a:rPr>
              <a:t>"Omar"</a:t>
            </a:r>
            <a:r>
              <a:rPr lang="en-US" sz="1500" dirty="0">
                <a:solidFill>
                  <a:srgbClr val="E8EDF3"/>
                </a:solidFill>
                <a:latin typeface="JetBrains Mono" pitchFamily="49" charset="0"/>
                <a:ea typeface="JetBrains Mono" pitchFamily="49" charset="-122"/>
                <a:cs typeface="JetBrains Mono" pitchFamily="49" charset="-120"/>
              </a:rPr>
              <a:t>: [95],</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6273800" y="1935429"/>
            <a:ext cx="525856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The jobs: one function each</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6500" y="2324035"/>
          <a:ext cx="5092700" cy="2515129"/>
        </p:xfrm>
        <a:graphic>
          <a:graphicData uri="http://schemas.openxmlformats.org/drawingml/2006/table">
            <a:tbl>
              <a:tblPr/>
              <a:tblGrid>
                <a:gridCol w="2546350"/>
                <a:gridCol w="2546350"/>
              </a:tblGrid>
              <a:tr h="359304">
                <a:tc>
                  <a:txBody>
                    <a:bodyPr/>
                    <a:lstStyle/>
                    <a:p>
                      <a:pPr indent="0" marL="0">
                        <a:lnSpc>
                          <a:spcPts val="1820"/>
                        </a:lnSpc>
                        <a:buNone/>
                      </a:pPr>
                      <a:r>
                        <a:rPr lang="en-US" sz="1300" b="1" dirty="0">
                          <a:solidFill>
                            <a:srgbClr val="1F2A37"/>
                          </a:solidFill>
                          <a:latin typeface="DM Sans" pitchFamily="34" charset="0"/>
                          <a:ea typeface="DM Sans" pitchFamily="34" charset="-122"/>
                          <a:cs typeface="DM Sans" pitchFamily="34" charset="-120"/>
                        </a:rPr>
                        <a:t>Function</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820"/>
                        </a:lnSpc>
                        <a:buNone/>
                      </a:pPr>
                      <a:r>
                        <a:rPr lang="en-US" sz="1300" b="1" dirty="0">
                          <a:solidFill>
                            <a:srgbClr val="1F2A37"/>
                          </a:solidFill>
                          <a:latin typeface="DM Sans" pitchFamily="34" charset="0"/>
                          <a:ea typeface="DM Sans" pitchFamily="34" charset="-122"/>
                          <a:cs typeface="DM Sans" pitchFamily="34" charset="-120"/>
                        </a:rPr>
                        <a:t>Job</a:t>
                      </a:r>
                      <a:endParaRPr lang="en-US" sz="1300" dirty="0">
                        <a:latin typeface="DM Sans" charset="0"/>
                        <a:ea typeface="DM Sans" charset="0"/>
                        <a:cs typeface="DM Sans"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average(scores)</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average of a list</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get_grade(avg)</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 B, C, D or F</a:t>
                      </a:r>
                      <a:endParaRPr lang="en-US" sz="1300" dirty="0">
                        <a:latin typeface="DM Sans" charset="0"/>
                        <a:ea typeface="DM Sans" charset="0"/>
                        <a:cs typeface="DM Sans" charset="0"/>
                      </a:endParaRPr>
                    </a:p>
                  </a:txBody>
                  <a:tcPr marL="57785" marR="57785" marT="57785" marB="5778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add_student()</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add a new student</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add_score()</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save a score</a:t>
                      </a:r>
                      <a:endParaRPr lang="en-US" sz="1300" dirty="0">
                        <a:latin typeface="DM Sans" charset="0"/>
                        <a:ea typeface="DM Sans" charset="0"/>
                        <a:cs typeface="DM Sans" charset="0"/>
                      </a:endParaRPr>
                    </a:p>
                  </a:txBody>
                  <a:tcPr marL="57785" marR="57785" marT="57785" marB="5778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show_report()</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print the table</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59304">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main()</a:t>
                      </a:r>
                      <a:endParaRPr lang="en-US" sz="1300" dirty="0">
                        <a:latin typeface="DM Sans" charset="0"/>
                        <a:ea typeface="DM Sans" charset="0"/>
                        <a:cs typeface="DM Sans" charset="0"/>
                      </a:endParaRPr>
                    </a:p>
                  </a:txBody>
                  <a:tcPr marL="57785" marR="57785" marT="57785" marB="57785"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1820"/>
                        </a:lnSpc>
                        <a:buNone/>
                      </a:pPr>
                      <a:r>
                        <a:rPr lang="en-US" sz="1300" dirty="0">
                          <a:solidFill>
                            <a:srgbClr val="1F2A37"/>
                          </a:solidFill>
                          <a:latin typeface="DM Sans" pitchFamily="34" charset="0"/>
                          <a:ea typeface="DM Sans" pitchFamily="34" charset="-122"/>
                          <a:cs typeface="DM Sans" pitchFamily="34" charset="-120"/>
                        </a:rPr>
                        <a:t>the menu loop</a:t>
                      </a:r>
                      <a:endParaRPr lang="en-US" sz="1300" dirty="0">
                        <a:latin typeface="DM Sans" charset="0"/>
                        <a:ea typeface="DM Sans" charset="0"/>
                        <a:cs typeface="DM Sans" charset="0"/>
                      </a:endParaRPr>
                    </a:p>
                  </a:txBody>
                  <a:tcPr marL="57785" marR="57785" marT="57785" marB="57785"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BRING IT TOGETHER</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The menu: main()</a:t>
            </a:r>
            <a:endParaRPr lang="en-US" sz="3600" dirty="0"/>
          </a:p>
        </p:txBody>
      </p:sp>
      <p:sp>
        <p:nvSpPr>
          <p:cNvPr id="4" name="Text 2"/>
          <p:cNvSpPr/>
          <p:nvPr/>
        </p:nvSpPr>
        <p:spPr>
          <a:xfrm>
            <a:off x="812800" y="1935429"/>
            <a:ext cx="6126427" cy="3479800"/>
          </a:xfrm>
          <a:prstGeom prst="roundRect">
            <a:avLst>
              <a:gd name="adj" fmla="val 3650"/>
            </a:avLst>
          </a:prstGeom>
          <a:solidFill>
            <a:srgbClr val="1F2A37"/>
          </a:solidFill>
          <a:ln/>
        </p:spPr>
        <p:txBody>
          <a:bodyPr wrap="square" lIns="267603" tIns="216803" rIns="102098" bIns="191403" rtlCol="0" anchor="t">
            <a:normAutofit/>
          </a:bodyPr>
          <a:lstStyle/>
          <a:p>
            <a:pPr algn="l" indent="0" marL="0">
              <a:lnSpc>
                <a:spcPts val="1950"/>
              </a:lnSpc>
              <a:buNone/>
            </a:pPr>
            <a:r>
              <a:rPr lang="en-US" sz="1300" dirty="0">
                <a:solidFill>
                  <a:srgbClr val="8EC1F0"/>
                </a:solidFill>
                <a:latin typeface="JetBrains Mono" pitchFamily="49" charset="0"/>
                <a:ea typeface="JetBrains Mono" pitchFamily="49" charset="-122"/>
                <a:cs typeface="JetBrains Mono" pitchFamily="49" charset="-120"/>
              </a:rPr>
              <a:t>def</a:t>
            </a:r>
            <a:r>
              <a:rPr lang="en-US" sz="1300" dirty="0">
                <a:solidFill>
                  <a:srgbClr val="E8EDF3"/>
                </a:solidFill>
                <a:latin typeface="JetBrains Mono" pitchFamily="49" charset="0"/>
                <a:ea typeface="JetBrains Mono" pitchFamily="49" charset="-122"/>
                <a:cs typeface="JetBrains Mono" pitchFamily="49" charset="-120"/>
              </a:rPr>
              <a:t> main():</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students = {}</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True:</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choice = input(</a:t>
            </a:r>
            <a:r>
              <a:rPr lang="en-US" sz="1300" dirty="0">
                <a:solidFill>
                  <a:srgbClr val="F2C94C"/>
                </a:solidFill>
                <a:latin typeface="JetBrains Mono" pitchFamily="49" charset="0"/>
                <a:ea typeface="JetBrains Mono" pitchFamily="49" charset="-122"/>
                <a:cs typeface="JetBrains Mono" pitchFamily="49" charset="-120"/>
              </a:rPr>
              <a:t>"Choose (1-5): "</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choice == </a:t>
            </a:r>
            <a:r>
              <a:rPr lang="en-US" sz="1300" dirty="0">
                <a:solidFill>
                  <a:srgbClr val="F2C94C"/>
                </a:solidFill>
                <a:latin typeface="JetBrains Mono" pitchFamily="49" charset="0"/>
                <a:ea typeface="JetBrains Mono" pitchFamily="49" charset="-122"/>
                <a:cs typeface="JetBrains Mono" pitchFamily="49" charset="-120"/>
              </a:rPr>
              <a:t>"1"</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add_student(students)</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elif</a:t>
            </a:r>
            <a:r>
              <a:rPr lang="en-US" sz="1300" dirty="0">
                <a:solidFill>
                  <a:srgbClr val="E8EDF3"/>
                </a:solidFill>
                <a:latin typeface="JetBrains Mono" pitchFamily="49" charset="0"/>
                <a:ea typeface="JetBrains Mono" pitchFamily="49" charset="-122"/>
                <a:cs typeface="JetBrains Mono" pitchFamily="49" charset="-120"/>
              </a:rPr>
              <a:t> choice == </a:t>
            </a:r>
            <a:r>
              <a:rPr lang="en-US" sz="1300" dirty="0">
                <a:solidFill>
                  <a:srgbClr val="F2C94C"/>
                </a:solidFill>
                <a:latin typeface="JetBrains Mono" pitchFamily="49" charset="0"/>
                <a:ea typeface="JetBrains Mono" pitchFamily="49" charset="-122"/>
                <a:cs typeface="JetBrains Mono" pitchFamily="49" charset="-120"/>
              </a:rPr>
              <a:t>"2"</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add_score(students)</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elif</a:t>
            </a:r>
            <a:r>
              <a:rPr lang="en-US" sz="1300" dirty="0">
                <a:solidFill>
                  <a:srgbClr val="E8EDF3"/>
                </a:solidFill>
                <a:latin typeface="JetBrains Mono" pitchFamily="49" charset="0"/>
                <a:ea typeface="JetBrains Mono" pitchFamily="49" charset="-122"/>
                <a:cs typeface="JetBrains Mono" pitchFamily="49" charset="-120"/>
              </a:rPr>
              <a:t> choice == </a:t>
            </a:r>
            <a:r>
              <a:rPr lang="en-US" sz="1300" dirty="0">
                <a:solidFill>
                  <a:srgbClr val="F2C94C"/>
                </a:solidFill>
                <a:latin typeface="JetBrains Mono" pitchFamily="49" charset="0"/>
                <a:ea typeface="JetBrains Mono" pitchFamily="49" charset="-122"/>
                <a:cs typeface="JetBrains Mono" pitchFamily="49" charset="-120"/>
              </a:rPr>
              <a:t>"3"</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show_report(students)</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elif</a:t>
            </a:r>
            <a:r>
              <a:rPr lang="en-US" sz="1300" dirty="0">
                <a:solidFill>
                  <a:srgbClr val="E8EDF3"/>
                </a:solidFill>
                <a:latin typeface="JetBrains Mono" pitchFamily="49" charset="0"/>
                <a:ea typeface="JetBrains Mono" pitchFamily="49" charset="-122"/>
                <a:cs typeface="JetBrains Mono" pitchFamily="49" charset="-120"/>
              </a:rPr>
              <a:t> choice == </a:t>
            </a:r>
            <a:r>
              <a:rPr lang="en-US" sz="1300" dirty="0">
                <a:solidFill>
                  <a:srgbClr val="F2C94C"/>
                </a:solidFill>
                <a:latin typeface="JetBrains Mono" pitchFamily="49" charset="0"/>
                <a:ea typeface="JetBrains Mono" pitchFamily="49" charset="-122"/>
                <a:cs typeface="JetBrains Mono" pitchFamily="49" charset="-120"/>
              </a:rPr>
              <a:t>"5"</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break</a:t>
            </a:r>
            <a:endParaRPr lang="en-US" sz="1300" dirty="0"/>
          </a:p>
        </p:txBody>
      </p:sp>
      <p:sp>
        <p:nvSpPr>
          <p:cNvPr id="5" name="Text 3"/>
          <p:cNvSpPr/>
          <p:nvPr/>
        </p:nvSpPr>
        <p:spPr>
          <a:xfrm>
            <a:off x="7294828" y="1935429"/>
            <a:ext cx="4084307" cy="1115020"/>
          </a:xfrm>
          <a:prstGeom prst="roundRect">
            <a:avLst>
              <a:gd name="adj" fmla="val 11390"/>
            </a:avLst>
          </a:prstGeom>
          <a:solidFill>
            <a:srgbClr val="EEF2F6"/>
          </a:solidFill>
          <a:ln/>
        </p:spPr>
        <p:txBody>
          <a:bodyPr wrap="square" lIns="242203" tIns="166003" rIns="84114" bIns="140603" rtlCol="0" anchor="t">
            <a:normAutofit/>
          </a:bodyPr>
          <a:lstStyle/>
          <a:p>
            <a:pPr algn="l" indent="0" marL="0">
              <a:lnSpc>
                <a:spcPts val="1860"/>
              </a:lnSpc>
              <a:buNone/>
            </a:pPr>
            <a:r>
              <a:rPr lang="en-US" sz="1200" dirty="0">
                <a:solidFill>
                  <a:srgbClr val="1F2A37"/>
                </a:solidFill>
                <a:latin typeface="JetBrains Mono" pitchFamily="49" charset="0"/>
                <a:ea typeface="JetBrains Mono" pitchFamily="49" charset="-122"/>
                <a:cs typeface="JetBrains Mono" pitchFamily="49" charset="-120"/>
              </a:rPr>
              <a:t>Name    Avg   Grade</a:t>
            </a:r>
            <a:endParaRPr lang="en-US" sz="1200" dirty="0"/>
          </a:p>
          <a:p>
            <a:pPr algn="l" indent="0" marL="0">
              <a:lnSpc>
                <a:spcPts val="1860"/>
              </a:lnSpc>
              <a:buNone/>
            </a:pPr>
            <a:r>
              <a:rPr lang="en-US" sz="1200" dirty="0">
                <a:solidFill>
                  <a:srgbClr val="1F2A37"/>
                </a:solidFill>
                <a:latin typeface="JetBrains Mono" pitchFamily="49" charset="0"/>
                <a:ea typeface="JetBrains Mono" pitchFamily="49" charset="-122"/>
                <a:cs typeface="JetBrains Mono" pitchFamily="49" charset="-120"/>
              </a:rPr>
              <a:t>Sara    74.5  B</a:t>
            </a:r>
            <a:endParaRPr lang="en-US" sz="1200" dirty="0"/>
          </a:p>
          <a:p>
            <a:pPr algn="l" indent="0" marL="0">
              <a:lnSpc>
                <a:spcPts val="1860"/>
              </a:lnSpc>
              <a:buNone/>
            </a:pPr>
            <a:r>
              <a:rPr lang="en-US" sz="1200" dirty="0">
                <a:solidFill>
                  <a:srgbClr val="1F2A37"/>
                </a:solidFill>
                <a:latin typeface="JetBrains Mono" pitchFamily="49" charset="0"/>
                <a:ea typeface="JetBrains Mono" pitchFamily="49" charset="-122"/>
                <a:cs typeface="JetBrains Mono" pitchFamily="49" charset="-120"/>
              </a:rPr>
              <a:t>Omar    95.0  A</a:t>
            </a:r>
            <a:endParaRPr lang="en-US" sz="1200" dirty="0"/>
          </a:p>
        </p:txBody>
      </p:sp>
      <p:sp>
        <p:nvSpPr>
          <p:cNvPr id="6" name="Shape 4"/>
          <p:cNvSpPr/>
          <p:nvPr/>
        </p:nvSpPr>
        <p:spPr>
          <a:xfrm>
            <a:off x="7294828" y="1935429"/>
            <a:ext cx="4084307" cy="1115020"/>
          </a:xfrm>
          <a:custGeom>
            <a:avLst/>
            <a:gdLst/>
            <a:ahLst/>
            <a:cxnLst/>
            <a:rect l="l" t="t" r="r" b="b"/>
            <a:pathLst>
              <a:path w="4084307" h="1115020">
                <a:moveTo>
                  <a:pt x="127000" y="1115020"/>
                </a:moveTo>
                <a:lnTo>
                  <a:pt x="127000" y="1115020"/>
                </a:lnTo>
                <a:arcTo hR="127000" wR="127000" stAng="5400000" swAng="5400000"/>
                <a:lnTo>
                  <a:pt x="0" y="127000"/>
                </a:lnTo>
                <a:arcTo hR="127000" wR="127000" stAng="10800000" swAng="5400000"/>
                <a:lnTo>
                  <a:pt x="127000" y="0"/>
                </a:lnTo>
                <a:arcTo hR="127000" wR="76200" stAng="16200000" swAng="-5400000"/>
                <a:lnTo>
                  <a:pt x="50800" y="988020"/>
                </a:lnTo>
                <a:arcTo hR="127000" wR="76200" stAng="10800000" swAng="-5400000"/>
                <a:close/>
              </a:path>
            </a:pathLst>
          </a:custGeom>
          <a:solidFill>
            <a:srgbClr val="3776AB"/>
          </a:solidFill>
          <a:ln/>
        </p:spPr>
      </p:sp>
      <p:sp>
        <p:nvSpPr>
          <p:cNvPr id="7" name="Text 5"/>
          <p:cNvSpPr/>
          <p:nvPr/>
        </p:nvSpPr>
        <p:spPr>
          <a:xfrm>
            <a:off x="7294828" y="3202849"/>
            <a:ext cx="420683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A real program, built from </a:t>
            </a:r>
            <a:r>
              <a:rPr lang="en-US" sz="1500" b="1" dirty="0">
                <a:solidFill>
                  <a:srgbClr val="4A5568"/>
                </a:solidFill>
                <a:latin typeface="DM Sans" pitchFamily="34" charset="0"/>
                <a:ea typeface="DM Sans" pitchFamily="34" charset="-122"/>
                <a:cs typeface="DM Sans" pitchFamily="34" charset="-120"/>
              </a:rPr>
              <a:t>everything</a:t>
            </a:r>
            <a:r>
              <a:rPr lang="en-US" sz="1500" dirty="0">
                <a:solidFill>
                  <a:srgbClr val="4A5568"/>
                </a:solidFill>
                <a:latin typeface="DM Sans" pitchFamily="34" charset="0"/>
                <a:ea typeface="DM Sans" pitchFamily="34" charset="-122"/>
                <a:cs typeface="DM Sans" pitchFamily="34" charset="-120"/>
              </a:rPr>
              <a:t> you learned. 🎉</a:t>
            </a:r>
            <a:endParaRPr lang="en-US" sz="15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19824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THE GOLDEN RULE</a:t>
            </a:r>
            <a:endParaRPr lang="en-US" sz="1200" dirty="0"/>
          </a:p>
        </p:txBody>
      </p:sp>
      <p:sp>
        <p:nvSpPr>
          <p:cNvPr id="3" name="Text 1"/>
          <p:cNvSpPr/>
          <p:nvPr>
            <p:ph type="title"/>
          </p:nvPr>
        </p:nvSpPr>
        <p:spPr>
          <a:xfrm>
            <a:off x="812800" y="244977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AF9F6"/>
                </a:solidFill>
                <a:latin typeface="DM Sans" pitchFamily="34" charset="0"/>
                <a:ea typeface="DM Sans" pitchFamily="34" charset="-122"/>
                <a:cs typeface="DM Sans" pitchFamily="34" charset="-120"/>
              </a:rPr>
              <a:t>Build small.</a:t>
            </a:r>
            <a:endParaRPr lang="en-US" sz="6000" dirty="0"/>
          </a:p>
          <a:p>
            <a:pPr algn="l" indent="0" marL="0">
              <a:lnSpc>
                <a:spcPts val="6300"/>
              </a:lnSpc>
              <a:buNone/>
            </a:pPr>
            <a:r>
              <a:rPr lang="en-US" sz="6000" b="1" i="0" dirty="0">
                <a:solidFill>
                  <a:srgbClr val="FAF9F6"/>
                </a:solidFill>
                <a:latin typeface="DM Sans" pitchFamily="34" charset="0"/>
                <a:ea typeface="DM Sans" pitchFamily="34" charset="-122"/>
                <a:cs typeface="DM Sans" pitchFamily="34" charset="-120"/>
              </a:rPr>
              <a:t>Test often.</a:t>
            </a:r>
            <a:endParaRPr lang="en-US" sz="6000" dirty="0"/>
          </a:p>
        </p:txBody>
      </p:sp>
      <p:sp>
        <p:nvSpPr>
          <p:cNvPr id="4" name="Text 2"/>
          <p:cNvSpPr/>
          <p:nvPr/>
        </p:nvSpPr>
        <p:spPr>
          <a:xfrm>
            <a:off x="812800" y="4303979"/>
            <a:ext cx="10883392" cy="3937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E3ECF6"/>
                </a:solidFill>
                <a:latin typeface="DM Sans" pitchFamily="34" charset="0"/>
                <a:ea typeface="DM Sans" pitchFamily="34" charset="-122"/>
                <a:cs typeface="DM Sans" pitchFamily="34" charset="-120"/>
              </a:rPr>
              <a:t>Write a few lines, run them, fix them — then add the next piece.</a:t>
            </a:r>
            <a:endParaRPr lang="en-US" sz="20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10: final project</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FINAL PROJECT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Choose one — or invent your own</a:t>
            </a:r>
            <a:endParaRPr lang="en-US" sz="3600" dirty="0"/>
          </a:p>
        </p:txBody>
      </p:sp>
      <p:sp>
        <p:nvSpPr>
          <p:cNvPr id="4" name="Shape 2"/>
          <p:cNvSpPr/>
          <p:nvPr/>
        </p:nvSpPr>
        <p:spPr>
          <a:xfrm>
            <a:off x="815975" y="1938604"/>
            <a:ext cx="3397250" cy="1553964"/>
          </a:xfrm>
          <a:prstGeom prst="roundRect">
            <a:avLst>
              <a:gd name="adj" fmla="val 7968"/>
            </a:avLst>
          </a:prstGeom>
          <a:solidFill>
            <a:srgbClr val="FFFFFF"/>
          </a:solidFill>
          <a:ln w="6350">
            <a:solidFill>
              <a:srgbClr val="D5DEE8"/>
            </a:solidFill>
            <a:prstDash val="solid"/>
          </a:ln>
        </p:spPr>
      </p:sp>
      <p:sp>
        <p:nvSpPr>
          <p:cNvPr id="5" name="Text 3"/>
          <p:cNvSpPr/>
          <p:nvPr/>
        </p:nvSpPr>
        <p:spPr>
          <a:xfrm>
            <a:off x="1071033" y="2168265"/>
            <a:ext cx="2973747"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6" name="Text 4"/>
          <p:cNvSpPr/>
          <p:nvPr/>
        </p:nvSpPr>
        <p:spPr>
          <a:xfrm>
            <a:off x="1071033" y="2671167"/>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Rock, Paper, Scissors</a:t>
            </a:r>
            <a:endParaRPr lang="en-US" sz="1600" dirty="0"/>
          </a:p>
        </p:txBody>
      </p:sp>
      <p:sp>
        <p:nvSpPr>
          <p:cNvPr id="7" name="Text 5"/>
          <p:cNvSpPr/>
          <p:nvPr/>
        </p:nvSpPr>
        <p:spPr>
          <a:xfrm>
            <a:off x="1071033" y="3031796"/>
            <a:ext cx="29737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Best of 3 · ⭐⭐</a:t>
            </a:r>
            <a:endParaRPr lang="en-US" sz="1300" dirty="0"/>
          </a:p>
        </p:txBody>
      </p:sp>
      <p:sp>
        <p:nvSpPr>
          <p:cNvPr id="8" name="Shape 6"/>
          <p:cNvSpPr/>
          <p:nvPr/>
        </p:nvSpPr>
        <p:spPr>
          <a:xfrm>
            <a:off x="4397375" y="1938604"/>
            <a:ext cx="3397250" cy="1553964"/>
          </a:xfrm>
          <a:prstGeom prst="roundRect">
            <a:avLst>
              <a:gd name="adj" fmla="val 7968"/>
            </a:avLst>
          </a:prstGeom>
          <a:solidFill>
            <a:srgbClr val="FFFFFF"/>
          </a:solidFill>
          <a:ln w="6350">
            <a:solidFill>
              <a:srgbClr val="D5DEE8"/>
            </a:solidFill>
            <a:prstDash val="solid"/>
          </a:ln>
        </p:spPr>
      </p:sp>
      <p:sp>
        <p:nvSpPr>
          <p:cNvPr id="9" name="Text 7"/>
          <p:cNvSpPr/>
          <p:nvPr/>
        </p:nvSpPr>
        <p:spPr>
          <a:xfrm>
            <a:off x="4652433" y="2168265"/>
            <a:ext cx="2973747"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10" name="Text 8"/>
          <p:cNvSpPr/>
          <p:nvPr/>
        </p:nvSpPr>
        <p:spPr>
          <a:xfrm>
            <a:off x="4652433" y="2671167"/>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Expense Tracker</a:t>
            </a:r>
            <a:endParaRPr lang="en-US" sz="1600" dirty="0"/>
          </a:p>
        </p:txBody>
      </p:sp>
      <p:sp>
        <p:nvSpPr>
          <p:cNvPr id="11" name="Text 9"/>
          <p:cNvSpPr/>
          <p:nvPr/>
        </p:nvSpPr>
        <p:spPr>
          <a:xfrm>
            <a:off x="4652433" y="3031796"/>
            <a:ext cx="29737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Totals by category · ⭐⭐</a:t>
            </a:r>
            <a:endParaRPr lang="en-US" sz="1300" dirty="0"/>
          </a:p>
        </p:txBody>
      </p:sp>
      <p:sp>
        <p:nvSpPr>
          <p:cNvPr id="12" name="Shape 10"/>
          <p:cNvSpPr/>
          <p:nvPr/>
        </p:nvSpPr>
        <p:spPr>
          <a:xfrm>
            <a:off x="7978775" y="1938604"/>
            <a:ext cx="3397250" cy="1553964"/>
          </a:xfrm>
          <a:prstGeom prst="roundRect">
            <a:avLst>
              <a:gd name="adj" fmla="val 7968"/>
            </a:avLst>
          </a:prstGeom>
          <a:solidFill>
            <a:srgbClr val="FFFFFF"/>
          </a:solidFill>
          <a:ln w="6350">
            <a:solidFill>
              <a:srgbClr val="D5DEE8"/>
            </a:solidFill>
            <a:prstDash val="solid"/>
          </a:ln>
        </p:spPr>
      </p:sp>
      <p:sp>
        <p:nvSpPr>
          <p:cNvPr id="13" name="Text 11"/>
          <p:cNvSpPr/>
          <p:nvPr/>
        </p:nvSpPr>
        <p:spPr>
          <a:xfrm>
            <a:off x="8233834" y="2168265"/>
            <a:ext cx="2973747"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14" name="Text 12"/>
          <p:cNvSpPr/>
          <p:nvPr/>
        </p:nvSpPr>
        <p:spPr>
          <a:xfrm>
            <a:off x="8233834" y="2671167"/>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Hangman</a:t>
            </a:r>
            <a:endParaRPr lang="en-US" sz="1600" dirty="0"/>
          </a:p>
        </p:txBody>
      </p:sp>
      <p:sp>
        <p:nvSpPr>
          <p:cNvPr id="15" name="Text 13"/>
          <p:cNvSpPr/>
          <p:nvPr/>
        </p:nvSpPr>
        <p:spPr>
          <a:xfrm>
            <a:off x="8233834" y="3031796"/>
            <a:ext cx="29737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Guess the word · ⭐⭐⭐</a:t>
            </a:r>
            <a:endParaRPr lang="en-US" sz="1300" dirty="0"/>
          </a:p>
        </p:txBody>
      </p:sp>
      <p:sp>
        <p:nvSpPr>
          <p:cNvPr id="16" name="Shape 14"/>
          <p:cNvSpPr/>
          <p:nvPr/>
        </p:nvSpPr>
        <p:spPr>
          <a:xfrm>
            <a:off x="815975" y="3676718"/>
            <a:ext cx="3397250" cy="1553964"/>
          </a:xfrm>
          <a:prstGeom prst="roundRect">
            <a:avLst>
              <a:gd name="adj" fmla="val 7968"/>
            </a:avLst>
          </a:prstGeom>
          <a:solidFill>
            <a:srgbClr val="FFFFFF"/>
          </a:solidFill>
          <a:ln w="6350">
            <a:solidFill>
              <a:srgbClr val="D5DEE8"/>
            </a:solidFill>
            <a:prstDash val="solid"/>
          </a:ln>
        </p:spPr>
      </p:sp>
      <p:sp>
        <p:nvSpPr>
          <p:cNvPr id="17" name="Text 15"/>
          <p:cNvSpPr/>
          <p:nvPr/>
        </p:nvSpPr>
        <p:spPr>
          <a:xfrm>
            <a:off x="1071033" y="3906379"/>
            <a:ext cx="2973747"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18" name="Text 16"/>
          <p:cNvSpPr/>
          <p:nvPr/>
        </p:nvSpPr>
        <p:spPr>
          <a:xfrm>
            <a:off x="1071033" y="4409281"/>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Bank Account</a:t>
            </a:r>
            <a:endParaRPr lang="en-US" sz="1600" dirty="0"/>
          </a:p>
        </p:txBody>
      </p:sp>
      <p:sp>
        <p:nvSpPr>
          <p:cNvPr id="19" name="Text 17"/>
          <p:cNvSpPr/>
          <p:nvPr/>
        </p:nvSpPr>
        <p:spPr>
          <a:xfrm>
            <a:off x="1071033" y="4769910"/>
            <a:ext cx="29737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Deposit &amp; withdraw · ⭐⭐</a:t>
            </a:r>
            <a:endParaRPr lang="en-US" sz="1300" dirty="0"/>
          </a:p>
        </p:txBody>
      </p:sp>
      <p:sp>
        <p:nvSpPr>
          <p:cNvPr id="20" name="Shape 18"/>
          <p:cNvSpPr/>
          <p:nvPr/>
        </p:nvSpPr>
        <p:spPr>
          <a:xfrm>
            <a:off x="4397375" y="3676718"/>
            <a:ext cx="3397250" cy="1553964"/>
          </a:xfrm>
          <a:prstGeom prst="roundRect">
            <a:avLst>
              <a:gd name="adj" fmla="val 7968"/>
            </a:avLst>
          </a:prstGeom>
          <a:solidFill>
            <a:srgbClr val="FFFFFF"/>
          </a:solidFill>
          <a:ln w="6350">
            <a:solidFill>
              <a:srgbClr val="D5DEE8"/>
            </a:solidFill>
            <a:prstDash val="solid"/>
          </a:ln>
        </p:spPr>
      </p:sp>
      <p:sp>
        <p:nvSpPr>
          <p:cNvPr id="21" name="Text 19"/>
          <p:cNvSpPr/>
          <p:nvPr/>
        </p:nvSpPr>
        <p:spPr>
          <a:xfrm>
            <a:off x="4652433" y="3906379"/>
            <a:ext cx="2973747"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22" name="Text 20"/>
          <p:cNvSpPr/>
          <p:nvPr/>
        </p:nvSpPr>
        <p:spPr>
          <a:xfrm>
            <a:off x="4652433" y="4409281"/>
            <a:ext cx="2973747"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Quiz Game</a:t>
            </a:r>
            <a:endParaRPr lang="en-US" sz="1600" dirty="0"/>
          </a:p>
        </p:txBody>
      </p:sp>
      <p:sp>
        <p:nvSpPr>
          <p:cNvPr id="23" name="Text 21"/>
          <p:cNvSpPr/>
          <p:nvPr/>
        </p:nvSpPr>
        <p:spPr>
          <a:xfrm>
            <a:off x="4652433" y="4769910"/>
            <a:ext cx="297374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Questions &amp; score · ⭐⭐</a:t>
            </a:r>
            <a:endParaRPr lang="en-US" sz="1300" dirty="0"/>
          </a:p>
        </p:txBody>
      </p:sp>
      <p:sp>
        <p:nvSpPr>
          <p:cNvPr id="24" name="Shape 22"/>
          <p:cNvSpPr/>
          <p:nvPr/>
        </p:nvSpPr>
        <p:spPr>
          <a:xfrm>
            <a:off x="7975600" y="3673543"/>
            <a:ext cx="3403600" cy="1560314"/>
          </a:xfrm>
          <a:prstGeom prst="roundRect">
            <a:avLst>
              <a:gd name="adj" fmla="val 8139"/>
            </a:avLst>
          </a:prstGeom>
          <a:solidFill>
            <a:srgbClr val="E3ECF6"/>
          </a:solidFill>
          <a:ln/>
        </p:spPr>
      </p:sp>
      <p:sp>
        <p:nvSpPr>
          <p:cNvPr id="25" name="Text 23"/>
          <p:cNvSpPr/>
          <p:nvPr/>
        </p:nvSpPr>
        <p:spPr>
          <a:xfrm>
            <a:off x="8229600" y="3902143"/>
            <a:ext cx="2982468"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2A37"/>
                </a:solidFill>
                <a:latin typeface="DM Sans" pitchFamily="34" charset="0"/>
                <a:ea typeface="DM Sans" pitchFamily="34" charset="-122"/>
                <a:cs typeface="DM Sans" pitchFamily="34" charset="-120"/>
              </a:rPr>
              <a:t>💡</a:t>
            </a:r>
            <a:endParaRPr lang="en-US" sz="2400" dirty="0"/>
          </a:p>
        </p:txBody>
      </p:sp>
      <p:sp>
        <p:nvSpPr>
          <p:cNvPr id="26" name="Text 24"/>
          <p:cNvSpPr/>
          <p:nvPr/>
        </p:nvSpPr>
        <p:spPr>
          <a:xfrm>
            <a:off x="8229600" y="4405052"/>
            <a:ext cx="2982468"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Your own idea!</a:t>
            </a:r>
            <a:endParaRPr lang="en-US" sz="1600" dirty="0"/>
          </a:p>
        </p:txBody>
      </p:sp>
      <p:sp>
        <p:nvSpPr>
          <p:cNvPr id="27" name="Text 25"/>
          <p:cNvSpPr/>
          <p:nvPr/>
        </p:nvSpPr>
        <p:spPr>
          <a:xfrm>
            <a:off x="8229600" y="4765675"/>
            <a:ext cx="298246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DM Sans" pitchFamily="34" charset="0"/>
                <a:ea typeface="DM Sans" pitchFamily="34" charset="-122"/>
                <a:cs typeface="DM Sans" pitchFamily="34" charset="-120"/>
              </a:rPr>
              <a:t>Check it with your teacher</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PROJECT CHECKLIST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Your project should have…</a:t>
            </a:r>
            <a:endParaRPr lang="en-US" sz="3600" dirty="0"/>
          </a:p>
        </p:txBody>
      </p:sp>
      <p:pic>
        <p:nvPicPr>
          <p:cNvPr id="4" name="Image 0" descr="Check">    </p:cNvPr>
          <p:cNvPicPr>
            <a:picLocks noChangeAspect="1"/>
          </p:cNvPicPr>
          <p:nvPr/>
        </p:nvPicPr>
        <p:blipFill>
          <a:blip r:embed="rId1"/>
          <a:srcRect l="0" r="0" t="0" b="0"/>
          <a:stretch/>
        </p:blipFill>
        <p:spPr>
          <a:xfrm>
            <a:off x="812800" y="1986229"/>
            <a:ext cx="304800" cy="304800"/>
          </a:xfrm>
          <a:prstGeom prst="rect">
            <a:avLst/>
          </a:prstGeom>
        </p:spPr>
      </p:pic>
      <p:sp>
        <p:nvSpPr>
          <p:cNvPr id="5" name="Text 2"/>
          <p:cNvSpPr/>
          <p:nvPr/>
        </p:nvSpPr>
        <p:spPr>
          <a:xfrm>
            <a:off x="1270000" y="1987488"/>
            <a:ext cx="353544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Variables + a list or dictionary</a:t>
            </a:r>
            <a:endParaRPr lang="en-US" sz="1700" dirty="0"/>
          </a:p>
        </p:txBody>
      </p:sp>
      <p:pic>
        <p:nvPicPr>
          <p:cNvPr id="6" name="Image 1" descr="Check">    </p:cNvPr>
          <p:cNvPicPr>
            <a:picLocks noChangeAspect="1"/>
          </p:cNvPicPr>
          <p:nvPr/>
        </p:nvPicPr>
        <p:blipFill>
          <a:blip r:embed="rId2"/>
          <a:srcRect l="0" r="0" t="0" b="0"/>
          <a:stretch/>
        </p:blipFill>
        <p:spPr>
          <a:xfrm>
            <a:off x="6299200" y="1986229"/>
            <a:ext cx="304800" cy="304800"/>
          </a:xfrm>
          <a:prstGeom prst="rect">
            <a:avLst/>
          </a:prstGeom>
        </p:spPr>
      </p:pic>
      <p:sp>
        <p:nvSpPr>
          <p:cNvPr id="7" name="Text 3"/>
          <p:cNvSpPr/>
          <p:nvPr/>
        </p:nvSpPr>
        <p:spPr>
          <a:xfrm>
            <a:off x="6756400" y="1987488"/>
            <a:ext cx="146645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if / elif / else</a:t>
            </a:r>
            <a:endParaRPr lang="en-US" sz="1700" dirty="0"/>
          </a:p>
        </p:txBody>
      </p:sp>
      <p:pic>
        <p:nvPicPr>
          <p:cNvPr id="8" name="Image 2" descr="Check">    </p:cNvPr>
          <p:cNvPicPr>
            <a:picLocks noChangeAspect="1"/>
          </p:cNvPicPr>
          <p:nvPr/>
        </p:nvPicPr>
        <p:blipFill>
          <a:blip r:embed="rId3"/>
          <a:srcRect l="0" r="0" t="0" b="0"/>
          <a:stretch/>
        </p:blipFill>
        <p:spPr>
          <a:xfrm>
            <a:off x="812800" y="2468829"/>
            <a:ext cx="304800" cy="304800"/>
          </a:xfrm>
          <a:prstGeom prst="rect">
            <a:avLst/>
          </a:prstGeom>
        </p:spPr>
      </p:pic>
      <p:sp>
        <p:nvSpPr>
          <p:cNvPr id="9" name="Text 4"/>
          <p:cNvSpPr/>
          <p:nvPr/>
        </p:nvSpPr>
        <p:spPr>
          <a:xfrm>
            <a:off x="1270000" y="2470088"/>
            <a:ext cx="201803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At least one loop</a:t>
            </a:r>
            <a:endParaRPr lang="en-US" sz="1700" dirty="0"/>
          </a:p>
        </p:txBody>
      </p:sp>
      <p:pic>
        <p:nvPicPr>
          <p:cNvPr id="10" name="Image 3" descr="Check">    </p:cNvPr>
          <p:cNvPicPr>
            <a:picLocks noChangeAspect="1"/>
          </p:cNvPicPr>
          <p:nvPr/>
        </p:nvPicPr>
        <p:blipFill>
          <a:blip r:embed="rId4"/>
          <a:srcRect l="0" r="0" t="0" b="0"/>
          <a:stretch/>
        </p:blipFill>
        <p:spPr>
          <a:xfrm>
            <a:off x="6299200" y="2468829"/>
            <a:ext cx="304800" cy="304800"/>
          </a:xfrm>
          <a:prstGeom prst="rect">
            <a:avLst/>
          </a:prstGeom>
        </p:spPr>
      </p:pic>
      <p:sp>
        <p:nvSpPr>
          <p:cNvPr id="11" name="Text 5"/>
          <p:cNvSpPr/>
          <p:nvPr/>
        </p:nvSpPr>
        <p:spPr>
          <a:xfrm>
            <a:off x="6756400" y="2470088"/>
            <a:ext cx="4088606"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At least two of your own functions</a:t>
            </a:r>
            <a:endParaRPr lang="en-US" sz="1700" dirty="0"/>
          </a:p>
        </p:txBody>
      </p:sp>
      <p:pic>
        <p:nvPicPr>
          <p:cNvPr id="12" name="Image 4" descr="Check">    </p:cNvPr>
          <p:cNvPicPr>
            <a:picLocks noChangeAspect="1"/>
          </p:cNvPicPr>
          <p:nvPr/>
        </p:nvPicPr>
        <p:blipFill>
          <a:blip r:embed="rId5"/>
          <a:srcRect l="0" r="0" t="0" b="0"/>
          <a:stretch/>
        </p:blipFill>
        <p:spPr>
          <a:xfrm>
            <a:off x="812800" y="2951429"/>
            <a:ext cx="304800" cy="304800"/>
          </a:xfrm>
          <a:prstGeom prst="rect">
            <a:avLst/>
          </a:prstGeom>
        </p:spPr>
      </p:pic>
      <p:sp>
        <p:nvSpPr>
          <p:cNvPr id="13" name="Text 6"/>
          <p:cNvSpPr/>
          <p:nvPr/>
        </p:nvSpPr>
        <p:spPr>
          <a:xfrm>
            <a:off x="1270000" y="2952688"/>
            <a:ext cx="266334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No crash on bad input</a:t>
            </a:r>
            <a:endParaRPr lang="en-US" sz="1700" dirty="0"/>
          </a:p>
        </p:txBody>
      </p:sp>
      <p:pic>
        <p:nvPicPr>
          <p:cNvPr id="14" name="Image 5" descr="Check">    </p:cNvPr>
          <p:cNvPicPr>
            <a:picLocks noChangeAspect="1"/>
          </p:cNvPicPr>
          <p:nvPr/>
        </p:nvPicPr>
        <p:blipFill>
          <a:blip r:embed="rId6"/>
          <a:srcRect l="0" r="0" t="0" b="0"/>
          <a:stretch/>
        </p:blipFill>
        <p:spPr>
          <a:xfrm>
            <a:off x="6299200" y="2951429"/>
            <a:ext cx="304800" cy="304800"/>
          </a:xfrm>
          <a:prstGeom prst="rect">
            <a:avLst/>
          </a:prstGeom>
        </p:spPr>
      </p:pic>
      <p:sp>
        <p:nvSpPr>
          <p:cNvPr id="15" name="Text 7"/>
          <p:cNvSpPr/>
          <p:nvPr/>
        </p:nvSpPr>
        <p:spPr>
          <a:xfrm>
            <a:off x="6756400" y="2952688"/>
            <a:ext cx="3944303"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Comments that explain the code</a:t>
            </a:r>
            <a:endParaRPr lang="en-US" sz="1700" dirty="0"/>
          </a:p>
        </p:txBody>
      </p:sp>
      <p:pic>
        <p:nvPicPr>
          <p:cNvPr id="16" name="Image 6" descr="Check">    </p:cNvPr>
          <p:cNvPicPr>
            <a:picLocks noChangeAspect="1"/>
          </p:cNvPicPr>
          <p:nvPr/>
        </p:nvPicPr>
        <p:blipFill>
          <a:blip r:embed="rId7"/>
          <a:srcRect l="0" r="0" t="0" b="0"/>
          <a:stretch/>
        </p:blipFill>
        <p:spPr>
          <a:xfrm>
            <a:off x="812800" y="3434029"/>
            <a:ext cx="304800" cy="304800"/>
          </a:xfrm>
          <a:prstGeom prst="rect">
            <a:avLst/>
          </a:prstGeom>
        </p:spPr>
      </p:pic>
      <p:sp>
        <p:nvSpPr>
          <p:cNvPr id="17" name="Text 8"/>
          <p:cNvSpPr/>
          <p:nvPr/>
        </p:nvSpPr>
        <p:spPr>
          <a:xfrm>
            <a:off x="1270000" y="3435288"/>
            <a:ext cx="2526586"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Clear, friendly output</a:t>
            </a:r>
            <a:endParaRPr lang="en-US" sz="1700" dirty="0"/>
          </a:p>
        </p:txBody>
      </p:sp>
      <p:sp>
        <p:nvSpPr>
          <p:cNvPr id="18"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19"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PRESENTING YOUR PROJECT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4 things to show (3–5 minutes)</a:t>
            </a:r>
            <a:endParaRPr lang="en-US" sz="3600" dirty="0"/>
          </a:p>
        </p:txBody>
      </p:sp>
      <p:sp>
        <p:nvSpPr>
          <p:cNvPr id="4" name="Shape 2"/>
          <p:cNvSpPr/>
          <p:nvPr/>
        </p:nvSpPr>
        <p:spPr>
          <a:xfrm>
            <a:off x="815975" y="1989404"/>
            <a:ext cx="2501900" cy="1678384"/>
          </a:xfrm>
          <a:prstGeom prst="roundRect">
            <a:avLst>
              <a:gd name="adj" fmla="val 7378"/>
            </a:avLst>
          </a:prstGeom>
          <a:solidFill>
            <a:srgbClr val="FFFFFF"/>
          </a:solidFill>
          <a:ln w="6350">
            <a:solidFill>
              <a:srgbClr val="D5DEE8"/>
            </a:solidFill>
            <a:prstDash val="solid"/>
          </a:ln>
        </p:spPr>
      </p:sp>
      <p:sp>
        <p:nvSpPr>
          <p:cNvPr id="5" name="Text 3"/>
          <p:cNvSpPr/>
          <p:nvPr/>
        </p:nvSpPr>
        <p:spPr>
          <a:xfrm>
            <a:off x="1071033" y="2244465"/>
            <a:ext cx="2051537"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776AB"/>
                </a:solidFill>
                <a:latin typeface="DM Sans" pitchFamily="34" charset="0"/>
                <a:ea typeface="DM Sans" pitchFamily="34" charset="-122"/>
                <a:cs typeface="DM Sans" pitchFamily="34" charset="-120"/>
              </a:rPr>
              <a:t>1</a:t>
            </a:r>
            <a:endParaRPr lang="en-US" sz="2800" dirty="0"/>
          </a:p>
        </p:txBody>
      </p:sp>
      <p:sp>
        <p:nvSpPr>
          <p:cNvPr id="6" name="Text 4"/>
          <p:cNvSpPr/>
          <p:nvPr/>
        </p:nvSpPr>
        <p:spPr>
          <a:xfrm>
            <a:off x="1071033" y="2843876"/>
            <a:ext cx="20515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What does your program do?</a:t>
            </a:r>
            <a:endParaRPr lang="en-US" sz="1600" dirty="0"/>
          </a:p>
        </p:txBody>
      </p:sp>
      <p:sp>
        <p:nvSpPr>
          <p:cNvPr id="7" name="Shape 5"/>
          <p:cNvSpPr/>
          <p:nvPr/>
        </p:nvSpPr>
        <p:spPr>
          <a:xfrm>
            <a:off x="3502025" y="1989404"/>
            <a:ext cx="2501900" cy="1678384"/>
          </a:xfrm>
          <a:prstGeom prst="roundRect">
            <a:avLst>
              <a:gd name="adj" fmla="val 7378"/>
            </a:avLst>
          </a:prstGeom>
          <a:solidFill>
            <a:srgbClr val="FFFFFF"/>
          </a:solidFill>
          <a:ln w="6350">
            <a:solidFill>
              <a:srgbClr val="D5DEE8"/>
            </a:solidFill>
            <a:prstDash val="solid"/>
          </a:ln>
        </p:spPr>
      </p:sp>
      <p:sp>
        <p:nvSpPr>
          <p:cNvPr id="8" name="Text 6"/>
          <p:cNvSpPr/>
          <p:nvPr/>
        </p:nvSpPr>
        <p:spPr>
          <a:xfrm>
            <a:off x="3757083" y="2244465"/>
            <a:ext cx="2051537"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776AB"/>
                </a:solidFill>
                <a:latin typeface="DM Sans" pitchFamily="34" charset="0"/>
                <a:ea typeface="DM Sans" pitchFamily="34" charset="-122"/>
                <a:cs typeface="DM Sans" pitchFamily="34" charset="-120"/>
              </a:rPr>
              <a:t>2</a:t>
            </a:r>
            <a:endParaRPr lang="en-US" sz="2800" dirty="0"/>
          </a:p>
        </p:txBody>
      </p:sp>
      <p:sp>
        <p:nvSpPr>
          <p:cNvPr id="9" name="Text 7"/>
          <p:cNvSpPr/>
          <p:nvPr/>
        </p:nvSpPr>
        <p:spPr>
          <a:xfrm>
            <a:off x="3757083" y="2843876"/>
            <a:ext cx="20515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Show it running — a live demo</a:t>
            </a:r>
            <a:endParaRPr lang="en-US" sz="1600" dirty="0"/>
          </a:p>
        </p:txBody>
      </p:sp>
      <p:sp>
        <p:nvSpPr>
          <p:cNvPr id="10" name="Shape 8"/>
          <p:cNvSpPr/>
          <p:nvPr/>
        </p:nvSpPr>
        <p:spPr>
          <a:xfrm>
            <a:off x="6188075" y="1989404"/>
            <a:ext cx="2501900" cy="1678384"/>
          </a:xfrm>
          <a:prstGeom prst="roundRect">
            <a:avLst>
              <a:gd name="adj" fmla="val 7378"/>
            </a:avLst>
          </a:prstGeom>
          <a:solidFill>
            <a:srgbClr val="FFFFFF"/>
          </a:solidFill>
          <a:ln w="6350">
            <a:solidFill>
              <a:srgbClr val="D5DEE8"/>
            </a:solidFill>
            <a:prstDash val="solid"/>
          </a:ln>
        </p:spPr>
      </p:sp>
      <p:sp>
        <p:nvSpPr>
          <p:cNvPr id="11" name="Text 9"/>
          <p:cNvSpPr/>
          <p:nvPr/>
        </p:nvSpPr>
        <p:spPr>
          <a:xfrm>
            <a:off x="6443133" y="2244465"/>
            <a:ext cx="2051537"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776AB"/>
                </a:solidFill>
                <a:latin typeface="DM Sans" pitchFamily="34" charset="0"/>
                <a:ea typeface="DM Sans" pitchFamily="34" charset="-122"/>
                <a:cs typeface="DM Sans" pitchFamily="34" charset="-120"/>
              </a:rPr>
              <a:t>3</a:t>
            </a:r>
            <a:endParaRPr lang="en-US" sz="2800" dirty="0"/>
          </a:p>
        </p:txBody>
      </p:sp>
      <p:sp>
        <p:nvSpPr>
          <p:cNvPr id="12" name="Text 10"/>
          <p:cNvSpPr/>
          <p:nvPr/>
        </p:nvSpPr>
        <p:spPr>
          <a:xfrm>
            <a:off x="6443133" y="2843876"/>
            <a:ext cx="20515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Code you’re proud of</a:t>
            </a:r>
            <a:endParaRPr lang="en-US" sz="1600" dirty="0"/>
          </a:p>
        </p:txBody>
      </p:sp>
      <p:sp>
        <p:nvSpPr>
          <p:cNvPr id="13" name="Shape 11"/>
          <p:cNvSpPr/>
          <p:nvPr/>
        </p:nvSpPr>
        <p:spPr>
          <a:xfrm>
            <a:off x="8874125" y="1989404"/>
            <a:ext cx="2501900" cy="1678384"/>
          </a:xfrm>
          <a:prstGeom prst="roundRect">
            <a:avLst>
              <a:gd name="adj" fmla="val 7378"/>
            </a:avLst>
          </a:prstGeom>
          <a:solidFill>
            <a:srgbClr val="FFFFFF"/>
          </a:solidFill>
          <a:ln w="6350">
            <a:solidFill>
              <a:srgbClr val="D5DEE8"/>
            </a:solidFill>
            <a:prstDash val="solid"/>
          </a:ln>
        </p:spPr>
      </p:sp>
      <p:sp>
        <p:nvSpPr>
          <p:cNvPr id="14" name="Text 12"/>
          <p:cNvSpPr/>
          <p:nvPr/>
        </p:nvSpPr>
        <p:spPr>
          <a:xfrm>
            <a:off x="9129184" y="2244465"/>
            <a:ext cx="2051537"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776AB"/>
                </a:solidFill>
                <a:latin typeface="DM Sans" pitchFamily="34" charset="0"/>
                <a:ea typeface="DM Sans" pitchFamily="34" charset="-122"/>
                <a:cs typeface="DM Sans" pitchFamily="34" charset="-120"/>
              </a:rPr>
              <a:t>4</a:t>
            </a:r>
            <a:endParaRPr lang="en-US" sz="2800" dirty="0"/>
          </a:p>
        </p:txBody>
      </p:sp>
      <p:sp>
        <p:nvSpPr>
          <p:cNvPr id="15" name="Text 13"/>
          <p:cNvSpPr/>
          <p:nvPr/>
        </p:nvSpPr>
        <p:spPr>
          <a:xfrm>
            <a:off x="9129184" y="2843876"/>
            <a:ext cx="205153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What was hard, and how you solved it</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WHAT’S NEXT?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Keep learning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636044"/>
        </p:xfrm>
        <a:graphic>
          <a:graphicData uri="http://schemas.openxmlformats.org/drawingml/2006/table">
            <a:tbl>
              <a:tblPr/>
              <a:tblGrid>
                <a:gridCol w="3799332"/>
                <a:gridCol w="6754368"/>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Topic</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What it lets you do</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Files — open()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save and load data</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Modules — import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use ready-made tools like math and random</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Classes (OOP)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create your own data types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turtle / pygame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draw graphics and make games</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pandas / matplotlib</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analyse data and draw charts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488897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Free practice links are in </a:t>
            </a:r>
            <a:r>
              <a:rPr lang="en-US" sz="1500" b="1" dirty="0">
                <a:solidFill>
                  <a:srgbClr val="4A5568"/>
                </a:solidFill>
                <a:latin typeface="DM Sans" pitchFamily="34" charset="0"/>
                <a:ea typeface="DM Sans" pitchFamily="34" charset="-122"/>
                <a:cs typeface="DM Sans" pitchFamily="34" charset="-120"/>
              </a:rPr>
              <a:t>resources/next-steps.md</a:t>
            </a:r>
            <a:r>
              <a:rPr lang="en-US" sz="1500" dirty="0">
                <a:solidFill>
                  <a:srgbClr val="4A5568"/>
                </a:solidFill>
                <a:latin typeface="DM Sans" pitchFamily="34" charset="0"/>
                <a:ea typeface="DM Sans" pitchFamily="34" charset="-122"/>
                <a:cs typeface="DM Sans" pitchFamily="34" charset="-120"/>
              </a:rPr>
              <a:t> on GitHub.</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10: final project</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5461000" y="1692939"/>
            <a:ext cx="1270000" cy="1270000"/>
          </a:xfrm>
          <a:prstGeom prst="rect">
            <a:avLst/>
          </a:prstGeom>
        </p:spPr>
      </p:pic>
      <p:sp>
        <p:nvSpPr>
          <p:cNvPr id="4" name="Text 1"/>
          <p:cNvSpPr/>
          <p:nvPr>
            <p:ph type="title"/>
          </p:nvPr>
        </p:nvSpPr>
        <p:spPr>
          <a:xfrm>
            <a:off x="152400" y="3216939"/>
            <a:ext cx="11887200" cy="825500"/>
          </a:xfrm>
          <a:prstGeom prst="rect">
            <a:avLst/>
          </a:prstGeom>
          <a:noFill/>
          <a:ln/>
        </p:spPr>
        <p:txBody>
          <a:bodyPr wrap="square" lIns="0" tIns="0" rIns="0" bIns="0" rtlCol="0" anchor="t">
            <a:normAutofit/>
          </a:bodyPr>
          <a:lstStyle/>
          <a:p>
            <a:pPr algn="ctr" indent="0" marL="0">
              <a:lnSpc>
                <a:spcPts val="6300"/>
              </a:lnSpc>
              <a:buNone/>
            </a:pPr>
            <a:r>
              <a:rPr lang="en-US" sz="6000" b="1" i="0" dirty="0">
                <a:solidFill>
                  <a:srgbClr val="1F2A37"/>
                </a:solidFill>
                <a:latin typeface="DM Sans" pitchFamily="34" charset="0"/>
                <a:ea typeface="DM Sans" pitchFamily="34" charset="-122"/>
                <a:cs typeface="DM Sans" pitchFamily="34" charset="-120"/>
              </a:rPr>
              <a:t>Well done, programmer! 🎉</a:t>
            </a:r>
            <a:endParaRPr lang="en-US" sz="6000" dirty="0"/>
          </a:p>
        </p:txBody>
      </p:sp>
      <p:sp>
        <p:nvSpPr>
          <p:cNvPr id="5" name="Text 2"/>
          <p:cNvSpPr/>
          <p:nvPr/>
        </p:nvSpPr>
        <p:spPr>
          <a:xfrm>
            <a:off x="3706813" y="4271039"/>
            <a:ext cx="4778375"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4A5568"/>
                </a:solidFill>
                <a:latin typeface="DM Sans" pitchFamily="34" charset="0"/>
                <a:ea typeface="DM Sans" pitchFamily="34" charset="-122"/>
                <a:cs typeface="DM Sans" pitchFamily="34" charset="-120"/>
              </a:rPr>
              <a:t>You finished Python for Beginners.</a:t>
            </a:r>
            <a:endParaRPr lang="en-US" sz="2000" dirty="0"/>
          </a:p>
        </p:txBody>
      </p:sp>
      <p:sp>
        <p:nvSpPr>
          <p:cNvPr id="6" name="Text 3"/>
          <p:cNvSpPr/>
          <p:nvPr/>
        </p:nvSpPr>
        <p:spPr>
          <a:xfrm>
            <a:off x="4162901" y="4880639"/>
            <a:ext cx="3866197"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3776AB"/>
                </a:solidFill>
                <a:latin typeface="DM Sans" pitchFamily="34" charset="0"/>
                <a:ea typeface="DM Sans" pitchFamily="34" charset="-122"/>
                <a:cs typeface="DM Sans" pitchFamily="34" charset="-120"/>
              </a:rPr>
              <a:t>Instructor: Homaira Mohammadi</a:t>
            </a:r>
            <a:endParaRPr lang="en-US" sz="1600" dirty="0"/>
          </a:p>
        </p:txBody>
      </p:sp>
    </p:spTree>
  </p:cSld>
  <p:clrMapOvr>
    <a:masterClrMapping/>
  </p:clrMapOvr>
</p:sld>
</file>

<file path=ppt/theme/theme1.xml><?xml version="1.0" encoding="utf-8"?>
<a:theme xmlns:a="http://schemas.openxmlformats.org/drawingml/2006/main" name="Day 10 — Final Project">
  <a:themeElements>
    <a:clrScheme name="Day 10 — Final Project">
      <a:dk1>
        <a:srgbClr val="1F2A37"/>
      </a:dk1>
      <a:lt1>
        <a:srgbClr val="FAF9F6"/>
      </a:lt1>
      <a:dk2>
        <a:srgbClr val="565E67"/>
      </a:dk2>
      <a:lt2>
        <a:srgbClr val="E4E4E3"/>
      </a:lt2>
      <a:accent1>
        <a:srgbClr val="3776AB"/>
      </a:accent1>
      <a:accent2>
        <a:srgbClr val="2F5F8A"/>
      </a:accent2>
      <a:accent3>
        <a:srgbClr val="4A5568"/>
      </a:accent3>
      <a:accent4>
        <a:srgbClr val="8A94A3"/>
      </a:accent4>
      <a:accent5>
        <a:srgbClr val="CFE0F1"/>
      </a:accent5>
      <a:accent6>
        <a:srgbClr val="9AA0A6"/>
      </a:accent6>
      <a:hlink>
        <a:srgbClr val="0563C1"/>
      </a:hlink>
      <a:folHlink>
        <a:srgbClr val="954F72"/>
      </a:folHlink>
    </a:clrScheme>
    <a:fontScheme name="Day 10 — Final Projec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10 — Final Project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2026-10-24T05:10:34Z</dcterms:created>
  <dcterms:modified xsi:type="dcterms:W3CDTF">2026-10-24T05:10:34Z</dcterms:modified>
</cp:coreProperties>
</file>