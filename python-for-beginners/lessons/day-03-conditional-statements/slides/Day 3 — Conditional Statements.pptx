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DM Sans" pitchFamily="34" charset="0"/>
      <p:regular r:id="rId19"/>
      <p:bold r:id="rId20"/>
    </p:embeddedFon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programs stop doing the same thing every time. They start making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A, print() is Python's built-in output function. Q2 = Print must be lowercase print. Q3 = input() always returns a string; fix with int(input("Age: ")). More warm-up questions are in the lesson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for their own examples of decisions in everyday life or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 few in the notebook: print(age &gt;= 18). Python answers True or False, which is the bool type from Day 2. Also, "Alice" == "alice" is False because capitals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Syntax: if condition, colon, then indented statement. Without indentation, Python doesn't know what belongs to the 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if block only runs when the condition is True. When False, Python skips it entirely and moves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35 &gt; 30 is True, so "It is hot!" prints. The second print is NOT indented, so it is outside the if and always runs. Indentation is everything in Python. Then change temperature to 20 and ask again (answer: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is 50 a pass? Because &gt;= means "greater than OR equal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one live to show the real errors: TypeError, SyntaxError (expected ':'), IndentationError, and SyntaxError (maybe you meant '=='). Ask students to fix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 challenge: Pass or Fail. Ask for a score; if 50 or more print "You passed!", else print "You failed." Bonus: add "Congratulations!" or "Keep practicing!". Another example: even or odd with number % 2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checks from top to bottom and stops at the first True condition, even if later conditions would also be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637109"/>
            <a:ext cx="1270000" cy="1270000"/>
          </a:xfrm>
          <a:prstGeom prst="rect">
            <a:avLst/>
          </a:prstGeom>
        </p:spPr>
      </p:pic>
      <p:sp>
        <p:nvSpPr>
          <p:cNvPr id="4" name="Text 1"/>
          <p:cNvSpPr/>
          <p:nvPr/>
        </p:nvSpPr>
        <p:spPr>
          <a:xfrm>
            <a:off x="812800" y="311030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3</a:t>
            </a:r>
            <a:endParaRPr lang="en-US" sz="1200" dirty="0"/>
          </a:p>
        </p:txBody>
      </p:sp>
      <p:sp>
        <p:nvSpPr>
          <p:cNvPr id="5" name="Text 2"/>
          <p:cNvSpPr/>
          <p:nvPr>
            <p:ph type="title"/>
          </p:nvPr>
        </p:nvSpPr>
        <p:spPr>
          <a:xfrm>
            <a:off x="812800" y="352683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if · elif · else</a:t>
            </a:r>
            <a:endParaRPr lang="en-US" sz="4800" dirty="0"/>
          </a:p>
        </p:txBody>
      </p:sp>
      <p:sp>
        <p:nvSpPr>
          <p:cNvPr id="6" name="Text 3"/>
          <p:cNvSpPr/>
          <p:nvPr/>
        </p:nvSpPr>
        <p:spPr>
          <a:xfrm>
            <a:off x="812800" y="4370057"/>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Teaching Python to make decisions</a:t>
            </a:r>
            <a:endParaRPr lang="en-US" sz="2200" dirty="0"/>
          </a:p>
        </p:txBody>
      </p:sp>
      <p:sp>
        <p:nvSpPr>
          <p:cNvPr id="7" name="Text 4"/>
          <p:cNvSpPr/>
          <p:nvPr/>
        </p:nvSpPr>
        <p:spPr>
          <a:xfrm>
            <a:off x="812800" y="4936464"/>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2159066"/>
            <a:ext cx="4978400" cy="2539802"/>
          </a:xfrm>
          <a:prstGeom prst="roundRect">
            <a:avLst>
              <a:gd name="adj" fmla="val 6000"/>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age = 20</a:t>
            </a:r>
            <a:endParaRPr lang="en-US" sz="1800" dirty="0"/>
          </a:p>
          <a:p>
            <a:pPr algn="l" indent="0" marL="0">
              <a:lnSpc>
                <a:spcPts val="2880"/>
              </a:lnSpc>
              <a:buNone/>
            </a:pPr>
            <a:r>
              <a:rPr lang="en-US" sz="1800" dirty="0">
                <a:solidFill>
                  <a:srgbClr val="8EC1F0"/>
                </a:solidFill>
                <a:latin typeface="JetBrains Mono" pitchFamily="49" charset="0"/>
                <a:ea typeface="JetBrains Mono" pitchFamily="49" charset="-122"/>
                <a:cs typeface="JetBrains Mono" pitchFamily="49" charset="-120"/>
              </a:rPr>
              <a:t>if</a:t>
            </a:r>
            <a:r>
              <a:rPr lang="en-US" sz="1800" dirty="0">
                <a:solidFill>
                  <a:srgbClr val="E8EDF3"/>
                </a:solidFill>
                <a:latin typeface="JetBrains Mono" pitchFamily="49" charset="0"/>
                <a:ea typeface="JetBrains Mono" pitchFamily="49" charset="-122"/>
                <a:cs typeface="JetBrains Mono" pitchFamily="49" charset="-120"/>
              </a:rPr>
              <a:t> age &gt;= 18:</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print(</a:t>
            </a:r>
            <a:r>
              <a:rPr lang="en-US" sz="1800" dirty="0">
                <a:solidFill>
                  <a:srgbClr val="F2C94C"/>
                </a:solidFill>
                <a:latin typeface="JetBrains Mono" pitchFamily="49" charset="0"/>
                <a:ea typeface="JetBrains Mono" pitchFamily="49" charset="-122"/>
                <a:cs typeface="JetBrains Mono" pitchFamily="49" charset="-120"/>
              </a:rPr>
              <a:t>"Adult"</a:t>
            </a: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a:p>
            <a:pPr algn="l" indent="0" marL="0">
              <a:lnSpc>
                <a:spcPts val="2880"/>
              </a:lnSpc>
              <a:buNone/>
            </a:pPr>
            <a:r>
              <a:rPr lang="en-US" sz="1800" dirty="0">
                <a:solidFill>
                  <a:srgbClr val="8EC1F0"/>
                </a:solidFill>
                <a:latin typeface="JetBrains Mono" pitchFamily="49" charset="0"/>
                <a:ea typeface="JetBrains Mono" pitchFamily="49" charset="-122"/>
                <a:cs typeface="JetBrains Mono" pitchFamily="49" charset="-120"/>
              </a:rPr>
              <a:t>else</a:t>
            </a: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print(</a:t>
            </a:r>
            <a:r>
              <a:rPr lang="en-US" sz="1800" dirty="0">
                <a:solidFill>
                  <a:srgbClr val="F2C94C"/>
                </a:solidFill>
                <a:latin typeface="JetBrains Mono" pitchFamily="49" charset="0"/>
                <a:ea typeface="JetBrains Mono" pitchFamily="49" charset="-122"/>
                <a:cs typeface="JetBrains Mono" pitchFamily="49" charset="-120"/>
              </a:rPr>
              <a:t>"Under 18"</a:t>
            </a: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BY THE END OF TODAY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You will be able to…</a:t>
            </a:r>
            <a:endParaRPr lang="en-US" sz="3600" dirty="0"/>
          </a:p>
        </p:txBody>
      </p:sp>
      <p:pic>
        <p:nvPicPr>
          <p:cNvPr id="4" name="Image 0" descr="CheckCircle">    </p:cNvPr>
          <p:cNvPicPr>
            <a:picLocks noChangeAspect="1"/>
          </p:cNvPicPr>
          <p:nvPr/>
        </p:nvPicPr>
        <p:blipFill>
          <a:blip r:embed="rId1"/>
          <a:srcRect l="0" r="0" t="0" b="0"/>
          <a:stretch/>
        </p:blipFill>
        <p:spPr>
          <a:xfrm>
            <a:off x="812800" y="1986228"/>
            <a:ext cx="304800" cy="304800"/>
          </a:xfrm>
          <a:prstGeom prst="rect">
            <a:avLst/>
          </a:prstGeom>
        </p:spPr>
      </p:pic>
      <p:sp>
        <p:nvSpPr>
          <p:cNvPr id="5" name="Text 2"/>
          <p:cNvSpPr/>
          <p:nvPr/>
        </p:nvSpPr>
        <p:spPr>
          <a:xfrm>
            <a:off x="1270000" y="1987484"/>
            <a:ext cx="3465989"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Make Python make decisions</a:t>
            </a:r>
            <a:endParaRPr lang="en-US" sz="1700" dirty="0"/>
          </a:p>
        </p:txBody>
      </p:sp>
      <p:pic>
        <p:nvPicPr>
          <p:cNvPr id="6" name="Image 1" descr="CheckCircle">    </p:cNvPr>
          <p:cNvPicPr>
            <a:picLocks noChangeAspect="1"/>
          </p:cNvPicPr>
          <p:nvPr/>
        </p:nvPicPr>
        <p:blipFill>
          <a:blip r:embed="rId2"/>
          <a:srcRect l="0" r="0" t="0" b="0"/>
          <a:stretch/>
        </p:blipFill>
        <p:spPr>
          <a:xfrm>
            <a:off x="6299200" y="1986228"/>
            <a:ext cx="304800" cy="304800"/>
          </a:xfrm>
          <a:prstGeom prst="rect">
            <a:avLst/>
          </a:prstGeom>
        </p:spPr>
      </p:pic>
      <p:sp>
        <p:nvSpPr>
          <p:cNvPr id="7" name="Text 3"/>
          <p:cNvSpPr/>
          <p:nvPr/>
        </p:nvSpPr>
        <p:spPr>
          <a:xfrm>
            <a:off x="6756400" y="1987484"/>
            <a:ext cx="2300129"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Use </a:t>
            </a:r>
            <a:r>
              <a:rPr lang="en-US" sz="1700" b="1" dirty="0">
                <a:solidFill>
                  <a:srgbClr val="1F2A37"/>
                </a:solidFill>
                <a:latin typeface="DM Sans" pitchFamily="34" charset="0"/>
                <a:ea typeface="DM Sans" pitchFamily="34" charset="-122"/>
                <a:cs typeface="DM Sans" pitchFamily="34" charset="-120"/>
              </a:rPr>
              <a:t>if</a:t>
            </a:r>
            <a:r>
              <a:rPr lang="en-US" sz="1700" dirty="0">
                <a:solidFill>
                  <a:srgbClr val="1F2A37"/>
                </a:solidFill>
                <a:latin typeface="DM Sans" pitchFamily="34" charset="0"/>
                <a:ea typeface="DM Sans" pitchFamily="34" charset="-122"/>
                <a:cs typeface="DM Sans" pitchFamily="34" charset="-120"/>
              </a:rPr>
              <a:t>, </a:t>
            </a:r>
            <a:r>
              <a:rPr lang="en-US" sz="1700" b="1" dirty="0">
                <a:solidFill>
                  <a:srgbClr val="1F2A37"/>
                </a:solidFill>
                <a:latin typeface="DM Sans" pitchFamily="34" charset="0"/>
                <a:ea typeface="DM Sans" pitchFamily="34" charset="-122"/>
                <a:cs typeface="DM Sans" pitchFamily="34" charset="-120"/>
              </a:rPr>
              <a:t>elif</a:t>
            </a:r>
            <a:r>
              <a:rPr lang="en-US" sz="1700" dirty="0">
                <a:solidFill>
                  <a:srgbClr val="1F2A37"/>
                </a:solidFill>
                <a:latin typeface="DM Sans" pitchFamily="34" charset="0"/>
                <a:ea typeface="DM Sans" pitchFamily="34" charset="-122"/>
                <a:cs typeface="DM Sans" pitchFamily="34" charset="-120"/>
              </a:rPr>
              <a:t> and </a:t>
            </a:r>
            <a:r>
              <a:rPr lang="en-US" sz="1700" b="1" dirty="0">
                <a:solidFill>
                  <a:srgbClr val="1F2A37"/>
                </a:solidFill>
                <a:latin typeface="DM Sans" pitchFamily="34" charset="0"/>
                <a:ea typeface="DM Sans" pitchFamily="34" charset="-122"/>
                <a:cs typeface="DM Sans" pitchFamily="34" charset="-120"/>
              </a:rPr>
              <a:t>else</a:t>
            </a:r>
            <a:endParaRPr lang="en-US" sz="1700" dirty="0"/>
          </a:p>
        </p:txBody>
      </p:sp>
      <p:pic>
        <p:nvPicPr>
          <p:cNvPr id="8" name="Image 2" descr="CheckCircle">    </p:cNvPr>
          <p:cNvPicPr>
            <a:picLocks noChangeAspect="1"/>
          </p:cNvPicPr>
          <p:nvPr/>
        </p:nvPicPr>
        <p:blipFill>
          <a:blip r:embed="rId3"/>
          <a:srcRect l="0" r="0" t="0" b="0"/>
          <a:stretch/>
        </p:blipFill>
        <p:spPr>
          <a:xfrm>
            <a:off x="812800" y="2468828"/>
            <a:ext cx="304800" cy="304800"/>
          </a:xfrm>
          <a:prstGeom prst="rect">
            <a:avLst/>
          </a:prstGeom>
        </p:spPr>
      </p:pic>
      <p:sp>
        <p:nvSpPr>
          <p:cNvPr id="9" name="Text 4"/>
          <p:cNvSpPr/>
          <p:nvPr/>
        </p:nvSpPr>
        <p:spPr>
          <a:xfrm>
            <a:off x="1270000" y="2470084"/>
            <a:ext cx="193484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Compare values</a:t>
            </a:r>
            <a:endParaRPr lang="en-US" sz="1700" dirty="0"/>
          </a:p>
        </p:txBody>
      </p:sp>
      <p:pic>
        <p:nvPicPr>
          <p:cNvPr id="10" name="Image 3" descr="CheckCircle">    </p:cNvPr>
          <p:cNvPicPr>
            <a:picLocks noChangeAspect="1"/>
          </p:cNvPicPr>
          <p:nvPr/>
        </p:nvPicPr>
        <p:blipFill>
          <a:blip r:embed="rId4"/>
          <a:srcRect l="0" r="0" t="0" b="0"/>
          <a:stretch/>
        </p:blipFill>
        <p:spPr>
          <a:xfrm>
            <a:off x="6299200" y="2468828"/>
            <a:ext cx="304800" cy="304800"/>
          </a:xfrm>
          <a:prstGeom prst="rect">
            <a:avLst/>
          </a:prstGeom>
        </p:spPr>
      </p:pic>
      <p:sp>
        <p:nvSpPr>
          <p:cNvPr id="11" name="Text 5"/>
          <p:cNvSpPr/>
          <p:nvPr/>
        </p:nvSpPr>
        <p:spPr>
          <a:xfrm>
            <a:off x="6756400" y="2470084"/>
            <a:ext cx="191849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Use </a:t>
            </a:r>
            <a:r>
              <a:rPr lang="en-US" sz="1700" b="1" dirty="0">
                <a:solidFill>
                  <a:srgbClr val="1F2A37"/>
                </a:solidFill>
                <a:latin typeface="DM Sans" pitchFamily="34" charset="0"/>
                <a:ea typeface="DM Sans" pitchFamily="34" charset="-122"/>
                <a:cs typeface="DM Sans" pitchFamily="34" charset="-120"/>
              </a:rPr>
              <a:t>and</a:t>
            </a:r>
            <a:r>
              <a:rPr lang="en-US" sz="1700" dirty="0">
                <a:solidFill>
                  <a:srgbClr val="1F2A37"/>
                </a:solidFill>
                <a:latin typeface="DM Sans" pitchFamily="34" charset="0"/>
                <a:ea typeface="DM Sans" pitchFamily="34" charset="-122"/>
                <a:cs typeface="DM Sans" pitchFamily="34" charset="-120"/>
              </a:rPr>
              <a:t>, </a:t>
            </a:r>
            <a:r>
              <a:rPr lang="en-US" sz="1700" b="1" dirty="0">
                <a:solidFill>
                  <a:srgbClr val="1F2A37"/>
                </a:solidFill>
                <a:latin typeface="DM Sans" pitchFamily="34" charset="0"/>
                <a:ea typeface="DM Sans" pitchFamily="34" charset="-122"/>
                <a:cs typeface="DM Sans" pitchFamily="34" charset="-120"/>
              </a:rPr>
              <a:t>or</a:t>
            </a:r>
            <a:r>
              <a:rPr lang="en-US" sz="1700" dirty="0">
                <a:solidFill>
                  <a:srgbClr val="1F2A37"/>
                </a:solidFill>
                <a:latin typeface="DM Sans" pitchFamily="34" charset="0"/>
                <a:ea typeface="DM Sans" pitchFamily="34" charset="-122"/>
                <a:cs typeface="DM Sans" pitchFamily="34" charset="-120"/>
              </a:rPr>
              <a:t>, </a:t>
            </a:r>
            <a:r>
              <a:rPr lang="en-US" sz="1700" b="1" dirty="0">
                <a:solidFill>
                  <a:srgbClr val="1F2A37"/>
                </a:solidFill>
                <a:latin typeface="DM Sans" pitchFamily="34" charset="0"/>
                <a:ea typeface="DM Sans" pitchFamily="34" charset="-122"/>
                <a:cs typeface="DM Sans" pitchFamily="34" charset="-120"/>
              </a:rPr>
              <a:t>not</a:t>
            </a:r>
            <a:endParaRPr lang="en-US" sz="1700" dirty="0"/>
          </a:p>
        </p:txBody>
      </p:sp>
      <p:pic>
        <p:nvPicPr>
          <p:cNvPr id="12" name="Image 4" descr="CheckCircle">    </p:cNvPr>
          <p:cNvPicPr>
            <a:picLocks noChangeAspect="1"/>
          </p:cNvPicPr>
          <p:nvPr/>
        </p:nvPicPr>
        <p:blipFill>
          <a:blip r:embed="rId5"/>
          <a:srcRect l="0" r="0" t="0" b="0"/>
          <a:stretch/>
        </p:blipFill>
        <p:spPr>
          <a:xfrm>
            <a:off x="812800" y="2951428"/>
            <a:ext cx="304800" cy="304800"/>
          </a:xfrm>
          <a:prstGeom prst="rect">
            <a:avLst/>
          </a:prstGeom>
        </p:spPr>
      </p:pic>
      <p:sp>
        <p:nvSpPr>
          <p:cNvPr id="13" name="Text 6"/>
          <p:cNvSpPr/>
          <p:nvPr/>
        </p:nvSpPr>
        <p:spPr>
          <a:xfrm>
            <a:off x="1270000" y="2952684"/>
            <a:ext cx="314682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Build interactive programs</a:t>
            </a:r>
            <a:endParaRPr lang="en-US" sz="1700" dirty="0"/>
          </a:p>
        </p:txBody>
      </p:sp>
      <p:pic>
        <p:nvPicPr>
          <p:cNvPr id="14" name="Image 5" descr="CheckCircle">    </p:cNvPr>
          <p:cNvPicPr>
            <a:picLocks noChangeAspect="1"/>
          </p:cNvPicPr>
          <p:nvPr/>
        </p:nvPicPr>
        <p:blipFill>
          <a:blip r:embed="rId6"/>
          <a:srcRect l="0" r="0" t="0" b="0"/>
          <a:stretch/>
        </p:blipFill>
        <p:spPr>
          <a:xfrm>
            <a:off x="6299200" y="2951428"/>
            <a:ext cx="304800" cy="304800"/>
          </a:xfrm>
          <a:prstGeom prst="rect">
            <a:avLst/>
          </a:prstGeom>
        </p:spPr>
      </p:pic>
      <p:sp>
        <p:nvSpPr>
          <p:cNvPr id="15" name="Text 7"/>
          <p:cNvSpPr/>
          <p:nvPr/>
        </p:nvSpPr>
        <p:spPr>
          <a:xfrm>
            <a:off x="6756400" y="2952684"/>
            <a:ext cx="303228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Create a simple game 🎮</a:t>
            </a:r>
            <a:endParaRPr lang="en-US" sz="17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PYTHON SPEED ROUND · NO LAPTOPS!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5 seconds each — hands up! 🙋</a:t>
            </a:r>
            <a:endParaRPr lang="en-US" sz="3600" dirty="0"/>
          </a:p>
        </p:txBody>
      </p:sp>
      <p:sp>
        <p:nvSpPr>
          <p:cNvPr id="4" name="Shape 2"/>
          <p:cNvSpPr/>
          <p:nvPr/>
        </p:nvSpPr>
        <p:spPr>
          <a:xfrm>
            <a:off x="815975" y="1989403"/>
            <a:ext cx="3346450" cy="2044171"/>
          </a:xfrm>
          <a:prstGeom prst="roundRect">
            <a:avLst>
              <a:gd name="adj" fmla="val 6057"/>
            </a:avLst>
          </a:prstGeom>
          <a:solidFill>
            <a:srgbClr val="FFFFFF"/>
          </a:solidFill>
          <a:ln w="6350">
            <a:solidFill>
              <a:srgbClr val="D5DEE8"/>
            </a:solidFill>
            <a:prstDash val="solid"/>
          </a:ln>
        </p:spPr>
      </p:sp>
      <p:sp>
        <p:nvSpPr>
          <p:cNvPr id="5" name="Text 3"/>
          <p:cNvSpPr/>
          <p:nvPr/>
        </p:nvSpPr>
        <p:spPr>
          <a:xfrm>
            <a:off x="1071033" y="2244461"/>
            <a:ext cx="292142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37"/>
                </a:solidFill>
                <a:latin typeface="DM Sans" pitchFamily="34" charset="0"/>
                <a:ea typeface="DM Sans" pitchFamily="34" charset="-122"/>
                <a:cs typeface="DM Sans" pitchFamily="34" charset="-120"/>
              </a:rPr>
              <a:t>Q1. Which is Python?</a:t>
            </a:r>
            <a:endParaRPr lang="en-US" sz="1700" dirty="0"/>
          </a:p>
        </p:txBody>
      </p:sp>
      <p:sp>
        <p:nvSpPr>
          <p:cNvPr id="6" name="Text 4"/>
          <p:cNvSpPr/>
          <p:nvPr/>
        </p:nvSpPr>
        <p:spPr>
          <a:xfrm>
            <a:off x="1071033" y="2655888"/>
            <a:ext cx="2921423" cy="114802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1F2A37"/>
                </a:solidFill>
                <a:latin typeface="JetBrains Mono" pitchFamily="49" charset="0"/>
                <a:ea typeface="JetBrains Mono" pitchFamily="49" charset="-122"/>
                <a:cs typeface="JetBrains Mono" pitchFamily="49" charset="-120"/>
              </a:rPr>
              <a:t>A: print("Hello")</a:t>
            </a:r>
            <a:endParaRPr lang="en-US" sz="1300" dirty="0"/>
          </a:p>
          <a:p>
            <a:pPr algn="l" indent="0" marL="0">
              <a:lnSpc>
                <a:spcPts val="2210"/>
              </a:lnSpc>
              <a:buNone/>
            </a:pPr>
            <a:r>
              <a:rPr lang="en-US" sz="1300" dirty="0">
                <a:solidFill>
                  <a:srgbClr val="1F2A37"/>
                </a:solidFill>
                <a:latin typeface="JetBrains Mono" pitchFamily="49" charset="0"/>
                <a:ea typeface="JetBrains Mono" pitchFamily="49" charset="-122"/>
                <a:cs typeface="JetBrains Mono" pitchFamily="49" charset="-120"/>
              </a:rPr>
              <a:t>B: say("Hello")</a:t>
            </a:r>
            <a:endParaRPr lang="en-US" sz="1300" dirty="0"/>
          </a:p>
          <a:p>
            <a:pPr algn="l" indent="0" marL="0">
              <a:lnSpc>
                <a:spcPts val="2210"/>
              </a:lnSpc>
              <a:buNone/>
            </a:pPr>
            <a:r>
              <a:rPr lang="en-US" sz="1300" dirty="0">
                <a:solidFill>
                  <a:srgbClr val="1F2A37"/>
                </a:solidFill>
                <a:latin typeface="JetBrains Mono" pitchFamily="49" charset="0"/>
                <a:ea typeface="JetBrains Mono" pitchFamily="49" charset="-122"/>
                <a:cs typeface="JetBrains Mono" pitchFamily="49" charset="-120"/>
              </a:rPr>
              <a:t>C: display("Hello")</a:t>
            </a:r>
            <a:endParaRPr lang="en-US" sz="1300" dirty="0"/>
          </a:p>
          <a:p>
            <a:pPr algn="l" indent="0" marL="0">
              <a:lnSpc>
                <a:spcPts val="2210"/>
              </a:lnSpc>
              <a:buNone/>
            </a:pPr>
            <a:r>
              <a:rPr lang="en-US" sz="1300" dirty="0">
                <a:solidFill>
                  <a:srgbClr val="1F2A37"/>
                </a:solidFill>
                <a:latin typeface="JetBrains Mono" pitchFamily="49" charset="0"/>
                <a:ea typeface="JetBrains Mono" pitchFamily="49" charset="-122"/>
                <a:cs typeface="JetBrains Mono" pitchFamily="49" charset="-120"/>
              </a:rPr>
              <a:t>D: show("Hello")</a:t>
            </a:r>
            <a:endParaRPr lang="en-US" sz="1300" dirty="0"/>
          </a:p>
        </p:txBody>
      </p:sp>
      <p:sp>
        <p:nvSpPr>
          <p:cNvPr id="7" name="Shape 5"/>
          <p:cNvSpPr/>
          <p:nvPr/>
        </p:nvSpPr>
        <p:spPr>
          <a:xfrm>
            <a:off x="4422775" y="1989403"/>
            <a:ext cx="3346450" cy="2044171"/>
          </a:xfrm>
          <a:prstGeom prst="roundRect">
            <a:avLst>
              <a:gd name="adj" fmla="val 6057"/>
            </a:avLst>
          </a:prstGeom>
          <a:solidFill>
            <a:srgbClr val="FFFFFF"/>
          </a:solidFill>
          <a:ln w="6350">
            <a:solidFill>
              <a:srgbClr val="D5DEE8"/>
            </a:solidFill>
            <a:prstDash val="solid"/>
          </a:ln>
        </p:spPr>
      </p:sp>
      <p:sp>
        <p:nvSpPr>
          <p:cNvPr id="8" name="Text 6"/>
          <p:cNvSpPr/>
          <p:nvPr/>
        </p:nvSpPr>
        <p:spPr>
          <a:xfrm>
            <a:off x="4677833" y="2244461"/>
            <a:ext cx="292142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37"/>
                </a:solidFill>
                <a:latin typeface="DM Sans" pitchFamily="34" charset="0"/>
                <a:ea typeface="DM Sans" pitchFamily="34" charset="-122"/>
                <a:cs typeface="DM Sans" pitchFamily="34" charset="-120"/>
              </a:rPr>
              <a:t>Q2. Find the error</a:t>
            </a:r>
            <a:endParaRPr lang="en-US" sz="1700" dirty="0"/>
          </a:p>
        </p:txBody>
      </p:sp>
      <p:sp>
        <p:nvSpPr>
          <p:cNvPr id="9" name="Text 7"/>
          <p:cNvSpPr/>
          <p:nvPr/>
        </p:nvSpPr>
        <p:spPr>
          <a:xfrm>
            <a:off x="4677833" y="2655888"/>
            <a:ext cx="2836333" cy="883841"/>
          </a:xfrm>
          <a:prstGeom prst="roundRect">
            <a:avLst>
              <a:gd name="adj" fmla="val 10058"/>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name = </a:t>
            </a:r>
            <a:r>
              <a:rPr lang="en-US" sz="1300" dirty="0">
                <a:solidFill>
                  <a:srgbClr val="F2C94C"/>
                </a:solidFill>
                <a:latin typeface="JetBrains Mono" pitchFamily="49" charset="0"/>
                <a:ea typeface="JetBrains Mono" pitchFamily="49" charset="-122"/>
                <a:cs typeface="JetBrains Mono" pitchFamily="49" charset="-120"/>
              </a:rPr>
              <a:t>"Homaira"</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Print(name)</a:t>
            </a:r>
            <a:endParaRPr lang="en-US" sz="1300" dirty="0"/>
          </a:p>
        </p:txBody>
      </p:sp>
      <p:sp>
        <p:nvSpPr>
          <p:cNvPr id="10" name="Shape 8"/>
          <p:cNvSpPr/>
          <p:nvPr/>
        </p:nvSpPr>
        <p:spPr>
          <a:xfrm>
            <a:off x="8029575" y="1989403"/>
            <a:ext cx="3346450" cy="2044171"/>
          </a:xfrm>
          <a:prstGeom prst="roundRect">
            <a:avLst>
              <a:gd name="adj" fmla="val 6057"/>
            </a:avLst>
          </a:prstGeom>
          <a:solidFill>
            <a:srgbClr val="FFFFFF"/>
          </a:solidFill>
          <a:ln w="6350">
            <a:solidFill>
              <a:srgbClr val="D5DEE8"/>
            </a:solidFill>
            <a:prstDash val="solid"/>
          </a:ln>
        </p:spPr>
      </p:sp>
      <p:sp>
        <p:nvSpPr>
          <p:cNvPr id="11" name="Text 9"/>
          <p:cNvSpPr/>
          <p:nvPr/>
        </p:nvSpPr>
        <p:spPr>
          <a:xfrm>
            <a:off x="8284634" y="2244461"/>
            <a:ext cx="292142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37"/>
                </a:solidFill>
                <a:latin typeface="DM Sans" pitchFamily="34" charset="0"/>
                <a:ea typeface="DM Sans" pitchFamily="34" charset="-122"/>
                <a:cs typeface="DM Sans" pitchFamily="34" charset="-120"/>
              </a:rPr>
              <a:t>Q3. Find the error</a:t>
            </a:r>
            <a:endParaRPr lang="en-US" sz="1700" dirty="0"/>
          </a:p>
        </p:txBody>
      </p:sp>
      <p:sp>
        <p:nvSpPr>
          <p:cNvPr id="12" name="Text 10"/>
          <p:cNvSpPr/>
          <p:nvPr/>
        </p:nvSpPr>
        <p:spPr>
          <a:xfrm>
            <a:off x="8284634" y="2655888"/>
            <a:ext cx="2836333" cy="883841"/>
          </a:xfrm>
          <a:prstGeom prst="roundRect">
            <a:avLst>
              <a:gd name="adj" fmla="val 10058"/>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age = input(</a:t>
            </a:r>
            <a:r>
              <a:rPr lang="en-US" sz="1300" dirty="0">
                <a:solidFill>
                  <a:srgbClr val="F2C94C"/>
                </a:solidFill>
                <a:latin typeface="JetBrains Mono" pitchFamily="49" charset="0"/>
                <a:ea typeface="JetBrains Mono" pitchFamily="49" charset="-122"/>
                <a:cs typeface="JetBrains Mono" pitchFamily="49" charset="-120"/>
              </a:rPr>
              <a:t>"Age: "</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print(age + 5)</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BUT THERE IS ONE PROBLEM…</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Real programs make decisions</a:t>
            </a:r>
            <a:endParaRPr lang="en-US" sz="3600" dirty="0"/>
          </a:p>
        </p:txBody>
      </p:sp>
      <p:sp>
        <p:nvSpPr>
          <p:cNvPr id="4" name="Shape 2"/>
          <p:cNvSpPr/>
          <p:nvPr/>
        </p:nvSpPr>
        <p:spPr>
          <a:xfrm>
            <a:off x="815975" y="1989403"/>
            <a:ext cx="3380317" cy="1812462"/>
          </a:xfrm>
          <a:prstGeom prst="roundRect">
            <a:avLst>
              <a:gd name="adj" fmla="val 6832"/>
            </a:avLst>
          </a:prstGeom>
          <a:solidFill>
            <a:srgbClr val="FFFFFF"/>
          </a:solidFill>
          <a:ln w="6350">
            <a:solidFill>
              <a:srgbClr val="D5DEE8"/>
            </a:solidFill>
            <a:prstDash val="solid"/>
          </a:ln>
        </p:spPr>
      </p:sp>
      <p:sp>
        <p:nvSpPr>
          <p:cNvPr id="5" name="Text 3"/>
          <p:cNvSpPr/>
          <p:nvPr/>
        </p:nvSpPr>
        <p:spPr>
          <a:xfrm>
            <a:off x="1096433" y="2269861"/>
            <a:ext cx="2903982"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6" name="Text 4"/>
          <p:cNvSpPr/>
          <p:nvPr/>
        </p:nvSpPr>
        <p:spPr>
          <a:xfrm>
            <a:off x="1096433" y="2869274"/>
            <a:ext cx="29039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Weather</a:t>
            </a:r>
            <a:endParaRPr lang="en-US" sz="1800" dirty="0"/>
          </a:p>
        </p:txBody>
      </p:sp>
      <p:sp>
        <p:nvSpPr>
          <p:cNvPr id="7" name="Text 5"/>
          <p:cNvSpPr/>
          <p:nvPr/>
        </p:nvSpPr>
        <p:spPr>
          <a:xfrm>
            <a:off x="1096433" y="3245182"/>
            <a:ext cx="3096684"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If it’s raining → take an umbrella</a:t>
            </a:r>
            <a:endParaRPr lang="en-US" sz="1500" dirty="0"/>
          </a:p>
        </p:txBody>
      </p:sp>
      <p:sp>
        <p:nvSpPr>
          <p:cNvPr id="8" name="Shape 6"/>
          <p:cNvSpPr/>
          <p:nvPr/>
        </p:nvSpPr>
        <p:spPr>
          <a:xfrm>
            <a:off x="4405842" y="1989403"/>
            <a:ext cx="3380317" cy="1812462"/>
          </a:xfrm>
          <a:prstGeom prst="roundRect">
            <a:avLst>
              <a:gd name="adj" fmla="val 6832"/>
            </a:avLst>
          </a:prstGeom>
          <a:solidFill>
            <a:srgbClr val="FFFFFF"/>
          </a:solidFill>
          <a:ln w="6350">
            <a:solidFill>
              <a:srgbClr val="D5DEE8"/>
            </a:solidFill>
            <a:prstDash val="solid"/>
          </a:ln>
        </p:spPr>
      </p:sp>
      <p:sp>
        <p:nvSpPr>
          <p:cNvPr id="9" name="Text 7"/>
          <p:cNvSpPr/>
          <p:nvPr/>
        </p:nvSpPr>
        <p:spPr>
          <a:xfrm>
            <a:off x="4686300" y="2269861"/>
            <a:ext cx="2903982"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0" name="Text 8"/>
          <p:cNvSpPr/>
          <p:nvPr/>
        </p:nvSpPr>
        <p:spPr>
          <a:xfrm>
            <a:off x="4686300" y="2869274"/>
            <a:ext cx="29039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Grades</a:t>
            </a:r>
            <a:endParaRPr lang="en-US" sz="1800" dirty="0"/>
          </a:p>
        </p:txBody>
      </p:sp>
      <p:sp>
        <p:nvSpPr>
          <p:cNvPr id="11" name="Text 9"/>
          <p:cNvSpPr/>
          <p:nvPr/>
        </p:nvSpPr>
        <p:spPr>
          <a:xfrm>
            <a:off x="4686300" y="3245182"/>
            <a:ext cx="290398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If score ≥ 50 → print “Passed”</a:t>
            </a:r>
            <a:endParaRPr lang="en-US" sz="1500" dirty="0"/>
          </a:p>
        </p:txBody>
      </p:sp>
      <p:sp>
        <p:nvSpPr>
          <p:cNvPr id="12" name="Shape 10"/>
          <p:cNvSpPr/>
          <p:nvPr/>
        </p:nvSpPr>
        <p:spPr>
          <a:xfrm>
            <a:off x="7995709" y="1989403"/>
            <a:ext cx="3380317" cy="1812462"/>
          </a:xfrm>
          <a:prstGeom prst="roundRect">
            <a:avLst>
              <a:gd name="adj" fmla="val 6832"/>
            </a:avLst>
          </a:prstGeom>
          <a:solidFill>
            <a:srgbClr val="FFFFFF"/>
          </a:solidFill>
          <a:ln w="6350">
            <a:solidFill>
              <a:srgbClr val="D5DEE8"/>
            </a:solidFill>
            <a:prstDash val="solid"/>
          </a:ln>
        </p:spPr>
      </p:sp>
      <p:sp>
        <p:nvSpPr>
          <p:cNvPr id="13" name="Text 11"/>
          <p:cNvSpPr/>
          <p:nvPr/>
        </p:nvSpPr>
        <p:spPr>
          <a:xfrm>
            <a:off x="8276167" y="2269861"/>
            <a:ext cx="2903982"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4" name="Text 12"/>
          <p:cNvSpPr/>
          <p:nvPr/>
        </p:nvSpPr>
        <p:spPr>
          <a:xfrm>
            <a:off x="8276167" y="2869274"/>
            <a:ext cx="29039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Access</a:t>
            </a:r>
            <a:endParaRPr lang="en-US" sz="1800" dirty="0"/>
          </a:p>
        </p:txBody>
      </p:sp>
      <p:sp>
        <p:nvSpPr>
          <p:cNvPr id="15" name="Text 13"/>
          <p:cNvSpPr/>
          <p:nvPr/>
        </p:nvSpPr>
        <p:spPr>
          <a:xfrm>
            <a:off x="8276167" y="3245182"/>
            <a:ext cx="290398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If age ≥ 18 → allow registration</a:t>
            </a:r>
            <a:endParaRPr lang="en-US" sz="1500" dirty="0"/>
          </a:p>
        </p:txBody>
      </p:sp>
      <p:sp>
        <p:nvSpPr>
          <p:cNvPr id="16" name="Text 14"/>
          <p:cNvSpPr/>
          <p:nvPr/>
        </p:nvSpPr>
        <p:spPr>
          <a:xfrm>
            <a:off x="812800" y="4160639"/>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4A5568"/>
                </a:solidFill>
                <a:latin typeface="DM Sans" pitchFamily="34" charset="0"/>
                <a:ea typeface="DM Sans" pitchFamily="34" charset="-122"/>
                <a:cs typeface="DM Sans" pitchFamily="34" charset="-120"/>
              </a:rPr>
              <a:t>So far: </a:t>
            </a:r>
            <a:r>
              <a:rPr lang="en-US" sz="1700" b="1" dirty="0">
                <a:solidFill>
                  <a:srgbClr val="4A5568"/>
                </a:solidFill>
                <a:latin typeface="DM Sans" pitchFamily="34" charset="0"/>
                <a:ea typeface="DM Sans" pitchFamily="34" charset="-122"/>
                <a:cs typeface="DM Sans" pitchFamily="34" charset="-120"/>
              </a:rPr>
              <a:t>input → calculate → print</a:t>
            </a:r>
            <a:r>
              <a:rPr lang="en-US" sz="1700" dirty="0">
                <a:solidFill>
                  <a:srgbClr val="4A5568"/>
                </a:solidFill>
                <a:latin typeface="DM Sans" pitchFamily="34" charset="0"/>
                <a:ea typeface="DM Sans" pitchFamily="34" charset="-122"/>
                <a:cs typeface="DM Sans" pitchFamily="34" charset="-120"/>
              </a:rPr>
              <a:t>. Today we teach Python to </a:t>
            </a:r>
            <a:r>
              <a:rPr lang="en-US" sz="1700" b="1" dirty="0">
                <a:solidFill>
                  <a:srgbClr val="4A5568"/>
                </a:solidFill>
                <a:latin typeface="DM Sans" pitchFamily="34" charset="0"/>
                <a:ea typeface="DM Sans" pitchFamily="34" charset="-122"/>
                <a:cs typeface="DM Sans" pitchFamily="34" charset="-120"/>
              </a:rPr>
              <a:t>think</a:t>
            </a:r>
            <a:r>
              <a:rPr lang="en-US" sz="1700" dirty="0">
                <a:solidFill>
                  <a:srgbClr val="4A5568"/>
                </a:solidFill>
                <a:latin typeface="DM Sans" pitchFamily="34" charset="0"/>
                <a:ea typeface="DM Sans" pitchFamily="34" charset="-122"/>
                <a:cs typeface="DM Sans" pitchFamily="34" charset="-120"/>
              </a:rPr>
              <a:t>! 🧠</a:t>
            </a:r>
            <a:endParaRPr lang="en-US" sz="17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CONDITIONS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yes/no question: True or False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6083300" cy="2889250"/>
        </p:xfrm>
        <a:graphic>
          <a:graphicData uri="http://schemas.openxmlformats.org/drawingml/2006/table">
            <a:tbl>
              <a:tblPr/>
              <a:tblGrid>
                <a:gridCol w="1338326"/>
                <a:gridCol w="2676652"/>
                <a:gridCol w="2068322"/>
              </a:tblGrid>
              <a:tr h="412750">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Operator</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Meaning</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Example</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equal to</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5 == 5 → True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not equal to</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5 != 3 → True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&gt;</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greater than</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7 &gt; 10 → False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&lt;</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less than</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3 &lt; 8 → True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&gt;=</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greater or equal</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18 &gt;= 18 → True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&lt;=</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less or equal</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20 &lt;= 15 → False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Shape 2"/>
          <p:cNvSpPr/>
          <p:nvPr/>
        </p:nvSpPr>
        <p:spPr>
          <a:xfrm>
            <a:off x="7315200" y="1935429"/>
            <a:ext cx="4064000" cy="2901950"/>
          </a:xfrm>
          <a:prstGeom prst="roundRect">
            <a:avLst>
              <a:gd name="adj" fmla="val 4376"/>
            </a:avLst>
          </a:prstGeom>
          <a:solidFill>
            <a:srgbClr val="E3ECF6"/>
          </a:solidFill>
          <a:ln/>
        </p:spPr>
      </p:sp>
      <p:sp>
        <p:nvSpPr>
          <p:cNvPr id="6" name="Text 3"/>
          <p:cNvSpPr/>
          <p:nvPr/>
        </p:nvSpPr>
        <p:spPr>
          <a:xfrm>
            <a:off x="7594600" y="2214829"/>
            <a:ext cx="361035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F8A"/>
                </a:solidFill>
                <a:latin typeface="DM Sans" pitchFamily="34" charset="0"/>
                <a:ea typeface="DM Sans" pitchFamily="34" charset="-122"/>
                <a:cs typeface="DM Sans" pitchFamily="34" charset="-120"/>
              </a:rPr>
              <a:t>⚠️ = vs ==</a:t>
            </a:r>
            <a:endParaRPr lang="en-US" sz="1800" dirty="0"/>
          </a:p>
        </p:txBody>
      </p:sp>
      <p:sp>
        <p:nvSpPr>
          <p:cNvPr id="7" name="Text 4"/>
          <p:cNvSpPr/>
          <p:nvPr/>
        </p:nvSpPr>
        <p:spPr>
          <a:xfrm>
            <a:off x="7594600" y="2641535"/>
            <a:ext cx="361035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JetBrains Mono" pitchFamily="49" charset="0"/>
                <a:ea typeface="JetBrains Mono" pitchFamily="49" charset="-122"/>
                <a:cs typeface="JetBrains Mono" pitchFamily="49" charset="-120"/>
              </a:rPr>
              <a:t>age = 18</a:t>
            </a:r>
            <a:endParaRPr lang="en-US" sz="1500" dirty="0"/>
          </a:p>
        </p:txBody>
      </p:sp>
      <p:sp>
        <p:nvSpPr>
          <p:cNvPr id="8" name="Text 5"/>
          <p:cNvSpPr/>
          <p:nvPr/>
        </p:nvSpPr>
        <p:spPr>
          <a:xfrm>
            <a:off x="7594600" y="3060635"/>
            <a:ext cx="361035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DM Sans" pitchFamily="34" charset="0"/>
                <a:ea typeface="DM Sans" pitchFamily="34" charset="-122"/>
                <a:cs typeface="DM Sans" pitchFamily="34" charset="-120"/>
              </a:rPr>
              <a:t>one = </a:t>
            </a:r>
            <a:r>
              <a:rPr lang="en-US" sz="1400" b="1" dirty="0">
                <a:solidFill>
                  <a:srgbClr val="1F2A37"/>
                </a:solidFill>
                <a:latin typeface="DM Sans" pitchFamily="34" charset="0"/>
                <a:ea typeface="DM Sans" pitchFamily="34" charset="-122"/>
                <a:cs typeface="DM Sans" pitchFamily="34" charset="-120"/>
              </a:rPr>
              <a:t>stores</a:t>
            </a:r>
            <a:r>
              <a:rPr lang="en-US" sz="1400" dirty="0">
                <a:solidFill>
                  <a:srgbClr val="1F2A37"/>
                </a:solidFill>
                <a:latin typeface="DM Sans" pitchFamily="34" charset="0"/>
                <a:ea typeface="DM Sans" pitchFamily="34" charset="-122"/>
                <a:cs typeface="DM Sans" pitchFamily="34" charset="-120"/>
              </a:rPr>
              <a:t> a value</a:t>
            </a:r>
            <a:endParaRPr lang="en-US" sz="1400" dirty="0"/>
          </a:p>
        </p:txBody>
      </p:sp>
      <p:sp>
        <p:nvSpPr>
          <p:cNvPr id="9" name="Text 6"/>
          <p:cNvSpPr/>
          <p:nvPr/>
        </p:nvSpPr>
        <p:spPr>
          <a:xfrm>
            <a:off x="7594600" y="3461941"/>
            <a:ext cx="361035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JetBrains Mono" pitchFamily="49" charset="0"/>
                <a:ea typeface="JetBrains Mono" pitchFamily="49" charset="-122"/>
                <a:cs typeface="JetBrains Mono" pitchFamily="49" charset="-120"/>
              </a:rPr>
              <a:t>age == 18</a:t>
            </a:r>
            <a:endParaRPr lang="en-US" sz="1500" dirty="0"/>
          </a:p>
        </p:txBody>
      </p:sp>
      <p:sp>
        <p:nvSpPr>
          <p:cNvPr id="10" name="Text 7"/>
          <p:cNvSpPr/>
          <p:nvPr/>
        </p:nvSpPr>
        <p:spPr>
          <a:xfrm>
            <a:off x="7594600" y="3881041"/>
            <a:ext cx="361035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DM Sans" pitchFamily="34" charset="0"/>
                <a:ea typeface="DM Sans" pitchFamily="34" charset="-122"/>
                <a:cs typeface="DM Sans" pitchFamily="34" charset="-120"/>
              </a:rPr>
              <a:t>two == </a:t>
            </a:r>
            <a:r>
              <a:rPr lang="en-US" sz="1400" b="1" dirty="0">
                <a:solidFill>
                  <a:srgbClr val="1F2A37"/>
                </a:solidFill>
                <a:latin typeface="DM Sans" pitchFamily="34" charset="0"/>
                <a:ea typeface="DM Sans" pitchFamily="34" charset="-122"/>
                <a:cs typeface="DM Sans" pitchFamily="34" charset="-120"/>
              </a:rPr>
              <a:t>compares</a:t>
            </a:r>
            <a:r>
              <a:rPr lang="en-US" sz="1400" dirty="0">
                <a:solidFill>
                  <a:srgbClr val="1F2A37"/>
                </a:solidFill>
                <a:latin typeface="DM Sans" pitchFamily="34" charset="0"/>
                <a:ea typeface="DM Sans" pitchFamily="34" charset="-122"/>
                <a:cs typeface="DM Sans" pitchFamily="34" charset="-120"/>
              </a:rPr>
              <a:t> values</a:t>
            </a:r>
            <a:endParaRPr lang="en-US" sz="14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THE IF STATEMENT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Run this only if it’s True</a:t>
            </a:r>
            <a:endParaRPr lang="en-US" sz="3600" dirty="0"/>
          </a:p>
        </p:txBody>
      </p:sp>
      <p:sp>
        <p:nvSpPr>
          <p:cNvPr id="4" name="Text 2"/>
          <p:cNvSpPr/>
          <p:nvPr/>
        </p:nvSpPr>
        <p:spPr>
          <a:xfrm>
            <a:off x="812800" y="1986229"/>
            <a:ext cx="5080000" cy="1595041"/>
          </a:xfrm>
          <a:prstGeom prst="roundRect">
            <a:avLst>
              <a:gd name="adj" fmla="val 7962"/>
            </a:avLst>
          </a:prstGeom>
          <a:solidFill>
            <a:srgbClr val="1F2A37"/>
          </a:solidFill>
          <a:ln/>
        </p:spPr>
        <p:txBody>
          <a:bodyPr wrap="square" lIns="293003" tIns="242203" rIns="160415" bIns="216803"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age = 20</a:t>
            </a:r>
            <a:endParaRPr lang="en-US" sz="1700" dirty="0"/>
          </a:p>
          <a:p>
            <a:pPr algn="l" indent="0" marL="0">
              <a:lnSpc>
                <a:spcPts val="2720"/>
              </a:lnSpc>
              <a:buNone/>
            </a:pPr>
            <a:r>
              <a:rPr lang="en-US" sz="1700" dirty="0">
                <a:solidFill>
                  <a:srgbClr val="8EC1F0"/>
                </a:solidFill>
                <a:latin typeface="JetBrains Mono" pitchFamily="49" charset="0"/>
                <a:ea typeface="JetBrains Mono" pitchFamily="49" charset="-122"/>
                <a:cs typeface="JetBrains Mono" pitchFamily="49" charset="-120"/>
              </a:rPr>
              <a:t>if</a:t>
            </a:r>
            <a:r>
              <a:rPr lang="en-US" sz="1700" dirty="0">
                <a:solidFill>
                  <a:srgbClr val="E8EDF3"/>
                </a:solidFill>
                <a:latin typeface="JetBrains Mono" pitchFamily="49" charset="0"/>
                <a:ea typeface="JetBrains Mono" pitchFamily="49" charset="-122"/>
                <a:cs typeface="JetBrains Mono" pitchFamily="49" charset="-120"/>
              </a:rPr>
              <a:t> age &gt;= 18:</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print(</a:t>
            </a:r>
            <a:r>
              <a:rPr lang="en-US" sz="1700" dirty="0">
                <a:solidFill>
                  <a:srgbClr val="F2C94C"/>
                </a:solidFill>
                <a:latin typeface="JetBrains Mono" pitchFamily="49" charset="0"/>
                <a:ea typeface="JetBrains Mono" pitchFamily="49" charset="-122"/>
                <a:cs typeface="JetBrains Mono" pitchFamily="49" charset="-120"/>
              </a:rPr>
              <a:t>"You are an adult."</a:t>
            </a:r>
            <a:r>
              <a:rPr lang="en-US" sz="1700" dirty="0">
                <a:solidFill>
                  <a:srgbClr val="E8EDF3"/>
                </a:solidFill>
                <a:latin typeface="JetBrains Mono" pitchFamily="49" charset="0"/>
                <a:ea typeface="JetBrains Mono" pitchFamily="49" charset="-122"/>
                <a:cs typeface="JetBrains Mono" pitchFamily="49" charset="-120"/>
              </a:rPr>
              <a:t>)</a:t>
            </a:r>
            <a:endParaRPr lang="en-US" sz="1700" dirty="0"/>
          </a:p>
        </p:txBody>
      </p:sp>
      <p:sp>
        <p:nvSpPr>
          <p:cNvPr id="5" name="Text 3"/>
          <p:cNvSpPr/>
          <p:nvPr/>
        </p:nvSpPr>
        <p:spPr>
          <a:xfrm>
            <a:off x="812800" y="3733670"/>
            <a:ext cx="5080000" cy="660400"/>
          </a:xfrm>
          <a:prstGeom prst="roundRect">
            <a:avLst>
              <a:gd name="adj" fmla="val 15385"/>
            </a:avLst>
          </a:prstGeom>
          <a:solidFill>
            <a:srgbClr val="EEF2F6"/>
          </a:solidFill>
          <a:ln/>
        </p:spPr>
        <p:txBody>
          <a:bodyPr wrap="square" lIns="275042" tIns="148042" rIns="88606" bIns="122642"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You are an adult.</a:t>
            </a:r>
            <a:endParaRPr lang="en-US" sz="1500" dirty="0"/>
          </a:p>
        </p:txBody>
      </p:sp>
      <p:sp>
        <p:nvSpPr>
          <p:cNvPr id="6" name="Shape 4"/>
          <p:cNvSpPr/>
          <p:nvPr/>
        </p:nvSpPr>
        <p:spPr>
          <a:xfrm>
            <a:off x="812800" y="3733670"/>
            <a:ext cx="5080000" cy="660400"/>
          </a:xfrm>
          <a:custGeom>
            <a:avLst/>
            <a:gdLst/>
            <a:ahLst/>
            <a:cxnLst/>
            <a:rect l="l" t="t" r="r" b="b"/>
            <a:pathLst>
              <a:path w="5080000" h="660400">
                <a:moveTo>
                  <a:pt x="101600" y="660400"/>
                </a:moveTo>
                <a:lnTo>
                  <a:pt x="101600" y="660400"/>
                </a:lnTo>
                <a:arcTo hR="101600" wR="101600" stAng="5400000" swAng="5400000"/>
                <a:lnTo>
                  <a:pt x="0" y="101600"/>
                </a:lnTo>
                <a:arcTo hR="101600" wR="101600" stAng="10800000" swAng="5400000"/>
                <a:lnTo>
                  <a:pt x="101600" y="0"/>
                </a:lnTo>
                <a:arcTo hR="101600" wR="50800" stAng="16200000" swAng="-5400000"/>
                <a:lnTo>
                  <a:pt x="50800" y="558800"/>
                </a:lnTo>
                <a:arcTo hR="101600" wR="50800" stAng="10800000" swAng="-5400000"/>
                <a:close/>
              </a:path>
            </a:pathLst>
          </a:custGeom>
          <a:solidFill>
            <a:srgbClr val="3776AB"/>
          </a:solidFill>
          <a:ln/>
        </p:spPr>
      </p:sp>
      <p:sp>
        <p:nvSpPr>
          <p:cNvPr id="7" name="Text 5"/>
          <p:cNvSpPr/>
          <p:nvPr/>
        </p:nvSpPr>
        <p:spPr>
          <a:xfrm>
            <a:off x="6302375" y="1989404"/>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1.</a:t>
            </a:r>
            <a:r>
              <a:rPr lang="en-US" sz="1600" dirty="0">
                <a:solidFill>
                  <a:srgbClr val="1F2A37"/>
                </a:solidFill>
                <a:latin typeface="DM Sans" pitchFamily="34" charset="0"/>
                <a:ea typeface="DM Sans" pitchFamily="34" charset="-122"/>
                <a:cs typeface="DM Sans" pitchFamily="34" charset="-120"/>
              </a:rPr>
              <a:t> Store 20 in age</a:t>
            </a:r>
            <a:endParaRPr lang="en-US" sz="1600" dirty="0"/>
          </a:p>
        </p:txBody>
      </p:sp>
      <p:sp>
        <p:nvSpPr>
          <p:cNvPr id="8" name="Text 6"/>
          <p:cNvSpPr/>
          <p:nvPr/>
        </p:nvSpPr>
        <p:spPr>
          <a:xfrm>
            <a:off x="6302375" y="2714098"/>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2.</a:t>
            </a:r>
            <a:r>
              <a:rPr lang="en-US" sz="1600" dirty="0">
                <a:solidFill>
                  <a:srgbClr val="1F2A37"/>
                </a:solidFill>
                <a:latin typeface="DM Sans" pitchFamily="34" charset="0"/>
                <a:ea typeface="DM Sans" pitchFamily="34" charset="-122"/>
                <a:cs typeface="DM Sans" pitchFamily="34" charset="-120"/>
              </a:rPr>
              <a:t> Check: 20 &gt;= 18 → True</a:t>
            </a:r>
            <a:endParaRPr lang="en-US" sz="1600" dirty="0"/>
          </a:p>
        </p:txBody>
      </p:sp>
      <p:sp>
        <p:nvSpPr>
          <p:cNvPr id="9" name="Text 7"/>
          <p:cNvSpPr/>
          <p:nvPr/>
        </p:nvSpPr>
        <p:spPr>
          <a:xfrm>
            <a:off x="6302375" y="3438792"/>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3.</a:t>
            </a:r>
            <a:r>
              <a:rPr lang="en-US" sz="1600" dirty="0">
                <a:solidFill>
                  <a:srgbClr val="1F2A37"/>
                </a:solidFill>
                <a:latin typeface="DM Sans" pitchFamily="34" charset="0"/>
                <a:ea typeface="DM Sans" pitchFamily="34" charset="-122"/>
                <a:cs typeface="DM Sans" pitchFamily="34" charset="-120"/>
              </a:rPr>
              <a:t> Run the indented line</a:t>
            </a:r>
            <a:endParaRPr lang="en-US" sz="1600" dirty="0"/>
          </a:p>
        </p:txBody>
      </p:sp>
      <p:sp>
        <p:nvSpPr>
          <p:cNvPr id="10" name="Text 8"/>
          <p:cNvSpPr/>
          <p:nvPr/>
        </p:nvSpPr>
        <p:spPr>
          <a:xfrm>
            <a:off x="6299200" y="4160310"/>
            <a:ext cx="523240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Every </a:t>
            </a:r>
            <a:r>
              <a:rPr lang="en-US" sz="1500" b="1" dirty="0">
                <a:solidFill>
                  <a:srgbClr val="4A5568"/>
                </a:solidFill>
                <a:latin typeface="DM Sans" pitchFamily="34" charset="0"/>
                <a:ea typeface="DM Sans" pitchFamily="34" charset="-122"/>
                <a:cs typeface="DM Sans" pitchFamily="34" charset="-120"/>
              </a:rPr>
              <a:t>if</a:t>
            </a:r>
            <a:r>
              <a:rPr lang="en-US" sz="1500" dirty="0">
                <a:solidFill>
                  <a:srgbClr val="4A5568"/>
                </a:solidFill>
                <a:latin typeface="DM Sans" pitchFamily="34" charset="0"/>
                <a:ea typeface="DM Sans" pitchFamily="34" charset="-122"/>
                <a:cs typeface="DM Sans" pitchFamily="34" charset="-120"/>
              </a:rPr>
              <a:t> needs a colon </a:t>
            </a:r>
            <a:r>
              <a:rPr lang="en-US" sz="1500" b="1" dirty="0">
                <a:solidFill>
                  <a:srgbClr val="4A5568"/>
                </a:solidFill>
                <a:latin typeface="DM Sans" pitchFamily="34" charset="0"/>
                <a:ea typeface="DM Sans" pitchFamily="34" charset="-122"/>
                <a:cs typeface="DM Sans" pitchFamily="34" charset="-120"/>
              </a:rPr>
              <a:t>:</a:t>
            </a:r>
            <a:r>
              <a:rPr lang="en-US" sz="1500" dirty="0">
                <a:solidFill>
                  <a:srgbClr val="4A5568"/>
                </a:solidFill>
                <a:latin typeface="DM Sans" pitchFamily="34" charset="0"/>
                <a:ea typeface="DM Sans" pitchFamily="34" charset="-122"/>
                <a:cs typeface="DM Sans" pitchFamily="34" charset="-120"/>
              </a:rPr>
              <a:t> and the code inside is indented </a:t>
            </a:r>
            <a:r>
              <a:rPr lang="en-US" sz="1500" b="1" dirty="0">
                <a:solidFill>
                  <a:srgbClr val="4A5568"/>
                </a:solidFill>
                <a:latin typeface="DM Sans" pitchFamily="34" charset="0"/>
                <a:ea typeface="DM Sans" pitchFamily="34" charset="-122"/>
                <a:cs typeface="DM Sans" pitchFamily="34" charset="-120"/>
              </a:rPr>
              <a:t>4 spaces</a:t>
            </a:r>
            <a:r>
              <a:rPr lang="en-US" sz="1500" dirty="0">
                <a:solidFill>
                  <a:srgbClr val="4A5568"/>
                </a:solidFill>
                <a:latin typeface="DM Sans" pitchFamily="34" charset="0"/>
                <a:ea typeface="DM Sans" pitchFamily="34" charset="-122"/>
                <a:cs typeface="DM Sans" pitchFamily="34" charset="-120"/>
              </a:rPr>
              <a:t>.</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WHEN THE CONDITION IS FALSE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Python skips the block</a:t>
            </a:r>
            <a:endParaRPr lang="en-US" sz="3600" dirty="0"/>
          </a:p>
        </p:txBody>
      </p:sp>
      <p:sp>
        <p:nvSpPr>
          <p:cNvPr id="4" name="Text 2"/>
          <p:cNvSpPr/>
          <p:nvPr/>
        </p:nvSpPr>
        <p:spPr>
          <a:xfrm>
            <a:off x="812800" y="2798961"/>
            <a:ext cx="5080000" cy="1595041"/>
          </a:xfrm>
          <a:prstGeom prst="roundRect">
            <a:avLst>
              <a:gd name="adj" fmla="val 7962"/>
            </a:avLst>
          </a:prstGeom>
          <a:solidFill>
            <a:srgbClr val="1F2A37"/>
          </a:solidFill>
          <a:ln/>
        </p:spPr>
        <p:txBody>
          <a:bodyPr wrap="square" lIns="293003" tIns="242203" rIns="160415" bIns="216803"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age = 15</a:t>
            </a:r>
            <a:endParaRPr lang="en-US" sz="1700" dirty="0"/>
          </a:p>
          <a:p>
            <a:pPr algn="l" indent="0" marL="0">
              <a:lnSpc>
                <a:spcPts val="2720"/>
              </a:lnSpc>
              <a:buNone/>
            </a:pPr>
            <a:r>
              <a:rPr lang="en-US" sz="1700" dirty="0">
                <a:solidFill>
                  <a:srgbClr val="8EC1F0"/>
                </a:solidFill>
                <a:latin typeface="JetBrains Mono" pitchFamily="49" charset="0"/>
                <a:ea typeface="JetBrains Mono" pitchFamily="49" charset="-122"/>
                <a:cs typeface="JetBrains Mono" pitchFamily="49" charset="-120"/>
              </a:rPr>
              <a:t>if</a:t>
            </a:r>
            <a:r>
              <a:rPr lang="en-US" sz="1700" dirty="0">
                <a:solidFill>
                  <a:srgbClr val="E8EDF3"/>
                </a:solidFill>
                <a:latin typeface="JetBrains Mono" pitchFamily="49" charset="0"/>
                <a:ea typeface="JetBrains Mono" pitchFamily="49" charset="-122"/>
                <a:cs typeface="JetBrains Mono" pitchFamily="49" charset="-120"/>
              </a:rPr>
              <a:t> age &gt;= 18:</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print(</a:t>
            </a:r>
            <a:r>
              <a:rPr lang="en-US" sz="1700" dirty="0">
                <a:solidFill>
                  <a:srgbClr val="F2C94C"/>
                </a:solidFill>
                <a:latin typeface="JetBrains Mono" pitchFamily="49" charset="0"/>
                <a:ea typeface="JetBrains Mono" pitchFamily="49" charset="-122"/>
                <a:cs typeface="JetBrains Mono" pitchFamily="49" charset="-120"/>
              </a:rPr>
              <a:t>"You are an adult."</a:t>
            </a:r>
            <a:r>
              <a:rPr lang="en-US" sz="1700" dirty="0">
                <a:solidFill>
                  <a:srgbClr val="E8EDF3"/>
                </a:solidFill>
                <a:latin typeface="JetBrains Mono" pitchFamily="49" charset="0"/>
                <a:ea typeface="JetBrains Mono" pitchFamily="49" charset="-122"/>
                <a:cs typeface="JetBrains Mono" pitchFamily="49" charset="-120"/>
              </a:rPr>
              <a:t>)</a:t>
            </a:r>
            <a:endParaRPr lang="en-US" sz="1700" dirty="0"/>
          </a:p>
        </p:txBody>
      </p:sp>
      <p:sp>
        <p:nvSpPr>
          <p:cNvPr id="5" name="Text 3"/>
          <p:cNvSpPr/>
          <p:nvPr/>
        </p:nvSpPr>
        <p:spPr>
          <a:xfrm>
            <a:off x="7061200" y="1986229"/>
            <a:ext cx="3556000" cy="589227"/>
          </a:xfrm>
          <a:prstGeom prst="roundRect">
            <a:avLst>
              <a:gd name="adj" fmla="val 17243"/>
            </a:avLst>
          </a:prstGeom>
          <a:solidFill>
            <a:srgbClr val="E3ECF6"/>
          </a:solidFill>
          <a:ln/>
        </p:spPr>
        <p:txBody>
          <a:bodyPr wrap="square" lIns="178522" tIns="122642" rIns="178522" bIns="97242" rtlCol="0" anchor="t">
            <a:normAutofit/>
          </a:bodyPr>
          <a:lstStyle/>
          <a:p>
            <a:pPr algn="ctr" indent="0" marL="0">
              <a:lnSpc>
                <a:spcPts val="2240"/>
              </a:lnSpc>
              <a:buNone/>
            </a:pPr>
            <a:r>
              <a:rPr lang="en-US" sz="1600" b="1" dirty="0">
                <a:solidFill>
                  <a:srgbClr val="1F2A37"/>
                </a:solidFill>
                <a:latin typeface="DM Sans" pitchFamily="34" charset="0"/>
                <a:ea typeface="DM Sans" pitchFamily="34" charset="-122"/>
                <a:cs typeface="DM Sans" pitchFamily="34" charset="-120"/>
              </a:rPr>
              <a:t>Check: 15 &gt;= 18</a:t>
            </a:r>
            <a:endParaRPr lang="en-US" sz="1600" dirty="0"/>
          </a:p>
        </p:txBody>
      </p:sp>
      <p:pic>
        <p:nvPicPr>
          <p:cNvPr id="6" name="Image 0" descr="arrow-down">    </p:cNvPr>
          <p:cNvPicPr>
            <a:picLocks noChangeAspect="1"/>
          </p:cNvPicPr>
          <p:nvPr/>
        </p:nvPicPr>
        <p:blipFill>
          <a:blip r:embed="rId1"/>
          <a:srcRect l="0" r="0" t="0" b="0"/>
          <a:stretch/>
        </p:blipFill>
        <p:spPr>
          <a:xfrm>
            <a:off x="8712200" y="2677055"/>
            <a:ext cx="254000" cy="355600"/>
          </a:xfrm>
          <a:prstGeom prst="rect">
            <a:avLst/>
          </a:prstGeom>
        </p:spPr>
      </p:pic>
      <p:sp>
        <p:nvSpPr>
          <p:cNvPr id="7" name="Text 4"/>
          <p:cNvSpPr/>
          <p:nvPr/>
        </p:nvSpPr>
        <p:spPr>
          <a:xfrm>
            <a:off x="7067550" y="3140605"/>
            <a:ext cx="3543300" cy="601927"/>
          </a:xfrm>
          <a:prstGeom prst="roundRect">
            <a:avLst>
              <a:gd name="adj" fmla="val 15824"/>
            </a:avLst>
          </a:prstGeom>
          <a:solidFill>
            <a:srgbClr val="FFFFFF"/>
          </a:solidFill>
          <a:ln w="12700">
            <a:solidFill>
              <a:srgbClr val="D5DEE8"/>
            </a:solidFill>
            <a:prstDash val="solid"/>
          </a:ln>
        </p:spPr>
        <p:txBody>
          <a:bodyPr wrap="square" lIns="187113" tIns="130852" rIns="187113" bIns="105452" rtlCol="0" anchor="t">
            <a:normAutofit/>
          </a:bodyPr>
          <a:lstStyle/>
          <a:p>
            <a:pPr algn="ctr" indent="0" marL="0">
              <a:lnSpc>
                <a:spcPts val="2240"/>
              </a:lnSpc>
              <a:buNone/>
            </a:pPr>
            <a:r>
              <a:rPr lang="en-US" sz="1600" b="1" dirty="0">
                <a:solidFill>
                  <a:srgbClr val="1F2A37"/>
                </a:solidFill>
                <a:latin typeface="DM Sans" pitchFamily="34" charset="0"/>
                <a:ea typeface="DM Sans" pitchFamily="34" charset="-122"/>
                <a:cs typeface="DM Sans" pitchFamily="34" charset="-120"/>
              </a:rPr>
              <a:t>False</a:t>
            </a:r>
            <a:r>
              <a:rPr lang="en-US" sz="1600" dirty="0">
                <a:solidFill>
                  <a:srgbClr val="1F2A37"/>
                </a:solidFill>
                <a:latin typeface="DM Sans" pitchFamily="34" charset="0"/>
                <a:ea typeface="DM Sans" pitchFamily="34" charset="-122"/>
                <a:cs typeface="DM Sans" pitchFamily="34" charset="-120"/>
              </a:rPr>
              <a:t> → skip the indented code</a:t>
            </a:r>
            <a:endParaRPr lang="en-US" sz="1600" dirty="0"/>
          </a:p>
        </p:txBody>
      </p:sp>
      <p:pic>
        <p:nvPicPr>
          <p:cNvPr id="8" name="Image 1" descr="arrow-down">    </p:cNvPr>
          <p:cNvPicPr>
            <a:picLocks noChangeAspect="1"/>
          </p:cNvPicPr>
          <p:nvPr/>
        </p:nvPicPr>
        <p:blipFill>
          <a:blip r:embed="rId2"/>
          <a:srcRect l="0" r="0" t="0" b="0"/>
          <a:stretch/>
        </p:blipFill>
        <p:spPr>
          <a:xfrm>
            <a:off x="8712200" y="3850481"/>
            <a:ext cx="254000" cy="355600"/>
          </a:xfrm>
          <a:prstGeom prst="rect">
            <a:avLst/>
          </a:prstGeom>
        </p:spPr>
      </p:pic>
      <p:sp>
        <p:nvSpPr>
          <p:cNvPr id="9" name="Text 5"/>
          <p:cNvSpPr/>
          <p:nvPr/>
        </p:nvSpPr>
        <p:spPr>
          <a:xfrm>
            <a:off x="7067550" y="4314031"/>
            <a:ext cx="3543300" cy="886354"/>
          </a:xfrm>
          <a:prstGeom prst="roundRect">
            <a:avLst>
              <a:gd name="adj" fmla="val 10746"/>
            </a:avLst>
          </a:prstGeom>
          <a:solidFill>
            <a:srgbClr val="FFFFFF"/>
          </a:solidFill>
          <a:ln w="12700">
            <a:solidFill>
              <a:srgbClr val="D5DEE8"/>
            </a:solidFill>
            <a:prstDash val="solid"/>
          </a:ln>
        </p:spPr>
        <p:txBody>
          <a:bodyPr wrap="square" lIns="187113" tIns="130852" rIns="187113" bIns="105452" rtlCol="0" anchor="t">
            <a:normAutofit/>
          </a:bodyPr>
          <a:lstStyle/>
          <a:p>
            <a:pPr algn="ctr" indent="0" marL="0">
              <a:lnSpc>
                <a:spcPts val="2240"/>
              </a:lnSpc>
              <a:buNone/>
            </a:pPr>
            <a:r>
              <a:rPr lang="en-US" sz="1600" dirty="0">
                <a:solidFill>
                  <a:srgbClr val="1F2A37"/>
                </a:solidFill>
                <a:latin typeface="DM Sans" pitchFamily="34" charset="0"/>
                <a:ea typeface="DM Sans" pitchFamily="34" charset="-122"/>
                <a:cs typeface="DM Sans" pitchFamily="34" charset="-120"/>
              </a:rPr>
              <a:t>Nothing prints · program continues</a:t>
            </a:r>
            <a:endParaRPr lang="en-US" sz="1600" dirty="0"/>
          </a:p>
        </p:txBody>
      </p:sp>
      <p:sp>
        <p:nvSpPr>
          <p:cNvPr id="10"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1"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PREDICTION CHALLENGE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will this code print?</a:t>
            </a:r>
            <a:endParaRPr lang="en-US" sz="3600" dirty="0"/>
          </a:p>
        </p:txBody>
      </p:sp>
      <p:sp>
        <p:nvSpPr>
          <p:cNvPr id="4" name="Text 2"/>
          <p:cNvSpPr/>
          <p:nvPr/>
        </p:nvSpPr>
        <p:spPr>
          <a:xfrm>
            <a:off x="812800" y="2312988"/>
            <a:ext cx="5080000" cy="1940454"/>
          </a:xfrm>
          <a:prstGeom prst="roundRect">
            <a:avLst>
              <a:gd name="adj" fmla="val 6545"/>
            </a:avLst>
          </a:prstGeom>
          <a:solidFill>
            <a:srgbClr val="1F2A37"/>
          </a:solidFill>
          <a:ln/>
        </p:spPr>
        <p:txBody>
          <a:bodyPr wrap="square" lIns="293003" tIns="242203" rIns="160415" bIns="216803"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temperature = 35</a:t>
            </a:r>
            <a:endParaRPr lang="en-US" sz="1700" dirty="0"/>
          </a:p>
          <a:p>
            <a:pPr algn="l" indent="0" marL="0">
              <a:lnSpc>
                <a:spcPts val="2720"/>
              </a:lnSpc>
              <a:buNone/>
            </a:pPr>
            <a:r>
              <a:rPr lang="en-US" sz="1700" dirty="0">
                <a:solidFill>
                  <a:srgbClr val="8EC1F0"/>
                </a:solidFill>
                <a:latin typeface="JetBrains Mono" pitchFamily="49" charset="0"/>
                <a:ea typeface="JetBrains Mono" pitchFamily="49" charset="-122"/>
                <a:cs typeface="JetBrains Mono" pitchFamily="49" charset="-120"/>
              </a:rPr>
              <a:t>if</a:t>
            </a:r>
            <a:r>
              <a:rPr lang="en-US" sz="1700" dirty="0">
                <a:solidFill>
                  <a:srgbClr val="E8EDF3"/>
                </a:solidFill>
                <a:latin typeface="JetBrains Mono" pitchFamily="49" charset="0"/>
                <a:ea typeface="JetBrains Mono" pitchFamily="49" charset="-122"/>
                <a:cs typeface="JetBrains Mono" pitchFamily="49" charset="-120"/>
              </a:rPr>
              <a:t> temperature &gt; 30:</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print(</a:t>
            </a:r>
            <a:r>
              <a:rPr lang="en-US" sz="1700" dirty="0">
                <a:solidFill>
                  <a:srgbClr val="F2C94C"/>
                </a:solidFill>
                <a:latin typeface="JetBrains Mono" pitchFamily="49" charset="0"/>
                <a:ea typeface="JetBrains Mono" pitchFamily="49" charset="-122"/>
                <a:cs typeface="JetBrains Mono" pitchFamily="49" charset="-120"/>
              </a:rPr>
              <a:t>"It is hot!"</a:t>
            </a:r>
            <a:r>
              <a:rPr lang="en-US" sz="1700" dirty="0">
                <a:solidFill>
                  <a:srgbClr val="E8EDF3"/>
                </a:solidFill>
                <a:latin typeface="JetBrains Mono" pitchFamily="49" charset="0"/>
                <a:ea typeface="JetBrains Mono" pitchFamily="49" charset="-122"/>
                <a:cs typeface="JetBrains Mono" pitchFamily="49" charset="-120"/>
              </a:rPr>
              <a:t>)</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print(</a:t>
            </a:r>
            <a:r>
              <a:rPr lang="en-US" sz="1700" dirty="0">
                <a:solidFill>
                  <a:srgbClr val="F2C94C"/>
                </a:solidFill>
                <a:latin typeface="JetBrains Mono" pitchFamily="49" charset="0"/>
                <a:ea typeface="JetBrains Mono" pitchFamily="49" charset="-122"/>
                <a:cs typeface="JetBrains Mono" pitchFamily="49" charset="-120"/>
              </a:rPr>
              <a:t>"Have a nice day!"</a:t>
            </a:r>
            <a:r>
              <a:rPr lang="en-US" sz="1700" dirty="0">
                <a:solidFill>
                  <a:srgbClr val="E8EDF3"/>
                </a:solidFill>
                <a:latin typeface="JetBrains Mono" pitchFamily="49" charset="0"/>
                <a:ea typeface="JetBrains Mono" pitchFamily="49" charset="-122"/>
                <a:cs typeface="JetBrains Mono" pitchFamily="49" charset="-120"/>
              </a:rPr>
              <a:t>)</a:t>
            </a:r>
            <a:endParaRPr lang="en-US" sz="1700" dirty="0"/>
          </a:p>
        </p:txBody>
      </p:sp>
      <p:sp>
        <p:nvSpPr>
          <p:cNvPr id="5" name="Text 3"/>
          <p:cNvSpPr/>
          <p:nvPr/>
        </p:nvSpPr>
        <p:spPr>
          <a:xfrm>
            <a:off x="6302375" y="1989404"/>
            <a:ext cx="5073650" cy="565944"/>
          </a:xfrm>
          <a:prstGeom prst="roundRect">
            <a:avLst>
              <a:gd name="adj" fmla="val 15147"/>
            </a:avLst>
          </a:prstGeom>
          <a:solidFill>
            <a:srgbClr val="FFFFFF"/>
          </a:solidFill>
          <a:ln w="6350">
            <a:solidFill>
              <a:srgbClr val="D5DEE8"/>
            </a:solidFill>
            <a:prstDash val="solid"/>
          </a:ln>
        </p:spPr>
        <p:txBody>
          <a:bodyPr wrap="square" lIns="179150" tIns="115650" rIns="39196" bIns="9025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A</a:t>
            </a:r>
            <a:r>
              <a:rPr lang="en-US" sz="1600" dirty="0">
                <a:solidFill>
                  <a:srgbClr val="1F2A37"/>
                </a:solidFill>
                <a:latin typeface="DM Sans" pitchFamily="34" charset="0"/>
                <a:ea typeface="DM Sans" pitchFamily="34" charset="-122"/>
                <a:cs typeface="DM Sans" pitchFamily="34" charset="-120"/>
              </a:rPr>
              <a:t> · Nothing</a:t>
            </a:r>
            <a:endParaRPr lang="en-US" sz="1600" dirty="0"/>
          </a:p>
        </p:txBody>
      </p:sp>
      <p:sp>
        <p:nvSpPr>
          <p:cNvPr id="6" name="Text 4"/>
          <p:cNvSpPr/>
          <p:nvPr/>
        </p:nvSpPr>
        <p:spPr>
          <a:xfrm>
            <a:off x="6302375" y="2663298"/>
            <a:ext cx="5073650" cy="565944"/>
          </a:xfrm>
          <a:prstGeom prst="roundRect">
            <a:avLst>
              <a:gd name="adj" fmla="val 15147"/>
            </a:avLst>
          </a:prstGeom>
          <a:solidFill>
            <a:srgbClr val="FFFFFF"/>
          </a:solidFill>
          <a:ln w="6350">
            <a:solidFill>
              <a:srgbClr val="D5DEE8"/>
            </a:solidFill>
            <a:prstDash val="solid"/>
          </a:ln>
        </p:spPr>
        <p:txBody>
          <a:bodyPr wrap="square" lIns="179150" tIns="115650" rIns="39196" bIns="9025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B</a:t>
            </a:r>
            <a:r>
              <a:rPr lang="en-US" sz="1600" dirty="0">
                <a:solidFill>
                  <a:srgbClr val="1F2A37"/>
                </a:solidFill>
                <a:latin typeface="DM Sans" pitchFamily="34" charset="0"/>
                <a:ea typeface="DM Sans" pitchFamily="34" charset="-122"/>
                <a:cs typeface="DM Sans" pitchFamily="34" charset="-120"/>
              </a:rPr>
              <a:t> · “It is hot!”</a:t>
            </a:r>
            <a:endParaRPr lang="en-US" sz="1600" dirty="0"/>
          </a:p>
        </p:txBody>
      </p:sp>
      <p:sp>
        <p:nvSpPr>
          <p:cNvPr id="7" name="Text 5"/>
          <p:cNvSpPr/>
          <p:nvPr/>
        </p:nvSpPr>
        <p:spPr>
          <a:xfrm>
            <a:off x="6302375" y="3337192"/>
            <a:ext cx="5073650" cy="565944"/>
          </a:xfrm>
          <a:prstGeom prst="roundRect">
            <a:avLst>
              <a:gd name="adj" fmla="val 15147"/>
            </a:avLst>
          </a:prstGeom>
          <a:solidFill>
            <a:srgbClr val="FFFFFF"/>
          </a:solidFill>
          <a:ln w="6350">
            <a:solidFill>
              <a:srgbClr val="D5DEE8"/>
            </a:solidFill>
            <a:prstDash val="solid"/>
          </a:ln>
        </p:spPr>
        <p:txBody>
          <a:bodyPr wrap="square" lIns="179150" tIns="115650" rIns="39196" bIns="9025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C</a:t>
            </a:r>
            <a:r>
              <a:rPr lang="en-US" sz="1600" dirty="0">
                <a:solidFill>
                  <a:srgbClr val="1F2A37"/>
                </a:solidFill>
                <a:latin typeface="DM Sans" pitchFamily="34" charset="0"/>
                <a:ea typeface="DM Sans" pitchFamily="34" charset="-122"/>
                <a:cs typeface="DM Sans" pitchFamily="34" charset="-120"/>
              </a:rPr>
              <a:t> · “It is hot!” and “Have a nice day!”</a:t>
            </a:r>
            <a:endParaRPr lang="en-US" sz="1600" dirty="0"/>
          </a:p>
        </p:txBody>
      </p:sp>
      <p:sp>
        <p:nvSpPr>
          <p:cNvPr id="8" name="Text 6"/>
          <p:cNvSpPr/>
          <p:nvPr/>
        </p:nvSpPr>
        <p:spPr>
          <a:xfrm>
            <a:off x="6302375" y="4011085"/>
            <a:ext cx="5073650" cy="565944"/>
          </a:xfrm>
          <a:prstGeom prst="roundRect">
            <a:avLst>
              <a:gd name="adj" fmla="val 15147"/>
            </a:avLst>
          </a:prstGeom>
          <a:solidFill>
            <a:srgbClr val="FFFFFF"/>
          </a:solidFill>
          <a:ln w="6350">
            <a:solidFill>
              <a:srgbClr val="D5DEE8"/>
            </a:solidFill>
            <a:prstDash val="solid"/>
          </a:ln>
        </p:spPr>
        <p:txBody>
          <a:bodyPr wrap="square" lIns="179150" tIns="115650" rIns="39196" bIns="9025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D</a:t>
            </a:r>
            <a:r>
              <a:rPr lang="en-US" sz="1600" dirty="0">
                <a:solidFill>
                  <a:srgbClr val="1F2A37"/>
                </a:solidFill>
                <a:latin typeface="DM Sans" pitchFamily="34" charset="0"/>
                <a:ea typeface="DM Sans" pitchFamily="34" charset="-122"/>
                <a:cs typeface="DM Sans" pitchFamily="34" charset="-120"/>
              </a:rPr>
              <a:t> · “Have a nice day!”</a:t>
            </a:r>
            <a:endParaRPr lang="en-US" sz="16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IF + USER INPUT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Did the student pass?</a:t>
            </a:r>
            <a:endParaRPr lang="en-US" sz="3600" dirty="0"/>
          </a:p>
        </p:txBody>
      </p:sp>
      <p:sp>
        <p:nvSpPr>
          <p:cNvPr id="4" name="Text 2"/>
          <p:cNvSpPr/>
          <p:nvPr/>
        </p:nvSpPr>
        <p:spPr>
          <a:xfrm>
            <a:off x="812800" y="1986229"/>
            <a:ext cx="6096000" cy="1663700"/>
          </a:xfrm>
          <a:prstGeom prst="roundRect">
            <a:avLst>
              <a:gd name="adj" fmla="val 7634"/>
            </a:avLst>
          </a:prstGeom>
          <a:solidFill>
            <a:srgbClr val="1F2A37"/>
          </a:solidFill>
          <a:ln/>
        </p:spPr>
        <p:txBody>
          <a:bodyPr wrap="square" lIns="293003" tIns="242203" rIns="129935" bIns="2168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score = int(input(</a:t>
            </a:r>
            <a:r>
              <a:rPr lang="en-US" sz="1600" dirty="0">
                <a:solidFill>
                  <a:srgbClr val="F2C94C"/>
                </a:solidFill>
                <a:latin typeface="JetBrains Mono" pitchFamily="49" charset="0"/>
                <a:ea typeface="JetBrains Mono" pitchFamily="49" charset="-122"/>
                <a:cs typeface="JetBrains Mono" pitchFamily="49" charset="-120"/>
              </a:rPr>
              <a:t>"Enter your score: "</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if</a:t>
            </a:r>
            <a:r>
              <a:rPr lang="en-US" sz="1600" dirty="0">
                <a:solidFill>
                  <a:srgbClr val="E8EDF3"/>
                </a:solidFill>
                <a:latin typeface="JetBrains Mono" pitchFamily="49" charset="0"/>
                <a:ea typeface="JetBrains Mono" pitchFamily="49" charset="-122"/>
                <a:cs typeface="JetBrains Mono" pitchFamily="49" charset="-120"/>
              </a:rPr>
              <a:t> score &gt;= 50:</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"You passed!"</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27900" y="1998929"/>
          <a:ext cx="4051300" cy="1651000"/>
        </p:xfrm>
        <a:graphic>
          <a:graphicData uri="http://schemas.openxmlformats.org/drawingml/2006/table">
            <a:tbl>
              <a:tblPr/>
              <a:tblGrid>
                <a:gridCol w="1012825"/>
                <a:gridCol w="1215390"/>
                <a:gridCol w="1823085"/>
              </a:tblGrid>
              <a:tr h="412750">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Input</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Condition</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Output</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75</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True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You passed!</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40</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False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(nothing)</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50</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True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You passed!</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6" name="Text 3"/>
          <p:cNvSpPr/>
          <p:nvPr/>
        </p:nvSpPr>
        <p:spPr>
          <a:xfrm>
            <a:off x="812800" y="4005529"/>
            <a:ext cx="10883392"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DM Sans" pitchFamily="34" charset="0"/>
                <a:ea typeface="DM Sans" pitchFamily="34" charset="-122"/>
                <a:cs typeface="DM Sans" pitchFamily="34" charset="-120"/>
              </a:rPr>
              <a:t>Use </a:t>
            </a:r>
            <a:r>
              <a:rPr lang="en-US" sz="1600" b="1" dirty="0">
                <a:solidFill>
                  <a:srgbClr val="4A5568"/>
                </a:solidFill>
                <a:latin typeface="DM Sans" pitchFamily="34" charset="0"/>
                <a:ea typeface="DM Sans" pitchFamily="34" charset="-122"/>
                <a:cs typeface="DM Sans" pitchFamily="34" charset="-120"/>
              </a:rPr>
              <a:t>int()</a:t>
            </a:r>
            <a:r>
              <a:rPr lang="en-US" sz="1600" dirty="0">
                <a:solidFill>
                  <a:srgbClr val="4A5568"/>
                </a:solidFill>
                <a:latin typeface="DM Sans" pitchFamily="34" charset="0"/>
                <a:ea typeface="DM Sans" pitchFamily="34" charset="-122"/>
                <a:cs typeface="DM Sans" pitchFamily="34" charset="-120"/>
              </a:rPr>
              <a:t> — input() gives text, and you can’t compare text with a number.</a:t>
            </a:r>
            <a:endParaRPr lang="en-US" sz="16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COMMON MISTAKES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AF9F6"/>
                </a:solidFill>
                <a:latin typeface="DM Sans" pitchFamily="34" charset="0"/>
                <a:ea typeface="DM Sans" pitchFamily="34" charset="-122"/>
                <a:cs typeface="DM Sans" pitchFamily="34" charset="-120"/>
              </a:rPr>
              <a:t>Spot the bug</a:t>
            </a:r>
            <a:endParaRPr lang="en-US" sz="3600" dirty="0"/>
          </a:p>
        </p:txBody>
      </p:sp>
      <p:sp>
        <p:nvSpPr>
          <p:cNvPr id="4" name="Shape 2"/>
          <p:cNvSpPr/>
          <p:nvPr/>
        </p:nvSpPr>
        <p:spPr>
          <a:xfrm>
            <a:off x="812800" y="1935429"/>
            <a:ext cx="5194300" cy="1264841"/>
          </a:xfrm>
          <a:prstGeom prst="roundRect">
            <a:avLst>
              <a:gd name="adj" fmla="val 10041"/>
            </a:avLst>
          </a:prstGeom>
          <a:solidFill>
            <a:srgbClr val="1F2A37"/>
          </a:solidFill>
          <a:ln/>
        </p:spPr>
      </p:sp>
      <p:sp>
        <p:nvSpPr>
          <p:cNvPr id="5" name="Text 3"/>
          <p:cNvSpPr/>
          <p:nvPr/>
        </p:nvSpPr>
        <p:spPr>
          <a:xfrm>
            <a:off x="1066800" y="2138629"/>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9F6"/>
                </a:solidFill>
                <a:latin typeface="DM Sans" pitchFamily="34" charset="0"/>
                <a:ea typeface="DM Sans" pitchFamily="34" charset="-122"/>
                <a:cs typeface="DM Sans" pitchFamily="34" charset="-120"/>
              </a:rPr>
              <a:t>Forgot int()</a:t>
            </a:r>
            <a:endParaRPr lang="en-US" sz="1500" dirty="0"/>
          </a:p>
        </p:txBody>
      </p:sp>
      <p:sp>
        <p:nvSpPr>
          <p:cNvPr id="6" name="Text 4"/>
          <p:cNvSpPr/>
          <p:nvPr/>
        </p:nvSpPr>
        <p:spPr>
          <a:xfrm>
            <a:off x="1066800" y="2468829"/>
            <a:ext cx="4826889"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age = input("Age: ")</a:t>
            </a:r>
            <a:endParaRPr lang="en-US" sz="1300" dirty="0"/>
          </a:p>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age &gt;= 18:</a:t>
            </a:r>
            <a:endParaRPr lang="en-US" sz="1300" dirty="0"/>
          </a:p>
        </p:txBody>
      </p:sp>
      <p:sp>
        <p:nvSpPr>
          <p:cNvPr id="7" name="Shape 5"/>
          <p:cNvSpPr/>
          <p:nvPr/>
        </p:nvSpPr>
        <p:spPr>
          <a:xfrm>
            <a:off x="6184900" y="1935429"/>
            <a:ext cx="5194300" cy="1264841"/>
          </a:xfrm>
          <a:prstGeom prst="roundRect">
            <a:avLst>
              <a:gd name="adj" fmla="val 10041"/>
            </a:avLst>
          </a:prstGeom>
          <a:solidFill>
            <a:srgbClr val="1F2A37"/>
          </a:solidFill>
          <a:ln/>
        </p:spPr>
      </p:sp>
      <p:sp>
        <p:nvSpPr>
          <p:cNvPr id="8" name="Text 6"/>
          <p:cNvSpPr/>
          <p:nvPr/>
        </p:nvSpPr>
        <p:spPr>
          <a:xfrm>
            <a:off x="6438900" y="2138629"/>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9F6"/>
                </a:solidFill>
                <a:latin typeface="DM Sans" pitchFamily="34" charset="0"/>
                <a:ea typeface="DM Sans" pitchFamily="34" charset="-122"/>
                <a:cs typeface="DM Sans" pitchFamily="34" charset="-120"/>
              </a:rPr>
              <a:t>Forgot the colon</a:t>
            </a:r>
            <a:endParaRPr lang="en-US" sz="1500" dirty="0"/>
          </a:p>
        </p:txBody>
      </p:sp>
      <p:sp>
        <p:nvSpPr>
          <p:cNvPr id="9" name="Text 7"/>
          <p:cNvSpPr/>
          <p:nvPr/>
        </p:nvSpPr>
        <p:spPr>
          <a:xfrm>
            <a:off x="6438900" y="2468829"/>
            <a:ext cx="4826889"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age &gt;= 18</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print("Adult")</a:t>
            </a:r>
            <a:endParaRPr lang="en-US" sz="1300" dirty="0"/>
          </a:p>
        </p:txBody>
      </p:sp>
      <p:sp>
        <p:nvSpPr>
          <p:cNvPr id="10" name="Shape 8"/>
          <p:cNvSpPr/>
          <p:nvPr/>
        </p:nvSpPr>
        <p:spPr>
          <a:xfrm>
            <a:off x="812800" y="3378070"/>
            <a:ext cx="5194300" cy="1264841"/>
          </a:xfrm>
          <a:prstGeom prst="roundRect">
            <a:avLst>
              <a:gd name="adj" fmla="val 10041"/>
            </a:avLst>
          </a:prstGeom>
          <a:solidFill>
            <a:srgbClr val="1F2A37"/>
          </a:solidFill>
          <a:ln/>
        </p:spPr>
      </p:sp>
      <p:sp>
        <p:nvSpPr>
          <p:cNvPr id="11" name="Text 9"/>
          <p:cNvSpPr/>
          <p:nvPr/>
        </p:nvSpPr>
        <p:spPr>
          <a:xfrm>
            <a:off x="1066800" y="3581270"/>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9F6"/>
                </a:solidFill>
                <a:latin typeface="DM Sans" pitchFamily="34" charset="0"/>
                <a:ea typeface="DM Sans" pitchFamily="34" charset="-122"/>
                <a:cs typeface="DM Sans" pitchFamily="34" charset="-120"/>
              </a:rPr>
              <a:t>Forgot to indent</a:t>
            </a:r>
            <a:endParaRPr lang="en-US" sz="1500" dirty="0"/>
          </a:p>
        </p:txBody>
      </p:sp>
      <p:sp>
        <p:nvSpPr>
          <p:cNvPr id="12" name="Text 10"/>
          <p:cNvSpPr/>
          <p:nvPr/>
        </p:nvSpPr>
        <p:spPr>
          <a:xfrm>
            <a:off x="1066800" y="3911470"/>
            <a:ext cx="4826889"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age &gt;= 18:</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print("Adult")</a:t>
            </a:r>
            <a:endParaRPr lang="en-US" sz="1300" dirty="0"/>
          </a:p>
        </p:txBody>
      </p:sp>
      <p:sp>
        <p:nvSpPr>
          <p:cNvPr id="13" name="Shape 11"/>
          <p:cNvSpPr/>
          <p:nvPr/>
        </p:nvSpPr>
        <p:spPr>
          <a:xfrm>
            <a:off x="6184900" y="3378070"/>
            <a:ext cx="5194300" cy="1264841"/>
          </a:xfrm>
          <a:prstGeom prst="roundRect">
            <a:avLst>
              <a:gd name="adj" fmla="val 10041"/>
            </a:avLst>
          </a:prstGeom>
          <a:solidFill>
            <a:srgbClr val="1F2A37"/>
          </a:solidFill>
          <a:ln/>
        </p:spPr>
      </p:sp>
      <p:sp>
        <p:nvSpPr>
          <p:cNvPr id="14" name="Text 12"/>
          <p:cNvSpPr/>
          <p:nvPr/>
        </p:nvSpPr>
        <p:spPr>
          <a:xfrm>
            <a:off x="6438900" y="3581270"/>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9F6"/>
                </a:solidFill>
                <a:latin typeface="DM Sans" pitchFamily="34" charset="0"/>
                <a:ea typeface="DM Sans" pitchFamily="34" charset="-122"/>
                <a:cs typeface="DM Sans" pitchFamily="34" charset="-120"/>
              </a:rPr>
              <a:t>= instead of ==</a:t>
            </a:r>
            <a:endParaRPr lang="en-US" sz="1500" dirty="0"/>
          </a:p>
        </p:txBody>
      </p:sp>
      <p:sp>
        <p:nvSpPr>
          <p:cNvPr id="15" name="Text 13"/>
          <p:cNvSpPr/>
          <p:nvPr/>
        </p:nvSpPr>
        <p:spPr>
          <a:xfrm>
            <a:off x="6438900" y="3911470"/>
            <a:ext cx="4826889"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age = 18:</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print("Exactly 18")</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ELSE — THE OTHER CHOICE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If not, do this instead</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2184334"/>
          </a:xfrm>
          <a:prstGeom prst="roundRect">
            <a:avLst>
              <a:gd name="adj" fmla="val 5814"/>
            </a:avLst>
          </a:prstGeom>
          <a:solidFill>
            <a:srgbClr val="1F2A37"/>
          </a:solidFill>
          <a:ln/>
        </p:spPr>
        <p:txBody>
          <a:bodyPr wrap="square" lIns="293003" tIns="242203" rIns="129935" bIns="2168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age = 15</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if</a:t>
            </a:r>
            <a:r>
              <a:rPr lang="en-US" sz="1600" dirty="0">
                <a:solidFill>
                  <a:srgbClr val="E8EDF3"/>
                </a:solidFill>
                <a:latin typeface="JetBrains Mono" pitchFamily="49" charset="0"/>
                <a:ea typeface="JetBrains Mono" pitchFamily="49" charset="-122"/>
                <a:cs typeface="JetBrains Mono" pitchFamily="49" charset="-120"/>
              </a:rPr>
              <a:t> age &gt;= 18:</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"You are an adult."</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else</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"You are under 18."</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863600"/>
          </a:xfrm>
          <a:prstGeom prst="roundRect">
            <a:avLst>
              <a:gd name="adj" fmla="val 14706"/>
            </a:avLst>
          </a:prstGeom>
          <a:solidFill>
            <a:srgbClr val="EEF2F6"/>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You are under 18.</a:t>
            </a:r>
            <a:endParaRPr lang="en-US" sz="1500" dirty="0"/>
          </a:p>
        </p:txBody>
      </p:sp>
      <p:sp>
        <p:nvSpPr>
          <p:cNvPr id="8" name="Shape 6"/>
          <p:cNvSpPr/>
          <p:nvPr/>
        </p:nvSpPr>
        <p:spPr>
          <a:xfrm>
            <a:off x="7315200" y="2362138"/>
            <a:ext cx="4064000" cy="863600"/>
          </a:xfrm>
          <a:custGeom>
            <a:avLst/>
            <a:gdLst/>
            <a:ahLst/>
            <a:cxnLst/>
            <a:rect l="l" t="t" r="r" b="b"/>
            <a:pathLst>
              <a:path w="4064000" h="863600">
                <a:moveTo>
                  <a:pt x="127000" y="863600"/>
                </a:moveTo>
                <a:lnTo>
                  <a:pt x="127000" y="863600"/>
                </a:lnTo>
                <a:arcTo hR="127000" wR="127000" stAng="5400000" swAng="5400000"/>
                <a:lnTo>
                  <a:pt x="0" y="127000"/>
                </a:lnTo>
                <a:arcTo hR="127000" wR="127000" stAng="10800000" swAng="5400000"/>
                <a:lnTo>
                  <a:pt x="127000" y="0"/>
                </a:lnTo>
                <a:arcTo hR="127000" wR="76200" stAng="16200000" swAng="-5400000"/>
                <a:lnTo>
                  <a:pt x="50800" y="736600"/>
                </a:lnTo>
                <a:arcTo hR="127000" wR="76200" stAng="10800000" swAng="-5400000"/>
                <a:close/>
              </a:path>
            </a:pathLst>
          </a:custGeom>
          <a:solidFill>
            <a:srgbClr val="3776AB"/>
          </a:solidFill>
          <a:ln/>
        </p:spPr>
      </p:sp>
      <p:sp>
        <p:nvSpPr>
          <p:cNvPr id="9" name="Text 7"/>
          <p:cNvSpPr/>
          <p:nvPr/>
        </p:nvSpPr>
        <p:spPr>
          <a:xfrm>
            <a:off x="7315200" y="3352738"/>
            <a:ext cx="4064000" cy="857250"/>
          </a:xfrm>
          <a:prstGeom prst="roundRect">
            <a:avLst>
              <a:gd name="adj" fmla="val 11852"/>
            </a:avLst>
          </a:prstGeom>
          <a:solidFill>
            <a:srgbClr val="E3ECF6"/>
          </a:solidFill>
          <a:ln/>
        </p:spPr>
        <p:txBody>
          <a:bodyPr wrap="square" lIns="173442" tIns="122642" rIns="63714" bIns="97242" rtlCol="0" anchor="t">
            <a:normAutofit/>
          </a:bodyPr>
          <a:lstStyle/>
          <a:p>
            <a:pPr algn="l" indent="0" marL="0">
              <a:lnSpc>
                <a:spcPts val="2175"/>
              </a:lnSpc>
              <a:buNone/>
            </a:pPr>
            <a:r>
              <a:rPr lang="en-US" sz="1500" b="1" dirty="0">
                <a:solidFill>
                  <a:srgbClr val="1F2A37"/>
                </a:solidFill>
                <a:latin typeface="DM Sans" pitchFamily="34" charset="0"/>
                <a:ea typeface="DM Sans" pitchFamily="34" charset="-122"/>
                <a:cs typeface="DM Sans" pitchFamily="34" charset="-120"/>
              </a:rPr>
              <a:t>else</a:t>
            </a:r>
            <a:r>
              <a:rPr lang="en-US" sz="1500" dirty="0">
                <a:solidFill>
                  <a:srgbClr val="1F2A37"/>
                </a:solidFill>
                <a:latin typeface="DM Sans" pitchFamily="34" charset="0"/>
                <a:ea typeface="DM Sans" pitchFamily="34" charset="-122"/>
                <a:cs typeface="DM Sans" pitchFamily="34" charset="-120"/>
              </a:rPr>
              <a:t> has </a:t>
            </a:r>
            <a:r>
              <a:rPr lang="en-US" sz="1500" b="1" dirty="0">
                <a:solidFill>
                  <a:srgbClr val="1F2A37"/>
                </a:solidFill>
                <a:latin typeface="DM Sans" pitchFamily="34" charset="0"/>
                <a:ea typeface="DM Sans" pitchFamily="34" charset="-122"/>
                <a:cs typeface="DM Sans" pitchFamily="34" charset="-120"/>
              </a:rPr>
              <a:t>no condition</a:t>
            </a:r>
            <a:r>
              <a:rPr lang="en-US" sz="1500" dirty="0">
                <a:solidFill>
                  <a:srgbClr val="1F2A37"/>
                </a:solidFill>
                <a:latin typeface="DM Sans" pitchFamily="34" charset="0"/>
                <a:ea typeface="DM Sans" pitchFamily="34" charset="-122"/>
                <a:cs typeface="DM Sans" pitchFamily="34" charset="-120"/>
              </a:rPr>
              <a:t>. It runs when the if is False.</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ELIF — MULTIPLE CHOICES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More than two outcomes</a:t>
            </a:r>
            <a:endParaRPr lang="en-US" sz="3600" dirty="0"/>
          </a:p>
        </p:txBody>
      </p:sp>
      <p:sp>
        <p:nvSpPr>
          <p:cNvPr id="4" name="Text 2"/>
          <p:cNvSpPr/>
          <p:nvPr/>
        </p:nvSpPr>
        <p:spPr>
          <a:xfrm>
            <a:off x="812800" y="1986229"/>
            <a:ext cx="5080000" cy="2834548"/>
          </a:xfrm>
          <a:prstGeom prst="roundRect">
            <a:avLst>
              <a:gd name="adj" fmla="val 4480"/>
            </a:avLst>
          </a:prstGeom>
          <a:solidFill>
            <a:srgbClr val="1F2A37"/>
          </a:solidFill>
          <a:ln/>
        </p:spPr>
        <p:txBody>
          <a:bodyPr wrap="square" lIns="293003" tIns="242203" rIns="160415" bIns="2168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score = 75</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if</a:t>
            </a:r>
            <a:r>
              <a:rPr lang="en-US" sz="1600" dirty="0">
                <a:solidFill>
                  <a:srgbClr val="E8EDF3"/>
                </a:solidFill>
                <a:latin typeface="JetBrains Mono" pitchFamily="49" charset="0"/>
                <a:ea typeface="JetBrains Mono" pitchFamily="49" charset="-122"/>
                <a:cs typeface="JetBrains Mono" pitchFamily="49" charset="-120"/>
              </a:rPr>
              <a:t> score &gt;= 80:</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"Grade A"</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elif</a:t>
            </a:r>
            <a:r>
              <a:rPr lang="en-US" sz="1600" dirty="0">
                <a:solidFill>
                  <a:srgbClr val="E8EDF3"/>
                </a:solidFill>
                <a:latin typeface="JetBrains Mono" pitchFamily="49" charset="0"/>
                <a:ea typeface="JetBrains Mono" pitchFamily="49" charset="-122"/>
                <a:cs typeface="JetBrains Mono" pitchFamily="49" charset="-120"/>
              </a:rPr>
              <a:t> score &gt;= 70:</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"Grade B"</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else</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"Keep practicing!"</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5" name="Text 3"/>
          <p:cNvSpPr/>
          <p:nvPr/>
        </p:nvSpPr>
        <p:spPr>
          <a:xfrm>
            <a:off x="6302375" y="1989404"/>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1.</a:t>
            </a:r>
            <a:r>
              <a:rPr lang="en-US" sz="1600" dirty="0">
                <a:solidFill>
                  <a:srgbClr val="1F2A37"/>
                </a:solidFill>
                <a:latin typeface="DM Sans" pitchFamily="34" charset="0"/>
                <a:ea typeface="DM Sans" pitchFamily="34" charset="-122"/>
                <a:cs typeface="DM Sans" pitchFamily="34" charset="-120"/>
              </a:rPr>
              <a:t> 75 &gt;= 80 → False · skip</a:t>
            </a:r>
            <a:endParaRPr lang="en-US" sz="1600" dirty="0"/>
          </a:p>
        </p:txBody>
      </p:sp>
      <p:sp>
        <p:nvSpPr>
          <p:cNvPr id="6" name="Text 4"/>
          <p:cNvSpPr/>
          <p:nvPr/>
        </p:nvSpPr>
        <p:spPr>
          <a:xfrm>
            <a:off x="6302375" y="2714098"/>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2.</a:t>
            </a:r>
            <a:r>
              <a:rPr lang="en-US" sz="1600" dirty="0">
                <a:solidFill>
                  <a:srgbClr val="1F2A37"/>
                </a:solidFill>
                <a:latin typeface="DM Sans" pitchFamily="34" charset="0"/>
                <a:ea typeface="DM Sans" pitchFamily="34" charset="-122"/>
                <a:cs typeface="DM Sans" pitchFamily="34" charset="-120"/>
              </a:rPr>
              <a:t> 75 &gt;= 70 → True · run it!</a:t>
            </a:r>
            <a:endParaRPr lang="en-US" sz="1600" dirty="0"/>
          </a:p>
        </p:txBody>
      </p:sp>
      <p:sp>
        <p:nvSpPr>
          <p:cNvPr id="7" name="Text 5"/>
          <p:cNvSpPr/>
          <p:nvPr/>
        </p:nvSpPr>
        <p:spPr>
          <a:xfrm>
            <a:off x="6299200" y="3435617"/>
            <a:ext cx="5080000" cy="589227"/>
          </a:xfrm>
          <a:prstGeom prst="roundRect">
            <a:avLst>
              <a:gd name="adj" fmla="val 17243"/>
            </a:avLst>
          </a:prstGeom>
          <a:solidFill>
            <a:srgbClr val="E3ECF6"/>
          </a:solidFill>
          <a:ln/>
        </p:spPr>
        <p:txBody>
          <a:bodyPr wrap="square" lIns="173442" tIns="122642" rIns="33234" bIns="97242" rtlCol="0" anchor="t">
            <a:normAutofit/>
          </a:bodyPr>
          <a:lstStyle/>
          <a:p>
            <a:pPr algn="l" indent="0" marL="0">
              <a:lnSpc>
                <a:spcPts val="2240"/>
              </a:lnSpc>
              <a:buNone/>
            </a:pPr>
            <a:r>
              <a:rPr lang="en-US" sz="1600" b="1" dirty="0">
                <a:solidFill>
                  <a:srgbClr val="2F5F8A"/>
                </a:solidFill>
                <a:latin typeface="DM Sans" pitchFamily="34" charset="0"/>
                <a:ea typeface="DM Sans" pitchFamily="34" charset="-122"/>
                <a:cs typeface="DM Sans" pitchFamily="34" charset="-120"/>
              </a:rPr>
              <a:t>3.</a:t>
            </a:r>
            <a:r>
              <a:rPr lang="en-US" sz="1600" dirty="0">
                <a:solidFill>
                  <a:srgbClr val="1F2A37"/>
                </a:solidFill>
                <a:latin typeface="DM Sans" pitchFamily="34" charset="0"/>
                <a:ea typeface="DM Sans" pitchFamily="34" charset="-122"/>
                <a:cs typeface="DM Sans" pitchFamily="34" charset="-120"/>
              </a:rPr>
              <a:t> Prints </a:t>
            </a:r>
            <a:r>
              <a:rPr lang="en-US" sz="1600" b="1" dirty="0">
                <a:solidFill>
                  <a:srgbClr val="1F2A37"/>
                </a:solidFill>
                <a:latin typeface="DM Sans" pitchFamily="34" charset="0"/>
                <a:ea typeface="DM Sans" pitchFamily="34" charset="-122"/>
                <a:cs typeface="DM Sans" pitchFamily="34" charset="-120"/>
              </a:rPr>
              <a:t>Grade B</a:t>
            </a:r>
            <a:r>
              <a:rPr lang="en-US" sz="1600" dirty="0">
                <a:solidFill>
                  <a:srgbClr val="1F2A37"/>
                </a:solidFill>
                <a:latin typeface="DM Sans" pitchFamily="34" charset="0"/>
                <a:ea typeface="DM Sans" pitchFamily="34" charset="-122"/>
                <a:cs typeface="DM Sans" pitchFamily="34" charset="-120"/>
              </a:rPr>
              <a:t> and stops checking</a:t>
            </a:r>
            <a:endParaRPr lang="en-US" sz="1600" dirty="0"/>
          </a:p>
        </p:txBody>
      </p:sp>
      <p:sp>
        <p:nvSpPr>
          <p:cNvPr id="8" name="Text 6"/>
          <p:cNvSpPr/>
          <p:nvPr/>
        </p:nvSpPr>
        <p:spPr>
          <a:xfrm>
            <a:off x="6299200" y="4151846"/>
            <a:ext cx="523240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elif</a:t>
            </a:r>
            <a:r>
              <a:rPr lang="en-US" sz="1500" dirty="0">
                <a:solidFill>
                  <a:srgbClr val="4A5568"/>
                </a:solidFill>
                <a:latin typeface="DM Sans" pitchFamily="34" charset="0"/>
                <a:ea typeface="DM Sans" pitchFamily="34" charset="-122"/>
                <a:cs typeface="DM Sans" pitchFamily="34" charset="-120"/>
              </a:rPr>
              <a:t> = “else if”. You can have as many as you need.</a:t>
            </a:r>
            <a:endParaRPr lang="en-US" sz="15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3: conditional statements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theme/theme1.xml><?xml version="1.0" encoding="utf-8"?>
<a:theme xmlns:a="http://schemas.openxmlformats.org/drawingml/2006/main" name="Day 3 — Conditional Statements">
  <a:themeElements>
    <a:clrScheme name="Day 3 — Conditional Statements">
      <a:dk1>
        <a:srgbClr val="1F2A37"/>
      </a:dk1>
      <a:lt1>
        <a:srgbClr val="FAF9F6"/>
      </a:lt1>
      <a:dk2>
        <a:srgbClr val="565E67"/>
      </a:dk2>
      <a:lt2>
        <a:srgbClr val="E4E4E3"/>
      </a:lt2>
      <a:accent1>
        <a:srgbClr val="3776AB"/>
      </a:accent1>
      <a:accent2>
        <a:srgbClr val="2F5F8A"/>
      </a:accent2>
      <a:accent3>
        <a:srgbClr val="8A94A3"/>
      </a:accent3>
      <a:accent4>
        <a:srgbClr val="4A5568"/>
      </a:accent4>
      <a:accent5>
        <a:srgbClr val="CFE0F1"/>
      </a:accent5>
      <a:accent6>
        <a:srgbClr val="9AA0A6"/>
      </a:accent6>
      <a:hlink>
        <a:srgbClr val="0563C1"/>
      </a:hlink>
      <a:folHlink>
        <a:srgbClr val="954F72"/>
      </a:folHlink>
    </a:clrScheme>
    <a:fontScheme name="Day 3 — Conditional Statement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 Conditional Statements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2026-10-24T05:13:59Z</dcterms:created>
  <dcterms:modified xsi:type="dcterms:W3CDTF">2026-10-24T05:13:59Z</dcterms:modified>
</cp:coreProperties>
</file>