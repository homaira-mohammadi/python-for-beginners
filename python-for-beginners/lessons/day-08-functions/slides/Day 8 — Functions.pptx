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embeddedFontLst>
    <p:embeddedFont>
      <p:font typeface="DM Sans" pitchFamily="34" charset="0"/>
      <p:regular r:id="rId20"/>
      <p:bold r:id="rId21"/>
    </p:embeddedFont>
    <p:embeddedFont>
      <p:font typeface="JetBrains Mono" panose="02000009000000000000" pitchFamily="49" charset="0"/>
      <p:regular r:id="rId22"/>
      <p:bold r:id="rId2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font" Target="fonts/font1.fntdata"/><Relationship Id="rId21" Type="http://schemas.openxmlformats.org/officeDocument/2006/relationships/font" Target="fonts/font2.fntdata"/><Relationship Id="rId22" Type="http://schemas.openxmlformats.org/officeDocument/2006/relationships/font" Target="fonts/font3.fntdata"/><Relationship Id="rId23"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So far we used Python's built-in commands. Today we learn to create our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together. Functions are how real programs stay organised.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these is a function that someone wrote for us. Today students become the ones who write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function is a named block of code that does one job. Use the recipe analogy: the recipe is written once in the book, but you can cook it many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defining a function does NOT run it. Nothing happens until we call it. Also, a function must be defined before it is called, because Python reads from top to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matters: the first argument goes into the first parameter. Students can also write introduce(age=20, name="Ali") to be extra 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have used a default before without knowing it: print() has end="\n" as a default, which is why each print starts a new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gives a value back to the code that called the function, and stops the function immediately. Think of it as the function handing you its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live. add_print shows 5 on the screen but gives nothing back, so x is None. add_return shows nothing but gives back 5, so y is 5. Usually we want return.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return stops the function, we don't need an else at the end. Ask: what does grade(80) return? (A, because 80 &gt;= 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 12 (double(3) is 6, double(6) is 12). Q2 = square prints 16 but does not return, so r is None; fix with return x * x. Q3 = Hi friend (the default is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explain each row in their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20–30 minutes. Encourage good function names that describe the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9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1F2A37"/>
                </a:solidFill>
                <a:latin typeface="DM Sans" pitchFamily="34" charset="0"/>
                <a:ea typeface="DM Sans" pitchFamily="34" charset="-122"/>
                <a:cs typeface="DM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27"/>
            <a:ext cx="10566400" cy="4109773"/>
          </a:xfrm>
          <a:prstGeom prst="rect">
            <a:avLst/>
          </a:prstGeom>
          <a:noFill/>
          <a:ln/>
        </p:spPr>
        <p:txBody>
          <a:bodyPr wrap="square" lIns="0" tIns="0" rIns="0" bIns="0" rtlCol="0" anchor="t"/>
          <a:lstStyle>
            <a:lvl1pPr algn="l" indent="0" marL="0">
              <a:lnSpc>
                <a:spcPct val="140000"/>
              </a:lnSpc>
              <a:buNone/>
              <a:defRPr lang="en-US" sz="1600" dirty="0">
                <a:solidFill>
                  <a:srgbClr val="1F2A37"/>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9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1F2A37"/>
                </a:solidFill>
                <a:latin typeface="DM Sans" pitchFamily="34" charset="0"/>
                <a:ea typeface="DM Sans" pitchFamily="34" charset="-122"/>
                <a:cs typeface="DM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27"/>
            <a:ext cx="10566400" cy="4109773"/>
          </a:xfrm>
          <a:prstGeom prst="rect">
            <a:avLst/>
          </a:prstGeom>
          <a:noFill/>
          <a:ln/>
        </p:spPr>
        <p:txBody>
          <a:bodyPr wrap="square" lIns="0" tIns="0" rIns="0" bIns="0" rtlCol="0" anchor="t"/>
          <a:lstStyle>
            <a:lvl1pPr algn="l" indent="0" marL="0">
              <a:lnSpc>
                <a:spcPct val="140000"/>
              </a:lnSpc>
              <a:buNone/>
              <a:defRPr lang="en-US" sz="1600" dirty="0">
                <a:solidFill>
                  <a:srgbClr val="1F2A37"/>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3776AB"/>
          </a:solidFill>
          <a:ln/>
        </p:spPr>
      </p:sp>
      <p:pic>
        <p:nvPicPr>
          <p:cNvPr id="3" name="Image 0" descr="Python logo">    </p:cNvPr>
          <p:cNvPicPr>
            <a:picLocks noChangeAspect="1"/>
          </p:cNvPicPr>
          <p:nvPr/>
        </p:nvPicPr>
        <p:blipFill>
          <a:blip r:embed="rId1"/>
          <a:srcRect l="0" r="0" t="0" b="0"/>
          <a:stretch/>
        </p:blipFill>
        <p:spPr>
          <a:xfrm>
            <a:off x="812800" y="1557073"/>
            <a:ext cx="1270000" cy="1270000"/>
          </a:xfrm>
          <a:prstGeom prst="rect">
            <a:avLst/>
          </a:prstGeom>
        </p:spPr>
      </p:pic>
      <p:sp>
        <p:nvSpPr>
          <p:cNvPr id="4" name="Text 1"/>
          <p:cNvSpPr/>
          <p:nvPr/>
        </p:nvSpPr>
        <p:spPr>
          <a:xfrm>
            <a:off x="812800" y="3030273"/>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PYTHON FOR BEGINNERS · DAY 8</a:t>
            </a:r>
            <a:endParaRPr lang="en-US" sz="1200" dirty="0"/>
          </a:p>
        </p:txBody>
      </p:sp>
      <p:sp>
        <p:nvSpPr>
          <p:cNvPr id="5" name="Text 2"/>
          <p:cNvSpPr/>
          <p:nvPr>
            <p:ph type="title"/>
          </p:nvPr>
        </p:nvSpPr>
        <p:spPr>
          <a:xfrm>
            <a:off x="812800" y="3446793"/>
            <a:ext cx="512775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1F2A37"/>
                </a:solidFill>
                <a:latin typeface="DM Sans" pitchFamily="34" charset="0"/>
                <a:ea typeface="DM Sans" pitchFamily="34" charset="-122"/>
                <a:cs typeface="DM Sans" pitchFamily="34" charset="-120"/>
              </a:rPr>
              <a:t>Functions</a:t>
            </a:r>
            <a:endParaRPr lang="en-US" sz="6000" dirty="0"/>
          </a:p>
        </p:txBody>
      </p:sp>
      <p:sp>
        <p:nvSpPr>
          <p:cNvPr id="6" name="Text 3"/>
          <p:cNvSpPr/>
          <p:nvPr/>
        </p:nvSpPr>
        <p:spPr>
          <a:xfrm>
            <a:off x="812800" y="4450093"/>
            <a:ext cx="5127752" cy="388607"/>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4A5568"/>
                </a:solidFill>
                <a:latin typeface="DM Sans" pitchFamily="34" charset="0"/>
                <a:ea typeface="DM Sans" pitchFamily="34" charset="-122"/>
                <a:cs typeface="DM Sans" pitchFamily="34" charset="-120"/>
              </a:rPr>
              <a:t>Writing your own commands</a:t>
            </a:r>
            <a:endParaRPr lang="en-US" sz="2200" dirty="0"/>
          </a:p>
        </p:txBody>
      </p:sp>
      <p:sp>
        <p:nvSpPr>
          <p:cNvPr id="7" name="Text 4"/>
          <p:cNvSpPr/>
          <p:nvPr/>
        </p:nvSpPr>
        <p:spPr>
          <a:xfrm>
            <a:off x="812800" y="5016500"/>
            <a:ext cx="512775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Instructor: Homaira Mohammadi</a:t>
            </a:r>
            <a:endParaRPr lang="en-US" sz="1600" dirty="0"/>
          </a:p>
        </p:txBody>
      </p:sp>
      <p:sp>
        <p:nvSpPr>
          <p:cNvPr id="8" name="Text 5"/>
          <p:cNvSpPr/>
          <p:nvPr/>
        </p:nvSpPr>
        <p:spPr>
          <a:xfrm>
            <a:off x="6400800" y="2159066"/>
            <a:ext cx="4978400" cy="2539802"/>
          </a:xfrm>
          <a:prstGeom prst="roundRect">
            <a:avLst>
              <a:gd name="adj" fmla="val 6000"/>
            </a:avLst>
          </a:prstGeom>
          <a:solidFill>
            <a:srgbClr val="1F2A37"/>
          </a:solidFill>
          <a:ln/>
          <a:effectLst>
            <a:outerShdw sx="100000" sy="100000" kx="0" ky="0" algn="bl" rotWithShape="0" blurRad="406400" dist="152400" dir="5400000">
              <a:srgbClr val="1F2A37">
                <a:alpha val="18000"/>
              </a:srgbClr>
            </a:outerShdw>
          </a:effectLst>
        </p:spPr>
        <p:txBody>
          <a:bodyPr wrap="square" lIns="361764" tIns="310964" rIns="236796" bIns="285564" rtlCol="0" anchor="t">
            <a:normAutofit/>
          </a:bodyPr>
          <a:lstStyle/>
          <a:p>
            <a:pPr algn="l" indent="0" marL="0">
              <a:lnSpc>
                <a:spcPts val="2880"/>
              </a:lnSpc>
              <a:buNone/>
            </a:pPr>
            <a:r>
              <a:rPr lang="en-US" sz="1800" dirty="0">
                <a:solidFill>
                  <a:srgbClr val="8EC1F0"/>
                </a:solidFill>
                <a:latin typeface="JetBrains Mono" pitchFamily="49" charset="0"/>
                <a:ea typeface="JetBrains Mono" pitchFamily="49" charset="-122"/>
                <a:cs typeface="JetBrains Mono" pitchFamily="49" charset="-120"/>
              </a:rPr>
              <a:t>def</a:t>
            </a:r>
            <a:r>
              <a:rPr lang="en-US" sz="1800" dirty="0">
                <a:solidFill>
                  <a:srgbClr val="E8EDF3"/>
                </a:solidFill>
                <a:latin typeface="JetBrains Mono" pitchFamily="49" charset="0"/>
                <a:ea typeface="JetBrains Mono" pitchFamily="49" charset="-122"/>
                <a:cs typeface="JetBrains Mono" pitchFamily="49" charset="-120"/>
              </a:rPr>
              <a:t> greet(name):</a:t>
            </a:r>
            <a:endParaRPr lang="en-US" sz="1800" dirty="0"/>
          </a:p>
          <a:p>
            <a:pPr algn="l" indent="0" marL="0">
              <a:lnSpc>
                <a:spcPts val="2880"/>
              </a:lnSpc>
              <a:buNone/>
            </a:pPr>
            <a:r>
              <a:rPr lang="en-US" sz="1800" dirty="0">
                <a:solidFill>
                  <a:srgbClr val="E8EDF3"/>
                </a:solidFill>
                <a:latin typeface="JetBrains Mono" pitchFamily="49" charset="0"/>
                <a:ea typeface="JetBrains Mono" pitchFamily="49" charset="-122"/>
                <a:cs typeface="JetBrains Mono" pitchFamily="49" charset="-120"/>
              </a:rPr>
              <a:t>    print(</a:t>
            </a:r>
            <a:r>
              <a:rPr lang="en-US" sz="1800" dirty="0">
                <a:solidFill>
                  <a:srgbClr val="F2C94C"/>
                </a:solidFill>
                <a:latin typeface="JetBrains Mono" pitchFamily="49" charset="0"/>
                <a:ea typeface="JetBrains Mono" pitchFamily="49" charset="-122"/>
                <a:cs typeface="JetBrains Mono" pitchFamily="49" charset="-120"/>
              </a:rPr>
              <a:t>"Hello,"</a:t>
            </a:r>
            <a:r>
              <a:rPr lang="en-US" sz="1800" dirty="0">
                <a:solidFill>
                  <a:srgbClr val="E8EDF3"/>
                </a:solidFill>
                <a:latin typeface="JetBrains Mono" pitchFamily="49" charset="0"/>
                <a:ea typeface="JetBrains Mono" pitchFamily="49" charset="-122"/>
                <a:cs typeface="JetBrains Mono" pitchFamily="49" charset="-120"/>
              </a:rPr>
              <a:t>, name)</a:t>
            </a:r>
            <a:endParaRPr lang="en-US" sz="1800" dirty="0"/>
          </a:p>
          <a:p>
            <a:pPr algn="l" indent="0" marL="0">
              <a:lnSpc>
                <a:spcPts val="2880"/>
              </a:lnSpc>
              <a:buNone/>
            </a:pPr>
            <a:endParaRPr lang="en-US" sz="1800" dirty="0"/>
          </a:p>
          <a:p>
            <a:pPr algn="l" indent="0" marL="0">
              <a:lnSpc>
                <a:spcPts val="2880"/>
              </a:lnSpc>
              <a:buNone/>
            </a:pPr>
            <a:r>
              <a:rPr lang="en-US" sz="1800" dirty="0">
                <a:solidFill>
                  <a:srgbClr val="E8EDF3"/>
                </a:solidFill>
                <a:latin typeface="JetBrains Mono" pitchFamily="49" charset="0"/>
                <a:ea typeface="JetBrains Mono" pitchFamily="49" charset="-122"/>
                <a:cs typeface="JetBrains Mono" pitchFamily="49" charset="-120"/>
              </a:rPr>
              <a:t>greet(</a:t>
            </a:r>
            <a:r>
              <a:rPr lang="en-US" sz="1800" dirty="0">
                <a:solidFill>
                  <a:srgbClr val="F2C94C"/>
                </a:solidFill>
                <a:latin typeface="JetBrains Mono" pitchFamily="49" charset="0"/>
                <a:ea typeface="JetBrains Mono" pitchFamily="49" charset="-122"/>
                <a:cs typeface="JetBrains Mono" pitchFamily="49" charset="-120"/>
              </a:rPr>
              <a:t>"Ali"</a:t>
            </a:r>
            <a:r>
              <a:rPr lang="en-US" sz="1800" dirty="0">
                <a:solidFill>
                  <a:srgbClr val="E8EDF3"/>
                </a:solidFill>
                <a:latin typeface="JetBrains Mono" pitchFamily="49" charset="0"/>
                <a:ea typeface="JetBrains Mono" pitchFamily="49" charset="-122"/>
                <a:cs typeface="JetBrains Mono" pitchFamily="49" charset="-120"/>
              </a:rPr>
              <a:t>)</a:t>
            </a:r>
            <a:endParaRPr lang="en-US" sz="1800" dirty="0"/>
          </a:p>
          <a:p>
            <a:pPr algn="l" indent="0" marL="0">
              <a:lnSpc>
                <a:spcPts val="2880"/>
              </a:lnSpc>
              <a:buNone/>
            </a:pPr>
            <a:r>
              <a:rPr lang="en-US" sz="1800" dirty="0">
                <a:solidFill>
                  <a:srgbClr val="E8EDF3"/>
                </a:solidFill>
                <a:latin typeface="JetBrains Mono" pitchFamily="49" charset="0"/>
                <a:ea typeface="JetBrains Mono" pitchFamily="49" charset="-122"/>
                <a:cs typeface="JetBrains Mono" pitchFamily="49" charset="-120"/>
              </a:rPr>
              <a:t>greet(</a:t>
            </a:r>
            <a:r>
              <a:rPr lang="en-US" sz="1800" dirty="0">
                <a:solidFill>
                  <a:srgbClr val="F2C94C"/>
                </a:solidFill>
                <a:latin typeface="JetBrains Mono" pitchFamily="49" charset="0"/>
                <a:ea typeface="JetBrains Mono" pitchFamily="49" charset="-122"/>
                <a:cs typeface="JetBrains Mono" pitchFamily="49" charset="-120"/>
              </a:rPr>
              <a:t>"Sara"</a:t>
            </a:r>
            <a:r>
              <a:rPr lang="en-US" sz="1800" dirty="0">
                <a:solidFill>
                  <a:srgbClr val="E8EDF3"/>
                </a:solidFill>
                <a:latin typeface="JetBrains Mono" pitchFamily="49" charset="0"/>
                <a:ea typeface="JetBrains Mono" pitchFamily="49" charset="-122"/>
                <a:cs typeface="JetBrains Mono" pitchFamily="49" charset="-120"/>
              </a:rPr>
              <a: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TODAY’S GOALS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By the end of today, you can…</a:t>
            </a:r>
            <a:endParaRPr lang="en-US" sz="3600" dirty="0"/>
          </a:p>
        </p:txBody>
      </p:sp>
      <p:pic>
        <p:nvPicPr>
          <p:cNvPr id="4" name="Image 0" descr="CheckCircle">    </p:cNvPr>
          <p:cNvPicPr>
            <a:picLocks noChangeAspect="1"/>
          </p:cNvPicPr>
          <p:nvPr/>
        </p:nvPicPr>
        <p:blipFill>
          <a:blip r:embed="rId1"/>
          <a:srcRect l="0" r="0" t="0" b="0"/>
          <a:stretch/>
        </p:blipFill>
        <p:spPr>
          <a:xfrm>
            <a:off x="812800" y="1993834"/>
            <a:ext cx="304800" cy="304800"/>
          </a:xfrm>
          <a:prstGeom prst="rect">
            <a:avLst/>
          </a:prstGeom>
        </p:spPr>
      </p:pic>
      <p:sp>
        <p:nvSpPr>
          <p:cNvPr id="5" name="Text 2"/>
          <p:cNvSpPr/>
          <p:nvPr/>
        </p:nvSpPr>
        <p:spPr>
          <a:xfrm>
            <a:off x="1270000" y="1986228"/>
            <a:ext cx="3215640"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F2A37"/>
                </a:solidFill>
                <a:latin typeface="DM Sans" pitchFamily="34" charset="0"/>
                <a:ea typeface="DM Sans" pitchFamily="34" charset="-122"/>
                <a:cs typeface="DM Sans" pitchFamily="34" charset="-120"/>
              </a:rPr>
              <a:t>Explain what a function is</a:t>
            </a:r>
            <a:endParaRPr lang="en-US" sz="1800" dirty="0"/>
          </a:p>
        </p:txBody>
      </p:sp>
      <p:pic>
        <p:nvPicPr>
          <p:cNvPr id="6" name="Image 1" descr="CheckCircle">    </p:cNvPr>
          <p:cNvPicPr>
            <a:picLocks noChangeAspect="1"/>
          </p:cNvPicPr>
          <p:nvPr/>
        </p:nvPicPr>
        <p:blipFill>
          <a:blip r:embed="rId2"/>
          <a:srcRect l="0" r="0" t="0" b="0"/>
          <a:stretch/>
        </p:blipFill>
        <p:spPr>
          <a:xfrm>
            <a:off x="6299200" y="1993834"/>
            <a:ext cx="304800" cy="304800"/>
          </a:xfrm>
          <a:prstGeom prst="rect">
            <a:avLst/>
          </a:prstGeom>
        </p:spPr>
      </p:pic>
      <p:sp>
        <p:nvSpPr>
          <p:cNvPr id="7" name="Text 3"/>
          <p:cNvSpPr/>
          <p:nvPr/>
        </p:nvSpPr>
        <p:spPr>
          <a:xfrm>
            <a:off x="6756400" y="1986228"/>
            <a:ext cx="3793728"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F2A37"/>
                </a:solidFill>
                <a:latin typeface="DM Sans" pitchFamily="34" charset="0"/>
                <a:ea typeface="DM Sans" pitchFamily="34" charset="-122"/>
                <a:cs typeface="DM Sans" pitchFamily="34" charset="-120"/>
              </a:rPr>
              <a:t>Define one with </a:t>
            </a:r>
            <a:r>
              <a:rPr lang="en-US" sz="1800" b="1" dirty="0">
                <a:solidFill>
                  <a:srgbClr val="1F2A37"/>
                </a:solidFill>
                <a:latin typeface="DM Sans" pitchFamily="34" charset="0"/>
                <a:ea typeface="DM Sans" pitchFamily="34" charset="-122"/>
                <a:cs typeface="DM Sans" pitchFamily="34" charset="-120"/>
              </a:rPr>
              <a:t>def</a:t>
            </a:r>
            <a:r>
              <a:rPr lang="en-US" sz="1800" dirty="0">
                <a:solidFill>
                  <a:srgbClr val="1F2A37"/>
                </a:solidFill>
                <a:latin typeface="DM Sans" pitchFamily="34" charset="0"/>
                <a:ea typeface="DM Sans" pitchFamily="34" charset="-122"/>
                <a:cs typeface="DM Sans" pitchFamily="34" charset="-120"/>
              </a:rPr>
              <a:t> and call it</a:t>
            </a:r>
            <a:endParaRPr lang="en-US" sz="1800" dirty="0"/>
          </a:p>
        </p:txBody>
      </p:sp>
      <p:pic>
        <p:nvPicPr>
          <p:cNvPr id="8" name="Image 2" descr="CheckCircle">    </p:cNvPr>
          <p:cNvPicPr>
            <a:picLocks noChangeAspect="1"/>
          </p:cNvPicPr>
          <p:nvPr/>
        </p:nvPicPr>
        <p:blipFill>
          <a:blip r:embed="rId3"/>
          <a:srcRect l="0" r="0" t="0" b="0"/>
          <a:stretch/>
        </p:blipFill>
        <p:spPr>
          <a:xfrm>
            <a:off x="812800" y="2491648"/>
            <a:ext cx="304800" cy="304800"/>
          </a:xfrm>
          <a:prstGeom prst="rect">
            <a:avLst/>
          </a:prstGeom>
        </p:spPr>
      </p:pic>
      <p:sp>
        <p:nvSpPr>
          <p:cNvPr id="9" name="Text 4"/>
          <p:cNvSpPr/>
          <p:nvPr/>
        </p:nvSpPr>
        <p:spPr>
          <a:xfrm>
            <a:off x="1270000" y="2484041"/>
            <a:ext cx="4255691"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F2A37"/>
                </a:solidFill>
                <a:latin typeface="DM Sans" pitchFamily="34" charset="0"/>
                <a:ea typeface="DM Sans" pitchFamily="34" charset="-122"/>
                <a:cs typeface="DM Sans" pitchFamily="34" charset="-120"/>
              </a:rPr>
              <a:t>Pass in information (</a:t>
            </a:r>
            <a:r>
              <a:rPr lang="en-US" sz="1800" b="1" dirty="0">
                <a:solidFill>
                  <a:srgbClr val="1F2A37"/>
                </a:solidFill>
                <a:latin typeface="DM Sans" pitchFamily="34" charset="0"/>
                <a:ea typeface="DM Sans" pitchFamily="34" charset="-122"/>
                <a:cs typeface="DM Sans" pitchFamily="34" charset="-120"/>
              </a:rPr>
              <a:t>parameters</a:t>
            </a:r>
            <a:r>
              <a:rPr lang="en-US" sz="1800" dirty="0">
                <a:solidFill>
                  <a:srgbClr val="1F2A37"/>
                </a:solidFill>
                <a:latin typeface="DM Sans" pitchFamily="34" charset="0"/>
                <a:ea typeface="DM Sans" pitchFamily="34" charset="-122"/>
                <a:cs typeface="DM Sans" pitchFamily="34" charset="-120"/>
              </a:rPr>
              <a:t>)</a:t>
            </a:r>
            <a:endParaRPr lang="en-US" sz="1800" dirty="0"/>
          </a:p>
        </p:txBody>
      </p:sp>
      <p:pic>
        <p:nvPicPr>
          <p:cNvPr id="10" name="Image 3" descr="CheckCircle">    </p:cNvPr>
          <p:cNvPicPr>
            <a:picLocks noChangeAspect="1"/>
          </p:cNvPicPr>
          <p:nvPr/>
        </p:nvPicPr>
        <p:blipFill>
          <a:blip r:embed="rId4"/>
          <a:srcRect l="0" r="0" t="0" b="0"/>
          <a:stretch/>
        </p:blipFill>
        <p:spPr>
          <a:xfrm>
            <a:off x="6299200" y="2491648"/>
            <a:ext cx="304800" cy="304800"/>
          </a:xfrm>
          <a:prstGeom prst="rect">
            <a:avLst/>
          </a:prstGeom>
        </p:spPr>
      </p:pic>
      <p:sp>
        <p:nvSpPr>
          <p:cNvPr id="11" name="Text 5"/>
          <p:cNvSpPr/>
          <p:nvPr/>
        </p:nvSpPr>
        <p:spPr>
          <a:xfrm>
            <a:off x="6756400" y="2484041"/>
            <a:ext cx="2308701"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F2A37"/>
                </a:solidFill>
                <a:latin typeface="DM Sans" pitchFamily="34" charset="0"/>
                <a:ea typeface="DM Sans" pitchFamily="34" charset="-122"/>
                <a:cs typeface="DM Sans" pitchFamily="34" charset="-120"/>
              </a:rPr>
              <a:t>Use default values</a:t>
            </a:r>
            <a:endParaRPr lang="en-US" sz="1800" dirty="0"/>
          </a:p>
        </p:txBody>
      </p:sp>
      <p:pic>
        <p:nvPicPr>
          <p:cNvPr id="12" name="Image 4" descr="CheckCircle">    </p:cNvPr>
          <p:cNvPicPr>
            <a:picLocks noChangeAspect="1"/>
          </p:cNvPicPr>
          <p:nvPr/>
        </p:nvPicPr>
        <p:blipFill>
          <a:blip r:embed="rId5"/>
          <a:srcRect l="0" r="0" t="0" b="0"/>
          <a:stretch/>
        </p:blipFill>
        <p:spPr>
          <a:xfrm>
            <a:off x="812800" y="2989461"/>
            <a:ext cx="304800" cy="304800"/>
          </a:xfrm>
          <a:prstGeom prst="rect">
            <a:avLst/>
          </a:prstGeom>
        </p:spPr>
      </p:pic>
      <p:sp>
        <p:nvSpPr>
          <p:cNvPr id="13" name="Text 6"/>
          <p:cNvSpPr/>
          <p:nvPr/>
        </p:nvSpPr>
        <p:spPr>
          <a:xfrm>
            <a:off x="1270000" y="2981854"/>
            <a:ext cx="3695462"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F2A37"/>
                </a:solidFill>
                <a:latin typeface="DM Sans" pitchFamily="34" charset="0"/>
                <a:ea typeface="DM Sans" pitchFamily="34" charset="-122"/>
                <a:cs typeface="DM Sans" pitchFamily="34" charset="-120"/>
              </a:rPr>
              <a:t>Get a result back with </a:t>
            </a:r>
            <a:r>
              <a:rPr lang="en-US" sz="1800" b="1" dirty="0">
                <a:solidFill>
                  <a:srgbClr val="1F2A37"/>
                </a:solidFill>
                <a:latin typeface="DM Sans" pitchFamily="34" charset="0"/>
                <a:ea typeface="DM Sans" pitchFamily="34" charset="-122"/>
                <a:cs typeface="DM Sans" pitchFamily="34" charset="-120"/>
              </a:rPr>
              <a:t>return</a:t>
            </a:r>
            <a:endParaRPr lang="en-US" sz="1800" dirty="0"/>
          </a:p>
        </p:txBody>
      </p:sp>
      <p:pic>
        <p:nvPicPr>
          <p:cNvPr id="14" name="Image 5" descr="CheckCircle">    </p:cNvPr>
          <p:cNvPicPr>
            <a:picLocks noChangeAspect="1"/>
          </p:cNvPicPr>
          <p:nvPr/>
        </p:nvPicPr>
        <p:blipFill>
          <a:blip r:embed="rId6"/>
          <a:srcRect l="0" r="0" t="0" b="0"/>
          <a:stretch/>
        </p:blipFill>
        <p:spPr>
          <a:xfrm>
            <a:off x="6299200" y="2989461"/>
            <a:ext cx="304800" cy="304800"/>
          </a:xfrm>
          <a:prstGeom prst="rect">
            <a:avLst/>
          </a:prstGeom>
        </p:spPr>
      </p:pic>
      <p:sp>
        <p:nvSpPr>
          <p:cNvPr id="15" name="Text 7"/>
          <p:cNvSpPr/>
          <p:nvPr/>
        </p:nvSpPr>
        <p:spPr>
          <a:xfrm>
            <a:off x="6756400" y="2981854"/>
            <a:ext cx="4500801"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F2A37"/>
                </a:solidFill>
                <a:latin typeface="DM Sans" pitchFamily="34" charset="0"/>
                <a:ea typeface="DM Sans" pitchFamily="34" charset="-122"/>
                <a:cs typeface="DM Sans" pitchFamily="34" charset="-120"/>
              </a:rPr>
              <a:t>Build a calculator with functions 🧮</a:t>
            </a:r>
            <a:endParaRPr lang="en-US" sz="1800" dirty="0"/>
          </a:p>
        </p:txBody>
      </p:sp>
      <p:sp>
        <p:nvSpPr>
          <p:cNvPr id="16" name="Text 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8: functions</a:t>
            </a:r>
            <a:endParaRPr lang="en-US" sz="1200" dirty="0"/>
          </a:p>
        </p:txBody>
      </p:sp>
      <p:sp>
        <p:nvSpPr>
          <p:cNvPr id="17"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4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YOU ALREADY USE FUNCTIONS!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Python’s built-in commands</a:t>
            </a:r>
            <a:endParaRPr lang="en-US" sz="3600" dirty="0"/>
          </a:p>
        </p:txBody>
      </p:sp>
      <p:sp>
        <p:nvSpPr>
          <p:cNvPr id="4" name="Shape 2"/>
          <p:cNvSpPr/>
          <p:nvPr/>
        </p:nvSpPr>
        <p:spPr>
          <a:xfrm>
            <a:off x="815975" y="1989403"/>
            <a:ext cx="3380317" cy="1122230"/>
          </a:xfrm>
          <a:prstGeom prst="roundRect">
            <a:avLst>
              <a:gd name="adj" fmla="val 11034"/>
            </a:avLst>
          </a:prstGeom>
          <a:solidFill>
            <a:srgbClr val="FFFFFF"/>
          </a:solidFill>
          <a:ln w="6350">
            <a:solidFill>
              <a:srgbClr val="D5DEE8"/>
            </a:solidFill>
            <a:prstDash val="solid"/>
          </a:ln>
        </p:spPr>
      </p:sp>
      <p:sp>
        <p:nvSpPr>
          <p:cNvPr id="5" name="Text 3"/>
          <p:cNvSpPr/>
          <p:nvPr/>
        </p:nvSpPr>
        <p:spPr>
          <a:xfrm>
            <a:off x="1071033" y="2219061"/>
            <a:ext cx="2956306"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3776AB"/>
                </a:solidFill>
                <a:latin typeface="JetBrains Mono" pitchFamily="49" charset="0"/>
                <a:ea typeface="JetBrains Mono" pitchFamily="49" charset="-122"/>
                <a:cs typeface="JetBrains Mono" pitchFamily="49" charset="-120"/>
              </a:rPr>
              <a:t>print()</a:t>
            </a:r>
            <a:endParaRPr lang="en-US" sz="1800" dirty="0"/>
          </a:p>
        </p:txBody>
      </p:sp>
      <p:sp>
        <p:nvSpPr>
          <p:cNvPr id="6" name="Text 4"/>
          <p:cNvSpPr/>
          <p:nvPr/>
        </p:nvSpPr>
        <p:spPr>
          <a:xfrm>
            <a:off x="1071033" y="2615274"/>
            <a:ext cx="295630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DM Sans" pitchFamily="34" charset="0"/>
                <a:ea typeface="DM Sans" pitchFamily="34" charset="-122"/>
                <a:cs typeface="DM Sans" pitchFamily="34" charset="-120"/>
              </a:rPr>
              <a:t>shows output</a:t>
            </a:r>
            <a:endParaRPr lang="en-US" sz="1500" dirty="0"/>
          </a:p>
        </p:txBody>
      </p:sp>
      <p:sp>
        <p:nvSpPr>
          <p:cNvPr id="7" name="Shape 5"/>
          <p:cNvSpPr/>
          <p:nvPr/>
        </p:nvSpPr>
        <p:spPr>
          <a:xfrm>
            <a:off x="4405842" y="1989403"/>
            <a:ext cx="3380317" cy="1122230"/>
          </a:xfrm>
          <a:prstGeom prst="roundRect">
            <a:avLst>
              <a:gd name="adj" fmla="val 11034"/>
            </a:avLst>
          </a:prstGeom>
          <a:solidFill>
            <a:srgbClr val="FFFFFF"/>
          </a:solidFill>
          <a:ln w="6350">
            <a:solidFill>
              <a:srgbClr val="D5DEE8"/>
            </a:solidFill>
            <a:prstDash val="solid"/>
          </a:ln>
        </p:spPr>
      </p:sp>
      <p:sp>
        <p:nvSpPr>
          <p:cNvPr id="8" name="Text 6"/>
          <p:cNvSpPr/>
          <p:nvPr/>
        </p:nvSpPr>
        <p:spPr>
          <a:xfrm>
            <a:off x="4660900" y="2219061"/>
            <a:ext cx="2956306"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3776AB"/>
                </a:solidFill>
                <a:latin typeface="JetBrains Mono" pitchFamily="49" charset="0"/>
                <a:ea typeface="JetBrains Mono" pitchFamily="49" charset="-122"/>
                <a:cs typeface="JetBrains Mono" pitchFamily="49" charset="-120"/>
              </a:rPr>
              <a:t>input()</a:t>
            </a:r>
            <a:endParaRPr lang="en-US" sz="1800" dirty="0"/>
          </a:p>
        </p:txBody>
      </p:sp>
      <p:sp>
        <p:nvSpPr>
          <p:cNvPr id="9" name="Text 7"/>
          <p:cNvSpPr/>
          <p:nvPr/>
        </p:nvSpPr>
        <p:spPr>
          <a:xfrm>
            <a:off x="4660900" y="2615274"/>
            <a:ext cx="295630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DM Sans" pitchFamily="34" charset="0"/>
                <a:ea typeface="DM Sans" pitchFamily="34" charset="-122"/>
                <a:cs typeface="DM Sans" pitchFamily="34" charset="-120"/>
              </a:rPr>
              <a:t>gets text from the user</a:t>
            </a:r>
            <a:endParaRPr lang="en-US" sz="1500" dirty="0"/>
          </a:p>
        </p:txBody>
      </p:sp>
      <p:sp>
        <p:nvSpPr>
          <p:cNvPr id="10" name="Shape 8"/>
          <p:cNvSpPr/>
          <p:nvPr/>
        </p:nvSpPr>
        <p:spPr>
          <a:xfrm>
            <a:off x="7995709" y="1989403"/>
            <a:ext cx="3380317" cy="1122230"/>
          </a:xfrm>
          <a:prstGeom prst="roundRect">
            <a:avLst>
              <a:gd name="adj" fmla="val 11034"/>
            </a:avLst>
          </a:prstGeom>
          <a:solidFill>
            <a:srgbClr val="FFFFFF"/>
          </a:solidFill>
          <a:ln w="6350">
            <a:solidFill>
              <a:srgbClr val="D5DEE8"/>
            </a:solidFill>
            <a:prstDash val="solid"/>
          </a:ln>
        </p:spPr>
      </p:sp>
      <p:sp>
        <p:nvSpPr>
          <p:cNvPr id="11" name="Text 9"/>
          <p:cNvSpPr/>
          <p:nvPr/>
        </p:nvSpPr>
        <p:spPr>
          <a:xfrm>
            <a:off x="8250767" y="2219061"/>
            <a:ext cx="2956306"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3776AB"/>
                </a:solidFill>
                <a:latin typeface="JetBrains Mono" pitchFamily="49" charset="0"/>
                <a:ea typeface="JetBrains Mono" pitchFamily="49" charset="-122"/>
                <a:cs typeface="JetBrains Mono" pitchFamily="49" charset="-120"/>
              </a:rPr>
              <a:t>len()</a:t>
            </a:r>
            <a:endParaRPr lang="en-US" sz="1800" dirty="0"/>
          </a:p>
        </p:txBody>
      </p:sp>
      <p:sp>
        <p:nvSpPr>
          <p:cNvPr id="12" name="Text 10"/>
          <p:cNvSpPr/>
          <p:nvPr/>
        </p:nvSpPr>
        <p:spPr>
          <a:xfrm>
            <a:off x="8250767" y="2615274"/>
            <a:ext cx="295630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DM Sans" pitchFamily="34" charset="0"/>
                <a:ea typeface="DM Sans" pitchFamily="34" charset="-122"/>
                <a:cs typeface="DM Sans" pitchFamily="34" charset="-120"/>
              </a:rPr>
              <a:t>counts items</a:t>
            </a:r>
            <a:endParaRPr lang="en-US" sz="1500" dirty="0"/>
          </a:p>
        </p:txBody>
      </p:sp>
      <p:sp>
        <p:nvSpPr>
          <p:cNvPr id="13" name="Shape 11"/>
          <p:cNvSpPr/>
          <p:nvPr/>
        </p:nvSpPr>
        <p:spPr>
          <a:xfrm>
            <a:off x="815975" y="3321183"/>
            <a:ext cx="3380317" cy="1122230"/>
          </a:xfrm>
          <a:prstGeom prst="roundRect">
            <a:avLst>
              <a:gd name="adj" fmla="val 11034"/>
            </a:avLst>
          </a:prstGeom>
          <a:solidFill>
            <a:srgbClr val="FFFFFF"/>
          </a:solidFill>
          <a:ln w="6350">
            <a:solidFill>
              <a:srgbClr val="D5DEE8"/>
            </a:solidFill>
            <a:prstDash val="solid"/>
          </a:ln>
        </p:spPr>
      </p:sp>
      <p:sp>
        <p:nvSpPr>
          <p:cNvPr id="14" name="Text 12"/>
          <p:cNvSpPr/>
          <p:nvPr/>
        </p:nvSpPr>
        <p:spPr>
          <a:xfrm>
            <a:off x="1071033" y="3550841"/>
            <a:ext cx="2956306"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3776AB"/>
                </a:solidFill>
                <a:latin typeface="JetBrains Mono" pitchFamily="49" charset="0"/>
                <a:ea typeface="JetBrains Mono" pitchFamily="49" charset="-122"/>
                <a:cs typeface="JetBrains Mono" pitchFamily="49" charset="-120"/>
              </a:rPr>
              <a:t>int()</a:t>
            </a:r>
            <a:endParaRPr lang="en-US" sz="1800" dirty="0"/>
          </a:p>
        </p:txBody>
      </p:sp>
      <p:sp>
        <p:nvSpPr>
          <p:cNvPr id="15" name="Text 13"/>
          <p:cNvSpPr/>
          <p:nvPr/>
        </p:nvSpPr>
        <p:spPr>
          <a:xfrm>
            <a:off x="1071033" y="3947055"/>
            <a:ext cx="295630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DM Sans" pitchFamily="34" charset="0"/>
                <a:ea typeface="DM Sans" pitchFamily="34" charset="-122"/>
                <a:cs typeface="DM Sans" pitchFamily="34" charset="-120"/>
              </a:rPr>
              <a:t>converts to a number</a:t>
            </a:r>
            <a:endParaRPr lang="en-US" sz="1500" dirty="0"/>
          </a:p>
        </p:txBody>
      </p:sp>
      <p:sp>
        <p:nvSpPr>
          <p:cNvPr id="16" name="Shape 14"/>
          <p:cNvSpPr/>
          <p:nvPr/>
        </p:nvSpPr>
        <p:spPr>
          <a:xfrm>
            <a:off x="4405842" y="3321183"/>
            <a:ext cx="3380317" cy="1122230"/>
          </a:xfrm>
          <a:prstGeom prst="roundRect">
            <a:avLst>
              <a:gd name="adj" fmla="val 11034"/>
            </a:avLst>
          </a:prstGeom>
          <a:solidFill>
            <a:srgbClr val="FFFFFF"/>
          </a:solidFill>
          <a:ln w="6350">
            <a:solidFill>
              <a:srgbClr val="D5DEE8"/>
            </a:solidFill>
            <a:prstDash val="solid"/>
          </a:ln>
        </p:spPr>
      </p:sp>
      <p:sp>
        <p:nvSpPr>
          <p:cNvPr id="17" name="Text 15"/>
          <p:cNvSpPr/>
          <p:nvPr/>
        </p:nvSpPr>
        <p:spPr>
          <a:xfrm>
            <a:off x="4660900" y="3550841"/>
            <a:ext cx="2956306"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3776AB"/>
                </a:solidFill>
                <a:latin typeface="JetBrains Mono" pitchFamily="49" charset="0"/>
                <a:ea typeface="JetBrains Mono" pitchFamily="49" charset="-122"/>
                <a:cs typeface="JetBrains Mono" pitchFamily="49" charset="-120"/>
              </a:rPr>
              <a:t>sum()</a:t>
            </a:r>
            <a:endParaRPr lang="en-US" sz="1800" dirty="0"/>
          </a:p>
        </p:txBody>
      </p:sp>
      <p:sp>
        <p:nvSpPr>
          <p:cNvPr id="18" name="Text 16"/>
          <p:cNvSpPr/>
          <p:nvPr/>
        </p:nvSpPr>
        <p:spPr>
          <a:xfrm>
            <a:off x="4660900" y="3947055"/>
            <a:ext cx="295630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DM Sans" pitchFamily="34" charset="0"/>
                <a:ea typeface="DM Sans" pitchFamily="34" charset="-122"/>
                <a:cs typeface="DM Sans" pitchFamily="34" charset="-120"/>
              </a:rPr>
              <a:t>adds up a list</a:t>
            </a:r>
            <a:endParaRPr lang="en-US" sz="1500" dirty="0"/>
          </a:p>
        </p:txBody>
      </p:sp>
      <p:sp>
        <p:nvSpPr>
          <p:cNvPr id="19" name="Shape 17"/>
          <p:cNvSpPr/>
          <p:nvPr/>
        </p:nvSpPr>
        <p:spPr>
          <a:xfrm>
            <a:off x="7992534" y="3318008"/>
            <a:ext cx="3386667" cy="1128580"/>
          </a:xfrm>
          <a:prstGeom prst="roundRect">
            <a:avLst>
              <a:gd name="adj" fmla="val 11253"/>
            </a:avLst>
          </a:prstGeom>
          <a:solidFill>
            <a:srgbClr val="E3ECF6"/>
          </a:solidFill>
          <a:ln/>
        </p:spPr>
      </p:sp>
      <p:sp>
        <p:nvSpPr>
          <p:cNvPr id="20" name="Text 18"/>
          <p:cNvSpPr/>
          <p:nvPr/>
        </p:nvSpPr>
        <p:spPr>
          <a:xfrm>
            <a:off x="8246534" y="3546608"/>
            <a:ext cx="2965027"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2F5F8A"/>
                </a:solidFill>
                <a:latin typeface="JetBrains Mono" pitchFamily="49" charset="0"/>
                <a:ea typeface="JetBrains Mono" pitchFamily="49" charset="-122"/>
                <a:cs typeface="JetBrains Mono" pitchFamily="49" charset="-120"/>
              </a:rPr>
              <a:t>your_own()</a:t>
            </a:r>
            <a:endParaRPr lang="en-US" sz="1800" dirty="0"/>
          </a:p>
        </p:txBody>
      </p:sp>
      <p:sp>
        <p:nvSpPr>
          <p:cNvPr id="21" name="Text 19"/>
          <p:cNvSpPr/>
          <p:nvPr/>
        </p:nvSpPr>
        <p:spPr>
          <a:xfrm>
            <a:off x="8246534" y="3942821"/>
            <a:ext cx="296502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A37"/>
                </a:solidFill>
                <a:latin typeface="DM Sans" pitchFamily="34" charset="0"/>
                <a:ea typeface="DM Sans" pitchFamily="34" charset="-122"/>
                <a:cs typeface="DM Sans" pitchFamily="34" charset="-120"/>
              </a:rPr>
              <a:t>today! 🛠️</a:t>
            </a:r>
            <a:endParaRPr lang="en-US" sz="1500" dirty="0"/>
          </a:p>
        </p:txBody>
      </p:sp>
      <p:sp>
        <p:nvSpPr>
          <p:cNvPr id="22" name="Text 2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8: functions</a:t>
            </a:r>
            <a:endParaRPr lang="en-US" sz="1200" dirty="0"/>
          </a:p>
        </p:txBody>
      </p:sp>
      <p:sp>
        <p:nvSpPr>
          <p:cNvPr id="23"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WHY FUNCTIONS?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Write once, use many times</a:t>
            </a:r>
            <a:endParaRPr lang="en-US" sz="3600" dirty="0"/>
          </a:p>
        </p:txBody>
      </p:sp>
      <p:sp>
        <p:nvSpPr>
          <p:cNvPr id="4" name="Shape 2"/>
          <p:cNvSpPr/>
          <p:nvPr/>
        </p:nvSpPr>
        <p:spPr>
          <a:xfrm>
            <a:off x="815975" y="1989403"/>
            <a:ext cx="2482850" cy="2100130"/>
          </a:xfrm>
          <a:prstGeom prst="roundRect">
            <a:avLst>
              <a:gd name="adj" fmla="val 5896"/>
            </a:avLst>
          </a:prstGeom>
          <a:solidFill>
            <a:srgbClr val="FFFFFF"/>
          </a:solidFill>
          <a:ln w="6350">
            <a:solidFill>
              <a:srgbClr val="D5DEE8"/>
            </a:solidFill>
            <a:prstDash val="solid"/>
          </a:ln>
        </p:spPr>
      </p:sp>
      <p:sp>
        <p:nvSpPr>
          <p:cNvPr id="5" name="Text 3"/>
          <p:cNvSpPr/>
          <p:nvPr/>
        </p:nvSpPr>
        <p:spPr>
          <a:xfrm>
            <a:off x="1071033" y="2244461"/>
            <a:ext cx="2031915" cy="523214"/>
          </a:xfrm>
          <a:prstGeom prst="rect">
            <a:avLst/>
          </a:prstGeom>
          <a:noFill/>
          <a:ln/>
        </p:spPr>
        <p:txBody>
          <a:bodyPr wrap="square" lIns="0" tIns="0" rIns="0" bIns="0" rtlCol="0" anchor="t">
            <a:normAutofit/>
          </a:bodyPr>
          <a:lstStyle/>
          <a:p>
            <a:pPr algn="l" indent="0" marL="0">
              <a:lnSpc>
                <a:spcPts val="3920"/>
              </a:lnSpc>
              <a:buNone/>
            </a:pPr>
            <a:r>
              <a:rPr lang="en-US" sz="2800" dirty="0">
                <a:solidFill>
                  <a:srgbClr val="1F2A37"/>
                </a:solidFill>
                <a:latin typeface="DM Sans" pitchFamily="34" charset="0"/>
                <a:ea typeface="DM Sans" pitchFamily="34" charset="-122"/>
                <a:cs typeface="DM Sans" pitchFamily="34" charset="-120"/>
              </a:rPr>
              <a:t>♻️</a:t>
            </a:r>
            <a:endParaRPr lang="en-US" sz="2800" dirty="0"/>
          </a:p>
        </p:txBody>
      </p:sp>
      <p:sp>
        <p:nvSpPr>
          <p:cNvPr id="6" name="Text 4"/>
          <p:cNvSpPr/>
          <p:nvPr/>
        </p:nvSpPr>
        <p:spPr>
          <a:xfrm>
            <a:off x="1071033" y="2869274"/>
            <a:ext cx="203191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2A37"/>
                </a:solidFill>
                <a:latin typeface="DM Sans" pitchFamily="34" charset="0"/>
                <a:ea typeface="DM Sans" pitchFamily="34" charset="-122"/>
                <a:cs typeface="DM Sans" pitchFamily="34" charset="-120"/>
              </a:rPr>
              <a:t>Reuse</a:t>
            </a:r>
            <a:endParaRPr lang="en-US" sz="2000" dirty="0"/>
          </a:p>
        </p:txBody>
      </p:sp>
      <p:sp>
        <p:nvSpPr>
          <p:cNvPr id="7" name="Text 5"/>
          <p:cNvSpPr/>
          <p:nvPr/>
        </p:nvSpPr>
        <p:spPr>
          <a:xfrm>
            <a:off x="1071033" y="3301074"/>
            <a:ext cx="203191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DM Sans" pitchFamily="34" charset="0"/>
                <a:ea typeface="DM Sans" pitchFamily="34" charset="-122"/>
                <a:cs typeface="DM Sans" pitchFamily="34" charset="-120"/>
              </a:rPr>
              <a:t>No copy-pasting the same code</a:t>
            </a:r>
            <a:endParaRPr lang="en-US" sz="1500" dirty="0"/>
          </a:p>
        </p:txBody>
      </p:sp>
      <p:sp>
        <p:nvSpPr>
          <p:cNvPr id="8" name="Shape 6"/>
          <p:cNvSpPr/>
          <p:nvPr/>
        </p:nvSpPr>
        <p:spPr>
          <a:xfrm>
            <a:off x="3508375" y="1989403"/>
            <a:ext cx="2482850" cy="2100130"/>
          </a:xfrm>
          <a:prstGeom prst="roundRect">
            <a:avLst>
              <a:gd name="adj" fmla="val 5896"/>
            </a:avLst>
          </a:prstGeom>
          <a:solidFill>
            <a:srgbClr val="FFFFFF"/>
          </a:solidFill>
          <a:ln w="6350">
            <a:solidFill>
              <a:srgbClr val="D5DEE8"/>
            </a:solidFill>
            <a:prstDash val="solid"/>
          </a:ln>
        </p:spPr>
      </p:sp>
      <p:sp>
        <p:nvSpPr>
          <p:cNvPr id="9" name="Text 7"/>
          <p:cNvSpPr/>
          <p:nvPr/>
        </p:nvSpPr>
        <p:spPr>
          <a:xfrm>
            <a:off x="3763433" y="2244461"/>
            <a:ext cx="2031915" cy="523214"/>
          </a:xfrm>
          <a:prstGeom prst="rect">
            <a:avLst/>
          </a:prstGeom>
          <a:noFill/>
          <a:ln/>
        </p:spPr>
        <p:txBody>
          <a:bodyPr wrap="square" lIns="0" tIns="0" rIns="0" bIns="0" rtlCol="0" anchor="t">
            <a:normAutofit/>
          </a:bodyPr>
          <a:lstStyle/>
          <a:p>
            <a:pPr algn="l" indent="0" marL="0">
              <a:lnSpc>
                <a:spcPts val="3920"/>
              </a:lnSpc>
              <a:buNone/>
            </a:pPr>
            <a:r>
              <a:rPr lang="en-US" sz="2800" dirty="0">
                <a:solidFill>
                  <a:srgbClr val="1F2A37"/>
                </a:solidFill>
                <a:latin typeface="DM Sans" pitchFamily="34" charset="0"/>
                <a:ea typeface="DM Sans" pitchFamily="34" charset="-122"/>
                <a:cs typeface="DM Sans" pitchFamily="34" charset="-120"/>
              </a:rPr>
              <a:t>📖</a:t>
            </a:r>
            <a:endParaRPr lang="en-US" sz="2800" dirty="0"/>
          </a:p>
        </p:txBody>
      </p:sp>
      <p:sp>
        <p:nvSpPr>
          <p:cNvPr id="10" name="Text 8"/>
          <p:cNvSpPr/>
          <p:nvPr/>
        </p:nvSpPr>
        <p:spPr>
          <a:xfrm>
            <a:off x="3763433" y="2869274"/>
            <a:ext cx="203191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2A37"/>
                </a:solidFill>
                <a:latin typeface="DM Sans" pitchFamily="34" charset="0"/>
                <a:ea typeface="DM Sans" pitchFamily="34" charset="-122"/>
                <a:cs typeface="DM Sans" pitchFamily="34" charset="-120"/>
              </a:rPr>
              <a:t>Read</a:t>
            </a:r>
            <a:endParaRPr lang="en-US" sz="2000" dirty="0"/>
          </a:p>
        </p:txBody>
      </p:sp>
      <p:sp>
        <p:nvSpPr>
          <p:cNvPr id="11" name="Text 9"/>
          <p:cNvSpPr/>
          <p:nvPr/>
        </p:nvSpPr>
        <p:spPr>
          <a:xfrm>
            <a:off x="3763433" y="3301074"/>
            <a:ext cx="203191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DM Sans" pitchFamily="34" charset="0"/>
                <a:ea typeface="DM Sans" pitchFamily="34" charset="-122"/>
                <a:cs typeface="DM Sans" pitchFamily="34" charset="-120"/>
              </a:rPr>
              <a:t>A good name explains the job</a:t>
            </a:r>
            <a:endParaRPr lang="en-US" sz="1500" dirty="0"/>
          </a:p>
        </p:txBody>
      </p:sp>
      <p:sp>
        <p:nvSpPr>
          <p:cNvPr id="12" name="Shape 10"/>
          <p:cNvSpPr/>
          <p:nvPr/>
        </p:nvSpPr>
        <p:spPr>
          <a:xfrm>
            <a:off x="6200775" y="1989403"/>
            <a:ext cx="2482850" cy="2100130"/>
          </a:xfrm>
          <a:prstGeom prst="roundRect">
            <a:avLst>
              <a:gd name="adj" fmla="val 5896"/>
            </a:avLst>
          </a:prstGeom>
          <a:solidFill>
            <a:srgbClr val="FFFFFF"/>
          </a:solidFill>
          <a:ln w="6350">
            <a:solidFill>
              <a:srgbClr val="D5DEE8"/>
            </a:solidFill>
            <a:prstDash val="solid"/>
          </a:ln>
        </p:spPr>
      </p:sp>
      <p:sp>
        <p:nvSpPr>
          <p:cNvPr id="13" name="Text 11"/>
          <p:cNvSpPr/>
          <p:nvPr/>
        </p:nvSpPr>
        <p:spPr>
          <a:xfrm>
            <a:off x="6455833" y="2244461"/>
            <a:ext cx="2031915" cy="523214"/>
          </a:xfrm>
          <a:prstGeom prst="rect">
            <a:avLst/>
          </a:prstGeom>
          <a:noFill/>
          <a:ln/>
        </p:spPr>
        <p:txBody>
          <a:bodyPr wrap="square" lIns="0" tIns="0" rIns="0" bIns="0" rtlCol="0" anchor="t">
            <a:normAutofit/>
          </a:bodyPr>
          <a:lstStyle/>
          <a:p>
            <a:pPr algn="l" indent="0" marL="0">
              <a:lnSpc>
                <a:spcPts val="3920"/>
              </a:lnSpc>
              <a:buNone/>
            </a:pPr>
            <a:r>
              <a:rPr lang="en-US" sz="2800" dirty="0">
                <a:solidFill>
                  <a:srgbClr val="1F2A37"/>
                </a:solidFill>
                <a:latin typeface="DM Sans" pitchFamily="34" charset="0"/>
                <a:ea typeface="DM Sans" pitchFamily="34" charset="-122"/>
                <a:cs typeface="DM Sans" pitchFamily="34" charset="-120"/>
              </a:rPr>
              <a:t>🔧</a:t>
            </a:r>
            <a:endParaRPr lang="en-US" sz="2800" dirty="0"/>
          </a:p>
        </p:txBody>
      </p:sp>
      <p:sp>
        <p:nvSpPr>
          <p:cNvPr id="14" name="Text 12"/>
          <p:cNvSpPr/>
          <p:nvPr/>
        </p:nvSpPr>
        <p:spPr>
          <a:xfrm>
            <a:off x="6455833" y="2869274"/>
            <a:ext cx="203191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2A37"/>
                </a:solidFill>
                <a:latin typeface="DM Sans" pitchFamily="34" charset="0"/>
                <a:ea typeface="DM Sans" pitchFamily="34" charset="-122"/>
                <a:cs typeface="DM Sans" pitchFamily="34" charset="-120"/>
              </a:rPr>
              <a:t>Fix</a:t>
            </a:r>
            <a:endParaRPr lang="en-US" sz="2000" dirty="0"/>
          </a:p>
        </p:txBody>
      </p:sp>
      <p:sp>
        <p:nvSpPr>
          <p:cNvPr id="15" name="Text 13"/>
          <p:cNvSpPr/>
          <p:nvPr/>
        </p:nvSpPr>
        <p:spPr>
          <a:xfrm>
            <a:off x="6455833" y="3301074"/>
            <a:ext cx="203191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DM Sans" pitchFamily="34" charset="0"/>
                <a:ea typeface="DM Sans" pitchFamily="34" charset="-122"/>
                <a:cs typeface="DM Sans" pitchFamily="34" charset="-120"/>
              </a:rPr>
              <a:t>Fix a bug in one place</a:t>
            </a:r>
            <a:endParaRPr lang="en-US" sz="1500" dirty="0"/>
          </a:p>
        </p:txBody>
      </p:sp>
      <p:sp>
        <p:nvSpPr>
          <p:cNvPr id="16" name="Shape 14"/>
          <p:cNvSpPr/>
          <p:nvPr/>
        </p:nvSpPr>
        <p:spPr>
          <a:xfrm>
            <a:off x="8893175" y="1989403"/>
            <a:ext cx="2482850" cy="2100130"/>
          </a:xfrm>
          <a:prstGeom prst="roundRect">
            <a:avLst>
              <a:gd name="adj" fmla="val 5896"/>
            </a:avLst>
          </a:prstGeom>
          <a:solidFill>
            <a:srgbClr val="FFFFFF"/>
          </a:solidFill>
          <a:ln w="6350">
            <a:solidFill>
              <a:srgbClr val="D5DEE8"/>
            </a:solidFill>
            <a:prstDash val="solid"/>
          </a:ln>
        </p:spPr>
      </p:sp>
      <p:sp>
        <p:nvSpPr>
          <p:cNvPr id="17" name="Text 15"/>
          <p:cNvSpPr/>
          <p:nvPr/>
        </p:nvSpPr>
        <p:spPr>
          <a:xfrm>
            <a:off x="9148234" y="2244461"/>
            <a:ext cx="2031915" cy="523214"/>
          </a:xfrm>
          <a:prstGeom prst="rect">
            <a:avLst/>
          </a:prstGeom>
          <a:noFill/>
          <a:ln/>
        </p:spPr>
        <p:txBody>
          <a:bodyPr wrap="square" lIns="0" tIns="0" rIns="0" bIns="0" rtlCol="0" anchor="t">
            <a:normAutofit/>
          </a:bodyPr>
          <a:lstStyle/>
          <a:p>
            <a:pPr algn="l" indent="0" marL="0">
              <a:lnSpc>
                <a:spcPts val="3920"/>
              </a:lnSpc>
              <a:buNone/>
            </a:pPr>
            <a:r>
              <a:rPr lang="en-US" sz="2800" dirty="0">
                <a:solidFill>
                  <a:srgbClr val="1F2A37"/>
                </a:solidFill>
                <a:latin typeface="DM Sans" pitchFamily="34" charset="0"/>
                <a:ea typeface="DM Sans" pitchFamily="34" charset="-122"/>
                <a:cs typeface="DM Sans" pitchFamily="34" charset="-120"/>
              </a:rPr>
              <a:t>🧱</a:t>
            </a:r>
            <a:endParaRPr lang="en-US" sz="2800" dirty="0"/>
          </a:p>
        </p:txBody>
      </p:sp>
      <p:sp>
        <p:nvSpPr>
          <p:cNvPr id="18" name="Text 16"/>
          <p:cNvSpPr/>
          <p:nvPr/>
        </p:nvSpPr>
        <p:spPr>
          <a:xfrm>
            <a:off x="9148234" y="2869274"/>
            <a:ext cx="203191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2A37"/>
                </a:solidFill>
                <a:latin typeface="DM Sans" pitchFamily="34" charset="0"/>
                <a:ea typeface="DM Sans" pitchFamily="34" charset="-122"/>
                <a:cs typeface="DM Sans" pitchFamily="34" charset="-120"/>
              </a:rPr>
              <a:t>Organise</a:t>
            </a:r>
            <a:endParaRPr lang="en-US" sz="2000" dirty="0"/>
          </a:p>
        </p:txBody>
      </p:sp>
      <p:sp>
        <p:nvSpPr>
          <p:cNvPr id="19" name="Text 17"/>
          <p:cNvSpPr/>
          <p:nvPr/>
        </p:nvSpPr>
        <p:spPr>
          <a:xfrm>
            <a:off x="9148234" y="3301074"/>
            <a:ext cx="203191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DM Sans" pitchFamily="34" charset="0"/>
                <a:ea typeface="DM Sans" pitchFamily="34" charset="-122"/>
                <a:cs typeface="DM Sans" pitchFamily="34" charset="-120"/>
              </a:rPr>
              <a:t>Split big problems into small pieces</a:t>
            </a:r>
            <a:endParaRPr lang="en-US" sz="1500" dirty="0"/>
          </a:p>
        </p:txBody>
      </p:sp>
      <p:sp>
        <p:nvSpPr>
          <p:cNvPr id="20" name="Text 18"/>
          <p:cNvSpPr/>
          <p:nvPr/>
        </p:nvSpPr>
        <p:spPr>
          <a:xfrm>
            <a:off x="812800" y="4448308"/>
            <a:ext cx="1088339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A function is like a </a:t>
            </a:r>
            <a:r>
              <a:rPr lang="en-US" sz="1600" b="1" dirty="0">
                <a:solidFill>
                  <a:srgbClr val="4A5568"/>
                </a:solidFill>
                <a:latin typeface="DM Sans" pitchFamily="34" charset="0"/>
                <a:ea typeface="DM Sans" pitchFamily="34" charset="-122"/>
                <a:cs typeface="DM Sans" pitchFamily="34" charset="-120"/>
              </a:rPr>
              <a:t>recipe</a:t>
            </a:r>
            <a:r>
              <a:rPr lang="en-US" sz="1600" dirty="0">
                <a:solidFill>
                  <a:srgbClr val="4A5568"/>
                </a:solidFill>
                <a:latin typeface="DM Sans" pitchFamily="34" charset="0"/>
                <a:ea typeface="DM Sans" pitchFamily="34" charset="-122"/>
                <a:cs typeface="DM Sans" pitchFamily="34" charset="-120"/>
              </a:rPr>
              <a:t> 📜: write it once, “cook” it whenever you want.</a:t>
            </a:r>
            <a:endParaRPr lang="en-US" sz="1600" dirty="0"/>
          </a:p>
        </p:txBody>
      </p:sp>
      <p:sp>
        <p:nvSpPr>
          <p:cNvPr id="21" name="Text 1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8: functions</a:t>
            </a:r>
            <a:endParaRPr lang="en-US" sz="1200" dirty="0"/>
          </a:p>
        </p:txBody>
      </p:sp>
      <p:sp>
        <p:nvSpPr>
          <p:cNvPr id="22" name="Text 2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DEFINE, THEN CALL</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Your first function</a:t>
            </a:r>
            <a:endParaRPr lang="en-US" sz="3600" dirty="0"/>
          </a:p>
        </p:txBody>
      </p:sp>
      <p:sp>
        <p:nvSpPr>
          <p:cNvPr id="4" name="Text 2"/>
          <p:cNvSpPr/>
          <p:nvPr/>
        </p:nvSpPr>
        <p:spPr>
          <a:xfrm>
            <a:off x="812800" y="1986229"/>
            <a:ext cx="627888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Code</a:t>
            </a:r>
            <a:endParaRPr lang="en-US" sz="1400" dirty="0"/>
          </a:p>
        </p:txBody>
      </p:sp>
      <p:sp>
        <p:nvSpPr>
          <p:cNvPr id="5" name="Text 3"/>
          <p:cNvSpPr/>
          <p:nvPr/>
        </p:nvSpPr>
        <p:spPr>
          <a:xfrm>
            <a:off x="812800" y="2362135"/>
            <a:ext cx="6096000" cy="3210454"/>
          </a:xfrm>
          <a:prstGeom prst="roundRect">
            <a:avLst>
              <a:gd name="adj" fmla="val 3956"/>
            </a:avLst>
          </a:prstGeom>
          <a:solidFill>
            <a:srgbClr val="1F2A37"/>
          </a:solidFill>
          <a:ln/>
        </p:spPr>
        <p:txBody>
          <a:bodyPr wrap="square" lIns="318403" tIns="267603" rIns="156859" bIns="242203" rtlCol="0" anchor="t">
            <a:normAutofit/>
          </a:bodyPr>
          <a:lstStyle/>
          <a:p>
            <a:pPr algn="l" indent="0" marL="0">
              <a:lnSpc>
                <a:spcPts val="2560"/>
              </a:lnSpc>
              <a:buNone/>
            </a:pPr>
            <a:r>
              <a:rPr lang="en-US" sz="1600" dirty="0">
                <a:solidFill>
                  <a:srgbClr val="93A1B3"/>
                </a:solidFill>
                <a:latin typeface="JetBrains Mono" pitchFamily="49" charset="0"/>
                <a:ea typeface="JetBrains Mono" pitchFamily="49" charset="-122"/>
                <a:cs typeface="JetBrains Mono" pitchFamily="49" charset="-120"/>
              </a:rPr>
              <a:t># 1. define it</a:t>
            </a:r>
            <a:endParaRPr lang="en-US" sz="1600" dirty="0"/>
          </a:p>
          <a:p>
            <a:pPr algn="l" indent="0" marL="0">
              <a:lnSpc>
                <a:spcPts val="2560"/>
              </a:lnSpc>
              <a:buNone/>
            </a:pPr>
            <a:r>
              <a:rPr lang="en-US" sz="1600" dirty="0">
                <a:solidFill>
                  <a:srgbClr val="8EC1F0"/>
                </a:solidFill>
                <a:latin typeface="JetBrains Mono" pitchFamily="49" charset="0"/>
                <a:ea typeface="JetBrains Mono" pitchFamily="49" charset="-122"/>
                <a:cs typeface="JetBrains Mono" pitchFamily="49" charset="-120"/>
              </a:rPr>
              <a:t>def</a:t>
            </a:r>
            <a:r>
              <a:rPr lang="en-US" sz="1600" dirty="0">
                <a:solidFill>
                  <a:srgbClr val="E8EDF3"/>
                </a:solidFill>
                <a:latin typeface="JetBrains Mono" pitchFamily="49" charset="0"/>
                <a:ea typeface="JetBrains Mono" pitchFamily="49" charset="-122"/>
                <a:cs typeface="JetBrains Mono" pitchFamily="49" charset="-120"/>
              </a:rPr>
              <a:t> say_hello():</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    print(</a:t>
            </a:r>
            <a:r>
              <a:rPr lang="en-US" sz="1600" dirty="0">
                <a:solidFill>
                  <a:srgbClr val="F2C94C"/>
                </a:solidFill>
                <a:latin typeface="JetBrains Mono" pitchFamily="49" charset="0"/>
                <a:ea typeface="JetBrains Mono" pitchFamily="49" charset="-122"/>
                <a:cs typeface="JetBrains Mono" pitchFamily="49" charset="-120"/>
              </a:rPr>
              <a:t>"Hello!"</a:t>
            </a:r>
            <a:r>
              <a:rPr lang="en-US" sz="1600" dirty="0">
                <a:solidFill>
                  <a:srgbClr val="E8EDF3"/>
                </a:solidFill>
                <a:latin typeface="JetBrains Mono" pitchFamily="49" charset="0"/>
                <a:ea typeface="JetBrains Mono" pitchFamily="49" charset="-122"/>
                <a:cs typeface="JetBrains Mono" pitchFamily="49" charset="-120"/>
              </a:rPr>
              <a:t>)</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    print(</a:t>
            </a:r>
            <a:r>
              <a:rPr lang="en-US" sz="1600" dirty="0">
                <a:solidFill>
                  <a:srgbClr val="F2C94C"/>
                </a:solidFill>
                <a:latin typeface="JetBrains Mono" pitchFamily="49" charset="0"/>
                <a:ea typeface="JetBrains Mono" pitchFamily="49" charset="-122"/>
                <a:cs typeface="JetBrains Mono" pitchFamily="49" charset="-120"/>
              </a:rPr>
              <a:t>"Welcome 🐍"</a:t>
            </a:r>
            <a:r>
              <a:rPr lang="en-US" sz="1600" dirty="0">
                <a:solidFill>
                  <a:srgbClr val="E8EDF3"/>
                </a:solidFill>
                <a:latin typeface="JetBrains Mono" pitchFamily="49" charset="0"/>
                <a:ea typeface="JetBrains Mono" pitchFamily="49" charset="-122"/>
                <a:cs typeface="JetBrains Mono" pitchFamily="49" charset="-120"/>
              </a:rPr>
              <a:t>)</a:t>
            </a:r>
            <a:endParaRPr lang="en-US" sz="1600" dirty="0"/>
          </a:p>
          <a:p>
            <a:pPr algn="l" indent="0" marL="0">
              <a:lnSpc>
                <a:spcPts val="2560"/>
              </a:lnSpc>
              <a:buNone/>
            </a:pPr>
            <a:endParaRPr lang="en-US" sz="1600" dirty="0"/>
          </a:p>
          <a:p>
            <a:pPr algn="l" indent="0" marL="0">
              <a:lnSpc>
                <a:spcPts val="2560"/>
              </a:lnSpc>
              <a:buNone/>
            </a:pPr>
            <a:r>
              <a:rPr lang="en-US" sz="1600" dirty="0">
                <a:solidFill>
                  <a:srgbClr val="93A1B3"/>
                </a:solidFill>
                <a:latin typeface="JetBrains Mono" pitchFamily="49" charset="0"/>
                <a:ea typeface="JetBrains Mono" pitchFamily="49" charset="-122"/>
                <a:cs typeface="JetBrains Mono" pitchFamily="49" charset="-120"/>
              </a:rPr>
              <a:t># 2. call it</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say_hello()</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say_hello()</a:t>
            </a:r>
            <a:endParaRPr lang="en-US" sz="1600" dirty="0"/>
          </a:p>
        </p:txBody>
      </p:sp>
      <p:sp>
        <p:nvSpPr>
          <p:cNvPr id="6" name="Text 4"/>
          <p:cNvSpPr/>
          <p:nvPr/>
        </p:nvSpPr>
        <p:spPr>
          <a:xfrm>
            <a:off x="7315200" y="1986229"/>
            <a:ext cx="418592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Output</a:t>
            </a:r>
            <a:endParaRPr lang="en-US" sz="1400" dirty="0"/>
          </a:p>
        </p:txBody>
      </p:sp>
      <p:sp>
        <p:nvSpPr>
          <p:cNvPr id="7" name="Text 5"/>
          <p:cNvSpPr/>
          <p:nvPr/>
        </p:nvSpPr>
        <p:spPr>
          <a:xfrm>
            <a:off x="7315200" y="2362135"/>
            <a:ext cx="4064000" cy="1910027"/>
          </a:xfrm>
          <a:prstGeom prst="roundRect">
            <a:avLst>
              <a:gd name="adj" fmla="val 6649"/>
            </a:avLst>
          </a:prstGeom>
          <a:solidFill>
            <a:srgbClr val="EEF2F6"/>
          </a:solidFill>
          <a:ln/>
        </p:spPr>
        <p:txBody>
          <a:bodyPr wrap="square" lIns="318403" tIns="267603" rIns="165495" bIns="242203" rtlCol="0" anchor="t">
            <a:normAutofit/>
          </a:bodyPr>
          <a:lstStyle/>
          <a:p>
            <a:pPr algn="l" indent="0" marL="0">
              <a:lnSpc>
                <a:spcPts val="2560"/>
              </a:lnSpc>
              <a:buNone/>
            </a:pPr>
            <a:r>
              <a:rPr lang="en-US" sz="1600" dirty="0">
                <a:solidFill>
                  <a:srgbClr val="1F2A37"/>
                </a:solidFill>
                <a:latin typeface="JetBrains Mono" pitchFamily="49" charset="0"/>
                <a:ea typeface="JetBrains Mono" pitchFamily="49" charset="-122"/>
                <a:cs typeface="JetBrains Mono" pitchFamily="49" charset="-120"/>
              </a:rPr>
              <a:t>Hello!</a:t>
            </a:r>
            <a:endParaRPr lang="en-US" sz="1600" dirty="0"/>
          </a:p>
          <a:p>
            <a:pPr algn="l" indent="0" marL="0">
              <a:lnSpc>
                <a:spcPts val="2560"/>
              </a:lnSpc>
              <a:buNone/>
            </a:pPr>
            <a:r>
              <a:rPr lang="en-US" sz="1600" dirty="0">
                <a:solidFill>
                  <a:srgbClr val="1F2A37"/>
                </a:solidFill>
                <a:latin typeface="JetBrains Mono" pitchFamily="49" charset="0"/>
                <a:ea typeface="JetBrains Mono" pitchFamily="49" charset="-122"/>
                <a:cs typeface="JetBrains Mono" pitchFamily="49" charset="-120"/>
              </a:rPr>
              <a:t>Welcome 🐍</a:t>
            </a:r>
            <a:endParaRPr lang="en-US" sz="1600" dirty="0"/>
          </a:p>
          <a:p>
            <a:pPr algn="l" indent="0" marL="0">
              <a:lnSpc>
                <a:spcPts val="2560"/>
              </a:lnSpc>
              <a:buNone/>
            </a:pPr>
            <a:r>
              <a:rPr lang="en-US" sz="1600" dirty="0">
                <a:solidFill>
                  <a:srgbClr val="1F2A37"/>
                </a:solidFill>
                <a:latin typeface="JetBrains Mono" pitchFamily="49" charset="0"/>
                <a:ea typeface="JetBrains Mono" pitchFamily="49" charset="-122"/>
                <a:cs typeface="JetBrains Mono" pitchFamily="49" charset="-120"/>
              </a:rPr>
              <a:t>Hello!</a:t>
            </a:r>
            <a:endParaRPr lang="en-US" sz="1600" dirty="0"/>
          </a:p>
          <a:p>
            <a:pPr algn="l" indent="0" marL="0">
              <a:lnSpc>
                <a:spcPts val="2560"/>
              </a:lnSpc>
              <a:buNone/>
            </a:pPr>
            <a:r>
              <a:rPr lang="en-US" sz="1600" dirty="0">
                <a:solidFill>
                  <a:srgbClr val="1F2A37"/>
                </a:solidFill>
                <a:latin typeface="JetBrains Mono" pitchFamily="49" charset="0"/>
                <a:ea typeface="JetBrains Mono" pitchFamily="49" charset="-122"/>
                <a:cs typeface="JetBrains Mono" pitchFamily="49" charset="-120"/>
              </a:rPr>
              <a:t>Welcome 🐍</a:t>
            </a:r>
            <a:endParaRPr lang="en-US" sz="1600" dirty="0"/>
          </a:p>
        </p:txBody>
      </p:sp>
      <p:sp>
        <p:nvSpPr>
          <p:cNvPr id="8" name="Shape 6"/>
          <p:cNvSpPr/>
          <p:nvPr/>
        </p:nvSpPr>
        <p:spPr>
          <a:xfrm>
            <a:off x="7315200" y="2362135"/>
            <a:ext cx="4064000" cy="1910027"/>
          </a:xfrm>
          <a:custGeom>
            <a:avLst/>
            <a:gdLst/>
            <a:ahLst/>
            <a:cxnLst/>
            <a:rect l="l" t="t" r="r" b="b"/>
            <a:pathLst>
              <a:path w="4064000" h="1910027">
                <a:moveTo>
                  <a:pt x="127000" y="1910027"/>
                </a:moveTo>
                <a:lnTo>
                  <a:pt x="127000" y="1910027"/>
                </a:lnTo>
                <a:arcTo hR="127000" wR="127000" stAng="5400000" swAng="5400000"/>
                <a:lnTo>
                  <a:pt x="0" y="127000"/>
                </a:lnTo>
                <a:arcTo hR="127000" wR="127000" stAng="10800000" swAng="5400000"/>
                <a:lnTo>
                  <a:pt x="127000" y="0"/>
                </a:lnTo>
                <a:arcTo hR="127000" wR="76200" stAng="16200000" swAng="-5400000"/>
                <a:lnTo>
                  <a:pt x="50800" y="1783027"/>
                </a:lnTo>
                <a:arcTo hR="127000" wR="76200" stAng="10800000" swAng="-5400000"/>
                <a:close/>
              </a:path>
            </a:pathLst>
          </a:custGeom>
          <a:solidFill>
            <a:srgbClr val="3776AB"/>
          </a:solidFill>
          <a:ln/>
        </p:spPr>
      </p:sp>
      <p:sp>
        <p:nvSpPr>
          <p:cNvPr id="9" name="Text 7"/>
          <p:cNvSpPr/>
          <p:nvPr/>
        </p:nvSpPr>
        <p:spPr>
          <a:xfrm>
            <a:off x="7315200" y="4399161"/>
            <a:ext cx="4185920" cy="301625"/>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4A5568"/>
                </a:solidFill>
                <a:latin typeface="DM Sans" pitchFamily="34" charset="0"/>
                <a:ea typeface="DM Sans" pitchFamily="34" charset="-122"/>
                <a:cs typeface="DM Sans" pitchFamily="34" charset="-120"/>
              </a:rPr>
              <a:t>def</a:t>
            </a:r>
            <a:r>
              <a:rPr lang="en-US" sz="1500" dirty="0">
                <a:solidFill>
                  <a:srgbClr val="4A5568"/>
                </a:solidFill>
                <a:latin typeface="DM Sans" pitchFamily="34" charset="0"/>
                <a:ea typeface="DM Sans" pitchFamily="34" charset="-122"/>
                <a:cs typeface="DM Sans" pitchFamily="34" charset="-120"/>
              </a:rPr>
              <a:t> + name + </a:t>
            </a:r>
            <a:r>
              <a:rPr lang="en-US" sz="1500" b="1" dirty="0">
                <a:solidFill>
                  <a:srgbClr val="4A5568"/>
                </a:solidFill>
                <a:latin typeface="DM Sans" pitchFamily="34" charset="0"/>
                <a:ea typeface="DM Sans" pitchFamily="34" charset="-122"/>
                <a:cs typeface="DM Sans" pitchFamily="34" charset="-120"/>
              </a:rPr>
              <a:t>()</a:t>
            </a:r>
            <a:r>
              <a:rPr lang="en-US" sz="1500" dirty="0">
                <a:solidFill>
                  <a:srgbClr val="4A5568"/>
                </a:solidFill>
                <a:latin typeface="DM Sans" pitchFamily="34" charset="0"/>
                <a:ea typeface="DM Sans" pitchFamily="34" charset="-122"/>
                <a:cs typeface="DM Sans" pitchFamily="34" charset="-120"/>
              </a:rPr>
              <a:t> + colon, then indent.</a:t>
            </a:r>
            <a:endParaRPr lang="en-US" sz="1500" dirty="0"/>
          </a:p>
        </p:txBody>
      </p:sp>
      <p:sp>
        <p:nvSpPr>
          <p:cNvPr id="10" name="Text 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8: functions</a:t>
            </a:r>
            <a:endParaRPr lang="en-US" sz="1200" dirty="0"/>
          </a:p>
        </p:txBody>
      </p:sp>
      <p:sp>
        <p:nvSpPr>
          <p:cNvPr id="11"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PARAMETERS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Giving a function information</a:t>
            </a:r>
            <a:endParaRPr lang="en-US" sz="3600" dirty="0"/>
          </a:p>
        </p:txBody>
      </p:sp>
      <p:sp>
        <p:nvSpPr>
          <p:cNvPr id="4" name="Text 2"/>
          <p:cNvSpPr/>
          <p:nvPr/>
        </p:nvSpPr>
        <p:spPr>
          <a:xfrm>
            <a:off x="812800" y="1986229"/>
            <a:ext cx="627888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Code</a:t>
            </a:r>
            <a:endParaRPr lang="en-US" sz="1400" dirty="0"/>
          </a:p>
        </p:txBody>
      </p:sp>
      <p:sp>
        <p:nvSpPr>
          <p:cNvPr id="5" name="Text 3"/>
          <p:cNvSpPr/>
          <p:nvPr/>
        </p:nvSpPr>
        <p:spPr>
          <a:xfrm>
            <a:off x="812800" y="2362135"/>
            <a:ext cx="6096000" cy="2082800"/>
          </a:xfrm>
          <a:prstGeom prst="roundRect">
            <a:avLst>
              <a:gd name="adj" fmla="val 6098"/>
            </a:avLst>
          </a:prstGeom>
          <a:solidFill>
            <a:srgbClr val="1F2A37"/>
          </a:solidFill>
          <a:ln/>
        </p:spPr>
        <p:txBody>
          <a:bodyPr wrap="square" lIns="293003" tIns="242203" rIns="129935" bIns="216803" rtlCol="0" anchor="t">
            <a:normAutofit/>
          </a:bodyPr>
          <a:lstStyle/>
          <a:p>
            <a:pPr algn="l" indent="0" marL="0">
              <a:lnSpc>
                <a:spcPts val="2400"/>
              </a:lnSpc>
              <a:buNone/>
            </a:pPr>
            <a:r>
              <a:rPr lang="en-US" sz="1500" dirty="0">
                <a:solidFill>
                  <a:srgbClr val="8EC1F0"/>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introduce(name, age):</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    print(</a:t>
            </a:r>
            <a:r>
              <a:rPr lang="en-US" sz="1500" dirty="0">
                <a:solidFill>
                  <a:srgbClr val="F2C94C"/>
                </a:solidFill>
                <a:latin typeface="JetBrains Mono" pitchFamily="49" charset="0"/>
                <a:ea typeface="JetBrains Mono" pitchFamily="49" charset="-122"/>
                <a:cs typeface="JetBrains Mono" pitchFamily="49" charset="-120"/>
              </a:rPr>
              <a:t>f"I am {name}, {age}."</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400"/>
              </a:lnSpc>
              <a:buNone/>
            </a:pP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introduce(</a:t>
            </a:r>
            <a:r>
              <a:rPr lang="en-US" sz="1500" dirty="0">
                <a:solidFill>
                  <a:srgbClr val="F2C94C"/>
                </a:solidFill>
                <a:latin typeface="JetBrains Mono" pitchFamily="49" charset="0"/>
                <a:ea typeface="JetBrains Mono" pitchFamily="49" charset="-122"/>
                <a:cs typeface="JetBrains Mono" pitchFamily="49" charset="-120"/>
              </a:rPr>
              <a:t>"Ali"</a:t>
            </a:r>
            <a:r>
              <a:rPr lang="en-US" sz="1500" dirty="0">
                <a:solidFill>
                  <a:srgbClr val="E8EDF3"/>
                </a:solidFill>
                <a:latin typeface="JetBrains Mono" pitchFamily="49" charset="0"/>
                <a:ea typeface="JetBrains Mono" pitchFamily="49" charset="-122"/>
                <a:cs typeface="JetBrains Mono" pitchFamily="49" charset="-120"/>
              </a:rPr>
              <a:t>, 20)</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introduce(</a:t>
            </a:r>
            <a:r>
              <a:rPr lang="en-US" sz="1500" dirty="0">
                <a:solidFill>
                  <a:srgbClr val="F2C94C"/>
                </a:solidFill>
                <a:latin typeface="JetBrains Mono" pitchFamily="49" charset="0"/>
                <a:ea typeface="JetBrains Mono" pitchFamily="49" charset="-122"/>
                <a:cs typeface="JetBrains Mono" pitchFamily="49" charset="-120"/>
              </a:rPr>
              <a:t>"Sara"</a:t>
            </a:r>
            <a:r>
              <a:rPr lang="en-US" sz="1500" dirty="0">
                <a:solidFill>
                  <a:srgbClr val="E8EDF3"/>
                </a:solidFill>
                <a:latin typeface="JetBrains Mono" pitchFamily="49" charset="0"/>
                <a:ea typeface="JetBrains Mono" pitchFamily="49" charset="-122"/>
                <a:cs typeface="JetBrains Mono" pitchFamily="49" charset="-120"/>
              </a:rPr>
              <a:t>, 19)</a:t>
            </a:r>
            <a:endParaRPr lang="en-US" sz="1500" dirty="0"/>
          </a:p>
        </p:txBody>
      </p:sp>
      <p:sp>
        <p:nvSpPr>
          <p:cNvPr id="6" name="Text 4"/>
          <p:cNvSpPr/>
          <p:nvPr/>
        </p:nvSpPr>
        <p:spPr>
          <a:xfrm>
            <a:off x="7315200" y="1986229"/>
            <a:ext cx="418592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Output</a:t>
            </a:r>
            <a:endParaRPr lang="en-US" sz="1400" dirty="0"/>
          </a:p>
        </p:txBody>
      </p:sp>
      <p:sp>
        <p:nvSpPr>
          <p:cNvPr id="7" name="Text 5"/>
          <p:cNvSpPr/>
          <p:nvPr/>
        </p:nvSpPr>
        <p:spPr>
          <a:xfrm>
            <a:off x="7315200" y="2362135"/>
            <a:ext cx="4064000" cy="1168400"/>
          </a:xfrm>
          <a:prstGeom prst="roundRect">
            <a:avLst>
              <a:gd name="adj" fmla="val 10870"/>
            </a:avLst>
          </a:prstGeom>
          <a:solidFill>
            <a:srgbClr val="EEF2F6"/>
          </a:solidFill>
          <a:ln/>
        </p:spPr>
        <p:txBody>
          <a:bodyPr wrap="square" lIns="318403" tIns="242203" rIns="165495" bIns="216803" rtlCol="0" anchor="t">
            <a:normAutofit/>
          </a:bodyPr>
          <a:lstStyle/>
          <a:p>
            <a:pPr algn="l" indent="0" marL="0">
              <a:lnSpc>
                <a:spcPts val="2400"/>
              </a:lnSpc>
              <a:buNone/>
            </a:pPr>
            <a:r>
              <a:rPr lang="en-US" sz="1500" dirty="0">
                <a:solidFill>
                  <a:srgbClr val="1F2A37"/>
                </a:solidFill>
                <a:latin typeface="JetBrains Mono" pitchFamily="49" charset="0"/>
                <a:ea typeface="JetBrains Mono" pitchFamily="49" charset="-122"/>
                <a:cs typeface="JetBrains Mono" pitchFamily="49" charset="-120"/>
              </a:rPr>
              <a:t>I am Ali, 20.</a:t>
            </a:r>
            <a:endParaRPr lang="en-US" sz="1500" dirty="0"/>
          </a:p>
          <a:p>
            <a:pPr algn="l" indent="0" marL="0">
              <a:lnSpc>
                <a:spcPts val="2400"/>
              </a:lnSpc>
              <a:buNone/>
            </a:pPr>
            <a:r>
              <a:rPr lang="en-US" sz="1500" dirty="0">
                <a:solidFill>
                  <a:srgbClr val="1F2A37"/>
                </a:solidFill>
                <a:latin typeface="JetBrains Mono" pitchFamily="49" charset="0"/>
                <a:ea typeface="JetBrains Mono" pitchFamily="49" charset="-122"/>
                <a:cs typeface="JetBrains Mono" pitchFamily="49" charset="-120"/>
              </a:rPr>
              <a:t>I am Sara, 19.</a:t>
            </a:r>
            <a:endParaRPr lang="en-US" sz="1500" dirty="0"/>
          </a:p>
        </p:txBody>
      </p:sp>
      <p:sp>
        <p:nvSpPr>
          <p:cNvPr id="8" name="Shape 6"/>
          <p:cNvSpPr/>
          <p:nvPr/>
        </p:nvSpPr>
        <p:spPr>
          <a:xfrm>
            <a:off x="7315200" y="2362135"/>
            <a:ext cx="4064000" cy="1168400"/>
          </a:xfrm>
          <a:custGeom>
            <a:avLst/>
            <a:gdLst/>
            <a:ahLst/>
            <a:cxnLst/>
            <a:rect l="l" t="t" r="r" b="b"/>
            <a:pathLst>
              <a:path w="4064000" h="1168400">
                <a:moveTo>
                  <a:pt x="127000" y="1168400"/>
                </a:moveTo>
                <a:lnTo>
                  <a:pt x="127000" y="1168400"/>
                </a:lnTo>
                <a:arcTo hR="127000" wR="127000" stAng="5400000" swAng="5400000"/>
                <a:lnTo>
                  <a:pt x="0" y="127000"/>
                </a:lnTo>
                <a:arcTo hR="127000" wR="127000" stAng="10800000" swAng="5400000"/>
                <a:lnTo>
                  <a:pt x="127000" y="0"/>
                </a:lnTo>
                <a:arcTo hR="127000" wR="76200" stAng="16200000" swAng="-5400000"/>
                <a:lnTo>
                  <a:pt x="50800" y="1041400"/>
                </a:lnTo>
                <a:arcTo hR="127000" wR="76200" stAng="10800000" swAng="-5400000"/>
                <a:close/>
              </a:path>
            </a:pathLst>
          </a:custGeom>
          <a:solidFill>
            <a:srgbClr val="3776AB"/>
          </a:solidFill>
          <a:ln/>
        </p:spPr>
      </p:sp>
      <p:sp>
        <p:nvSpPr>
          <p:cNvPr id="9" name="Text 7"/>
          <p:cNvSpPr/>
          <p:nvPr/>
        </p:nvSpPr>
        <p:spPr>
          <a:xfrm>
            <a:off x="812800" y="4800535"/>
            <a:ext cx="5181600" cy="581025"/>
          </a:xfrm>
          <a:prstGeom prst="roundRect">
            <a:avLst>
              <a:gd name="adj" fmla="val 17486"/>
            </a:avLst>
          </a:prstGeom>
          <a:solidFill>
            <a:srgbClr val="EEF2F6"/>
          </a:solidFill>
          <a:ln/>
        </p:spPr>
        <p:txBody>
          <a:bodyPr wrap="square" lIns="173442" tIns="122642" rIns="30186" bIns="97242" rtlCol="0" anchor="t">
            <a:normAutofit/>
          </a:bodyPr>
          <a:lstStyle/>
          <a:p>
            <a:pPr algn="l" indent="0" marL="0">
              <a:lnSpc>
                <a:spcPts val="2175"/>
              </a:lnSpc>
              <a:buNone/>
            </a:pPr>
            <a:r>
              <a:rPr lang="en-US" sz="1500" b="1" dirty="0">
                <a:solidFill>
                  <a:srgbClr val="1F2A37"/>
                </a:solidFill>
                <a:latin typeface="DM Sans" pitchFamily="34" charset="0"/>
                <a:ea typeface="DM Sans" pitchFamily="34" charset="-122"/>
                <a:cs typeface="DM Sans" pitchFamily="34" charset="-120"/>
              </a:rPr>
              <a:t>Parameters</a:t>
            </a:r>
            <a:r>
              <a:rPr lang="en-US" sz="1500" dirty="0">
                <a:solidFill>
                  <a:srgbClr val="1F2A37"/>
                </a:solidFill>
                <a:latin typeface="DM Sans" pitchFamily="34" charset="0"/>
                <a:ea typeface="DM Sans" pitchFamily="34" charset="-122"/>
                <a:cs typeface="DM Sans" pitchFamily="34" charset="-120"/>
              </a:rPr>
              <a:t> = the names in the definition: </a:t>
            </a:r>
            <a:r>
              <a:rPr lang="en-US" sz="1500" b="1" dirty="0">
                <a:solidFill>
                  <a:srgbClr val="1F2A37"/>
                </a:solidFill>
                <a:latin typeface="DM Sans" pitchFamily="34" charset="0"/>
                <a:ea typeface="DM Sans" pitchFamily="34" charset="-122"/>
                <a:cs typeface="DM Sans" pitchFamily="34" charset="-120"/>
              </a:rPr>
              <a:t>name, age</a:t>
            </a:r>
            <a:endParaRPr lang="en-US" sz="1500" dirty="0"/>
          </a:p>
        </p:txBody>
      </p:sp>
      <p:sp>
        <p:nvSpPr>
          <p:cNvPr id="10" name="Text 8"/>
          <p:cNvSpPr/>
          <p:nvPr/>
        </p:nvSpPr>
        <p:spPr>
          <a:xfrm>
            <a:off x="6197600" y="4800535"/>
            <a:ext cx="5181600" cy="581025"/>
          </a:xfrm>
          <a:prstGeom prst="roundRect">
            <a:avLst>
              <a:gd name="adj" fmla="val 17486"/>
            </a:avLst>
          </a:prstGeom>
          <a:solidFill>
            <a:srgbClr val="EEF2F6"/>
          </a:solidFill>
          <a:ln/>
        </p:spPr>
        <p:txBody>
          <a:bodyPr wrap="square" lIns="173442" tIns="122642" rIns="30186" bIns="97242" rtlCol="0" anchor="t">
            <a:normAutofit/>
          </a:bodyPr>
          <a:lstStyle/>
          <a:p>
            <a:pPr algn="l" indent="0" marL="0">
              <a:lnSpc>
                <a:spcPts val="2175"/>
              </a:lnSpc>
              <a:buNone/>
            </a:pPr>
            <a:r>
              <a:rPr lang="en-US" sz="1500" b="1" dirty="0">
                <a:solidFill>
                  <a:srgbClr val="1F2A37"/>
                </a:solidFill>
                <a:latin typeface="DM Sans" pitchFamily="34" charset="0"/>
                <a:ea typeface="DM Sans" pitchFamily="34" charset="-122"/>
                <a:cs typeface="DM Sans" pitchFamily="34" charset="-120"/>
              </a:rPr>
              <a:t>Arguments</a:t>
            </a:r>
            <a:r>
              <a:rPr lang="en-US" sz="1500" dirty="0">
                <a:solidFill>
                  <a:srgbClr val="1F2A37"/>
                </a:solidFill>
                <a:latin typeface="DM Sans" pitchFamily="34" charset="0"/>
                <a:ea typeface="DM Sans" pitchFamily="34" charset="-122"/>
                <a:cs typeface="DM Sans" pitchFamily="34" charset="-120"/>
              </a:rPr>
              <a:t> = the values you pass in: </a:t>
            </a:r>
            <a:r>
              <a:rPr lang="en-US" sz="1500" b="1" dirty="0">
                <a:solidFill>
                  <a:srgbClr val="1F2A37"/>
                </a:solidFill>
                <a:latin typeface="DM Sans" pitchFamily="34" charset="0"/>
                <a:ea typeface="DM Sans" pitchFamily="34" charset="-122"/>
                <a:cs typeface="DM Sans" pitchFamily="34" charset="-120"/>
              </a:rPr>
              <a:t>"Ali", 20</a:t>
            </a:r>
            <a:endParaRPr lang="en-US" sz="1500" dirty="0"/>
          </a:p>
        </p:txBody>
      </p:sp>
      <p:sp>
        <p:nvSpPr>
          <p:cNvPr id="11" name="Text 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8: functions</a:t>
            </a:r>
            <a:endParaRPr lang="en-US" sz="1200" dirty="0"/>
          </a:p>
        </p:txBody>
      </p:sp>
      <p:sp>
        <p:nvSpPr>
          <p:cNvPr id="12" name="Text 1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4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DEFAULT VALUES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A value to use if none is given</a:t>
            </a:r>
            <a:endParaRPr lang="en-US" sz="3600" dirty="0"/>
          </a:p>
        </p:txBody>
      </p:sp>
      <p:sp>
        <p:nvSpPr>
          <p:cNvPr id="4" name="Text 2"/>
          <p:cNvSpPr/>
          <p:nvPr/>
        </p:nvSpPr>
        <p:spPr>
          <a:xfrm>
            <a:off x="812800" y="1986229"/>
            <a:ext cx="627888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Code</a:t>
            </a:r>
            <a:endParaRPr lang="en-US" sz="1400" dirty="0"/>
          </a:p>
        </p:txBody>
      </p:sp>
      <p:sp>
        <p:nvSpPr>
          <p:cNvPr id="5" name="Text 3"/>
          <p:cNvSpPr/>
          <p:nvPr/>
        </p:nvSpPr>
        <p:spPr>
          <a:xfrm>
            <a:off x="812800" y="2362135"/>
            <a:ext cx="6096000" cy="2082800"/>
          </a:xfrm>
          <a:prstGeom prst="roundRect">
            <a:avLst>
              <a:gd name="adj" fmla="val 6098"/>
            </a:avLst>
          </a:prstGeom>
          <a:solidFill>
            <a:srgbClr val="1F2A37"/>
          </a:solidFill>
          <a:ln/>
        </p:spPr>
        <p:txBody>
          <a:bodyPr wrap="square" lIns="293003" tIns="242203" rIns="129935" bIns="216803" rtlCol="0" anchor="t">
            <a:normAutofit/>
          </a:bodyPr>
          <a:lstStyle/>
          <a:p>
            <a:pPr algn="l" indent="0" marL="0">
              <a:lnSpc>
                <a:spcPts val="2400"/>
              </a:lnSpc>
              <a:buNone/>
            </a:pPr>
            <a:r>
              <a:rPr lang="en-US" sz="1500" dirty="0">
                <a:solidFill>
                  <a:srgbClr val="8EC1F0"/>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greet(name, greeting=</a:t>
            </a:r>
            <a:r>
              <a:rPr lang="en-US" sz="1500" dirty="0">
                <a:solidFill>
                  <a:srgbClr val="F2C94C"/>
                </a:solidFill>
                <a:latin typeface="JetBrains Mono" pitchFamily="49" charset="0"/>
                <a:ea typeface="JetBrains Mono" pitchFamily="49" charset="-122"/>
                <a:cs typeface="JetBrains Mono" pitchFamily="49" charset="-120"/>
              </a:rPr>
              <a:t>"Hello"</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    print(</a:t>
            </a:r>
            <a:r>
              <a:rPr lang="en-US" sz="1500" dirty="0">
                <a:solidFill>
                  <a:srgbClr val="F2C94C"/>
                </a:solidFill>
                <a:latin typeface="JetBrains Mono" pitchFamily="49" charset="0"/>
                <a:ea typeface="JetBrains Mono" pitchFamily="49" charset="-122"/>
                <a:cs typeface="JetBrains Mono" pitchFamily="49" charset="-120"/>
              </a:rPr>
              <a:t>f"{greeting}, {name}!"</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400"/>
              </a:lnSpc>
              <a:buNone/>
            </a:pP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greet(</a:t>
            </a:r>
            <a:r>
              <a:rPr lang="en-US" sz="1500" dirty="0">
                <a:solidFill>
                  <a:srgbClr val="F2C94C"/>
                </a:solidFill>
                <a:latin typeface="JetBrains Mono" pitchFamily="49" charset="0"/>
                <a:ea typeface="JetBrains Mono" pitchFamily="49" charset="-122"/>
                <a:cs typeface="JetBrains Mono" pitchFamily="49" charset="-120"/>
              </a:rPr>
              <a:t>"Ali"</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greet(</a:t>
            </a:r>
            <a:r>
              <a:rPr lang="en-US" sz="1500" dirty="0">
                <a:solidFill>
                  <a:srgbClr val="F2C94C"/>
                </a:solidFill>
                <a:latin typeface="JetBrains Mono" pitchFamily="49" charset="0"/>
                <a:ea typeface="JetBrains Mono" pitchFamily="49" charset="-122"/>
                <a:cs typeface="JetBrains Mono" pitchFamily="49" charset="-120"/>
              </a:rPr>
              <a:t>"Sara"</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C94C"/>
                </a:solidFill>
                <a:latin typeface="JetBrains Mono" pitchFamily="49" charset="0"/>
                <a:ea typeface="JetBrains Mono" pitchFamily="49" charset="-122"/>
                <a:cs typeface="JetBrains Mono" pitchFamily="49" charset="-120"/>
              </a:rPr>
              <a:t>"Salaam"</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p:txBody>
      </p:sp>
      <p:sp>
        <p:nvSpPr>
          <p:cNvPr id="6" name="Text 4"/>
          <p:cNvSpPr/>
          <p:nvPr/>
        </p:nvSpPr>
        <p:spPr>
          <a:xfrm>
            <a:off x="7315200" y="1986229"/>
            <a:ext cx="418592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Output</a:t>
            </a:r>
            <a:endParaRPr lang="en-US" sz="1400" dirty="0"/>
          </a:p>
        </p:txBody>
      </p:sp>
      <p:sp>
        <p:nvSpPr>
          <p:cNvPr id="7" name="Text 5"/>
          <p:cNvSpPr/>
          <p:nvPr/>
        </p:nvSpPr>
        <p:spPr>
          <a:xfrm>
            <a:off x="7315200" y="2362135"/>
            <a:ext cx="4064000" cy="1168400"/>
          </a:xfrm>
          <a:prstGeom prst="roundRect">
            <a:avLst>
              <a:gd name="adj" fmla="val 10870"/>
            </a:avLst>
          </a:prstGeom>
          <a:solidFill>
            <a:srgbClr val="FFFFFF"/>
          </a:solidFill>
          <a:ln/>
        </p:spPr>
        <p:txBody>
          <a:bodyPr wrap="square" lIns="318403" tIns="242203" rIns="165495" bIns="216803" rtlCol="0" anchor="t">
            <a:normAutofit/>
          </a:bodyPr>
          <a:lstStyle/>
          <a:p>
            <a:pPr algn="l" indent="0" marL="0">
              <a:lnSpc>
                <a:spcPts val="2400"/>
              </a:lnSpc>
              <a:buNone/>
            </a:pPr>
            <a:r>
              <a:rPr lang="en-US" sz="1500" dirty="0">
                <a:solidFill>
                  <a:srgbClr val="1F2A37"/>
                </a:solidFill>
                <a:latin typeface="JetBrains Mono" pitchFamily="49" charset="0"/>
                <a:ea typeface="JetBrains Mono" pitchFamily="49" charset="-122"/>
                <a:cs typeface="JetBrains Mono" pitchFamily="49" charset="-120"/>
              </a:rPr>
              <a:t>Hello, Ali!</a:t>
            </a:r>
            <a:endParaRPr lang="en-US" sz="1500" dirty="0"/>
          </a:p>
          <a:p>
            <a:pPr algn="l" indent="0" marL="0">
              <a:lnSpc>
                <a:spcPts val="2400"/>
              </a:lnSpc>
              <a:buNone/>
            </a:pPr>
            <a:r>
              <a:rPr lang="en-US" sz="1500" dirty="0">
                <a:solidFill>
                  <a:srgbClr val="1F2A37"/>
                </a:solidFill>
                <a:latin typeface="JetBrains Mono" pitchFamily="49" charset="0"/>
                <a:ea typeface="JetBrains Mono" pitchFamily="49" charset="-122"/>
                <a:cs typeface="JetBrains Mono" pitchFamily="49" charset="-120"/>
              </a:rPr>
              <a:t>Salaam, Sara!</a:t>
            </a:r>
            <a:endParaRPr lang="en-US" sz="1500" dirty="0"/>
          </a:p>
        </p:txBody>
      </p:sp>
      <p:sp>
        <p:nvSpPr>
          <p:cNvPr id="8" name="Shape 6"/>
          <p:cNvSpPr/>
          <p:nvPr/>
        </p:nvSpPr>
        <p:spPr>
          <a:xfrm>
            <a:off x="7315200" y="2362135"/>
            <a:ext cx="4064000" cy="1168400"/>
          </a:xfrm>
          <a:custGeom>
            <a:avLst/>
            <a:gdLst/>
            <a:ahLst/>
            <a:cxnLst/>
            <a:rect l="l" t="t" r="r" b="b"/>
            <a:pathLst>
              <a:path w="4064000" h="1168400">
                <a:moveTo>
                  <a:pt x="127000" y="1168400"/>
                </a:moveTo>
                <a:lnTo>
                  <a:pt x="127000" y="1168400"/>
                </a:lnTo>
                <a:arcTo hR="127000" wR="127000" stAng="5400000" swAng="5400000"/>
                <a:lnTo>
                  <a:pt x="0" y="127000"/>
                </a:lnTo>
                <a:arcTo hR="127000" wR="127000" stAng="10800000" swAng="5400000"/>
                <a:lnTo>
                  <a:pt x="127000" y="0"/>
                </a:lnTo>
                <a:arcTo hR="127000" wR="76200" stAng="16200000" swAng="-5400000"/>
                <a:lnTo>
                  <a:pt x="50800" y="1041400"/>
                </a:lnTo>
                <a:arcTo hR="127000" wR="76200" stAng="10800000" swAng="-5400000"/>
                <a:close/>
              </a:path>
            </a:pathLst>
          </a:custGeom>
          <a:solidFill>
            <a:srgbClr val="3776AB"/>
          </a:solidFill>
          <a:ln/>
        </p:spPr>
      </p:sp>
      <p:sp>
        <p:nvSpPr>
          <p:cNvPr id="9" name="Text 7"/>
          <p:cNvSpPr/>
          <p:nvPr/>
        </p:nvSpPr>
        <p:spPr>
          <a:xfrm>
            <a:off x="7315200" y="3657535"/>
            <a:ext cx="4185920"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DM Sans" pitchFamily="34" charset="0"/>
                <a:ea typeface="DM Sans" pitchFamily="34" charset="-122"/>
                <a:cs typeface="DM Sans" pitchFamily="34" charset="-120"/>
              </a:rPr>
              <a:t>No greeting given → </a:t>
            </a:r>
            <a:r>
              <a:rPr lang="en-US" sz="1500" b="1" dirty="0">
                <a:solidFill>
                  <a:srgbClr val="4A5568"/>
                </a:solidFill>
                <a:latin typeface="DM Sans" pitchFamily="34" charset="0"/>
                <a:ea typeface="DM Sans" pitchFamily="34" charset="-122"/>
                <a:cs typeface="DM Sans" pitchFamily="34" charset="-120"/>
              </a:rPr>
              <a:t>"Hello"</a:t>
            </a:r>
            <a:r>
              <a:rPr lang="en-US" sz="1500" dirty="0">
                <a:solidFill>
                  <a:srgbClr val="4A5568"/>
                </a:solidFill>
                <a:latin typeface="DM Sans" pitchFamily="34" charset="0"/>
                <a:ea typeface="DM Sans" pitchFamily="34" charset="-122"/>
                <a:cs typeface="DM Sans" pitchFamily="34" charset="-120"/>
              </a:rPr>
              <a:t> is used.</a:t>
            </a:r>
            <a:endParaRPr lang="en-US" sz="1500" dirty="0"/>
          </a:p>
        </p:txBody>
      </p:sp>
      <p:sp>
        <p:nvSpPr>
          <p:cNvPr id="10" name="Text 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8: functions</a:t>
            </a:r>
            <a:endParaRPr lang="en-US" sz="1200" dirty="0"/>
          </a:p>
        </p:txBody>
      </p:sp>
      <p:sp>
        <p:nvSpPr>
          <p:cNvPr id="11"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RETURN</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Getting a result back</a:t>
            </a:r>
            <a:endParaRPr lang="en-US" sz="3600" dirty="0"/>
          </a:p>
        </p:txBody>
      </p:sp>
      <p:sp>
        <p:nvSpPr>
          <p:cNvPr id="4" name="Text 2"/>
          <p:cNvSpPr/>
          <p:nvPr/>
        </p:nvSpPr>
        <p:spPr>
          <a:xfrm>
            <a:off x="812800" y="1986229"/>
            <a:ext cx="627888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Code</a:t>
            </a:r>
            <a:endParaRPr lang="en-US" sz="1400" dirty="0"/>
          </a:p>
        </p:txBody>
      </p:sp>
      <p:sp>
        <p:nvSpPr>
          <p:cNvPr id="5" name="Text 3"/>
          <p:cNvSpPr/>
          <p:nvPr/>
        </p:nvSpPr>
        <p:spPr>
          <a:xfrm>
            <a:off x="812800" y="2362135"/>
            <a:ext cx="6096000" cy="2387600"/>
          </a:xfrm>
          <a:prstGeom prst="roundRect">
            <a:avLst>
              <a:gd name="adj" fmla="val 5319"/>
            </a:avLst>
          </a:prstGeom>
          <a:solidFill>
            <a:srgbClr val="1F2A37"/>
          </a:solidFill>
          <a:ln/>
        </p:spPr>
        <p:txBody>
          <a:bodyPr wrap="square" lIns="293003" tIns="242203" rIns="129935" bIns="216803" rtlCol="0" anchor="t">
            <a:normAutofit/>
          </a:bodyPr>
          <a:lstStyle/>
          <a:p>
            <a:pPr algn="l" indent="0" marL="0">
              <a:lnSpc>
                <a:spcPts val="2400"/>
              </a:lnSpc>
              <a:buNone/>
            </a:pPr>
            <a:r>
              <a:rPr lang="en-US" sz="1500" dirty="0">
                <a:solidFill>
                  <a:srgbClr val="8EC1F0"/>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add(a, b):</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8EC1F0"/>
                </a:solidFill>
                <a:latin typeface="JetBrains Mono" pitchFamily="49" charset="0"/>
                <a:ea typeface="JetBrains Mono" pitchFamily="49" charset="-122"/>
                <a:cs typeface="JetBrains Mono" pitchFamily="49" charset="-120"/>
              </a:rPr>
              <a:t>return</a:t>
            </a:r>
            <a:r>
              <a:rPr lang="en-US" sz="1500" dirty="0">
                <a:solidFill>
                  <a:srgbClr val="E8EDF3"/>
                </a:solidFill>
                <a:latin typeface="JetBrains Mono" pitchFamily="49" charset="0"/>
                <a:ea typeface="JetBrains Mono" pitchFamily="49" charset="-122"/>
                <a:cs typeface="JetBrains Mono" pitchFamily="49" charset="-120"/>
              </a:rPr>
              <a:t> a + b</a:t>
            </a:r>
            <a:endParaRPr lang="en-US" sz="1500" dirty="0"/>
          </a:p>
          <a:p>
            <a:pPr algn="l" indent="0" marL="0">
              <a:lnSpc>
                <a:spcPts val="2400"/>
              </a:lnSpc>
              <a:buNone/>
            </a:pP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result = add(3, 5)</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print(result)</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print(add(10, 20) * 2)</a:t>
            </a:r>
            <a:endParaRPr lang="en-US" sz="1500" dirty="0"/>
          </a:p>
        </p:txBody>
      </p:sp>
      <p:sp>
        <p:nvSpPr>
          <p:cNvPr id="6" name="Text 4"/>
          <p:cNvSpPr/>
          <p:nvPr/>
        </p:nvSpPr>
        <p:spPr>
          <a:xfrm>
            <a:off x="7315200" y="1986229"/>
            <a:ext cx="418592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Output</a:t>
            </a:r>
            <a:endParaRPr lang="en-US" sz="1400" dirty="0"/>
          </a:p>
        </p:txBody>
      </p:sp>
      <p:sp>
        <p:nvSpPr>
          <p:cNvPr id="7" name="Text 5"/>
          <p:cNvSpPr/>
          <p:nvPr/>
        </p:nvSpPr>
        <p:spPr>
          <a:xfrm>
            <a:off x="7315200" y="2362135"/>
            <a:ext cx="4064000" cy="1168400"/>
          </a:xfrm>
          <a:prstGeom prst="roundRect">
            <a:avLst>
              <a:gd name="adj" fmla="val 10870"/>
            </a:avLst>
          </a:prstGeom>
          <a:solidFill>
            <a:srgbClr val="EEF2F6"/>
          </a:solidFill>
          <a:ln/>
        </p:spPr>
        <p:txBody>
          <a:bodyPr wrap="square" lIns="318403" tIns="242203" rIns="165495" bIns="216803" rtlCol="0" anchor="t">
            <a:normAutofit/>
          </a:bodyPr>
          <a:lstStyle/>
          <a:p>
            <a:pPr algn="l" indent="0" marL="0">
              <a:lnSpc>
                <a:spcPts val="2400"/>
              </a:lnSpc>
              <a:buNone/>
            </a:pPr>
            <a:r>
              <a:rPr lang="en-US" sz="1500" dirty="0">
                <a:solidFill>
                  <a:srgbClr val="1F2A37"/>
                </a:solidFill>
                <a:latin typeface="JetBrains Mono" pitchFamily="49" charset="0"/>
                <a:ea typeface="JetBrains Mono" pitchFamily="49" charset="-122"/>
                <a:cs typeface="JetBrains Mono" pitchFamily="49" charset="-120"/>
              </a:rPr>
              <a:t>8</a:t>
            </a:r>
            <a:endParaRPr lang="en-US" sz="1500" dirty="0"/>
          </a:p>
          <a:p>
            <a:pPr algn="l" indent="0" marL="0">
              <a:lnSpc>
                <a:spcPts val="2400"/>
              </a:lnSpc>
              <a:buNone/>
            </a:pPr>
            <a:r>
              <a:rPr lang="en-US" sz="1500" dirty="0">
                <a:solidFill>
                  <a:srgbClr val="1F2A37"/>
                </a:solidFill>
                <a:latin typeface="JetBrains Mono" pitchFamily="49" charset="0"/>
                <a:ea typeface="JetBrains Mono" pitchFamily="49" charset="-122"/>
                <a:cs typeface="JetBrains Mono" pitchFamily="49" charset="-120"/>
              </a:rPr>
              <a:t>60</a:t>
            </a:r>
            <a:endParaRPr lang="en-US" sz="1500" dirty="0"/>
          </a:p>
        </p:txBody>
      </p:sp>
      <p:sp>
        <p:nvSpPr>
          <p:cNvPr id="8" name="Shape 6"/>
          <p:cNvSpPr/>
          <p:nvPr/>
        </p:nvSpPr>
        <p:spPr>
          <a:xfrm>
            <a:off x="7315200" y="2362135"/>
            <a:ext cx="4064000" cy="1168400"/>
          </a:xfrm>
          <a:custGeom>
            <a:avLst/>
            <a:gdLst/>
            <a:ahLst/>
            <a:cxnLst/>
            <a:rect l="l" t="t" r="r" b="b"/>
            <a:pathLst>
              <a:path w="4064000" h="1168400">
                <a:moveTo>
                  <a:pt x="127000" y="1168400"/>
                </a:moveTo>
                <a:lnTo>
                  <a:pt x="127000" y="1168400"/>
                </a:lnTo>
                <a:arcTo hR="127000" wR="127000" stAng="5400000" swAng="5400000"/>
                <a:lnTo>
                  <a:pt x="0" y="127000"/>
                </a:lnTo>
                <a:arcTo hR="127000" wR="127000" stAng="10800000" swAng="5400000"/>
                <a:lnTo>
                  <a:pt x="127000" y="0"/>
                </a:lnTo>
                <a:arcTo hR="127000" wR="76200" stAng="16200000" swAng="-5400000"/>
                <a:lnTo>
                  <a:pt x="50800" y="1041400"/>
                </a:lnTo>
                <a:arcTo hR="127000" wR="76200" stAng="10800000" swAng="-5400000"/>
                <a:close/>
              </a:path>
            </a:pathLst>
          </a:custGeom>
          <a:solidFill>
            <a:srgbClr val="3776AB"/>
          </a:solidFill>
          <a:ln/>
        </p:spPr>
      </p:sp>
      <p:sp>
        <p:nvSpPr>
          <p:cNvPr id="9" name="Text 7"/>
          <p:cNvSpPr/>
          <p:nvPr/>
        </p:nvSpPr>
        <p:spPr>
          <a:xfrm>
            <a:off x="7315200" y="3657535"/>
            <a:ext cx="418592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DM Sans" pitchFamily="34" charset="0"/>
                <a:ea typeface="DM Sans" pitchFamily="34" charset="-122"/>
                <a:cs typeface="DM Sans" pitchFamily="34" charset="-120"/>
              </a:rPr>
              <a:t>The result can be </a:t>
            </a:r>
            <a:r>
              <a:rPr lang="en-US" sz="1500" b="1" dirty="0">
                <a:solidFill>
                  <a:srgbClr val="4A5568"/>
                </a:solidFill>
                <a:latin typeface="DM Sans" pitchFamily="34" charset="0"/>
                <a:ea typeface="DM Sans" pitchFamily="34" charset="-122"/>
                <a:cs typeface="DM Sans" pitchFamily="34" charset="-120"/>
              </a:rPr>
              <a:t>stored</a:t>
            </a:r>
            <a:r>
              <a:rPr lang="en-US" sz="1500" dirty="0">
                <a:solidFill>
                  <a:srgbClr val="4A5568"/>
                </a:solidFill>
                <a:latin typeface="DM Sans" pitchFamily="34" charset="0"/>
                <a:ea typeface="DM Sans" pitchFamily="34" charset="-122"/>
                <a:cs typeface="DM Sans" pitchFamily="34" charset="-120"/>
              </a:rPr>
              <a:t> and </a:t>
            </a:r>
            <a:r>
              <a:rPr lang="en-US" sz="1500" b="1" dirty="0">
                <a:solidFill>
                  <a:srgbClr val="4A5568"/>
                </a:solidFill>
                <a:latin typeface="DM Sans" pitchFamily="34" charset="0"/>
                <a:ea typeface="DM Sans" pitchFamily="34" charset="-122"/>
                <a:cs typeface="DM Sans" pitchFamily="34" charset="-120"/>
              </a:rPr>
              <a:t>used</a:t>
            </a:r>
            <a:r>
              <a:rPr lang="en-US" sz="1500" dirty="0">
                <a:solidFill>
                  <a:srgbClr val="4A5568"/>
                </a:solidFill>
                <a:latin typeface="DM Sans" pitchFamily="34" charset="0"/>
                <a:ea typeface="DM Sans" pitchFamily="34" charset="-122"/>
                <a:cs typeface="DM Sans" pitchFamily="34" charset="-120"/>
              </a:rPr>
              <a:t> in more calculations.</a:t>
            </a:r>
            <a:endParaRPr lang="en-US" sz="1500" dirty="0"/>
          </a:p>
        </p:txBody>
      </p:sp>
      <p:sp>
        <p:nvSpPr>
          <p:cNvPr id="10" name="Text 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8: functions</a:t>
            </a:r>
            <a:endParaRPr lang="en-US" sz="1200" dirty="0"/>
          </a:p>
        </p:txBody>
      </p:sp>
      <p:sp>
        <p:nvSpPr>
          <p:cNvPr id="11"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F5F8A"/>
        </a:solidFill>
      </p:bgPr>
    </p:bg>
    <p:spTree>
      <p:nvGrpSpPr>
        <p:cNvPr id="1" name=""/>
        <p:cNvGrpSpPr/>
        <p:nvPr/>
      </p:nvGrpSpPr>
      <p:grpSpPr>
        <a:xfrm>
          <a:off x="0" y="0"/>
          <a:ext cx="0" cy="0"/>
          <a:chOff x="0" y="0"/>
          <a:chExt cx="0" cy="0"/>
        </a:xfrm>
      </p:grpSpPr>
      <p:sp>
        <p:nvSpPr>
          <p:cNvPr id="2" name="Text 0"/>
          <p:cNvSpPr/>
          <p:nvPr/>
        </p:nvSpPr>
        <p:spPr>
          <a:xfrm>
            <a:off x="812800" y="1726009"/>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FE0F1"/>
                </a:solidFill>
                <a:latin typeface="DM Sans" pitchFamily="34" charset="0"/>
                <a:ea typeface="DM Sans" pitchFamily="34" charset="-122"/>
                <a:cs typeface="DM Sans" pitchFamily="34" charset="-120"/>
              </a:rPr>
              <a:t>⚠️ COMMON CONFUSION</a:t>
            </a:r>
            <a:endParaRPr lang="en-US" sz="1200" dirty="0"/>
          </a:p>
        </p:txBody>
      </p:sp>
      <p:sp>
        <p:nvSpPr>
          <p:cNvPr id="3" name="Text 1"/>
          <p:cNvSpPr/>
          <p:nvPr>
            <p:ph type="title"/>
          </p:nvPr>
        </p:nvSpPr>
        <p:spPr>
          <a:xfrm>
            <a:off x="812800" y="2142530"/>
            <a:ext cx="5127752" cy="1945481"/>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AF9F6"/>
                </a:solidFill>
                <a:latin typeface="DM Sans" pitchFamily="34" charset="0"/>
                <a:ea typeface="DM Sans" pitchFamily="34" charset="-122"/>
                <a:cs typeface="DM Sans" pitchFamily="34" charset="-120"/>
              </a:rPr>
              <a:t>print shows, return gives back</a:t>
            </a:r>
            <a:endParaRPr lang="en-US" sz="4800" dirty="0"/>
          </a:p>
        </p:txBody>
      </p:sp>
      <p:sp>
        <p:nvSpPr>
          <p:cNvPr id="4" name="Text 2"/>
          <p:cNvSpPr/>
          <p:nvPr/>
        </p:nvSpPr>
        <p:spPr>
          <a:xfrm>
            <a:off x="812800" y="4265811"/>
            <a:ext cx="5127752" cy="688314"/>
          </a:xfrm>
          <a:prstGeom prst="rect">
            <a:avLst/>
          </a:prstGeom>
          <a:noFill/>
          <a:ln/>
        </p:spPr>
        <p:txBody>
          <a:bodyPr wrap="square" lIns="0" tIns="0" rIns="0" bIns="0" rtlCol="0" anchor="t">
            <a:normAutofit/>
          </a:bodyPr>
          <a:lstStyle/>
          <a:p>
            <a:pPr algn="l" indent="0" marL="0">
              <a:lnSpc>
                <a:spcPts val="2610"/>
              </a:lnSpc>
              <a:buNone/>
            </a:pPr>
            <a:r>
              <a:rPr lang="en-US" sz="1800" dirty="0">
                <a:solidFill>
                  <a:srgbClr val="E3ECF6"/>
                </a:solidFill>
                <a:latin typeface="DM Sans" pitchFamily="34" charset="0"/>
                <a:ea typeface="DM Sans" pitchFamily="34" charset="-122"/>
                <a:cs typeface="DM Sans" pitchFamily="34" charset="-120"/>
              </a:rPr>
              <a:t>A function without </a:t>
            </a:r>
            <a:r>
              <a:rPr lang="en-US" sz="1800" b="1" dirty="0">
                <a:solidFill>
                  <a:srgbClr val="E3ECF6"/>
                </a:solidFill>
                <a:latin typeface="DM Sans" pitchFamily="34" charset="0"/>
                <a:ea typeface="DM Sans" pitchFamily="34" charset="-122"/>
                <a:cs typeface="DM Sans" pitchFamily="34" charset="-120"/>
              </a:rPr>
              <a:t>return</a:t>
            </a:r>
            <a:r>
              <a:rPr lang="en-US" sz="1800" dirty="0">
                <a:solidFill>
                  <a:srgbClr val="E3ECF6"/>
                </a:solidFill>
                <a:latin typeface="DM Sans" pitchFamily="34" charset="0"/>
                <a:ea typeface="DM Sans" pitchFamily="34" charset="-122"/>
                <a:cs typeface="DM Sans" pitchFamily="34" charset="-120"/>
              </a:rPr>
              <a:t> gives back </a:t>
            </a:r>
            <a:r>
              <a:rPr lang="en-US" sz="1800" b="1" dirty="0">
                <a:solidFill>
                  <a:srgbClr val="E3ECF6"/>
                </a:solidFill>
                <a:latin typeface="DM Sans" pitchFamily="34" charset="0"/>
                <a:ea typeface="DM Sans" pitchFamily="34" charset="-122"/>
                <a:cs typeface="DM Sans" pitchFamily="34" charset="-120"/>
              </a:rPr>
              <a:t>None</a:t>
            </a:r>
            <a:r>
              <a:rPr lang="en-US" sz="1800" dirty="0">
                <a:solidFill>
                  <a:srgbClr val="E3ECF6"/>
                </a:solidFill>
                <a:latin typeface="DM Sans" pitchFamily="34" charset="0"/>
                <a:ea typeface="DM Sans" pitchFamily="34" charset="-122"/>
                <a:cs typeface="DM Sans" pitchFamily="34" charset="-120"/>
              </a:rPr>
              <a:t> (nothing).</a:t>
            </a:r>
            <a:endParaRPr lang="en-US" sz="1800" dirty="0"/>
          </a:p>
        </p:txBody>
      </p:sp>
      <p:sp>
        <p:nvSpPr>
          <p:cNvPr id="5" name="Text 3"/>
          <p:cNvSpPr/>
          <p:nvPr/>
        </p:nvSpPr>
        <p:spPr>
          <a:xfrm>
            <a:off x="6400800" y="1600200"/>
            <a:ext cx="4978400" cy="3454400"/>
          </a:xfrm>
          <a:prstGeom prst="roundRect">
            <a:avLst>
              <a:gd name="adj" fmla="val 4412"/>
            </a:avLst>
          </a:prstGeom>
          <a:solidFill>
            <a:srgbClr val="1F2A37"/>
          </a:solidFill>
          <a:ln/>
        </p:spPr>
        <p:txBody>
          <a:bodyPr wrap="square" lIns="361764" tIns="310964" rIns="236796" bIns="285564" rtlCol="0" anchor="t">
            <a:normAutofit/>
          </a:bodyPr>
          <a:lstStyle/>
          <a:p>
            <a:pPr algn="l" indent="0" marL="0">
              <a:lnSpc>
                <a:spcPts val="2400"/>
              </a:lnSpc>
              <a:buNone/>
            </a:pPr>
            <a:r>
              <a:rPr lang="en-US" sz="1500" dirty="0">
                <a:solidFill>
                  <a:srgbClr val="8EC1F0"/>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add_print(a, b):</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    print(a + b)</a:t>
            </a:r>
            <a:endParaRPr lang="en-US" sz="1500" dirty="0"/>
          </a:p>
          <a:p>
            <a:pPr algn="l" indent="0" marL="0">
              <a:lnSpc>
                <a:spcPts val="2400"/>
              </a:lnSpc>
              <a:buNone/>
            </a:pPr>
            <a:endParaRPr lang="en-US" sz="1500" dirty="0"/>
          </a:p>
          <a:p>
            <a:pPr algn="l" indent="0" marL="0">
              <a:lnSpc>
                <a:spcPts val="2400"/>
              </a:lnSpc>
              <a:buNone/>
            </a:pPr>
            <a:r>
              <a:rPr lang="en-US" sz="1500" dirty="0">
                <a:solidFill>
                  <a:srgbClr val="8EC1F0"/>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add_return(a, b):</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8EC1F0"/>
                </a:solidFill>
                <a:latin typeface="JetBrains Mono" pitchFamily="49" charset="0"/>
                <a:ea typeface="JetBrains Mono" pitchFamily="49" charset="-122"/>
                <a:cs typeface="JetBrains Mono" pitchFamily="49" charset="-120"/>
              </a:rPr>
              <a:t>return</a:t>
            </a:r>
            <a:r>
              <a:rPr lang="en-US" sz="1500" dirty="0">
                <a:solidFill>
                  <a:srgbClr val="E8EDF3"/>
                </a:solidFill>
                <a:latin typeface="JetBrains Mono" pitchFamily="49" charset="0"/>
                <a:ea typeface="JetBrains Mono" pitchFamily="49" charset="-122"/>
                <a:cs typeface="JetBrains Mono" pitchFamily="49" charset="-120"/>
              </a:rPr>
              <a:t> a + b</a:t>
            </a:r>
            <a:endParaRPr lang="en-US" sz="1500" dirty="0"/>
          </a:p>
          <a:p>
            <a:pPr algn="l" indent="0" marL="0">
              <a:lnSpc>
                <a:spcPts val="2400"/>
              </a:lnSpc>
              <a:buNone/>
            </a:pP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x = add_print(2, 3)</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y = add_return(2, 3)</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print(x, y)  </a:t>
            </a:r>
            <a:r>
              <a:rPr lang="en-US" sz="1500" dirty="0">
                <a:solidFill>
                  <a:srgbClr val="93A1B3"/>
                </a:solidFill>
                <a:latin typeface="JetBrains Mono" pitchFamily="49" charset="0"/>
                <a:ea typeface="JetBrains Mono" pitchFamily="49" charset="-122"/>
                <a:cs typeface="JetBrains Mono" pitchFamily="49" charset="-120"/>
              </a:rPr>
              <a:t># None 5</a:t>
            </a:r>
            <a:endParaRPr lang="en-US" sz="1500" dirty="0"/>
          </a:p>
        </p:txBody>
      </p:sp>
      <p:sp>
        <p:nvSpPr>
          <p:cNvPr id="6" name="Text 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E0F1"/>
                </a:solidFill>
                <a:latin typeface="DM Sans" pitchFamily="34" charset="0"/>
                <a:ea typeface="DM Sans" pitchFamily="34" charset="-122"/>
                <a:cs typeface="DM Sans" pitchFamily="34" charset="-120"/>
              </a:rPr>
              <a:t>Python for Beginners · Day 8: functions</a:t>
            </a:r>
            <a:endParaRPr lang="en-US" sz="1200" dirty="0"/>
          </a:p>
        </p:txBody>
      </p:sp>
      <p:sp>
        <p:nvSpPr>
          <p:cNvPr id="7" name="Text 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FE0F1"/>
                </a:solidFill>
                <a:latin typeface="DM Sans" pitchFamily="34" charset="0"/>
                <a:ea typeface="DM Sans" pitchFamily="34" charset="-122"/>
                <a:cs typeface="DM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 PUT IT TOGETHER</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A grade function</a:t>
            </a:r>
            <a:endParaRPr lang="en-US" sz="3600" dirty="0"/>
          </a:p>
        </p:txBody>
      </p:sp>
      <p:sp>
        <p:nvSpPr>
          <p:cNvPr id="4" name="Text 2"/>
          <p:cNvSpPr/>
          <p:nvPr/>
        </p:nvSpPr>
        <p:spPr>
          <a:xfrm>
            <a:off x="812800" y="1935429"/>
            <a:ext cx="6126427" cy="3038872"/>
          </a:xfrm>
          <a:prstGeom prst="roundRect">
            <a:avLst>
              <a:gd name="adj" fmla="val 4179"/>
            </a:avLst>
          </a:prstGeom>
          <a:solidFill>
            <a:srgbClr val="1F2A37"/>
          </a:solidFill>
          <a:ln/>
        </p:spPr>
        <p:txBody>
          <a:bodyPr wrap="square" lIns="293003" tIns="242203" rIns="129022" bIns="216803" rtlCol="0" anchor="t">
            <a:normAutofit/>
          </a:bodyPr>
          <a:lstStyle/>
          <a:p>
            <a:pPr algn="l" indent="0" marL="0">
              <a:lnSpc>
                <a:spcPts val="2170"/>
              </a:lnSpc>
              <a:buNone/>
            </a:pPr>
            <a:r>
              <a:rPr lang="en-US" sz="1400" dirty="0">
                <a:solidFill>
                  <a:srgbClr val="8EC1F0"/>
                </a:solidFill>
                <a:latin typeface="JetBrains Mono" pitchFamily="49" charset="0"/>
                <a:ea typeface="JetBrains Mono" pitchFamily="49" charset="-122"/>
                <a:cs typeface="JetBrains Mono" pitchFamily="49" charset="-120"/>
              </a:rPr>
              <a:t>def</a:t>
            </a:r>
            <a:r>
              <a:rPr lang="en-US" sz="1400" dirty="0">
                <a:solidFill>
                  <a:srgbClr val="E8EDF3"/>
                </a:solidFill>
                <a:latin typeface="JetBrains Mono" pitchFamily="49" charset="0"/>
                <a:ea typeface="JetBrains Mono" pitchFamily="49" charset="-122"/>
                <a:cs typeface="JetBrains Mono" pitchFamily="49" charset="-120"/>
              </a:rPr>
              <a:t> grade(score):</a:t>
            </a:r>
            <a:endParaRPr lang="en-US" sz="1400" dirty="0"/>
          </a:p>
          <a:p>
            <a:pPr algn="l" indent="0" marL="0">
              <a:lnSpc>
                <a:spcPts val="2170"/>
              </a:lnSpc>
              <a:buNone/>
            </a:pPr>
            <a:r>
              <a:rPr lang="en-US" sz="1400" dirty="0">
                <a:solidFill>
                  <a:srgbClr val="E8EDF3"/>
                </a:solidFill>
                <a:latin typeface="JetBrains Mono" pitchFamily="49" charset="0"/>
                <a:ea typeface="JetBrains Mono" pitchFamily="49" charset="-122"/>
                <a:cs typeface="JetBrains Mono" pitchFamily="49" charset="-120"/>
              </a:rPr>
              <a:t>    </a:t>
            </a:r>
            <a:r>
              <a:rPr lang="en-US" sz="1400" dirty="0">
                <a:solidFill>
                  <a:srgbClr val="8EC1F0"/>
                </a:solidFill>
                <a:latin typeface="JetBrains Mono" pitchFamily="49" charset="0"/>
                <a:ea typeface="JetBrains Mono" pitchFamily="49" charset="-122"/>
                <a:cs typeface="JetBrains Mono" pitchFamily="49" charset="-120"/>
              </a:rPr>
              <a:t>if</a:t>
            </a:r>
            <a:r>
              <a:rPr lang="en-US" sz="1400" dirty="0">
                <a:solidFill>
                  <a:srgbClr val="E8EDF3"/>
                </a:solidFill>
                <a:latin typeface="JetBrains Mono" pitchFamily="49" charset="0"/>
                <a:ea typeface="JetBrains Mono" pitchFamily="49" charset="-122"/>
                <a:cs typeface="JetBrains Mono" pitchFamily="49" charset="-120"/>
              </a:rPr>
              <a:t> score &gt;= 80:</a:t>
            </a:r>
            <a:endParaRPr lang="en-US" sz="1400" dirty="0"/>
          </a:p>
          <a:p>
            <a:pPr algn="l" indent="0" marL="0">
              <a:lnSpc>
                <a:spcPts val="2170"/>
              </a:lnSpc>
              <a:buNone/>
            </a:pPr>
            <a:r>
              <a:rPr lang="en-US" sz="1400" dirty="0">
                <a:solidFill>
                  <a:srgbClr val="E8EDF3"/>
                </a:solidFill>
                <a:latin typeface="JetBrains Mono" pitchFamily="49" charset="0"/>
                <a:ea typeface="JetBrains Mono" pitchFamily="49" charset="-122"/>
                <a:cs typeface="JetBrains Mono" pitchFamily="49" charset="-120"/>
              </a:rPr>
              <a:t>        </a:t>
            </a:r>
            <a:r>
              <a:rPr lang="en-US" sz="1400" dirty="0">
                <a:solidFill>
                  <a:srgbClr val="8EC1F0"/>
                </a:solidFill>
                <a:latin typeface="JetBrains Mono" pitchFamily="49" charset="0"/>
                <a:ea typeface="JetBrains Mono" pitchFamily="49" charset="-122"/>
                <a:cs typeface="JetBrains Mono" pitchFamily="49" charset="-120"/>
              </a:rPr>
              <a:t>return</a:t>
            </a:r>
            <a:r>
              <a:rPr lang="en-US" sz="1400" dirty="0">
                <a:solidFill>
                  <a:srgbClr val="E8EDF3"/>
                </a:solidFill>
                <a:latin typeface="JetBrains Mono" pitchFamily="49" charset="0"/>
                <a:ea typeface="JetBrains Mono" pitchFamily="49" charset="-122"/>
                <a:cs typeface="JetBrains Mono" pitchFamily="49" charset="-120"/>
              </a:rPr>
              <a:t> </a:t>
            </a:r>
            <a:r>
              <a:rPr lang="en-US" sz="1400" dirty="0">
                <a:solidFill>
                  <a:srgbClr val="F2C94C"/>
                </a:solidFill>
                <a:latin typeface="JetBrains Mono" pitchFamily="49" charset="0"/>
                <a:ea typeface="JetBrains Mono" pitchFamily="49" charset="-122"/>
                <a:cs typeface="JetBrains Mono" pitchFamily="49" charset="-120"/>
              </a:rPr>
              <a:t>"A"</a:t>
            </a:r>
            <a:endParaRPr lang="en-US" sz="1400" dirty="0"/>
          </a:p>
          <a:p>
            <a:pPr algn="l" indent="0" marL="0">
              <a:lnSpc>
                <a:spcPts val="2170"/>
              </a:lnSpc>
              <a:buNone/>
            </a:pPr>
            <a:r>
              <a:rPr lang="en-US" sz="1400" dirty="0">
                <a:solidFill>
                  <a:srgbClr val="E8EDF3"/>
                </a:solidFill>
                <a:latin typeface="JetBrains Mono" pitchFamily="49" charset="0"/>
                <a:ea typeface="JetBrains Mono" pitchFamily="49" charset="-122"/>
                <a:cs typeface="JetBrains Mono" pitchFamily="49" charset="-120"/>
              </a:rPr>
              <a:t>    </a:t>
            </a:r>
            <a:r>
              <a:rPr lang="en-US" sz="1400" dirty="0">
                <a:solidFill>
                  <a:srgbClr val="8EC1F0"/>
                </a:solidFill>
                <a:latin typeface="JetBrains Mono" pitchFamily="49" charset="0"/>
                <a:ea typeface="JetBrains Mono" pitchFamily="49" charset="-122"/>
                <a:cs typeface="JetBrains Mono" pitchFamily="49" charset="-120"/>
              </a:rPr>
              <a:t>elif</a:t>
            </a:r>
            <a:r>
              <a:rPr lang="en-US" sz="1400" dirty="0">
                <a:solidFill>
                  <a:srgbClr val="E8EDF3"/>
                </a:solidFill>
                <a:latin typeface="JetBrains Mono" pitchFamily="49" charset="0"/>
                <a:ea typeface="JetBrains Mono" pitchFamily="49" charset="-122"/>
                <a:cs typeface="JetBrains Mono" pitchFamily="49" charset="-120"/>
              </a:rPr>
              <a:t> score &gt;= 50:</a:t>
            </a:r>
            <a:endParaRPr lang="en-US" sz="1400" dirty="0"/>
          </a:p>
          <a:p>
            <a:pPr algn="l" indent="0" marL="0">
              <a:lnSpc>
                <a:spcPts val="2170"/>
              </a:lnSpc>
              <a:buNone/>
            </a:pPr>
            <a:r>
              <a:rPr lang="en-US" sz="1400" dirty="0">
                <a:solidFill>
                  <a:srgbClr val="E8EDF3"/>
                </a:solidFill>
                <a:latin typeface="JetBrains Mono" pitchFamily="49" charset="0"/>
                <a:ea typeface="JetBrains Mono" pitchFamily="49" charset="-122"/>
                <a:cs typeface="JetBrains Mono" pitchFamily="49" charset="-120"/>
              </a:rPr>
              <a:t>        </a:t>
            </a:r>
            <a:r>
              <a:rPr lang="en-US" sz="1400" dirty="0">
                <a:solidFill>
                  <a:srgbClr val="8EC1F0"/>
                </a:solidFill>
                <a:latin typeface="JetBrains Mono" pitchFamily="49" charset="0"/>
                <a:ea typeface="JetBrains Mono" pitchFamily="49" charset="-122"/>
                <a:cs typeface="JetBrains Mono" pitchFamily="49" charset="-120"/>
              </a:rPr>
              <a:t>return</a:t>
            </a:r>
            <a:r>
              <a:rPr lang="en-US" sz="1400" dirty="0">
                <a:solidFill>
                  <a:srgbClr val="E8EDF3"/>
                </a:solidFill>
                <a:latin typeface="JetBrains Mono" pitchFamily="49" charset="0"/>
                <a:ea typeface="JetBrains Mono" pitchFamily="49" charset="-122"/>
                <a:cs typeface="JetBrains Mono" pitchFamily="49" charset="-120"/>
              </a:rPr>
              <a:t> </a:t>
            </a:r>
            <a:r>
              <a:rPr lang="en-US" sz="1400" dirty="0">
                <a:solidFill>
                  <a:srgbClr val="F2C94C"/>
                </a:solidFill>
                <a:latin typeface="JetBrains Mono" pitchFamily="49" charset="0"/>
                <a:ea typeface="JetBrains Mono" pitchFamily="49" charset="-122"/>
                <a:cs typeface="JetBrains Mono" pitchFamily="49" charset="-120"/>
              </a:rPr>
              <a:t>"Pass"</a:t>
            </a:r>
            <a:endParaRPr lang="en-US" sz="1400" dirty="0"/>
          </a:p>
          <a:p>
            <a:pPr algn="l" indent="0" marL="0">
              <a:lnSpc>
                <a:spcPts val="2170"/>
              </a:lnSpc>
              <a:buNone/>
            </a:pPr>
            <a:r>
              <a:rPr lang="en-US" sz="1400" dirty="0">
                <a:solidFill>
                  <a:srgbClr val="E8EDF3"/>
                </a:solidFill>
                <a:latin typeface="JetBrains Mono" pitchFamily="49" charset="0"/>
                <a:ea typeface="JetBrains Mono" pitchFamily="49" charset="-122"/>
                <a:cs typeface="JetBrains Mono" pitchFamily="49" charset="-120"/>
              </a:rPr>
              <a:t>    </a:t>
            </a:r>
            <a:r>
              <a:rPr lang="en-US" sz="1400" dirty="0">
                <a:solidFill>
                  <a:srgbClr val="8EC1F0"/>
                </a:solidFill>
                <a:latin typeface="JetBrains Mono" pitchFamily="49" charset="0"/>
                <a:ea typeface="JetBrains Mono" pitchFamily="49" charset="-122"/>
                <a:cs typeface="JetBrains Mono" pitchFamily="49" charset="-120"/>
              </a:rPr>
              <a:t>return</a:t>
            </a:r>
            <a:r>
              <a:rPr lang="en-US" sz="1400" dirty="0">
                <a:solidFill>
                  <a:srgbClr val="E8EDF3"/>
                </a:solidFill>
                <a:latin typeface="JetBrains Mono" pitchFamily="49" charset="0"/>
                <a:ea typeface="JetBrains Mono" pitchFamily="49" charset="-122"/>
                <a:cs typeface="JetBrains Mono" pitchFamily="49" charset="-120"/>
              </a:rPr>
              <a:t> </a:t>
            </a:r>
            <a:r>
              <a:rPr lang="en-US" sz="1400" dirty="0">
                <a:solidFill>
                  <a:srgbClr val="F2C94C"/>
                </a:solidFill>
                <a:latin typeface="JetBrains Mono" pitchFamily="49" charset="0"/>
                <a:ea typeface="JetBrains Mono" pitchFamily="49" charset="-122"/>
                <a:cs typeface="JetBrains Mono" pitchFamily="49" charset="-120"/>
              </a:rPr>
              <a:t>"Fail"</a:t>
            </a:r>
            <a:endParaRPr lang="en-US" sz="1400" dirty="0"/>
          </a:p>
          <a:p>
            <a:pPr algn="l" indent="0" marL="0">
              <a:lnSpc>
                <a:spcPts val="2170"/>
              </a:lnSpc>
              <a:buNone/>
            </a:pPr>
            <a:endParaRPr lang="en-US" sz="1400" dirty="0"/>
          </a:p>
          <a:p>
            <a:pPr algn="l" indent="0" marL="0">
              <a:lnSpc>
                <a:spcPts val="2170"/>
              </a:lnSpc>
              <a:buNone/>
            </a:pPr>
            <a:r>
              <a:rPr lang="en-US" sz="1400" dirty="0">
                <a:solidFill>
                  <a:srgbClr val="8EC1F0"/>
                </a:solidFill>
                <a:latin typeface="JetBrains Mono" pitchFamily="49" charset="0"/>
                <a:ea typeface="JetBrains Mono" pitchFamily="49" charset="-122"/>
                <a:cs typeface="JetBrains Mono" pitchFamily="49" charset="-120"/>
              </a:rPr>
              <a:t>for</a:t>
            </a:r>
            <a:r>
              <a:rPr lang="en-US" sz="1400" dirty="0">
                <a:solidFill>
                  <a:srgbClr val="E8EDF3"/>
                </a:solidFill>
                <a:latin typeface="JetBrains Mono" pitchFamily="49" charset="0"/>
                <a:ea typeface="JetBrains Mono" pitchFamily="49" charset="-122"/>
                <a:cs typeface="JetBrains Mono" pitchFamily="49" charset="-120"/>
              </a:rPr>
              <a:t> s </a:t>
            </a:r>
            <a:r>
              <a:rPr lang="en-US" sz="1400" dirty="0">
                <a:solidFill>
                  <a:srgbClr val="8EC1F0"/>
                </a:solidFill>
                <a:latin typeface="JetBrains Mono" pitchFamily="49" charset="0"/>
                <a:ea typeface="JetBrains Mono" pitchFamily="49" charset="-122"/>
                <a:cs typeface="JetBrains Mono" pitchFamily="49" charset="-120"/>
              </a:rPr>
              <a:t>in</a:t>
            </a:r>
            <a:r>
              <a:rPr lang="en-US" sz="1400" dirty="0">
                <a:solidFill>
                  <a:srgbClr val="E8EDF3"/>
                </a:solidFill>
                <a:latin typeface="JetBrains Mono" pitchFamily="49" charset="0"/>
                <a:ea typeface="JetBrains Mono" pitchFamily="49" charset="-122"/>
                <a:cs typeface="JetBrains Mono" pitchFamily="49" charset="-120"/>
              </a:rPr>
              <a:t> [95, 62, 30]:</a:t>
            </a:r>
            <a:endParaRPr lang="en-US" sz="1400" dirty="0"/>
          </a:p>
          <a:p>
            <a:pPr algn="l" indent="0" marL="0">
              <a:lnSpc>
                <a:spcPts val="2170"/>
              </a:lnSpc>
              <a:buNone/>
            </a:pPr>
            <a:r>
              <a:rPr lang="en-US" sz="1400" dirty="0">
                <a:solidFill>
                  <a:srgbClr val="E8EDF3"/>
                </a:solidFill>
                <a:latin typeface="JetBrains Mono" pitchFamily="49" charset="0"/>
                <a:ea typeface="JetBrains Mono" pitchFamily="49" charset="-122"/>
                <a:cs typeface="JetBrains Mono" pitchFamily="49" charset="-120"/>
              </a:rPr>
              <a:t>    print(s, grade(s))</a:t>
            </a:r>
            <a:endParaRPr lang="en-US" sz="1400" dirty="0"/>
          </a:p>
        </p:txBody>
      </p:sp>
      <p:sp>
        <p:nvSpPr>
          <p:cNvPr id="5" name="Text 3"/>
          <p:cNvSpPr/>
          <p:nvPr/>
        </p:nvSpPr>
        <p:spPr>
          <a:xfrm>
            <a:off x="7294828" y="1935429"/>
            <a:ext cx="4084307" cy="1422400"/>
          </a:xfrm>
          <a:prstGeom prst="roundRect">
            <a:avLst>
              <a:gd name="adj" fmla="val 8929"/>
            </a:avLst>
          </a:prstGeom>
          <a:solidFill>
            <a:srgbClr val="EEF2F6"/>
          </a:solidFill>
          <a:ln/>
        </p:spPr>
        <p:txBody>
          <a:bodyPr wrap="square" lIns="318403" tIns="216803" rIns="164886" bIns="191403" rtlCol="0" anchor="t">
            <a:normAutofit/>
          </a:bodyPr>
          <a:lstStyle/>
          <a:p>
            <a:pPr algn="l" indent="0" marL="0">
              <a:lnSpc>
                <a:spcPts val="2400"/>
              </a:lnSpc>
              <a:buNone/>
            </a:pPr>
            <a:r>
              <a:rPr lang="en-US" sz="1500" dirty="0">
                <a:solidFill>
                  <a:srgbClr val="1F2A37"/>
                </a:solidFill>
                <a:latin typeface="JetBrains Mono" pitchFamily="49" charset="0"/>
                <a:ea typeface="JetBrains Mono" pitchFamily="49" charset="-122"/>
                <a:cs typeface="JetBrains Mono" pitchFamily="49" charset="-120"/>
              </a:rPr>
              <a:t>95 A</a:t>
            </a:r>
            <a:endParaRPr lang="en-US" sz="1500" dirty="0"/>
          </a:p>
          <a:p>
            <a:pPr algn="l" indent="0" marL="0">
              <a:lnSpc>
                <a:spcPts val="2400"/>
              </a:lnSpc>
              <a:buNone/>
            </a:pPr>
            <a:r>
              <a:rPr lang="en-US" sz="1500" dirty="0">
                <a:solidFill>
                  <a:srgbClr val="1F2A37"/>
                </a:solidFill>
                <a:latin typeface="JetBrains Mono" pitchFamily="49" charset="0"/>
                <a:ea typeface="JetBrains Mono" pitchFamily="49" charset="-122"/>
                <a:cs typeface="JetBrains Mono" pitchFamily="49" charset="-120"/>
              </a:rPr>
              <a:t>62 Pass</a:t>
            </a:r>
            <a:endParaRPr lang="en-US" sz="1500" dirty="0"/>
          </a:p>
          <a:p>
            <a:pPr algn="l" indent="0" marL="0">
              <a:lnSpc>
                <a:spcPts val="2400"/>
              </a:lnSpc>
              <a:buNone/>
            </a:pPr>
            <a:r>
              <a:rPr lang="en-US" sz="1500" dirty="0">
                <a:solidFill>
                  <a:srgbClr val="1F2A37"/>
                </a:solidFill>
                <a:latin typeface="JetBrains Mono" pitchFamily="49" charset="0"/>
                <a:ea typeface="JetBrains Mono" pitchFamily="49" charset="-122"/>
                <a:cs typeface="JetBrains Mono" pitchFamily="49" charset="-120"/>
              </a:rPr>
              <a:t>30 Fail</a:t>
            </a:r>
            <a:endParaRPr lang="en-US" sz="1500" dirty="0"/>
          </a:p>
        </p:txBody>
      </p:sp>
      <p:sp>
        <p:nvSpPr>
          <p:cNvPr id="6" name="Shape 4"/>
          <p:cNvSpPr/>
          <p:nvPr/>
        </p:nvSpPr>
        <p:spPr>
          <a:xfrm>
            <a:off x="7294828" y="1935429"/>
            <a:ext cx="4084307" cy="1422400"/>
          </a:xfrm>
          <a:custGeom>
            <a:avLst/>
            <a:gdLst/>
            <a:ahLst/>
            <a:cxnLst/>
            <a:rect l="l" t="t" r="r" b="b"/>
            <a:pathLst>
              <a:path w="4084307" h="1422400">
                <a:moveTo>
                  <a:pt x="127000" y="1422400"/>
                </a:moveTo>
                <a:lnTo>
                  <a:pt x="127000" y="1422400"/>
                </a:lnTo>
                <a:arcTo hR="127000" wR="127000" stAng="5400000" swAng="5400000"/>
                <a:lnTo>
                  <a:pt x="0" y="127000"/>
                </a:lnTo>
                <a:arcTo hR="127000" wR="127000" stAng="10800000" swAng="5400000"/>
                <a:lnTo>
                  <a:pt x="127000" y="0"/>
                </a:lnTo>
                <a:arcTo hR="127000" wR="76200" stAng="16200000" swAng="-5400000"/>
                <a:lnTo>
                  <a:pt x="50800" y="1295400"/>
                </a:lnTo>
                <a:arcTo hR="127000" wR="76200" stAng="10800000" swAng="-5400000"/>
                <a:close/>
              </a:path>
            </a:pathLst>
          </a:custGeom>
          <a:solidFill>
            <a:srgbClr val="3776AB"/>
          </a:solidFill>
          <a:ln/>
        </p:spPr>
      </p:sp>
      <p:sp>
        <p:nvSpPr>
          <p:cNvPr id="7" name="Text 5"/>
          <p:cNvSpPr/>
          <p:nvPr/>
        </p:nvSpPr>
        <p:spPr>
          <a:xfrm>
            <a:off x="7294828" y="3510229"/>
            <a:ext cx="4206836"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DM Sans" pitchFamily="34" charset="0"/>
                <a:ea typeface="DM Sans" pitchFamily="34" charset="-122"/>
                <a:cs typeface="DM Sans" pitchFamily="34" charset="-120"/>
              </a:rPr>
              <a:t>Functions + if/elif + loops + lists — all working together.</a:t>
            </a:r>
            <a:endParaRPr lang="en-US" sz="1500" dirty="0"/>
          </a:p>
        </p:txBody>
      </p:sp>
      <p:sp>
        <p:nvSpPr>
          <p:cNvPr id="8" name="Text 6"/>
          <p:cNvSpPr/>
          <p:nvPr/>
        </p:nvSpPr>
        <p:spPr>
          <a:xfrm>
            <a:off x="7294828" y="4215079"/>
            <a:ext cx="4897172"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DM Sans" pitchFamily="34" charset="0"/>
                <a:ea typeface="DM Sans" pitchFamily="34" charset="-122"/>
                <a:cs typeface="DM Sans" pitchFamily="34" charset="-120"/>
              </a:rPr>
              <a:t>The notebook builds a full </a:t>
            </a:r>
            <a:r>
              <a:rPr lang="en-US" sz="1500" b="1" dirty="0">
                <a:solidFill>
                  <a:srgbClr val="4A5568"/>
                </a:solidFill>
                <a:latin typeface="DM Sans" pitchFamily="34" charset="0"/>
                <a:ea typeface="DM Sans" pitchFamily="34" charset="-122"/>
                <a:cs typeface="DM Sans" pitchFamily="34" charset="-120"/>
              </a:rPr>
              <a:t>calculator</a:t>
            </a:r>
            <a:r>
              <a:rPr lang="en-US" sz="1500" dirty="0">
                <a:solidFill>
                  <a:srgbClr val="4A5568"/>
                </a:solidFill>
                <a:latin typeface="DM Sans" pitchFamily="34" charset="0"/>
                <a:ea typeface="DM Sans" pitchFamily="34" charset="-122"/>
                <a:cs typeface="DM Sans" pitchFamily="34" charset="-120"/>
              </a:rPr>
              <a:t> this way.</a:t>
            </a:r>
            <a:endParaRPr lang="en-US" sz="1500" dirty="0"/>
          </a:p>
        </p:txBody>
      </p:sp>
      <p:sp>
        <p:nvSpPr>
          <p:cNvPr id="9" name="Text 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8: functions</a:t>
            </a:r>
            <a:endParaRPr lang="en-US" sz="1200" dirty="0"/>
          </a:p>
        </p:txBody>
      </p:sp>
      <p:sp>
        <p:nvSpPr>
          <p:cNvPr id="10" name="Text 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F4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 QUICK CHECK</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Predict before you run!</a:t>
            </a:r>
            <a:endParaRPr lang="en-US" sz="3600" dirty="0"/>
          </a:p>
        </p:txBody>
      </p:sp>
      <p:sp>
        <p:nvSpPr>
          <p:cNvPr id="4" name="Shape 2"/>
          <p:cNvSpPr/>
          <p:nvPr/>
        </p:nvSpPr>
        <p:spPr>
          <a:xfrm>
            <a:off x="815975" y="1989404"/>
            <a:ext cx="3346450" cy="2613025"/>
          </a:xfrm>
          <a:prstGeom prst="roundRect">
            <a:avLst>
              <a:gd name="adj" fmla="val 4739"/>
            </a:avLst>
          </a:prstGeom>
          <a:solidFill>
            <a:srgbClr val="FFFFFF"/>
          </a:solidFill>
          <a:ln w="6350">
            <a:solidFill>
              <a:srgbClr val="D5DEE8"/>
            </a:solidFill>
            <a:prstDash val="solid"/>
          </a:ln>
        </p:spPr>
      </p:sp>
      <p:sp>
        <p:nvSpPr>
          <p:cNvPr id="5" name="Text 3"/>
          <p:cNvSpPr/>
          <p:nvPr/>
        </p:nvSpPr>
        <p:spPr>
          <a:xfrm>
            <a:off x="1071033" y="2244465"/>
            <a:ext cx="2921423"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A37"/>
                </a:solidFill>
                <a:latin typeface="DM Sans" pitchFamily="34" charset="0"/>
                <a:ea typeface="DM Sans" pitchFamily="34" charset="-122"/>
                <a:cs typeface="DM Sans" pitchFamily="34" charset="-120"/>
              </a:rPr>
              <a:t>Q1. What is printed?</a:t>
            </a:r>
            <a:endParaRPr lang="en-US" sz="1800" dirty="0"/>
          </a:p>
        </p:txBody>
      </p:sp>
      <p:sp>
        <p:nvSpPr>
          <p:cNvPr id="6" name="Text 4"/>
          <p:cNvSpPr/>
          <p:nvPr/>
        </p:nvSpPr>
        <p:spPr>
          <a:xfrm>
            <a:off x="1071033" y="2671167"/>
            <a:ext cx="2836333" cy="1412081"/>
          </a:xfrm>
          <a:prstGeom prst="roundRect">
            <a:avLst>
              <a:gd name="adj" fmla="val 6296"/>
            </a:avLst>
          </a:prstGeom>
          <a:solidFill>
            <a:srgbClr val="1F2A37"/>
          </a:solidFill>
          <a:ln/>
        </p:spPr>
        <p:txBody>
          <a:bodyPr wrap="square" lIns="177162" tIns="151762" rIns="104264" bIns="126362" rtlCol="0" anchor="t">
            <a:normAutofit/>
          </a:bodyPr>
          <a:lstStyle/>
          <a:p>
            <a:pPr algn="l" indent="0" marL="0">
              <a:lnSpc>
                <a:spcPts val="2080"/>
              </a:lnSpc>
              <a:buNone/>
            </a:pPr>
            <a:r>
              <a:rPr lang="en-US" sz="1300" dirty="0">
                <a:solidFill>
                  <a:srgbClr val="8EC1F0"/>
                </a:solidFill>
                <a:latin typeface="JetBrains Mono" pitchFamily="49" charset="0"/>
                <a:ea typeface="JetBrains Mono" pitchFamily="49" charset="-122"/>
                <a:cs typeface="JetBrains Mono" pitchFamily="49" charset="-120"/>
              </a:rPr>
              <a:t>def</a:t>
            </a:r>
            <a:r>
              <a:rPr lang="en-US" sz="1300" dirty="0">
                <a:solidFill>
                  <a:srgbClr val="E8EDF3"/>
                </a:solidFill>
                <a:latin typeface="JetBrains Mono" pitchFamily="49" charset="0"/>
                <a:ea typeface="JetBrains Mono" pitchFamily="49" charset="-122"/>
                <a:cs typeface="JetBrains Mono" pitchFamily="49" charset="-120"/>
              </a:rPr>
              <a:t> double(x):</a:t>
            </a:r>
            <a:endParaRPr lang="en-US" sz="1300" dirty="0"/>
          </a:p>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  </a:t>
            </a:r>
            <a:r>
              <a:rPr lang="en-US" sz="1300" dirty="0">
                <a:solidFill>
                  <a:srgbClr val="8EC1F0"/>
                </a:solidFill>
                <a:latin typeface="JetBrains Mono" pitchFamily="49" charset="0"/>
                <a:ea typeface="JetBrains Mono" pitchFamily="49" charset="-122"/>
                <a:cs typeface="JetBrains Mono" pitchFamily="49" charset="-120"/>
              </a:rPr>
              <a:t>return</a:t>
            </a:r>
            <a:r>
              <a:rPr lang="en-US" sz="1300" dirty="0">
                <a:solidFill>
                  <a:srgbClr val="E8EDF3"/>
                </a:solidFill>
                <a:latin typeface="JetBrains Mono" pitchFamily="49" charset="0"/>
                <a:ea typeface="JetBrains Mono" pitchFamily="49" charset="-122"/>
                <a:cs typeface="JetBrains Mono" pitchFamily="49" charset="-120"/>
              </a:rPr>
              <a:t> x * 2</a:t>
            </a:r>
            <a:endParaRPr lang="en-US" sz="1300" dirty="0"/>
          </a:p>
          <a:p>
            <a:pPr algn="l" indent="0" marL="0">
              <a:lnSpc>
                <a:spcPts val="2080"/>
              </a:lnSpc>
              <a:buNone/>
            </a:pPr>
            <a:endParaRPr lang="en-US" sz="1300" dirty="0"/>
          </a:p>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print(double(double(3)))</a:t>
            </a:r>
            <a:endParaRPr lang="en-US" sz="1300" dirty="0"/>
          </a:p>
        </p:txBody>
      </p:sp>
      <p:sp>
        <p:nvSpPr>
          <p:cNvPr id="7" name="Shape 5"/>
          <p:cNvSpPr/>
          <p:nvPr/>
        </p:nvSpPr>
        <p:spPr>
          <a:xfrm>
            <a:off x="4422775" y="1989404"/>
            <a:ext cx="3346450" cy="2613025"/>
          </a:xfrm>
          <a:prstGeom prst="roundRect">
            <a:avLst>
              <a:gd name="adj" fmla="val 4739"/>
            </a:avLst>
          </a:prstGeom>
          <a:solidFill>
            <a:srgbClr val="FFFFFF"/>
          </a:solidFill>
          <a:ln w="6350">
            <a:solidFill>
              <a:srgbClr val="D5DEE8"/>
            </a:solidFill>
            <a:prstDash val="solid"/>
          </a:ln>
        </p:spPr>
      </p:sp>
      <p:sp>
        <p:nvSpPr>
          <p:cNvPr id="8" name="Text 6"/>
          <p:cNvSpPr/>
          <p:nvPr/>
        </p:nvSpPr>
        <p:spPr>
          <a:xfrm>
            <a:off x="4677833" y="2244465"/>
            <a:ext cx="2921423"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A37"/>
                </a:solidFill>
                <a:latin typeface="DM Sans" pitchFamily="34" charset="0"/>
                <a:ea typeface="DM Sans" pitchFamily="34" charset="-122"/>
                <a:cs typeface="DM Sans" pitchFamily="34" charset="-120"/>
              </a:rPr>
              <a:t>Q2. Why None?</a:t>
            </a:r>
            <a:endParaRPr lang="en-US" sz="1800" dirty="0"/>
          </a:p>
        </p:txBody>
      </p:sp>
      <p:sp>
        <p:nvSpPr>
          <p:cNvPr id="9" name="Text 7"/>
          <p:cNvSpPr/>
          <p:nvPr/>
        </p:nvSpPr>
        <p:spPr>
          <a:xfrm>
            <a:off x="4677833" y="2671167"/>
            <a:ext cx="2836333" cy="1676202"/>
          </a:xfrm>
          <a:prstGeom prst="roundRect">
            <a:avLst>
              <a:gd name="adj" fmla="val 5304"/>
            </a:avLst>
          </a:prstGeom>
          <a:solidFill>
            <a:srgbClr val="1F2A37"/>
          </a:solidFill>
          <a:ln/>
        </p:spPr>
        <p:txBody>
          <a:bodyPr wrap="square" lIns="177162" tIns="151762" rIns="104264" bIns="126362" rtlCol="0" anchor="t">
            <a:normAutofit/>
          </a:bodyPr>
          <a:lstStyle/>
          <a:p>
            <a:pPr algn="l" indent="0" marL="0">
              <a:lnSpc>
                <a:spcPts val="2080"/>
              </a:lnSpc>
              <a:buNone/>
            </a:pPr>
            <a:r>
              <a:rPr lang="en-US" sz="1300" dirty="0">
                <a:solidFill>
                  <a:srgbClr val="8EC1F0"/>
                </a:solidFill>
                <a:latin typeface="JetBrains Mono" pitchFamily="49" charset="0"/>
                <a:ea typeface="JetBrains Mono" pitchFamily="49" charset="-122"/>
                <a:cs typeface="JetBrains Mono" pitchFamily="49" charset="-120"/>
              </a:rPr>
              <a:t>def</a:t>
            </a:r>
            <a:r>
              <a:rPr lang="en-US" sz="1300" dirty="0">
                <a:solidFill>
                  <a:srgbClr val="E8EDF3"/>
                </a:solidFill>
                <a:latin typeface="JetBrains Mono" pitchFamily="49" charset="0"/>
                <a:ea typeface="JetBrains Mono" pitchFamily="49" charset="-122"/>
                <a:cs typeface="JetBrains Mono" pitchFamily="49" charset="-120"/>
              </a:rPr>
              <a:t> square(x):</a:t>
            </a:r>
            <a:endParaRPr lang="en-US" sz="1300" dirty="0"/>
          </a:p>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  print(x * x)</a:t>
            </a:r>
            <a:endParaRPr lang="en-US" sz="1300" dirty="0"/>
          </a:p>
          <a:p>
            <a:pPr algn="l" indent="0" marL="0">
              <a:lnSpc>
                <a:spcPts val="2080"/>
              </a:lnSpc>
              <a:buNone/>
            </a:pPr>
            <a:endParaRPr lang="en-US" sz="1300" dirty="0"/>
          </a:p>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r = square(4)</a:t>
            </a:r>
            <a:endParaRPr lang="en-US" sz="1300" dirty="0"/>
          </a:p>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print(r)</a:t>
            </a:r>
            <a:endParaRPr lang="en-US" sz="1300" dirty="0"/>
          </a:p>
        </p:txBody>
      </p:sp>
      <p:sp>
        <p:nvSpPr>
          <p:cNvPr id="10" name="Shape 8"/>
          <p:cNvSpPr/>
          <p:nvPr/>
        </p:nvSpPr>
        <p:spPr>
          <a:xfrm>
            <a:off x="8029575" y="1989404"/>
            <a:ext cx="3346450" cy="2613025"/>
          </a:xfrm>
          <a:prstGeom prst="roundRect">
            <a:avLst>
              <a:gd name="adj" fmla="val 4739"/>
            </a:avLst>
          </a:prstGeom>
          <a:solidFill>
            <a:srgbClr val="FFFFFF"/>
          </a:solidFill>
          <a:ln w="6350">
            <a:solidFill>
              <a:srgbClr val="D5DEE8"/>
            </a:solidFill>
            <a:prstDash val="solid"/>
          </a:ln>
        </p:spPr>
      </p:sp>
      <p:sp>
        <p:nvSpPr>
          <p:cNvPr id="11" name="Text 9"/>
          <p:cNvSpPr/>
          <p:nvPr/>
        </p:nvSpPr>
        <p:spPr>
          <a:xfrm>
            <a:off x="8284634" y="2244465"/>
            <a:ext cx="2921423"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A37"/>
                </a:solidFill>
                <a:latin typeface="DM Sans" pitchFamily="34" charset="0"/>
                <a:ea typeface="DM Sans" pitchFamily="34" charset="-122"/>
                <a:cs typeface="DM Sans" pitchFamily="34" charset="-120"/>
              </a:rPr>
              <a:t>Q3. What is printed?</a:t>
            </a:r>
            <a:endParaRPr lang="en-US" sz="1800" dirty="0"/>
          </a:p>
        </p:txBody>
      </p:sp>
      <p:sp>
        <p:nvSpPr>
          <p:cNvPr id="12" name="Text 10"/>
          <p:cNvSpPr/>
          <p:nvPr/>
        </p:nvSpPr>
        <p:spPr>
          <a:xfrm>
            <a:off x="8284634" y="2671167"/>
            <a:ext cx="2836333" cy="1412081"/>
          </a:xfrm>
          <a:prstGeom prst="roundRect">
            <a:avLst>
              <a:gd name="adj" fmla="val 6296"/>
            </a:avLst>
          </a:prstGeom>
          <a:solidFill>
            <a:srgbClr val="1F2A37"/>
          </a:solidFill>
          <a:ln/>
        </p:spPr>
        <p:txBody>
          <a:bodyPr wrap="square" lIns="177162" tIns="151762" rIns="104264" bIns="126362" rtlCol="0" anchor="t">
            <a:normAutofit/>
          </a:bodyPr>
          <a:lstStyle/>
          <a:p>
            <a:pPr algn="l" indent="0" marL="0">
              <a:lnSpc>
                <a:spcPts val="2080"/>
              </a:lnSpc>
              <a:buNone/>
            </a:pPr>
            <a:r>
              <a:rPr lang="en-US" sz="1300" dirty="0">
                <a:solidFill>
                  <a:srgbClr val="8EC1F0"/>
                </a:solidFill>
                <a:latin typeface="JetBrains Mono" pitchFamily="49" charset="0"/>
                <a:ea typeface="JetBrains Mono" pitchFamily="49" charset="-122"/>
                <a:cs typeface="JetBrains Mono" pitchFamily="49" charset="-120"/>
              </a:rPr>
              <a:t>def</a:t>
            </a:r>
            <a:r>
              <a:rPr lang="en-US" sz="1300" dirty="0">
                <a:solidFill>
                  <a:srgbClr val="E8EDF3"/>
                </a:solidFill>
                <a:latin typeface="JetBrains Mono" pitchFamily="49" charset="0"/>
                <a:ea typeface="JetBrains Mono" pitchFamily="49" charset="-122"/>
                <a:cs typeface="JetBrains Mono" pitchFamily="49" charset="-120"/>
              </a:rPr>
              <a:t> hi(n=</a:t>
            </a:r>
            <a:r>
              <a:rPr lang="en-US" sz="1300" dirty="0">
                <a:solidFill>
                  <a:srgbClr val="F2C94C"/>
                </a:solidFill>
                <a:latin typeface="JetBrains Mono" pitchFamily="49" charset="0"/>
                <a:ea typeface="JetBrains Mono" pitchFamily="49" charset="-122"/>
                <a:cs typeface="JetBrains Mono" pitchFamily="49" charset="-120"/>
              </a:rPr>
              <a:t>"friend"</a:t>
            </a:r>
            <a:r>
              <a:rPr lang="en-US" sz="1300" dirty="0">
                <a:solidFill>
                  <a:srgbClr val="E8EDF3"/>
                </a:solidFill>
                <a:latin typeface="JetBrains Mono" pitchFamily="49" charset="0"/>
                <a:ea typeface="JetBrains Mono" pitchFamily="49" charset="-122"/>
                <a:cs typeface="JetBrains Mono" pitchFamily="49" charset="-120"/>
              </a:rPr>
              <a:t>):</a:t>
            </a:r>
            <a:endParaRPr lang="en-US" sz="1300" dirty="0"/>
          </a:p>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  </a:t>
            </a:r>
            <a:r>
              <a:rPr lang="en-US" sz="1300" dirty="0">
                <a:solidFill>
                  <a:srgbClr val="8EC1F0"/>
                </a:solidFill>
                <a:latin typeface="JetBrains Mono" pitchFamily="49" charset="0"/>
                <a:ea typeface="JetBrains Mono" pitchFamily="49" charset="-122"/>
                <a:cs typeface="JetBrains Mono" pitchFamily="49" charset="-120"/>
              </a:rPr>
              <a:t>return</a:t>
            </a:r>
            <a:r>
              <a:rPr lang="en-US" sz="1300" dirty="0">
                <a:solidFill>
                  <a:srgbClr val="E8EDF3"/>
                </a:solidFill>
                <a:latin typeface="JetBrains Mono" pitchFamily="49" charset="0"/>
                <a:ea typeface="JetBrains Mono" pitchFamily="49" charset="-122"/>
                <a:cs typeface="JetBrains Mono" pitchFamily="49" charset="-120"/>
              </a:rPr>
              <a:t> </a:t>
            </a:r>
            <a:r>
              <a:rPr lang="en-US" sz="1300" dirty="0">
                <a:solidFill>
                  <a:srgbClr val="F2C94C"/>
                </a:solidFill>
                <a:latin typeface="JetBrains Mono" pitchFamily="49" charset="0"/>
                <a:ea typeface="JetBrains Mono" pitchFamily="49" charset="-122"/>
                <a:cs typeface="JetBrains Mono" pitchFamily="49" charset="-120"/>
              </a:rPr>
              <a:t>"Hi "</a:t>
            </a:r>
            <a:r>
              <a:rPr lang="en-US" sz="1300" dirty="0">
                <a:solidFill>
                  <a:srgbClr val="E8EDF3"/>
                </a:solidFill>
                <a:latin typeface="JetBrains Mono" pitchFamily="49" charset="0"/>
                <a:ea typeface="JetBrains Mono" pitchFamily="49" charset="-122"/>
                <a:cs typeface="JetBrains Mono" pitchFamily="49" charset="-120"/>
              </a:rPr>
              <a:t> + n</a:t>
            </a:r>
            <a:endParaRPr lang="en-US" sz="1300" dirty="0"/>
          </a:p>
          <a:p>
            <a:pPr algn="l" indent="0" marL="0">
              <a:lnSpc>
                <a:spcPts val="2080"/>
              </a:lnSpc>
              <a:buNone/>
            </a:pPr>
            <a:endParaRPr lang="en-US" sz="1300" dirty="0"/>
          </a:p>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print(hi())</a:t>
            </a:r>
            <a:endParaRPr lang="en-US" sz="1300" dirty="0"/>
          </a:p>
        </p:txBody>
      </p:sp>
      <p:sp>
        <p:nvSpPr>
          <p:cNvPr id="13"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8: functions</a:t>
            </a:r>
            <a:endParaRPr lang="en-US" sz="120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SUMMARY</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What we learned today</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129"/>
          <a:ext cx="10553700" cy="3075384"/>
        </p:xfrm>
        <a:graphic>
          <a:graphicData uri="http://schemas.openxmlformats.org/drawingml/2006/table">
            <a:tbl>
              <a:tblPr/>
              <a:tblGrid>
                <a:gridCol w="4432554"/>
                <a:gridCol w="6121146"/>
              </a:tblGrid>
              <a:tr h="439341">
                <a:tc>
                  <a:txBody>
                    <a:bodyPr/>
                    <a:lstStyle/>
                    <a:p>
                      <a:pPr indent="0" marL="0">
                        <a:lnSpc>
                          <a:spcPts val="2240"/>
                        </a:lnSpc>
                        <a:buNone/>
                      </a:pPr>
                      <a:r>
                        <a:rPr lang="en-US" sz="1600" b="1" dirty="0">
                          <a:solidFill>
                            <a:srgbClr val="1F2A37"/>
                          </a:solidFill>
                          <a:latin typeface="DM Sans" pitchFamily="34" charset="0"/>
                          <a:ea typeface="DM Sans" pitchFamily="34" charset="-122"/>
                          <a:cs typeface="DM Sans" pitchFamily="34" charset="-120"/>
                        </a:rPr>
                        <a:t>Code</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indent="0" marL="0">
                        <a:lnSpc>
                          <a:spcPts val="2240"/>
                        </a:lnSpc>
                        <a:buNone/>
                      </a:pPr>
                      <a:r>
                        <a:rPr lang="en-US" sz="1600" b="1" dirty="0">
                          <a:solidFill>
                            <a:srgbClr val="1F2A37"/>
                          </a:solidFill>
                          <a:latin typeface="DM Sans" pitchFamily="34" charset="0"/>
                          <a:ea typeface="DM Sans" pitchFamily="34" charset="-122"/>
                          <a:cs typeface="DM Sans" pitchFamily="34" charset="-120"/>
                        </a:rPr>
                        <a:t>Meaning</a:t>
                      </a:r>
                      <a:endParaRPr lang="en-US" sz="1600" dirty="0">
                        <a:latin typeface="DM Sans" charset="0"/>
                        <a:ea typeface="DM Sans" charset="0"/>
                        <a:cs typeface="DM Sans" charset="0"/>
                      </a:endParaRPr>
                    </a:p>
                  </a:txBody>
                  <a:tcPr marL="71120" marR="71120" marT="71120" marB="71120"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def greet():</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define a function</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greet()</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call (run) it</a:t>
                      </a:r>
                      <a:endParaRPr lang="en-US" sz="1600" dirty="0">
                        <a:latin typeface="DM Sans" charset="0"/>
                        <a:ea typeface="DM Sans" charset="0"/>
                        <a:cs typeface="DM Sans" charset="0"/>
                      </a:endParaRPr>
                    </a:p>
                  </a:txBody>
                  <a:tcPr marL="71120" marR="71120" marT="71120" marB="7112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def greet(name):</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a parameter</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def greet(name="friend"):</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a default value</a:t>
                      </a:r>
                      <a:endParaRPr lang="en-US" sz="1600" dirty="0">
                        <a:latin typeface="DM Sans" charset="0"/>
                        <a:ea typeface="DM Sans" charset="0"/>
                        <a:cs typeface="DM Sans" charset="0"/>
                      </a:endParaRPr>
                    </a:p>
                  </a:txBody>
                  <a:tcPr marL="71120" marR="71120" marT="71120" marB="7112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return a + b</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give back a result</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no return</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the function gives back None</a:t>
                      </a:r>
                      <a:endParaRPr lang="en-US" sz="1600" dirty="0">
                        <a:latin typeface="DM Sans" charset="0"/>
                        <a:ea typeface="DM Sans" charset="0"/>
                        <a:cs typeface="DM Sans" charset="0"/>
                      </a:endParaRPr>
                    </a:p>
                  </a:txBody>
                  <a:tcPr marL="71120" marR="71120" marT="71120" marB="7112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r>
            </a:tbl>
          </a:graphicData>
        </a:graphic>
      </p:graphicFrame>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8: functions</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3776AB"/>
          </a:solidFill>
          <a:ln/>
        </p:spPr>
      </p:sp>
      <p:sp>
        <p:nvSpPr>
          <p:cNvPr id="3" name="Text 1"/>
          <p:cNvSpPr/>
          <p:nvPr/>
        </p:nvSpPr>
        <p:spPr>
          <a:xfrm>
            <a:off x="812800" y="2467639"/>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 YOUR TURN</a:t>
            </a:r>
            <a:endParaRPr lang="en-US" sz="1200" dirty="0"/>
          </a:p>
        </p:txBody>
      </p:sp>
      <p:sp>
        <p:nvSpPr>
          <p:cNvPr id="4" name="Text 2"/>
          <p:cNvSpPr/>
          <p:nvPr>
            <p:ph type="title"/>
          </p:nvPr>
        </p:nvSpPr>
        <p:spPr>
          <a:xfrm>
            <a:off x="812800" y="2884159"/>
            <a:ext cx="5127752" cy="665427"/>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F2A37"/>
                </a:solidFill>
                <a:latin typeface="DM Sans" pitchFamily="34" charset="0"/>
                <a:ea typeface="DM Sans" pitchFamily="34" charset="-122"/>
                <a:cs typeface="DM Sans" pitchFamily="34" charset="-120"/>
              </a:rPr>
              <a:t>Practice time!</a:t>
            </a:r>
            <a:endParaRPr lang="en-US" sz="4800" dirty="0"/>
          </a:p>
        </p:txBody>
      </p:sp>
      <p:sp>
        <p:nvSpPr>
          <p:cNvPr id="5" name="Text 3"/>
          <p:cNvSpPr/>
          <p:nvPr/>
        </p:nvSpPr>
        <p:spPr>
          <a:xfrm>
            <a:off x="812800" y="3727388"/>
            <a:ext cx="5127752" cy="688314"/>
          </a:xfrm>
          <a:prstGeom prst="rect">
            <a:avLst/>
          </a:prstGeom>
          <a:noFill/>
          <a:ln/>
        </p:spPr>
        <p:txBody>
          <a:bodyPr wrap="square" lIns="0" tIns="0" rIns="0" bIns="0" rtlCol="0" anchor="t">
            <a:normAutofit/>
          </a:bodyPr>
          <a:lstStyle/>
          <a:p>
            <a:pPr algn="l" indent="0" marL="0">
              <a:lnSpc>
                <a:spcPts val="2610"/>
              </a:lnSpc>
              <a:buNone/>
            </a:pPr>
            <a:r>
              <a:rPr lang="en-US" sz="1800" dirty="0">
                <a:solidFill>
                  <a:srgbClr val="4A5568"/>
                </a:solidFill>
                <a:latin typeface="DM Sans" pitchFamily="34" charset="0"/>
                <a:ea typeface="DM Sans" pitchFamily="34" charset="-122"/>
                <a:cs typeface="DM Sans" pitchFamily="34" charset="-120"/>
              </a:rPr>
              <a:t>Open </a:t>
            </a:r>
            <a:r>
              <a:rPr lang="en-US" sz="1800" b="1" dirty="0">
                <a:solidFill>
                  <a:srgbClr val="4A5568"/>
                </a:solidFill>
                <a:latin typeface="DM Sans" pitchFamily="34" charset="0"/>
                <a:ea typeface="DM Sans" pitchFamily="34" charset="-122"/>
                <a:cs typeface="DM Sans" pitchFamily="34" charset="-120"/>
              </a:rPr>
              <a:t>exercises.ipynb</a:t>
            </a:r>
            <a:r>
              <a:rPr lang="en-US" sz="1800" dirty="0">
                <a:solidFill>
                  <a:srgbClr val="4A5568"/>
                </a:solidFill>
                <a:latin typeface="DM Sans" pitchFamily="34" charset="0"/>
                <a:ea typeface="DM Sans" pitchFamily="34" charset="-122"/>
                <a:cs typeface="DM Sans" pitchFamily="34" charset="-120"/>
              </a:rPr>
              <a:t> in the Day 8 folder and solve the 10 tasks, from ⭐ to ⭐⭐⭐.</a:t>
            </a:r>
            <a:endParaRPr lang="en-US" sz="1800" dirty="0"/>
          </a:p>
        </p:txBody>
      </p:sp>
      <p:sp>
        <p:nvSpPr>
          <p:cNvPr id="6" name="Text 4"/>
          <p:cNvSpPr/>
          <p:nvPr/>
        </p:nvSpPr>
        <p:spPr>
          <a:xfrm>
            <a:off x="6403975" y="1910823"/>
            <a:ext cx="4972050" cy="642144"/>
          </a:xfrm>
          <a:prstGeom prst="roundRect">
            <a:avLst>
              <a:gd name="adj" fmla="val 15328"/>
            </a:avLst>
          </a:prstGeom>
          <a:solidFill>
            <a:srgbClr val="FFFFFF"/>
          </a:solidFill>
          <a:ln w="6350">
            <a:solidFill>
              <a:srgbClr val="D5DEE8"/>
            </a:solidFill>
            <a:prstDash val="solid"/>
          </a:ln>
        </p:spPr>
        <p:txBody>
          <a:bodyPr wrap="square" lIns="200831" tIns="150031" rIns="65449" bIns="124631" rtlCol="0" anchor="t">
            <a:normAutofit/>
          </a:bodyPr>
          <a:lstStyle/>
          <a:p>
            <a:pPr algn="l" indent="0" marL="0">
              <a:lnSpc>
                <a:spcPts val="2240"/>
              </a:lnSpc>
              <a:buNone/>
            </a:pPr>
            <a:r>
              <a:rPr lang="en-US" sz="1600" dirty="0">
                <a:solidFill>
                  <a:srgbClr val="1F2A37"/>
                </a:solidFill>
                <a:latin typeface="DM Sans" pitchFamily="34" charset="0"/>
                <a:ea typeface="DM Sans" pitchFamily="34" charset="-122"/>
                <a:cs typeface="DM Sans" pitchFamily="34" charset="-120"/>
              </a:rPr>
              <a:t>⭐ square(n) and birthday wishes</a:t>
            </a:r>
            <a:endParaRPr lang="en-US" sz="1600" dirty="0"/>
          </a:p>
        </p:txBody>
      </p:sp>
      <p:sp>
        <p:nvSpPr>
          <p:cNvPr id="7" name="Text 5"/>
          <p:cNvSpPr/>
          <p:nvPr/>
        </p:nvSpPr>
        <p:spPr>
          <a:xfrm>
            <a:off x="6403975" y="2711717"/>
            <a:ext cx="4972050" cy="642144"/>
          </a:xfrm>
          <a:prstGeom prst="roundRect">
            <a:avLst>
              <a:gd name="adj" fmla="val 15328"/>
            </a:avLst>
          </a:prstGeom>
          <a:solidFill>
            <a:srgbClr val="FFFFFF"/>
          </a:solidFill>
          <a:ln w="6350">
            <a:solidFill>
              <a:srgbClr val="D5DEE8"/>
            </a:solidFill>
            <a:prstDash val="solid"/>
          </a:ln>
        </p:spPr>
        <p:txBody>
          <a:bodyPr wrap="square" lIns="200831" tIns="150031" rIns="65449" bIns="124631" rtlCol="0" anchor="t">
            <a:normAutofit/>
          </a:bodyPr>
          <a:lstStyle/>
          <a:p>
            <a:pPr algn="l" indent="0" marL="0">
              <a:lnSpc>
                <a:spcPts val="2240"/>
              </a:lnSpc>
              <a:buNone/>
            </a:pPr>
            <a:r>
              <a:rPr lang="en-US" sz="1600" dirty="0">
                <a:solidFill>
                  <a:srgbClr val="1F2A37"/>
                </a:solidFill>
                <a:latin typeface="DM Sans" pitchFamily="34" charset="0"/>
                <a:ea typeface="DM Sans" pitchFamily="34" charset="-122"/>
                <a:cs typeface="DM Sans" pitchFamily="34" charset="-120"/>
              </a:rPr>
              <a:t>⭐⭐ Temperature converter</a:t>
            </a:r>
            <a:endParaRPr lang="en-US" sz="1600" dirty="0"/>
          </a:p>
        </p:txBody>
      </p:sp>
      <p:sp>
        <p:nvSpPr>
          <p:cNvPr id="8" name="Text 6"/>
          <p:cNvSpPr/>
          <p:nvPr/>
        </p:nvSpPr>
        <p:spPr>
          <a:xfrm>
            <a:off x="6403975" y="3512610"/>
            <a:ext cx="4972050" cy="642144"/>
          </a:xfrm>
          <a:prstGeom prst="roundRect">
            <a:avLst>
              <a:gd name="adj" fmla="val 15328"/>
            </a:avLst>
          </a:prstGeom>
          <a:solidFill>
            <a:srgbClr val="FFFFFF"/>
          </a:solidFill>
          <a:ln w="6350">
            <a:solidFill>
              <a:srgbClr val="D5DEE8"/>
            </a:solidFill>
            <a:prstDash val="solid"/>
          </a:ln>
        </p:spPr>
        <p:txBody>
          <a:bodyPr wrap="square" lIns="200831" tIns="150031" rIns="65449" bIns="124631" rtlCol="0" anchor="t">
            <a:normAutofit/>
          </a:bodyPr>
          <a:lstStyle/>
          <a:p>
            <a:pPr algn="l" indent="0" marL="0">
              <a:lnSpc>
                <a:spcPts val="2240"/>
              </a:lnSpc>
              <a:buNone/>
            </a:pPr>
            <a:r>
              <a:rPr lang="en-US" sz="1600" dirty="0">
                <a:solidFill>
                  <a:srgbClr val="1F2A37"/>
                </a:solidFill>
                <a:latin typeface="DM Sans" pitchFamily="34" charset="0"/>
                <a:ea typeface="DM Sans" pitchFamily="34" charset="-122"/>
                <a:cs typeface="DM Sans" pitchFamily="34" charset="-120"/>
              </a:rPr>
              <a:t>⭐⭐⭐ Report card 📄</a:t>
            </a:r>
            <a:endParaRPr lang="en-US" sz="1600" dirty="0"/>
          </a:p>
        </p:txBody>
      </p:sp>
      <p:sp>
        <p:nvSpPr>
          <p:cNvPr id="9" name="Text 7"/>
          <p:cNvSpPr/>
          <p:nvPr/>
        </p:nvSpPr>
        <p:spPr>
          <a:xfrm>
            <a:off x="6400800" y="4310329"/>
            <a:ext cx="4978400" cy="640027"/>
          </a:xfrm>
          <a:prstGeom prst="roundRect">
            <a:avLst>
              <a:gd name="adj" fmla="val 15874"/>
            </a:avLst>
          </a:prstGeom>
          <a:solidFill>
            <a:srgbClr val="E3ECF6"/>
          </a:solidFill>
          <a:ln/>
        </p:spPr>
        <p:txBody>
          <a:bodyPr wrap="square" lIns="198842" tIns="148042" rIns="63206" bIns="122642" rtlCol="0" anchor="t">
            <a:normAutofit/>
          </a:bodyPr>
          <a:lstStyle/>
          <a:p>
            <a:pPr algn="l" indent="0" marL="0">
              <a:lnSpc>
                <a:spcPts val="2240"/>
              </a:lnSpc>
              <a:buNone/>
            </a:pPr>
            <a:r>
              <a:rPr lang="en-US" sz="1600" b="1" dirty="0">
                <a:solidFill>
                  <a:srgbClr val="1F2A37"/>
                </a:solidFill>
                <a:latin typeface="DM Sans" pitchFamily="34" charset="0"/>
                <a:ea typeface="DM Sans" pitchFamily="34" charset="-122"/>
                <a:cs typeface="DM Sans" pitchFamily="34" charset="-120"/>
              </a:rPr>
              <a:t>Next lesson:</a:t>
            </a:r>
            <a:r>
              <a:rPr lang="en-US" sz="1600" dirty="0">
                <a:solidFill>
                  <a:srgbClr val="1F2A37"/>
                </a:solidFill>
                <a:latin typeface="DM Sans" pitchFamily="34" charset="0"/>
                <a:ea typeface="DM Sans" pitchFamily="34" charset="-122"/>
                <a:cs typeface="DM Sans" pitchFamily="34" charset="-120"/>
              </a:rPr>
              <a:t> Dictionaries &amp; tuples 🗂️</a:t>
            </a:r>
            <a:endParaRPr lang="en-US" sz="1600" dirty="0"/>
          </a:p>
        </p:txBody>
      </p:sp>
    </p:spTree>
  </p:cSld>
  <p:clrMapOvr>
    <a:masterClrMapping/>
  </p:clrMapOvr>
</p:sld>
</file>

<file path=ppt/theme/theme1.xml><?xml version="1.0" encoding="utf-8"?>
<a:theme xmlns:a="http://schemas.openxmlformats.org/drawingml/2006/main" name="Day 8 — Functions">
  <a:themeElements>
    <a:clrScheme name="Day 8 — Functions">
      <a:dk1>
        <a:srgbClr val="1F2A37"/>
      </a:dk1>
      <a:lt1>
        <a:srgbClr val="FAF9F6"/>
      </a:lt1>
      <a:dk2>
        <a:srgbClr val="565E67"/>
      </a:dk2>
      <a:lt2>
        <a:srgbClr val="E4E4E3"/>
      </a:lt2>
      <a:accent1>
        <a:srgbClr val="3776AB"/>
      </a:accent1>
      <a:accent2>
        <a:srgbClr val="2F5F8A"/>
      </a:accent2>
      <a:accent3>
        <a:srgbClr val="4A5568"/>
      </a:accent3>
      <a:accent4>
        <a:srgbClr val="8A94A3"/>
      </a:accent4>
      <a:accent5>
        <a:srgbClr val="CFE0F1"/>
      </a:accent5>
      <a:accent6>
        <a:srgbClr val="9AA0A6"/>
      </a:accent6>
      <a:hlink>
        <a:srgbClr val="0563C1"/>
      </a:hlink>
      <a:folHlink>
        <a:srgbClr val="954F72"/>
      </a:folHlink>
    </a:clrScheme>
    <a:fontScheme name="Day 8 — Functions">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8 — Functions</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2026-10-24T05:10:05Z</dcterms:created>
  <dcterms:modified xsi:type="dcterms:W3CDTF">2026-10-24T05:10:05Z</dcterms:modified>
</cp:coreProperties>
</file>