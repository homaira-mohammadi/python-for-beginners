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embeddedFontLst>
    <p:embeddedFont>
      <p:font typeface="DM Sans" pitchFamily="34" charset="0"/>
      <p:regular r:id="rId23"/>
      <p:bold r:id="rId24"/>
    </p:embeddedFont>
    <p:embeddedFont>
      <p:font typeface="JetBrains Mono" panose="02000009000000000000" pitchFamily="49" charset="0"/>
      <p:regular r:id="rId25"/>
      <p:bold r:id="rId2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font" Target="fonts/font1.fntdata"/><Relationship Id="rId24" Type="http://schemas.openxmlformats.org/officeDocument/2006/relationships/font" Target="fonts/font2.fntdata"/><Relationship Id="rId25" Type="http://schemas.openxmlformats.org/officeDocument/2006/relationships/font" Target="fonts/font3.fntdata"/><Relationship Id="rId26"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Today we teach Python to repeat things. Ask: has anyone ever had to do the same task again and again? That's what loops are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together. Point out the last one: by the end of class, the game from Day 3 will let the player keep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does this code print? (Pass.) Then highlight the last line: everything we wrote so far runs only once. What if we need to repeat?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loop repeats code for us. Programmers follow the DRY rule: Don't Repeat Yourself. Python has two kinds of loops: while (today) and for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with if: if checks once. while checks, runs the block, then goes back and checks again. It only stops when the condition becomes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Live-code this one. Then ask: what happens if we change 5 to 10? What if we start count at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table slowly. Students can trace it on paper. The key moment is the last row: count is 6, so the condition is False and Python leaves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 += 1 is the short way to write count = count + 1 (from Day 2). Ask: which part do you think people forget most often? (The update!) That leads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live and let it run for a moment, then press Stop. Students should not be scared of infinite loops: they happen to every programmer. The fix: make sure something inside the loop changes so the condition can become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we start with word = ""? Because the loop checks the condition first, so word must exist before the loop starts. Let students try typing different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only runs while the answer is wrong. A correct answer the first time means the loop never runs at all. Note the use of "or" from Day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True means "loop forever", and break is the way out. A very common pattern. For continue, warn students: the update (n += 1) must come BEFORE continue, or the loop gets stuck.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play in pairs. Ask: what is the smartest first guess? (10, the middle.) The 5-tries challenge is exercise 10 in the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 3 times (i is 0, 1, 2). Q2 = infinite loop, x never changes; add x -= 1. Q3 = 32 (1, 2, 4, 8, 16, 32, and 32 is not less than 20). Give students 1 minute per question, hands up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row in their own words before you read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20–30 minutes. Walk around and help. Remind them about the Stop button if they get stuck in an infinite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9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F2A37"/>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1F2A37"/>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9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F2A37"/>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1F2A37"/>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3776AB"/>
          </a:solidFill>
          <a:ln/>
        </p:spPr>
      </p:sp>
      <p:pic>
        <p:nvPicPr>
          <p:cNvPr id="3" name="Image 0" descr="Python logo">    </p:cNvPr>
          <p:cNvPicPr>
            <a:picLocks noChangeAspect="1"/>
          </p:cNvPicPr>
          <p:nvPr/>
        </p:nvPicPr>
        <p:blipFill>
          <a:blip r:embed="rId1"/>
          <a:srcRect l="0" r="0" t="0" b="0"/>
          <a:stretch/>
        </p:blipFill>
        <p:spPr>
          <a:xfrm>
            <a:off x="812800" y="1557073"/>
            <a:ext cx="1270000" cy="1270000"/>
          </a:xfrm>
          <a:prstGeom prst="rect">
            <a:avLst/>
          </a:prstGeom>
        </p:spPr>
      </p:pic>
      <p:sp>
        <p:nvSpPr>
          <p:cNvPr id="4" name="Text 1"/>
          <p:cNvSpPr/>
          <p:nvPr/>
        </p:nvSpPr>
        <p:spPr>
          <a:xfrm>
            <a:off x="812800" y="3030273"/>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PYTHON FOR BEGINNERS · DAY 4</a:t>
            </a:r>
            <a:endParaRPr lang="en-US" sz="1200" dirty="0"/>
          </a:p>
        </p:txBody>
      </p:sp>
      <p:sp>
        <p:nvSpPr>
          <p:cNvPr id="5" name="Text 2"/>
          <p:cNvSpPr/>
          <p:nvPr>
            <p:ph type="title"/>
          </p:nvPr>
        </p:nvSpPr>
        <p:spPr>
          <a:xfrm>
            <a:off x="812800" y="3446793"/>
            <a:ext cx="512775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1F2A37"/>
                </a:solidFill>
                <a:latin typeface="DM Sans" pitchFamily="34" charset="0"/>
                <a:ea typeface="DM Sans" pitchFamily="34" charset="-122"/>
                <a:cs typeface="DM Sans" pitchFamily="34" charset="-120"/>
              </a:rPr>
              <a:t>While Loops</a:t>
            </a:r>
            <a:endParaRPr lang="en-US" sz="6000" dirty="0"/>
          </a:p>
        </p:txBody>
      </p:sp>
      <p:sp>
        <p:nvSpPr>
          <p:cNvPr id="6" name="Text 3"/>
          <p:cNvSpPr/>
          <p:nvPr/>
        </p:nvSpPr>
        <p:spPr>
          <a:xfrm>
            <a:off x="812800" y="4450093"/>
            <a:ext cx="5127752" cy="388607"/>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4A5568"/>
                </a:solidFill>
                <a:latin typeface="DM Sans" pitchFamily="34" charset="0"/>
                <a:ea typeface="DM Sans" pitchFamily="34" charset="-122"/>
                <a:cs typeface="DM Sans" pitchFamily="34" charset="-120"/>
              </a:rPr>
              <a:t>Making Python repeat things</a:t>
            </a:r>
            <a:endParaRPr lang="en-US" sz="2200" dirty="0"/>
          </a:p>
        </p:txBody>
      </p:sp>
      <p:sp>
        <p:nvSpPr>
          <p:cNvPr id="7" name="Text 4"/>
          <p:cNvSpPr/>
          <p:nvPr/>
        </p:nvSpPr>
        <p:spPr>
          <a:xfrm>
            <a:off x="812800" y="5016500"/>
            <a:ext cx="512775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Instructor: Homaira Mohammadi</a:t>
            </a:r>
            <a:endParaRPr lang="en-US" sz="1600" dirty="0"/>
          </a:p>
        </p:txBody>
      </p:sp>
      <p:sp>
        <p:nvSpPr>
          <p:cNvPr id="8" name="Text 5"/>
          <p:cNvSpPr/>
          <p:nvPr/>
        </p:nvSpPr>
        <p:spPr>
          <a:xfrm>
            <a:off x="6400800" y="1793346"/>
            <a:ext cx="4978400" cy="3271242"/>
          </a:xfrm>
          <a:prstGeom prst="roundRect">
            <a:avLst>
              <a:gd name="adj" fmla="val 4659"/>
            </a:avLst>
          </a:prstGeom>
          <a:solidFill>
            <a:srgbClr val="1F2A37"/>
          </a:solidFill>
          <a:ln/>
          <a:effectLst>
            <a:outerShdw sx="100000" sy="100000" kx="0" ky="0" algn="bl" rotWithShape="0" blurRad="406400" dist="152400" dir="5400000">
              <a:srgbClr val="1F2A37">
                <a:alpha val="18000"/>
              </a:srgbClr>
            </a:outerShdw>
          </a:effectLst>
        </p:spPr>
        <p:txBody>
          <a:bodyPr wrap="square" lIns="361764" tIns="310964" rIns="236796" bIns="285564" rtlCol="0" anchor="t">
            <a:normAutofit/>
          </a:bodyPr>
          <a:lstStyle/>
          <a:p>
            <a:pPr algn="l" indent="0" marL="0">
              <a:lnSpc>
                <a:spcPts val="2880"/>
              </a:lnSpc>
              <a:buNone/>
            </a:pPr>
            <a:r>
              <a:rPr lang="en-US" sz="1800" dirty="0">
                <a:solidFill>
                  <a:srgbClr val="93A1B3"/>
                </a:solidFill>
                <a:latin typeface="JetBrains Mono" pitchFamily="49" charset="0"/>
                <a:ea typeface="JetBrains Mono" pitchFamily="49" charset="-122"/>
                <a:cs typeface="JetBrains Mono" pitchFamily="49" charset="-120"/>
              </a:rPr>
              <a:t># count to 3</a:t>
            </a:r>
            <a:endParaRPr lang="en-US" sz="1800" dirty="0"/>
          </a:p>
          <a:p>
            <a:pPr algn="l" indent="0" marL="0">
              <a:lnSpc>
                <a:spcPts val="2880"/>
              </a:lnSpc>
              <a:buNone/>
            </a:pPr>
            <a:r>
              <a:rPr lang="en-US" sz="1800" dirty="0">
                <a:solidFill>
                  <a:srgbClr val="E8EDF3"/>
                </a:solidFill>
                <a:latin typeface="JetBrains Mono" pitchFamily="49" charset="0"/>
                <a:ea typeface="JetBrains Mono" pitchFamily="49" charset="-122"/>
                <a:cs typeface="JetBrains Mono" pitchFamily="49" charset="-120"/>
              </a:rPr>
              <a:t>count = 1</a:t>
            </a:r>
            <a:endParaRPr lang="en-US" sz="1800" dirty="0"/>
          </a:p>
          <a:p>
            <a:pPr algn="l" indent="0" marL="0">
              <a:lnSpc>
                <a:spcPts val="2880"/>
              </a:lnSpc>
              <a:buNone/>
            </a:pPr>
            <a:r>
              <a:rPr lang="en-US" sz="1800" dirty="0">
                <a:solidFill>
                  <a:srgbClr val="8EC1F0"/>
                </a:solidFill>
                <a:latin typeface="JetBrains Mono" pitchFamily="49" charset="0"/>
                <a:ea typeface="JetBrains Mono" pitchFamily="49" charset="-122"/>
                <a:cs typeface="JetBrains Mono" pitchFamily="49" charset="-120"/>
              </a:rPr>
              <a:t>while</a:t>
            </a:r>
            <a:r>
              <a:rPr lang="en-US" sz="1800" dirty="0">
                <a:solidFill>
                  <a:srgbClr val="E8EDF3"/>
                </a:solidFill>
                <a:latin typeface="JetBrains Mono" pitchFamily="49" charset="0"/>
                <a:ea typeface="JetBrains Mono" pitchFamily="49" charset="-122"/>
                <a:cs typeface="JetBrains Mono" pitchFamily="49" charset="-120"/>
              </a:rPr>
              <a:t> count &lt;= 3:</a:t>
            </a:r>
            <a:endParaRPr lang="en-US" sz="1800" dirty="0"/>
          </a:p>
          <a:p>
            <a:pPr algn="l" indent="0" marL="0">
              <a:lnSpc>
                <a:spcPts val="2880"/>
              </a:lnSpc>
              <a:buNone/>
            </a:pPr>
            <a:r>
              <a:rPr lang="en-US" sz="1800" dirty="0">
                <a:solidFill>
                  <a:srgbClr val="E8EDF3"/>
                </a:solidFill>
                <a:latin typeface="JetBrains Mono" pitchFamily="49" charset="0"/>
                <a:ea typeface="JetBrains Mono" pitchFamily="49" charset="-122"/>
                <a:cs typeface="JetBrains Mono" pitchFamily="49" charset="-120"/>
              </a:rPr>
              <a:t>    print(count)</a:t>
            </a:r>
            <a:endParaRPr lang="en-US" sz="1800" dirty="0"/>
          </a:p>
          <a:p>
            <a:pPr algn="l" indent="0" marL="0">
              <a:lnSpc>
                <a:spcPts val="2880"/>
              </a:lnSpc>
              <a:buNone/>
            </a:pPr>
            <a:r>
              <a:rPr lang="en-US" sz="1800" dirty="0">
                <a:solidFill>
                  <a:srgbClr val="E8EDF3"/>
                </a:solidFill>
                <a:latin typeface="JetBrains Mono" pitchFamily="49" charset="0"/>
                <a:ea typeface="JetBrains Mono" pitchFamily="49" charset="-122"/>
                <a:cs typeface="JetBrains Mono" pitchFamily="49" charset="-120"/>
              </a:rPr>
              <a:t>    count += 1</a:t>
            </a:r>
            <a:endParaRPr lang="en-US" sz="1800" dirty="0"/>
          </a:p>
          <a:p>
            <a:pPr algn="l" indent="0" marL="0">
              <a:lnSpc>
                <a:spcPts val="2880"/>
              </a:lnSpc>
              <a:buNone/>
            </a:pPr>
            <a:endParaRPr lang="en-US" sz="1800" dirty="0"/>
          </a:p>
          <a:p>
            <a:pPr algn="l" indent="0" marL="0">
              <a:lnSpc>
                <a:spcPts val="2880"/>
              </a:lnSpc>
              <a:buNone/>
            </a:pPr>
            <a:r>
              <a:rPr lang="en-US" sz="1800" dirty="0">
                <a:solidFill>
                  <a:srgbClr val="93A1B3"/>
                </a:solidFill>
                <a:latin typeface="JetBrains Mono" pitchFamily="49" charset="0"/>
                <a:ea typeface="JetBrains Mono" pitchFamily="49" charset="-122"/>
                <a:cs typeface="JetBrains Mono" pitchFamily="49" charset="-120"/>
              </a:rPr>
              <a:t># 1 2 3</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TODAY’S GOALS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By the end of today, you can…</a:t>
            </a:r>
            <a:endParaRPr lang="en-US" sz="3600" dirty="0"/>
          </a:p>
        </p:txBody>
      </p:sp>
      <p:pic>
        <p:nvPicPr>
          <p:cNvPr id="4" name="Image 0" descr="CheckCircle">    </p:cNvPr>
          <p:cNvPicPr>
            <a:picLocks noChangeAspect="1"/>
          </p:cNvPicPr>
          <p:nvPr/>
        </p:nvPicPr>
        <p:blipFill>
          <a:blip r:embed="rId1"/>
          <a:srcRect l="0" r="0" t="0" b="0"/>
          <a:stretch/>
        </p:blipFill>
        <p:spPr>
          <a:xfrm>
            <a:off x="812800" y="1993834"/>
            <a:ext cx="304800" cy="304800"/>
          </a:xfrm>
          <a:prstGeom prst="rect">
            <a:avLst/>
          </a:prstGeom>
        </p:spPr>
      </p:pic>
      <p:sp>
        <p:nvSpPr>
          <p:cNvPr id="5" name="Text 2"/>
          <p:cNvSpPr/>
          <p:nvPr/>
        </p:nvSpPr>
        <p:spPr>
          <a:xfrm>
            <a:off x="1270000" y="1986228"/>
            <a:ext cx="3400822"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A37"/>
                </a:solidFill>
                <a:latin typeface="DM Sans" pitchFamily="34" charset="0"/>
                <a:ea typeface="DM Sans" pitchFamily="34" charset="-122"/>
                <a:cs typeface="DM Sans" pitchFamily="34" charset="-120"/>
              </a:rPr>
              <a:t>Explain why we need loops</a:t>
            </a:r>
            <a:endParaRPr lang="en-US" sz="1800" dirty="0"/>
          </a:p>
        </p:txBody>
      </p:sp>
      <p:pic>
        <p:nvPicPr>
          <p:cNvPr id="6" name="Image 1" descr="CheckCircle">    </p:cNvPr>
          <p:cNvPicPr>
            <a:picLocks noChangeAspect="1"/>
          </p:cNvPicPr>
          <p:nvPr/>
        </p:nvPicPr>
        <p:blipFill>
          <a:blip r:embed="rId2"/>
          <a:srcRect l="0" r="0" t="0" b="0"/>
          <a:stretch/>
        </p:blipFill>
        <p:spPr>
          <a:xfrm>
            <a:off x="6299200" y="1993834"/>
            <a:ext cx="304800" cy="304800"/>
          </a:xfrm>
          <a:prstGeom prst="rect">
            <a:avLst/>
          </a:prstGeom>
        </p:spPr>
      </p:pic>
      <p:sp>
        <p:nvSpPr>
          <p:cNvPr id="7" name="Text 3"/>
          <p:cNvSpPr/>
          <p:nvPr/>
        </p:nvSpPr>
        <p:spPr>
          <a:xfrm>
            <a:off x="6756400" y="1986228"/>
            <a:ext cx="4225925"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A37"/>
                </a:solidFill>
                <a:latin typeface="DM Sans" pitchFamily="34" charset="0"/>
                <a:ea typeface="DM Sans" pitchFamily="34" charset="-122"/>
                <a:cs typeface="DM Sans" pitchFamily="34" charset="-120"/>
              </a:rPr>
              <a:t>Write a </a:t>
            </a:r>
            <a:r>
              <a:rPr lang="en-US" sz="1800" b="1" dirty="0">
                <a:solidFill>
                  <a:srgbClr val="1F2A37"/>
                </a:solidFill>
                <a:latin typeface="DM Sans" pitchFamily="34" charset="0"/>
                <a:ea typeface="DM Sans" pitchFamily="34" charset="-122"/>
                <a:cs typeface="DM Sans" pitchFamily="34" charset="-120"/>
              </a:rPr>
              <a:t>while</a:t>
            </a:r>
            <a:r>
              <a:rPr lang="en-US" sz="1800" dirty="0">
                <a:solidFill>
                  <a:srgbClr val="1F2A37"/>
                </a:solidFill>
                <a:latin typeface="DM Sans" pitchFamily="34" charset="0"/>
                <a:ea typeface="DM Sans" pitchFamily="34" charset="-122"/>
                <a:cs typeface="DM Sans" pitchFamily="34" charset="-120"/>
              </a:rPr>
              <a:t> loop with a counter</a:t>
            </a:r>
            <a:endParaRPr lang="en-US" sz="1800" dirty="0"/>
          </a:p>
        </p:txBody>
      </p:sp>
      <p:pic>
        <p:nvPicPr>
          <p:cNvPr id="8" name="Image 2" descr="CheckCircle">    </p:cNvPr>
          <p:cNvPicPr>
            <a:picLocks noChangeAspect="1"/>
          </p:cNvPicPr>
          <p:nvPr/>
        </p:nvPicPr>
        <p:blipFill>
          <a:blip r:embed="rId3"/>
          <a:srcRect l="0" r="0" t="0" b="0"/>
          <a:stretch/>
        </p:blipFill>
        <p:spPr>
          <a:xfrm>
            <a:off x="812800" y="2491648"/>
            <a:ext cx="304800" cy="304800"/>
          </a:xfrm>
          <a:prstGeom prst="rect">
            <a:avLst/>
          </a:prstGeom>
        </p:spPr>
      </p:pic>
      <p:sp>
        <p:nvSpPr>
          <p:cNvPr id="9" name="Text 4"/>
          <p:cNvSpPr/>
          <p:nvPr/>
        </p:nvSpPr>
        <p:spPr>
          <a:xfrm>
            <a:off x="1270000" y="2484041"/>
            <a:ext cx="3865245"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A37"/>
                </a:solidFill>
                <a:latin typeface="DM Sans" pitchFamily="34" charset="0"/>
                <a:ea typeface="DM Sans" pitchFamily="34" charset="-122"/>
                <a:cs typeface="DM Sans" pitchFamily="34" charset="-120"/>
              </a:rPr>
              <a:t>Avoid (and stop!) infinite loops</a:t>
            </a:r>
            <a:endParaRPr lang="en-US" sz="1800" dirty="0"/>
          </a:p>
        </p:txBody>
      </p:sp>
      <p:pic>
        <p:nvPicPr>
          <p:cNvPr id="10" name="Image 3" descr="CheckCircle">    </p:cNvPr>
          <p:cNvPicPr>
            <a:picLocks noChangeAspect="1"/>
          </p:cNvPicPr>
          <p:nvPr/>
        </p:nvPicPr>
        <p:blipFill>
          <a:blip r:embed="rId4"/>
          <a:srcRect l="0" r="0" t="0" b="0"/>
          <a:stretch/>
        </p:blipFill>
        <p:spPr>
          <a:xfrm>
            <a:off x="6299200" y="2491648"/>
            <a:ext cx="304800" cy="304800"/>
          </a:xfrm>
          <a:prstGeom prst="rect">
            <a:avLst/>
          </a:prstGeom>
        </p:spPr>
      </p:pic>
      <p:sp>
        <p:nvSpPr>
          <p:cNvPr id="11" name="Text 5"/>
          <p:cNvSpPr/>
          <p:nvPr/>
        </p:nvSpPr>
        <p:spPr>
          <a:xfrm>
            <a:off x="6756400" y="2484041"/>
            <a:ext cx="4534297"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A37"/>
                </a:solidFill>
                <a:latin typeface="DM Sans" pitchFamily="34" charset="0"/>
                <a:ea typeface="DM Sans" pitchFamily="34" charset="-122"/>
                <a:cs typeface="DM Sans" pitchFamily="34" charset="-120"/>
              </a:rPr>
              <a:t>Keep asking until the answer is valid</a:t>
            </a:r>
            <a:endParaRPr lang="en-US" sz="1800" dirty="0"/>
          </a:p>
        </p:txBody>
      </p:sp>
      <p:pic>
        <p:nvPicPr>
          <p:cNvPr id="12" name="Image 4" descr="CheckCircle">    </p:cNvPr>
          <p:cNvPicPr>
            <a:picLocks noChangeAspect="1"/>
          </p:cNvPicPr>
          <p:nvPr/>
        </p:nvPicPr>
        <p:blipFill>
          <a:blip r:embed="rId5"/>
          <a:srcRect l="0" r="0" t="0" b="0"/>
          <a:stretch/>
        </p:blipFill>
        <p:spPr>
          <a:xfrm>
            <a:off x="812800" y="2989461"/>
            <a:ext cx="304800" cy="304800"/>
          </a:xfrm>
          <a:prstGeom prst="rect">
            <a:avLst/>
          </a:prstGeom>
        </p:spPr>
      </p:pic>
      <p:sp>
        <p:nvSpPr>
          <p:cNvPr id="13" name="Text 6"/>
          <p:cNvSpPr/>
          <p:nvPr/>
        </p:nvSpPr>
        <p:spPr>
          <a:xfrm>
            <a:off x="1270000" y="2981854"/>
            <a:ext cx="3145235"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A37"/>
                </a:solidFill>
                <a:latin typeface="DM Sans" pitchFamily="34" charset="0"/>
                <a:ea typeface="DM Sans" pitchFamily="34" charset="-122"/>
                <a:cs typeface="DM Sans" pitchFamily="34" charset="-120"/>
              </a:rPr>
              <a:t>Use </a:t>
            </a:r>
            <a:r>
              <a:rPr lang="en-US" sz="1800" b="1" dirty="0">
                <a:solidFill>
                  <a:srgbClr val="1F2A37"/>
                </a:solidFill>
                <a:latin typeface="DM Sans" pitchFamily="34" charset="0"/>
                <a:ea typeface="DM Sans" pitchFamily="34" charset="-122"/>
                <a:cs typeface="DM Sans" pitchFamily="34" charset="-120"/>
              </a:rPr>
              <a:t>break</a:t>
            </a:r>
            <a:r>
              <a:rPr lang="en-US" sz="1800" dirty="0">
                <a:solidFill>
                  <a:srgbClr val="1F2A37"/>
                </a:solidFill>
                <a:latin typeface="DM Sans" pitchFamily="34" charset="0"/>
                <a:ea typeface="DM Sans" pitchFamily="34" charset="-122"/>
                <a:cs typeface="DM Sans" pitchFamily="34" charset="-120"/>
              </a:rPr>
              <a:t> and </a:t>
            </a:r>
            <a:r>
              <a:rPr lang="en-US" sz="1800" b="1" dirty="0">
                <a:solidFill>
                  <a:srgbClr val="1F2A37"/>
                </a:solidFill>
                <a:latin typeface="DM Sans" pitchFamily="34" charset="0"/>
                <a:ea typeface="DM Sans" pitchFamily="34" charset="-122"/>
                <a:cs typeface="DM Sans" pitchFamily="34" charset="-120"/>
              </a:rPr>
              <a:t>continue</a:t>
            </a:r>
            <a:endParaRPr lang="en-US" sz="1800" dirty="0"/>
          </a:p>
        </p:txBody>
      </p:sp>
      <p:pic>
        <p:nvPicPr>
          <p:cNvPr id="14" name="Image 5" descr="CheckCircle">    </p:cNvPr>
          <p:cNvPicPr>
            <a:picLocks noChangeAspect="1"/>
          </p:cNvPicPr>
          <p:nvPr/>
        </p:nvPicPr>
        <p:blipFill>
          <a:blip r:embed="rId6"/>
          <a:srcRect l="0" r="0" t="0" b="0"/>
          <a:stretch/>
        </p:blipFill>
        <p:spPr>
          <a:xfrm>
            <a:off x="6299200" y="2989461"/>
            <a:ext cx="304800" cy="304800"/>
          </a:xfrm>
          <a:prstGeom prst="rect">
            <a:avLst/>
          </a:prstGeom>
        </p:spPr>
      </p:pic>
      <p:sp>
        <p:nvSpPr>
          <p:cNvPr id="15" name="Text 7"/>
          <p:cNvSpPr/>
          <p:nvPr/>
        </p:nvSpPr>
        <p:spPr>
          <a:xfrm>
            <a:off x="6756400" y="2981854"/>
            <a:ext cx="3987562"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A37"/>
                </a:solidFill>
                <a:latin typeface="DM Sans" pitchFamily="34" charset="0"/>
                <a:ea typeface="DM Sans" pitchFamily="34" charset="-122"/>
                <a:cs typeface="DM Sans" pitchFamily="34" charset="-120"/>
              </a:rPr>
              <a:t>Upgrade our guessing game 🎮</a:t>
            </a:r>
            <a:endParaRPr lang="en-US" sz="1800" dirty="0"/>
          </a:p>
        </p:txBody>
      </p:sp>
      <p:sp>
        <p:nvSpPr>
          <p:cNvPr id="16"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4: while loops</a:t>
            </a:r>
            <a:endParaRPr lang="en-US" sz="1200" dirty="0"/>
          </a:p>
        </p:txBody>
      </p:sp>
      <p:sp>
        <p:nvSpPr>
          <p:cNvPr id="17"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4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QUICK REVIEW · DAY 3</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Python can make decisions</a:t>
            </a:r>
            <a:endParaRPr lang="en-US" sz="3600" dirty="0"/>
          </a:p>
        </p:txBody>
      </p:sp>
      <p:sp>
        <p:nvSpPr>
          <p:cNvPr id="4" name="Text 2"/>
          <p:cNvSpPr/>
          <p:nvPr/>
        </p:nvSpPr>
        <p:spPr>
          <a:xfrm>
            <a:off x="812800" y="1986228"/>
            <a:ext cx="5080000" cy="2885348"/>
          </a:xfrm>
          <a:prstGeom prst="roundRect">
            <a:avLst>
              <a:gd name="adj" fmla="val 4402"/>
            </a:avLst>
          </a:prstGeom>
          <a:solidFill>
            <a:srgbClr val="1F2A37"/>
          </a:solidFill>
          <a:ln/>
        </p:spPr>
        <p:txBody>
          <a:bodyPr wrap="square" lIns="318403" tIns="267603" rIns="187339" bIns="242203" rtlCol="0" anchor="t">
            <a:normAutofit/>
          </a:bodyPr>
          <a:lstStyle/>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score = 75</a:t>
            </a:r>
            <a:endParaRPr lang="en-US" sz="1600" dirty="0"/>
          </a:p>
          <a:p>
            <a:pPr algn="l" indent="0" marL="0">
              <a:lnSpc>
                <a:spcPts val="2560"/>
              </a:lnSpc>
              <a:buNone/>
            </a:pPr>
            <a:r>
              <a:rPr lang="en-US" sz="1600" dirty="0">
                <a:solidFill>
                  <a:srgbClr val="8EC1F0"/>
                </a:solidFill>
                <a:latin typeface="JetBrains Mono" pitchFamily="49" charset="0"/>
                <a:ea typeface="JetBrains Mono" pitchFamily="49" charset="-122"/>
                <a:cs typeface="JetBrains Mono" pitchFamily="49" charset="-120"/>
              </a:rPr>
              <a:t>if</a:t>
            </a:r>
            <a:r>
              <a:rPr lang="en-US" sz="1600" dirty="0">
                <a:solidFill>
                  <a:srgbClr val="E8EDF3"/>
                </a:solidFill>
                <a:latin typeface="JetBrains Mono" pitchFamily="49" charset="0"/>
                <a:ea typeface="JetBrains Mono" pitchFamily="49" charset="-122"/>
                <a:cs typeface="JetBrains Mono" pitchFamily="49" charset="-120"/>
              </a:rPr>
              <a:t> score &gt;= 80:</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    print(</a:t>
            </a:r>
            <a:r>
              <a:rPr lang="en-US" sz="1600" dirty="0">
                <a:solidFill>
                  <a:srgbClr val="F2C94C"/>
                </a:solidFill>
                <a:latin typeface="JetBrains Mono" pitchFamily="49" charset="0"/>
                <a:ea typeface="JetBrains Mono" pitchFamily="49" charset="-122"/>
                <a:cs typeface="JetBrains Mono" pitchFamily="49" charset="-120"/>
              </a:rPr>
              <a:t>"Grade A"</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a:p>
            <a:pPr algn="l" indent="0" marL="0">
              <a:lnSpc>
                <a:spcPts val="2560"/>
              </a:lnSpc>
              <a:buNone/>
            </a:pPr>
            <a:r>
              <a:rPr lang="en-US" sz="1600" dirty="0">
                <a:solidFill>
                  <a:srgbClr val="8EC1F0"/>
                </a:solidFill>
                <a:latin typeface="JetBrains Mono" pitchFamily="49" charset="0"/>
                <a:ea typeface="JetBrains Mono" pitchFamily="49" charset="-122"/>
                <a:cs typeface="JetBrains Mono" pitchFamily="49" charset="-120"/>
              </a:rPr>
              <a:t>elif</a:t>
            </a:r>
            <a:r>
              <a:rPr lang="en-US" sz="1600" dirty="0">
                <a:solidFill>
                  <a:srgbClr val="E8EDF3"/>
                </a:solidFill>
                <a:latin typeface="JetBrains Mono" pitchFamily="49" charset="0"/>
                <a:ea typeface="JetBrains Mono" pitchFamily="49" charset="-122"/>
                <a:cs typeface="JetBrains Mono" pitchFamily="49" charset="-120"/>
              </a:rPr>
              <a:t> score &gt;= 50:</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    print(</a:t>
            </a:r>
            <a:r>
              <a:rPr lang="en-US" sz="1600" dirty="0">
                <a:solidFill>
                  <a:srgbClr val="F2C94C"/>
                </a:solidFill>
                <a:latin typeface="JetBrains Mono" pitchFamily="49" charset="0"/>
                <a:ea typeface="JetBrains Mono" pitchFamily="49" charset="-122"/>
                <a:cs typeface="JetBrains Mono" pitchFamily="49" charset="-120"/>
              </a:rPr>
              <a:t>"Pass"</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a:p>
            <a:pPr algn="l" indent="0" marL="0">
              <a:lnSpc>
                <a:spcPts val="2560"/>
              </a:lnSpc>
              <a:buNone/>
            </a:pPr>
            <a:r>
              <a:rPr lang="en-US" sz="1600" dirty="0">
                <a:solidFill>
                  <a:srgbClr val="8EC1F0"/>
                </a:solidFill>
                <a:latin typeface="JetBrains Mono" pitchFamily="49" charset="0"/>
                <a:ea typeface="JetBrains Mono" pitchFamily="49" charset="-122"/>
                <a:cs typeface="JetBrains Mono" pitchFamily="49" charset="-120"/>
              </a:rPr>
              <a:t>else</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    print(</a:t>
            </a:r>
            <a:r>
              <a:rPr lang="en-US" sz="1600" dirty="0">
                <a:solidFill>
                  <a:srgbClr val="F2C94C"/>
                </a:solidFill>
                <a:latin typeface="JetBrains Mono" pitchFamily="49" charset="0"/>
                <a:ea typeface="JetBrains Mono" pitchFamily="49" charset="-122"/>
                <a:cs typeface="JetBrains Mono" pitchFamily="49" charset="-120"/>
              </a:rPr>
              <a:t>"Fail"</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p:txBody>
      </p:sp>
      <p:sp>
        <p:nvSpPr>
          <p:cNvPr id="5" name="Text 3"/>
          <p:cNvSpPr/>
          <p:nvPr/>
        </p:nvSpPr>
        <p:spPr>
          <a:xfrm>
            <a:off x="6299200" y="2522141"/>
            <a:ext cx="5232400"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F2A37"/>
                </a:solidFill>
                <a:latin typeface="DM Sans" pitchFamily="34" charset="0"/>
                <a:ea typeface="DM Sans" pitchFamily="34" charset="-122"/>
                <a:cs typeface="DM Sans" pitchFamily="34" charset="-120"/>
              </a:rPr>
              <a:t>if</a:t>
            </a:r>
            <a:r>
              <a:rPr lang="en-US" sz="1800" dirty="0">
                <a:solidFill>
                  <a:srgbClr val="1F2A37"/>
                </a:solidFill>
                <a:latin typeface="DM Sans" pitchFamily="34" charset="0"/>
                <a:ea typeface="DM Sans" pitchFamily="34" charset="-122"/>
                <a:cs typeface="DM Sans" pitchFamily="34" charset="-120"/>
              </a:rPr>
              <a:t> runs code only when the condition is True</a:t>
            </a:r>
            <a:endParaRPr lang="en-US" sz="1800" dirty="0"/>
          </a:p>
        </p:txBody>
      </p:sp>
      <p:sp>
        <p:nvSpPr>
          <p:cNvPr id="6" name="Text 4"/>
          <p:cNvSpPr/>
          <p:nvPr/>
        </p:nvSpPr>
        <p:spPr>
          <a:xfrm>
            <a:off x="6299200" y="3019955"/>
            <a:ext cx="5232400"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F2A37"/>
                </a:solidFill>
                <a:latin typeface="DM Sans" pitchFamily="34" charset="0"/>
                <a:ea typeface="DM Sans" pitchFamily="34" charset="-122"/>
                <a:cs typeface="DM Sans" pitchFamily="34" charset="-120"/>
              </a:rPr>
              <a:t>elif</a:t>
            </a:r>
            <a:r>
              <a:rPr lang="en-US" sz="1800" dirty="0">
                <a:solidFill>
                  <a:srgbClr val="1F2A37"/>
                </a:solidFill>
                <a:latin typeface="DM Sans" pitchFamily="34" charset="0"/>
                <a:ea typeface="DM Sans" pitchFamily="34" charset="-122"/>
                <a:cs typeface="DM Sans" pitchFamily="34" charset="-120"/>
              </a:rPr>
              <a:t> checks another condition</a:t>
            </a:r>
            <a:endParaRPr lang="en-US" sz="1800" dirty="0"/>
          </a:p>
        </p:txBody>
      </p:sp>
      <p:sp>
        <p:nvSpPr>
          <p:cNvPr id="7" name="Text 5"/>
          <p:cNvSpPr/>
          <p:nvPr/>
        </p:nvSpPr>
        <p:spPr>
          <a:xfrm>
            <a:off x="6299200" y="3517768"/>
            <a:ext cx="5232400" cy="345414"/>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F2A37"/>
                </a:solidFill>
                <a:latin typeface="DM Sans" pitchFamily="34" charset="0"/>
                <a:ea typeface="DM Sans" pitchFamily="34" charset="-122"/>
                <a:cs typeface="DM Sans" pitchFamily="34" charset="-120"/>
              </a:rPr>
              <a:t>else</a:t>
            </a:r>
            <a:r>
              <a:rPr lang="en-US" sz="1800" dirty="0">
                <a:solidFill>
                  <a:srgbClr val="1F2A37"/>
                </a:solidFill>
                <a:latin typeface="DM Sans" pitchFamily="34" charset="0"/>
                <a:ea typeface="DM Sans" pitchFamily="34" charset="-122"/>
                <a:cs typeface="DM Sans" pitchFamily="34" charset="-120"/>
              </a:rPr>
              <a:t> catches everything else</a:t>
            </a:r>
            <a:endParaRPr lang="en-US" sz="1800" dirty="0"/>
          </a:p>
        </p:txBody>
      </p:sp>
      <p:sp>
        <p:nvSpPr>
          <p:cNvPr id="8" name="Text 6"/>
          <p:cNvSpPr/>
          <p:nvPr/>
        </p:nvSpPr>
        <p:spPr>
          <a:xfrm>
            <a:off x="6299200" y="4015581"/>
            <a:ext cx="5232400"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4A5568"/>
                </a:solidFill>
                <a:latin typeface="DM Sans" pitchFamily="34" charset="0"/>
                <a:ea typeface="DM Sans" pitchFamily="34" charset="-122"/>
                <a:cs typeface="DM Sans" pitchFamily="34" charset="-120"/>
              </a:rPr>
              <a:t>But each block runs </a:t>
            </a:r>
            <a:r>
              <a:rPr lang="en-US" sz="1800" b="1" dirty="0">
                <a:solidFill>
                  <a:srgbClr val="4A5568"/>
                </a:solidFill>
                <a:latin typeface="DM Sans" pitchFamily="34" charset="0"/>
                <a:ea typeface="DM Sans" pitchFamily="34" charset="-122"/>
                <a:cs typeface="DM Sans" pitchFamily="34" charset="-120"/>
              </a:rPr>
              <a:t>only once</a:t>
            </a:r>
            <a:r>
              <a:rPr lang="en-US" sz="1800" dirty="0">
                <a:solidFill>
                  <a:srgbClr val="4A5568"/>
                </a:solidFill>
                <a:latin typeface="DM Sans" pitchFamily="34" charset="0"/>
                <a:ea typeface="DM Sans" pitchFamily="34" charset="-122"/>
                <a:cs typeface="DM Sans" pitchFamily="34" charset="-120"/>
              </a:rPr>
              <a:t>…</a:t>
            </a:r>
            <a:endParaRPr lang="en-US" sz="1800" dirty="0"/>
          </a:p>
        </p:txBody>
      </p:sp>
      <p:sp>
        <p:nvSpPr>
          <p:cNvPr id="9" name="Text 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4: while loops</a:t>
            </a:r>
            <a:endParaRPr lang="en-US" sz="1200" dirty="0"/>
          </a:p>
        </p:txBody>
      </p:sp>
      <p:sp>
        <p:nvSpPr>
          <p:cNvPr id="10"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WHY LOOPS?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Print “Hello” 5 times… or 1,000?</a:t>
            </a:r>
            <a:endParaRPr lang="en-US" sz="3600" dirty="0"/>
          </a:p>
        </p:txBody>
      </p:sp>
      <p:sp>
        <p:nvSpPr>
          <p:cNvPr id="4" name="Text 2"/>
          <p:cNvSpPr/>
          <p:nvPr/>
        </p:nvSpPr>
        <p:spPr>
          <a:xfrm>
            <a:off x="812800" y="1986228"/>
            <a:ext cx="523240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4A5568"/>
                </a:solidFill>
                <a:latin typeface="DM Sans" pitchFamily="34" charset="0"/>
                <a:ea typeface="DM Sans" pitchFamily="34" charset="-122"/>
                <a:cs typeface="DM Sans" pitchFamily="34" charset="-120"/>
              </a:rPr>
              <a:t>Without a loop 😩</a:t>
            </a:r>
            <a:endParaRPr lang="en-US" sz="1600" dirty="0"/>
          </a:p>
        </p:txBody>
      </p:sp>
      <p:sp>
        <p:nvSpPr>
          <p:cNvPr id="5" name="Text 3"/>
          <p:cNvSpPr/>
          <p:nvPr/>
        </p:nvSpPr>
        <p:spPr>
          <a:xfrm>
            <a:off x="812800" y="2397655"/>
            <a:ext cx="5080000" cy="2133534"/>
          </a:xfrm>
          <a:prstGeom prst="roundRect">
            <a:avLst>
              <a:gd name="adj" fmla="val 5953"/>
            </a:avLst>
          </a:prstGeom>
          <a:solidFill>
            <a:srgbClr val="1F2A37"/>
          </a:solidFill>
          <a:ln/>
        </p:spPr>
        <p:txBody>
          <a:bodyPr wrap="square" lIns="318403" tIns="216803" rIns="187339" bIns="191403" rtlCol="0" anchor="t">
            <a:normAutofit/>
          </a:bodyPr>
          <a:lstStyle/>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print(</a:t>
            </a:r>
            <a:r>
              <a:rPr lang="en-US" sz="1600" dirty="0">
                <a:solidFill>
                  <a:srgbClr val="F2C94C"/>
                </a:solidFill>
                <a:latin typeface="JetBrains Mono" pitchFamily="49" charset="0"/>
                <a:ea typeface="JetBrains Mono" pitchFamily="49" charset="-122"/>
                <a:cs typeface="JetBrains Mono" pitchFamily="49" charset="-120"/>
              </a:rPr>
              <a:t>"Hello"</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print(</a:t>
            </a:r>
            <a:r>
              <a:rPr lang="en-US" sz="1600" dirty="0">
                <a:solidFill>
                  <a:srgbClr val="F2C94C"/>
                </a:solidFill>
                <a:latin typeface="JetBrains Mono" pitchFamily="49" charset="0"/>
                <a:ea typeface="JetBrains Mono" pitchFamily="49" charset="-122"/>
                <a:cs typeface="JetBrains Mono" pitchFamily="49" charset="-120"/>
              </a:rPr>
              <a:t>"Hello"</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print(</a:t>
            </a:r>
            <a:r>
              <a:rPr lang="en-US" sz="1600" dirty="0">
                <a:solidFill>
                  <a:srgbClr val="F2C94C"/>
                </a:solidFill>
                <a:latin typeface="JetBrains Mono" pitchFamily="49" charset="0"/>
                <a:ea typeface="JetBrains Mono" pitchFamily="49" charset="-122"/>
                <a:cs typeface="JetBrains Mono" pitchFamily="49" charset="-120"/>
              </a:rPr>
              <a:t>"Hello"</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print(</a:t>
            </a:r>
            <a:r>
              <a:rPr lang="en-US" sz="1600" dirty="0">
                <a:solidFill>
                  <a:srgbClr val="F2C94C"/>
                </a:solidFill>
                <a:latin typeface="JetBrains Mono" pitchFamily="49" charset="0"/>
                <a:ea typeface="JetBrains Mono" pitchFamily="49" charset="-122"/>
                <a:cs typeface="JetBrains Mono" pitchFamily="49" charset="-120"/>
              </a:rPr>
              <a:t>"Hello"</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print(</a:t>
            </a:r>
            <a:r>
              <a:rPr lang="en-US" sz="1600" dirty="0">
                <a:solidFill>
                  <a:srgbClr val="F2C94C"/>
                </a:solidFill>
                <a:latin typeface="JetBrains Mono" pitchFamily="49" charset="0"/>
                <a:ea typeface="JetBrains Mono" pitchFamily="49" charset="-122"/>
                <a:cs typeface="JetBrains Mono" pitchFamily="49" charset="-120"/>
              </a:rPr>
              <a:t>"Hello"</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p:txBody>
      </p:sp>
      <p:sp>
        <p:nvSpPr>
          <p:cNvPr id="6" name="Text 4"/>
          <p:cNvSpPr/>
          <p:nvPr/>
        </p:nvSpPr>
        <p:spPr>
          <a:xfrm>
            <a:off x="6299200" y="1986228"/>
            <a:ext cx="523240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3776AB"/>
                </a:solidFill>
                <a:latin typeface="DM Sans" pitchFamily="34" charset="0"/>
                <a:ea typeface="DM Sans" pitchFamily="34" charset="-122"/>
                <a:cs typeface="DM Sans" pitchFamily="34" charset="-120"/>
              </a:rPr>
              <a:t>With a loop 😎</a:t>
            </a:r>
            <a:endParaRPr lang="en-US" sz="1600" dirty="0"/>
          </a:p>
        </p:txBody>
      </p:sp>
      <p:sp>
        <p:nvSpPr>
          <p:cNvPr id="7" name="Text 5"/>
          <p:cNvSpPr/>
          <p:nvPr/>
        </p:nvSpPr>
        <p:spPr>
          <a:xfrm>
            <a:off x="6299200" y="2397655"/>
            <a:ext cx="5080000" cy="1808427"/>
          </a:xfrm>
          <a:prstGeom prst="roundRect">
            <a:avLst>
              <a:gd name="adj" fmla="val 7023"/>
            </a:avLst>
          </a:prstGeom>
          <a:solidFill>
            <a:srgbClr val="1F2A37"/>
          </a:solidFill>
          <a:ln/>
        </p:spPr>
        <p:txBody>
          <a:bodyPr wrap="square" lIns="318403" tIns="216803" rIns="187339" bIns="191403" rtlCol="0" anchor="t">
            <a:normAutofit/>
          </a:bodyPr>
          <a:lstStyle/>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count = 1</a:t>
            </a:r>
            <a:endParaRPr lang="en-US" sz="1600" dirty="0"/>
          </a:p>
          <a:p>
            <a:pPr algn="l" indent="0" marL="0">
              <a:lnSpc>
                <a:spcPts val="2560"/>
              </a:lnSpc>
              <a:buNone/>
            </a:pPr>
            <a:r>
              <a:rPr lang="en-US" sz="1600" dirty="0">
                <a:solidFill>
                  <a:srgbClr val="8EC1F0"/>
                </a:solidFill>
                <a:latin typeface="JetBrains Mono" pitchFamily="49" charset="0"/>
                <a:ea typeface="JetBrains Mono" pitchFamily="49" charset="-122"/>
                <a:cs typeface="JetBrains Mono" pitchFamily="49" charset="-120"/>
              </a:rPr>
              <a:t>while</a:t>
            </a:r>
            <a:r>
              <a:rPr lang="en-US" sz="1600" dirty="0">
                <a:solidFill>
                  <a:srgbClr val="E8EDF3"/>
                </a:solidFill>
                <a:latin typeface="JetBrains Mono" pitchFamily="49" charset="0"/>
                <a:ea typeface="JetBrains Mono" pitchFamily="49" charset="-122"/>
                <a:cs typeface="JetBrains Mono" pitchFamily="49" charset="-120"/>
              </a:rPr>
              <a:t> count &lt;= 5:</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    print(</a:t>
            </a:r>
            <a:r>
              <a:rPr lang="en-US" sz="1600" dirty="0">
                <a:solidFill>
                  <a:srgbClr val="F2C94C"/>
                </a:solidFill>
                <a:latin typeface="JetBrains Mono" pitchFamily="49" charset="0"/>
                <a:ea typeface="JetBrains Mono" pitchFamily="49" charset="-122"/>
                <a:cs typeface="JetBrains Mono" pitchFamily="49" charset="-120"/>
              </a:rPr>
              <a:t>"Hello"</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    count += 1</a:t>
            </a:r>
            <a:endParaRPr lang="en-US" sz="1600" dirty="0"/>
          </a:p>
        </p:txBody>
      </p:sp>
      <p:sp>
        <p:nvSpPr>
          <p:cNvPr id="8" name="Text 6"/>
          <p:cNvSpPr/>
          <p:nvPr/>
        </p:nvSpPr>
        <p:spPr>
          <a:xfrm>
            <a:off x="6299200" y="4333081"/>
            <a:ext cx="5232400"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Change 5 to 1000 — still 4 lines!</a:t>
            </a:r>
            <a:endParaRPr lang="en-US" sz="1600" dirty="0"/>
          </a:p>
        </p:txBody>
      </p:sp>
      <p:sp>
        <p:nvSpPr>
          <p:cNvPr id="9" name="Text 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4: while loops</a:t>
            </a:r>
            <a:endParaRPr lang="en-US" sz="1200" dirty="0"/>
          </a:p>
        </p:txBody>
      </p:sp>
      <p:sp>
        <p:nvSpPr>
          <p:cNvPr id="10"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THE WHILE LOOP</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Repeat while the condition is True</a:t>
            </a:r>
            <a:endParaRPr lang="en-US" sz="3600" dirty="0"/>
          </a:p>
        </p:txBody>
      </p:sp>
      <p:sp>
        <p:nvSpPr>
          <p:cNvPr id="4" name="Text 2"/>
          <p:cNvSpPr/>
          <p:nvPr/>
        </p:nvSpPr>
        <p:spPr>
          <a:xfrm>
            <a:off x="812800" y="2423055"/>
            <a:ext cx="5029200" cy="1341041"/>
          </a:xfrm>
          <a:prstGeom prst="roundRect">
            <a:avLst>
              <a:gd name="adj" fmla="val 9470"/>
            </a:avLst>
          </a:prstGeom>
          <a:solidFill>
            <a:srgbClr val="1F2A37"/>
          </a:solidFill>
          <a:ln/>
        </p:spPr>
        <p:txBody>
          <a:bodyPr wrap="square" lIns="318403" tIns="267603" rIns="188863" bIns="242203" rtlCol="0" anchor="t">
            <a:normAutofit/>
          </a:bodyPr>
          <a:lstStyle/>
          <a:p>
            <a:pPr algn="l" indent="0" marL="0">
              <a:lnSpc>
                <a:spcPts val="2880"/>
              </a:lnSpc>
              <a:buNone/>
            </a:pPr>
            <a:r>
              <a:rPr lang="en-US" sz="1800" dirty="0">
                <a:solidFill>
                  <a:srgbClr val="8EC1F0"/>
                </a:solidFill>
                <a:latin typeface="JetBrains Mono" pitchFamily="49" charset="0"/>
                <a:ea typeface="JetBrains Mono" pitchFamily="49" charset="-122"/>
                <a:cs typeface="JetBrains Mono" pitchFamily="49" charset="-120"/>
              </a:rPr>
              <a:t>while</a:t>
            </a:r>
            <a:r>
              <a:rPr lang="en-US" sz="1800" dirty="0">
                <a:solidFill>
                  <a:srgbClr val="E8EDF3"/>
                </a:solidFill>
                <a:latin typeface="JetBrains Mono" pitchFamily="49" charset="0"/>
                <a:ea typeface="JetBrains Mono" pitchFamily="49" charset="-122"/>
                <a:cs typeface="JetBrains Mono" pitchFamily="49" charset="-120"/>
              </a:rPr>
              <a:t> condition:</a:t>
            </a:r>
            <a:endParaRPr lang="en-US" sz="1800" dirty="0"/>
          </a:p>
          <a:p>
            <a:pPr algn="l" indent="0" marL="0">
              <a:lnSpc>
                <a:spcPts val="2880"/>
              </a:lnSpc>
              <a:buNone/>
            </a:pPr>
            <a:r>
              <a:rPr lang="en-US" sz="1800" dirty="0">
                <a:solidFill>
                  <a:srgbClr val="E8EDF3"/>
                </a:solidFill>
                <a:latin typeface="JetBrains Mono" pitchFamily="49" charset="0"/>
                <a:ea typeface="JetBrains Mono" pitchFamily="49" charset="-122"/>
                <a:cs typeface="JetBrains Mono" pitchFamily="49" charset="-120"/>
              </a:rPr>
              <a:t>    statement</a:t>
            </a:r>
            <a:endParaRPr lang="en-US" sz="1800" dirty="0"/>
          </a:p>
        </p:txBody>
      </p:sp>
      <p:sp>
        <p:nvSpPr>
          <p:cNvPr id="5" name="Text 3"/>
          <p:cNvSpPr/>
          <p:nvPr/>
        </p:nvSpPr>
        <p:spPr>
          <a:xfrm>
            <a:off x="812800" y="3967296"/>
            <a:ext cx="5180076" cy="614627"/>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DM Sans" pitchFamily="34" charset="0"/>
                <a:ea typeface="DM Sans" pitchFamily="34" charset="-122"/>
                <a:cs typeface="DM Sans" pitchFamily="34" charset="-120"/>
              </a:rPr>
              <a:t>Looks like </a:t>
            </a:r>
            <a:r>
              <a:rPr lang="en-US" sz="1600" b="1" dirty="0">
                <a:solidFill>
                  <a:srgbClr val="4A5568"/>
                </a:solidFill>
                <a:latin typeface="DM Sans" pitchFamily="34" charset="0"/>
                <a:ea typeface="DM Sans" pitchFamily="34" charset="-122"/>
                <a:cs typeface="DM Sans" pitchFamily="34" charset="-120"/>
              </a:rPr>
              <a:t>if</a:t>
            </a:r>
            <a:r>
              <a:rPr lang="en-US" sz="1600" dirty="0">
                <a:solidFill>
                  <a:srgbClr val="4A5568"/>
                </a:solidFill>
                <a:latin typeface="DM Sans" pitchFamily="34" charset="0"/>
                <a:ea typeface="DM Sans" pitchFamily="34" charset="-122"/>
                <a:cs typeface="DM Sans" pitchFamily="34" charset="-120"/>
              </a:rPr>
              <a:t> — but instead of running </a:t>
            </a:r>
            <a:r>
              <a:rPr lang="en-US" sz="1600" b="1" dirty="0">
                <a:solidFill>
                  <a:srgbClr val="4A5568"/>
                </a:solidFill>
                <a:latin typeface="DM Sans" pitchFamily="34" charset="0"/>
                <a:ea typeface="DM Sans" pitchFamily="34" charset="-122"/>
                <a:cs typeface="DM Sans" pitchFamily="34" charset="-120"/>
              </a:rPr>
              <a:t>once</a:t>
            </a:r>
            <a:r>
              <a:rPr lang="en-US" sz="1600" dirty="0">
                <a:solidFill>
                  <a:srgbClr val="4A5568"/>
                </a:solidFill>
                <a:latin typeface="DM Sans" pitchFamily="34" charset="0"/>
                <a:ea typeface="DM Sans" pitchFamily="34" charset="-122"/>
                <a:cs typeface="DM Sans" pitchFamily="34" charset="-120"/>
              </a:rPr>
              <a:t>, it runs </a:t>
            </a:r>
            <a:r>
              <a:rPr lang="en-US" sz="1600" b="1" dirty="0">
                <a:solidFill>
                  <a:srgbClr val="4A5568"/>
                </a:solidFill>
                <a:latin typeface="DM Sans" pitchFamily="34" charset="0"/>
                <a:ea typeface="DM Sans" pitchFamily="34" charset="-122"/>
                <a:cs typeface="DM Sans" pitchFamily="34" charset="-120"/>
              </a:rPr>
              <a:t>again and again</a:t>
            </a:r>
            <a:r>
              <a:rPr lang="en-US" sz="1600" dirty="0">
                <a:solidFill>
                  <a:srgbClr val="4A5568"/>
                </a:solidFill>
                <a:latin typeface="DM Sans" pitchFamily="34" charset="0"/>
                <a:ea typeface="DM Sans" pitchFamily="34" charset="-122"/>
                <a:cs typeface="DM Sans" pitchFamily="34" charset="-120"/>
              </a:rPr>
              <a:t>.</a:t>
            </a:r>
            <a:endParaRPr lang="en-US" sz="1600" dirty="0"/>
          </a:p>
        </p:txBody>
      </p:sp>
      <p:sp>
        <p:nvSpPr>
          <p:cNvPr id="6" name="Text 4"/>
          <p:cNvSpPr/>
          <p:nvPr/>
        </p:nvSpPr>
        <p:spPr>
          <a:xfrm>
            <a:off x="812800" y="4759722"/>
            <a:ext cx="5180076" cy="320014"/>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DM Sans" pitchFamily="34" charset="0"/>
                <a:ea typeface="DM Sans" pitchFamily="34" charset="-122"/>
                <a:cs typeface="DM Sans" pitchFamily="34" charset="-120"/>
              </a:rPr>
              <a:t>Same rules: a colon </a:t>
            </a:r>
            <a:r>
              <a:rPr lang="en-US" sz="1600" b="1" dirty="0">
                <a:solidFill>
                  <a:srgbClr val="4A5568"/>
                </a:solidFill>
                <a:latin typeface="DM Sans" pitchFamily="34" charset="0"/>
                <a:ea typeface="DM Sans" pitchFamily="34" charset="-122"/>
                <a:cs typeface="DM Sans" pitchFamily="34" charset="-120"/>
              </a:rPr>
              <a:t>:</a:t>
            </a:r>
            <a:r>
              <a:rPr lang="en-US" sz="1600" dirty="0">
                <a:solidFill>
                  <a:srgbClr val="4A5568"/>
                </a:solidFill>
                <a:latin typeface="DM Sans" pitchFamily="34" charset="0"/>
                <a:ea typeface="DM Sans" pitchFamily="34" charset="-122"/>
                <a:cs typeface="DM Sans" pitchFamily="34" charset="-120"/>
              </a:rPr>
              <a:t> and 4 spaces of indentation.</a:t>
            </a:r>
            <a:endParaRPr lang="en-US" sz="1600" dirty="0"/>
          </a:p>
        </p:txBody>
      </p:sp>
      <p:sp>
        <p:nvSpPr>
          <p:cNvPr id="7" name="Text 5"/>
          <p:cNvSpPr/>
          <p:nvPr/>
        </p:nvSpPr>
        <p:spPr>
          <a:xfrm>
            <a:off x="7213600" y="1986229"/>
            <a:ext cx="3302000" cy="589227"/>
          </a:xfrm>
          <a:prstGeom prst="roundRect">
            <a:avLst>
              <a:gd name="adj" fmla="val 17243"/>
            </a:avLst>
          </a:prstGeom>
          <a:solidFill>
            <a:srgbClr val="E3ECF6"/>
          </a:solidFill>
          <a:ln/>
        </p:spPr>
        <p:txBody>
          <a:bodyPr wrap="square" lIns="182332" tIns="122642" rIns="182332" bIns="97242" rtlCol="0" anchor="t">
            <a:normAutofit/>
          </a:bodyPr>
          <a:lstStyle/>
          <a:p>
            <a:pPr algn="ctr" indent="0" marL="0">
              <a:lnSpc>
                <a:spcPts val="2240"/>
              </a:lnSpc>
              <a:buNone/>
            </a:pPr>
            <a:r>
              <a:rPr lang="en-US" sz="1600" b="1" dirty="0">
                <a:solidFill>
                  <a:srgbClr val="1F2A37"/>
                </a:solidFill>
                <a:latin typeface="DM Sans" pitchFamily="34" charset="0"/>
                <a:ea typeface="DM Sans" pitchFamily="34" charset="-122"/>
                <a:cs typeface="DM Sans" pitchFamily="34" charset="-120"/>
              </a:rPr>
              <a:t>Is the condition True?</a:t>
            </a:r>
            <a:endParaRPr lang="en-US" sz="1600" dirty="0"/>
          </a:p>
        </p:txBody>
      </p:sp>
      <p:pic>
        <p:nvPicPr>
          <p:cNvPr id="8" name="Image 0" descr="arrow-down">    </p:cNvPr>
          <p:cNvPicPr>
            <a:picLocks noChangeAspect="1"/>
          </p:cNvPicPr>
          <p:nvPr/>
        </p:nvPicPr>
        <p:blipFill>
          <a:blip r:embed="rId1"/>
          <a:srcRect l="0" r="0" t="0" b="0"/>
          <a:stretch/>
        </p:blipFill>
        <p:spPr>
          <a:xfrm>
            <a:off x="8737600" y="2677055"/>
            <a:ext cx="254000" cy="355600"/>
          </a:xfrm>
          <a:prstGeom prst="rect">
            <a:avLst/>
          </a:prstGeom>
        </p:spPr>
      </p:pic>
      <p:sp>
        <p:nvSpPr>
          <p:cNvPr id="9" name="Text 6"/>
          <p:cNvSpPr/>
          <p:nvPr/>
        </p:nvSpPr>
        <p:spPr>
          <a:xfrm>
            <a:off x="7219950" y="3140605"/>
            <a:ext cx="3289300" cy="886354"/>
          </a:xfrm>
          <a:prstGeom prst="roundRect">
            <a:avLst>
              <a:gd name="adj" fmla="val 10746"/>
            </a:avLst>
          </a:prstGeom>
          <a:solidFill>
            <a:srgbClr val="FFFFFF"/>
          </a:solidFill>
          <a:ln w="12700">
            <a:solidFill>
              <a:srgbClr val="D5DEE8"/>
            </a:solidFill>
            <a:prstDash val="solid"/>
          </a:ln>
        </p:spPr>
        <p:txBody>
          <a:bodyPr wrap="square" lIns="190923" tIns="130852" rIns="190923" bIns="105452" rtlCol="0" anchor="t">
            <a:normAutofit/>
          </a:bodyPr>
          <a:lstStyle/>
          <a:p>
            <a:pPr algn="ctr" indent="0" marL="0">
              <a:lnSpc>
                <a:spcPts val="2240"/>
              </a:lnSpc>
              <a:buNone/>
            </a:pPr>
            <a:r>
              <a:rPr lang="en-US" sz="1600" b="1" dirty="0">
                <a:solidFill>
                  <a:srgbClr val="1F2A37"/>
                </a:solidFill>
                <a:latin typeface="DM Sans" pitchFamily="34" charset="0"/>
                <a:ea typeface="DM Sans" pitchFamily="34" charset="-122"/>
                <a:cs typeface="DM Sans" pitchFamily="34" charset="-120"/>
              </a:rPr>
              <a:t>Yes</a:t>
            </a:r>
            <a:r>
              <a:rPr lang="en-US" sz="1600" dirty="0">
                <a:solidFill>
                  <a:srgbClr val="1F2A37"/>
                </a:solidFill>
                <a:latin typeface="DM Sans" pitchFamily="34" charset="0"/>
                <a:ea typeface="DM Sans" pitchFamily="34" charset="-122"/>
                <a:cs typeface="DM Sans" pitchFamily="34" charset="-120"/>
              </a:rPr>
              <a:t> → run the block,</a:t>
            </a:r>
            <a:endParaRPr lang="en-US" sz="1600" dirty="0"/>
          </a:p>
          <a:p>
            <a:pPr algn="ctr" indent="0" marL="0">
              <a:lnSpc>
                <a:spcPts val="2240"/>
              </a:lnSpc>
              <a:buNone/>
            </a:pPr>
            <a:r>
              <a:rPr lang="en-US" sz="1600" dirty="0">
                <a:solidFill>
                  <a:srgbClr val="1F2A37"/>
                </a:solidFill>
                <a:latin typeface="DM Sans" pitchFamily="34" charset="0"/>
                <a:ea typeface="DM Sans" pitchFamily="34" charset="-122"/>
                <a:cs typeface="DM Sans" pitchFamily="34" charset="-120"/>
              </a:rPr>
              <a:t>then check again ↺</a:t>
            </a:r>
            <a:endParaRPr lang="en-US" sz="1600" dirty="0"/>
          </a:p>
        </p:txBody>
      </p:sp>
      <p:pic>
        <p:nvPicPr>
          <p:cNvPr id="10" name="Image 1" descr="arrow-down">    </p:cNvPr>
          <p:cNvPicPr>
            <a:picLocks noChangeAspect="1"/>
          </p:cNvPicPr>
          <p:nvPr/>
        </p:nvPicPr>
        <p:blipFill>
          <a:blip r:embed="rId2"/>
          <a:srcRect l="0" r="0" t="0" b="0"/>
          <a:stretch/>
        </p:blipFill>
        <p:spPr>
          <a:xfrm>
            <a:off x="8737600" y="4134910"/>
            <a:ext cx="254000" cy="355600"/>
          </a:xfrm>
          <a:prstGeom prst="rect">
            <a:avLst/>
          </a:prstGeom>
        </p:spPr>
      </p:pic>
      <p:sp>
        <p:nvSpPr>
          <p:cNvPr id="11" name="Text 7"/>
          <p:cNvSpPr/>
          <p:nvPr/>
        </p:nvSpPr>
        <p:spPr>
          <a:xfrm>
            <a:off x="7219950" y="4598460"/>
            <a:ext cx="3289300" cy="886354"/>
          </a:xfrm>
          <a:prstGeom prst="roundRect">
            <a:avLst>
              <a:gd name="adj" fmla="val 10746"/>
            </a:avLst>
          </a:prstGeom>
          <a:solidFill>
            <a:srgbClr val="FFFFFF"/>
          </a:solidFill>
          <a:ln w="12700">
            <a:solidFill>
              <a:srgbClr val="D5DEE8"/>
            </a:solidFill>
            <a:prstDash val="solid"/>
          </a:ln>
        </p:spPr>
        <p:txBody>
          <a:bodyPr wrap="square" lIns="190923" tIns="130852" rIns="190923" bIns="105452" rtlCol="0" anchor="t">
            <a:normAutofit/>
          </a:bodyPr>
          <a:lstStyle/>
          <a:p>
            <a:pPr algn="ctr" indent="0" marL="0">
              <a:lnSpc>
                <a:spcPts val="2240"/>
              </a:lnSpc>
              <a:buNone/>
            </a:pPr>
            <a:r>
              <a:rPr lang="en-US" sz="1600" b="1" dirty="0">
                <a:solidFill>
                  <a:srgbClr val="1F2A37"/>
                </a:solidFill>
                <a:latin typeface="DM Sans" pitchFamily="34" charset="0"/>
                <a:ea typeface="DM Sans" pitchFamily="34" charset="-122"/>
                <a:cs typeface="DM Sans" pitchFamily="34" charset="-120"/>
              </a:rPr>
              <a:t>No</a:t>
            </a:r>
            <a:r>
              <a:rPr lang="en-US" sz="1600" dirty="0">
                <a:solidFill>
                  <a:srgbClr val="1F2A37"/>
                </a:solidFill>
                <a:latin typeface="DM Sans" pitchFamily="34" charset="0"/>
                <a:ea typeface="DM Sans" pitchFamily="34" charset="-122"/>
                <a:cs typeface="DM Sans" pitchFamily="34" charset="-120"/>
              </a:rPr>
              <a:t> → leave the loop</a:t>
            </a:r>
            <a:endParaRPr lang="en-US" sz="1600" dirty="0"/>
          </a:p>
          <a:p>
            <a:pPr algn="ctr" indent="0" marL="0">
              <a:lnSpc>
                <a:spcPts val="2240"/>
              </a:lnSpc>
              <a:buNone/>
            </a:pPr>
            <a:r>
              <a:rPr lang="en-US" sz="1600" dirty="0">
                <a:solidFill>
                  <a:srgbClr val="1F2A37"/>
                </a:solidFill>
                <a:latin typeface="DM Sans" pitchFamily="34" charset="0"/>
                <a:ea typeface="DM Sans" pitchFamily="34" charset="-122"/>
                <a:cs typeface="DM Sans" pitchFamily="34" charset="-120"/>
              </a:rPr>
              <a:t>and continue</a:t>
            </a:r>
            <a:endParaRPr lang="en-US" sz="1600" dirty="0"/>
          </a:p>
        </p:txBody>
      </p:sp>
      <p:sp>
        <p:nvSpPr>
          <p:cNvPr id="12"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4: while loops</a:t>
            </a:r>
            <a:endParaRPr lang="en-US" sz="1200" dirty="0"/>
          </a:p>
        </p:txBody>
      </p:sp>
      <p:sp>
        <p:nvSpPr>
          <p:cNvPr id="13"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EXAMPLE</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Counting from 1 to 5</a:t>
            </a:r>
            <a:endParaRPr lang="en-US" sz="3600" dirty="0"/>
          </a:p>
        </p:txBody>
      </p:sp>
      <p:sp>
        <p:nvSpPr>
          <p:cNvPr id="4" name="Text 2"/>
          <p:cNvSpPr/>
          <p:nvPr/>
        </p:nvSpPr>
        <p:spPr>
          <a:xfrm>
            <a:off x="812800" y="1986229"/>
            <a:ext cx="627888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Code</a:t>
            </a:r>
            <a:endParaRPr lang="en-US" sz="1400" dirty="0"/>
          </a:p>
        </p:txBody>
      </p:sp>
      <p:sp>
        <p:nvSpPr>
          <p:cNvPr id="5" name="Text 3"/>
          <p:cNvSpPr/>
          <p:nvPr/>
        </p:nvSpPr>
        <p:spPr>
          <a:xfrm>
            <a:off x="812800" y="2362135"/>
            <a:ext cx="6096000" cy="2682081"/>
          </a:xfrm>
          <a:prstGeom prst="roundRect">
            <a:avLst>
              <a:gd name="adj" fmla="val 4735"/>
            </a:avLst>
          </a:prstGeom>
          <a:solidFill>
            <a:srgbClr val="1F2A37"/>
          </a:solidFill>
          <a:ln/>
        </p:spPr>
        <p:txBody>
          <a:bodyPr wrap="square" lIns="318403" tIns="267603" rIns="156859" bIns="242203" rtlCol="0" anchor="t">
            <a:normAutofit/>
          </a:bodyPr>
          <a:lstStyle/>
          <a:p>
            <a:pPr algn="l" indent="0" marL="0">
              <a:lnSpc>
                <a:spcPts val="2720"/>
              </a:lnSpc>
              <a:buNone/>
            </a:pPr>
            <a:r>
              <a:rPr lang="en-US" sz="1700" dirty="0">
                <a:solidFill>
                  <a:srgbClr val="E8EDF3"/>
                </a:solidFill>
                <a:latin typeface="JetBrains Mono" pitchFamily="49" charset="0"/>
                <a:ea typeface="JetBrains Mono" pitchFamily="49" charset="-122"/>
                <a:cs typeface="JetBrains Mono" pitchFamily="49" charset="-120"/>
              </a:rPr>
              <a:t>count = 1</a:t>
            </a:r>
            <a:endParaRPr lang="en-US" sz="1700" dirty="0"/>
          </a:p>
          <a:p>
            <a:pPr algn="l" indent="0" marL="0">
              <a:lnSpc>
                <a:spcPts val="2720"/>
              </a:lnSpc>
              <a:buNone/>
            </a:pPr>
            <a:r>
              <a:rPr lang="en-US" sz="1700" dirty="0">
                <a:solidFill>
                  <a:srgbClr val="8EC1F0"/>
                </a:solidFill>
                <a:latin typeface="JetBrains Mono" pitchFamily="49" charset="0"/>
                <a:ea typeface="JetBrains Mono" pitchFamily="49" charset="-122"/>
                <a:cs typeface="JetBrains Mono" pitchFamily="49" charset="-120"/>
              </a:rPr>
              <a:t>while</a:t>
            </a:r>
            <a:r>
              <a:rPr lang="en-US" sz="1700" dirty="0">
                <a:solidFill>
                  <a:srgbClr val="E8EDF3"/>
                </a:solidFill>
                <a:latin typeface="JetBrains Mono" pitchFamily="49" charset="0"/>
                <a:ea typeface="JetBrains Mono" pitchFamily="49" charset="-122"/>
                <a:cs typeface="JetBrains Mono" pitchFamily="49" charset="-120"/>
              </a:rPr>
              <a:t> count &lt;= 5:</a:t>
            </a:r>
            <a:endParaRPr lang="en-US" sz="1700" dirty="0"/>
          </a:p>
          <a:p>
            <a:pPr algn="l" indent="0" marL="0">
              <a:lnSpc>
                <a:spcPts val="2720"/>
              </a:lnSpc>
              <a:buNone/>
            </a:pPr>
            <a:r>
              <a:rPr lang="en-US" sz="1700" dirty="0">
                <a:solidFill>
                  <a:srgbClr val="E8EDF3"/>
                </a:solidFill>
                <a:latin typeface="JetBrains Mono" pitchFamily="49" charset="0"/>
                <a:ea typeface="JetBrains Mono" pitchFamily="49" charset="-122"/>
                <a:cs typeface="JetBrains Mono" pitchFamily="49" charset="-120"/>
              </a:rPr>
              <a:t>    print(</a:t>
            </a:r>
            <a:r>
              <a:rPr lang="en-US" sz="1700" dirty="0">
                <a:solidFill>
                  <a:srgbClr val="F2C94C"/>
                </a:solidFill>
                <a:latin typeface="JetBrains Mono" pitchFamily="49" charset="0"/>
                <a:ea typeface="JetBrains Mono" pitchFamily="49" charset="-122"/>
                <a:cs typeface="JetBrains Mono" pitchFamily="49" charset="-120"/>
              </a:rPr>
              <a:t>"Hello"</a:t>
            </a:r>
            <a:r>
              <a:rPr lang="en-US" sz="1700" dirty="0">
                <a:solidFill>
                  <a:srgbClr val="E8EDF3"/>
                </a:solidFill>
                <a:latin typeface="JetBrains Mono" pitchFamily="49" charset="0"/>
                <a:ea typeface="JetBrains Mono" pitchFamily="49" charset="-122"/>
                <a:cs typeface="JetBrains Mono" pitchFamily="49" charset="-120"/>
              </a:rPr>
              <a:t>, count)</a:t>
            </a:r>
            <a:endParaRPr lang="en-US" sz="1700" dirty="0"/>
          </a:p>
          <a:p>
            <a:pPr algn="l" indent="0" marL="0">
              <a:lnSpc>
                <a:spcPts val="2720"/>
              </a:lnSpc>
              <a:buNone/>
            </a:pPr>
            <a:r>
              <a:rPr lang="en-US" sz="1700" dirty="0">
                <a:solidFill>
                  <a:srgbClr val="E8EDF3"/>
                </a:solidFill>
                <a:latin typeface="JetBrains Mono" pitchFamily="49" charset="0"/>
                <a:ea typeface="JetBrains Mono" pitchFamily="49" charset="-122"/>
                <a:cs typeface="JetBrains Mono" pitchFamily="49" charset="-120"/>
              </a:rPr>
              <a:t>    count = count + 1</a:t>
            </a:r>
            <a:endParaRPr lang="en-US" sz="1700" dirty="0"/>
          </a:p>
          <a:p>
            <a:pPr algn="l" indent="0" marL="0">
              <a:lnSpc>
                <a:spcPts val="2720"/>
              </a:lnSpc>
              <a:buNone/>
            </a:pPr>
            <a:endParaRPr lang="en-US" sz="1700" dirty="0"/>
          </a:p>
          <a:p>
            <a:pPr algn="l" indent="0" marL="0">
              <a:lnSpc>
                <a:spcPts val="2720"/>
              </a:lnSpc>
              <a:buNone/>
            </a:pPr>
            <a:r>
              <a:rPr lang="en-US" sz="1700" dirty="0">
                <a:solidFill>
                  <a:srgbClr val="E8EDF3"/>
                </a:solidFill>
                <a:latin typeface="JetBrains Mono" pitchFamily="49" charset="0"/>
                <a:ea typeface="JetBrains Mono" pitchFamily="49" charset="-122"/>
                <a:cs typeface="JetBrains Mono" pitchFamily="49" charset="-120"/>
              </a:rPr>
              <a:t>print(</a:t>
            </a:r>
            <a:r>
              <a:rPr lang="en-US" sz="1700" dirty="0">
                <a:solidFill>
                  <a:srgbClr val="F2C94C"/>
                </a:solidFill>
                <a:latin typeface="JetBrains Mono" pitchFamily="49" charset="0"/>
                <a:ea typeface="JetBrains Mono" pitchFamily="49" charset="-122"/>
                <a:cs typeface="JetBrains Mono" pitchFamily="49" charset="-120"/>
              </a:rPr>
              <a:t>"Done!"</a:t>
            </a:r>
            <a:r>
              <a:rPr lang="en-US" sz="1700" dirty="0">
                <a:solidFill>
                  <a:srgbClr val="E8EDF3"/>
                </a:solidFill>
                <a:latin typeface="JetBrains Mono" pitchFamily="49" charset="0"/>
                <a:ea typeface="JetBrains Mono" pitchFamily="49" charset="-122"/>
                <a:cs typeface="JetBrains Mono" pitchFamily="49" charset="-120"/>
              </a:rPr>
              <a:t>)</a:t>
            </a:r>
            <a:endParaRPr lang="en-US" sz="1700" dirty="0"/>
          </a:p>
        </p:txBody>
      </p:sp>
      <p:sp>
        <p:nvSpPr>
          <p:cNvPr id="6" name="Text 4"/>
          <p:cNvSpPr/>
          <p:nvPr/>
        </p:nvSpPr>
        <p:spPr>
          <a:xfrm>
            <a:off x="7315200" y="1986229"/>
            <a:ext cx="418592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Output</a:t>
            </a:r>
            <a:endParaRPr lang="en-US" sz="1400" dirty="0"/>
          </a:p>
        </p:txBody>
      </p:sp>
      <p:sp>
        <p:nvSpPr>
          <p:cNvPr id="7" name="Text 5"/>
          <p:cNvSpPr/>
          <p:nvPr/>
        </p:nvSpPr>
        <p:spPr>
          <a:xfrm>
            <a:off x="7315200" y="2362135"/>
            <a:ext cx="4064000" cy="2682081"/>
          </a:xfrm>
          <a:prstGeom prst="roundRect">
            <a:avLst>
              <a:gd name="adj" fmla="val 4735"/>
            </a:avLst>
          </a:prstGeom>
          <a:solidFill>
            <a:srgbClr val="EEF2F6"/>
          </a:solidFill>
          <a:ln/>
        </p:spPr>
        <p:txBody>
          <a:bodyPr wrap="square" lIns="369203" tIns="267603" rIns="219343" bIns="242203" rtlCol="0" anchor="t">
            <a:normAutofit/>
          </a:bodyPr>
          <a:lstStyle/>
          <a:p>
            <a:pPr algn="l" indent="0" marL="0">
              <a:lnSpc>
                <a:spcPts val="2720"/>
              </a:lnSpc>
              <a:buNone/>
            </a:pPr>
            <a:r>
              <a:rPr lang="en-US" sz="1700" dirty="0">
                <a:solidFill>
                  <a:srgbClr val="1F2A37"/>
                </a:solidFill>
                <a:latin typeface="JetBrains Mono" pitchFamily="49" charset="0"/>
                <a:ea typeface="JetBrains Mono" pitchFamily="49" charset="-122"/>
                <a:cs typeface="JetBrains Mono" pitchFamily="49" charset="-120"/>
              </a:rPr>
              <a:t>Hello 1</a:t>
            </a:r>
            <a:endParaRPr lang="en-US" sz="1700" dirty="0"/>
          </a:p>
          <a:p>
            <a:pPr algn="l" indent="0" marL="0">
              <a:lnSpc>
                <a:spcPts val="2720"/>
              </a:lnSpc>
              <a:buNone/>
            </a:pPr>
            <a:r>
              <a:rPr lang="en-US" sz="1700" dirty="0">
                <a:solidFill>
                  <a:srgbClr val="1F2A37"/>
                </a:solidFill>
                <a:latin typeface="JetBrains Mono" pitchFamily="49" charset="0"/>
                <a:ea typeface="JetBrains Mono" pitchFamily="49" charset="-122"/>
                <a:cs typeface="JetBrains Mono" pitchFamily="49" charset="-120"/>
              </a:rPr>
              <a:t>Hello 2</a:t>
            </a:r>
            <a:endParaRPr lang="en-US" sz="1700" dirty="0"/>
          </a:p>
          <a:p>
            <a:pPr algn="l" indent="0" marL="0">
              <a:lnSpc>
                <a:spcPts val="2720"/>
              </a:lnSpc>
              <a:buNone/>
            </a:pPr>
            <a:r>
              <a:rPr lang="en-US" sz="1700" dirty="0">
                <a:solidFill>
                  <a:srgbClr val="1F2A37"/>
                </a:solidFill>
                <a:latin typeface="JetBrains Mono" pitchFamily="49" charset="0"/>
                <a:ea typeface="JetBrains Mono" pitchFamily="49" charset="-122"/>
                <a:cs typeface="JetBrains Mono" pitchFamily="49" charset="-120"/>
              </a:rPr>
              <a:t>Hello 3</a:t>
            </a:r>
            <a:endParaRPr lang="en-US" sz="1700" dirty="0"/>
          </a:p>
          <a:p>
            <a:pPr algn="l" indent="0" marL="0">
              <a:lnSpc>
                <a:spcPts val="2720"/>
              </a:lnSpc>
              <a:buNone/>
            </a:pPr>
            <a:r>
              <a:rPr lang="en-US" sz="1700" dirty="0">
                <a:solidFill>
                  <a:srgbClr val="1F2A37"/>
                </a:solidFill>
                <a:latin typeface="JetBrains Mono" pitchFamily="49" charset="0"/>
                <a:ea typeface="JetBrains Mono" pitchFamily="49" charset="-122"/>
                <a:cs typeface="JetBrains Mono" pitchFamily="49" charset="-120"/>
              </a:rPr>
              <a:t>Hello 4</a:t>
            </a:r>
            <a:endParaRPr lang="en-US" sz="1700" dirty="0"/>
          </a:p>
          <a:p>
            <a:pPr algn="l" indent="0" marL="0">
              <a:lnSpc>
                <a:spcPts val="2720"/>
              </a:lnSpc>
              <a:buNone/>
            </a:pPr>
            <a:r>
              <a:rPr lang="en-US" sz="1700" dirty="0">
                <a:solidFill>
                  <a:srgbClr val="1F2A37"/>
                </a:solidFill>
                <a:latin typeface="JetBrains Mono" pitchFamily="49" charset="0"/>
                <a:ea typeface="JetBrains Mono" pitchFamily="49" charset="-122"/>
                <a:cs typeface="JetBrains Mono" pitchFamily="49" charset="-120"/>
              </a:rPr>
              <a:t>Hello 5</a:t>
            </a:r>
            <a:endParaRPr lang="en-US" sz="1700" dirty="0"/>
          </a:p>
          <a:p>
            <a:pPr algn="l" indent="0" marL="0">
              <a:lnSpc>
                <a:spcPts val="2720"/>
              </a:lnSpc>
              <a:buNone/>
            </a:pPr>
            <a:r>
              <a:rPr lang="en-US" sz="1700" dirty="0">
                <a:solidFill>
                  <a:srgbClr val="1F2A37"/>
                </a:solidFill>
                <a:latin typeface="JetBrains Mono" pitchFamily="49" charset="0"/>
                <a:ea typeface="JetBrains Mono" pitchFamily="49" charset="-122"/>
                <a:cs typeface="JetBrains Mono" pitchFamily="49" charset="-120"/>
              </a:rPr>
              <a:t>Done!</a:t>
            </a:r>
            <a:endParaRPr lang="en-US" sz="1700" dirty="0"/>
          </a:p>
        </p:txBody>
      </p:sp>
      <p:sp>
        <p:nvSpPr>
          <p:cNvPr id="8" name="Shape 6"/>
          <p:cNvSpPr/>
          <p:nvPr/>
        </p:nvSpPr>
        <p:spPr>
          <a:xfrm>
            <a:off x="7315200" y="2362135"/>
            <a:ext cx="4064000" cy="2682081"/>
          </a:xfrm>
          <a:custGeom>
            <a:avLst/>
            <a:gdLst/>
            <a:ahLst/>
            <a:cxnLst/>
            <a:rect l="l" t="t" r="r" b="b"/>
            <a:pathLst>
              <a:path w="4064000" h="2682081">
                <a:moveTo>
                  <a:pt x="127000" y="2682081"/>
                </a:moveTo>
                <a:lnTo>
                  <a:pt x="127000" y="2682081"/>
                </a:lnTo>
                <a:arcTo hR="127000" wR="127000" stAng="5400000" swAng="5400000"/>
                <a:lnTo>
                  <a:pt x="0" y="127000"/>
                </a:lnTo>
                <a:arcTo hR="127000" wR="127000" stAng="10800000" swAng="5400000"/>
                <a:lnTo>
                  <a:pt x="127000" y="0"/>
                </a:lnTo>
                <a:arcTo hR="127000" wR="76200" stAng="16200000" swAng="-5400000"/>
                <a:lnTo>
                  <a:pt x="50800" y="2555081"/>
                </a:lnTo>
                <a:arcTo hR="127000" wR="76200" stAng="10800000" swAng="-5400000"/>
                <a:close/>
              </a:path>
            </a:pathLst>
          </a:custGeom>
          <a:solidFill>
            <a:srgbClr val="3776AB"/>
          </a:solidFill>
          <a:ln/>
        </p:spPr>
      </p:sp>
      <p:sp>
        <p:nvSpPr>
          <p:cNvPr id="9" name="Text 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4: while loops</a:t>
            </a:r>
            <a:endParaRPr lang="en-US" sz="1200" dirty="0"/>
          </a:p>
        </p:txBody>
      </p:sp>
      <p:sp>
        <p:nvSpPr>
          <p:cNvPr id="10"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STEP BY STEP</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What Python does each round</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129"/>
          <a:ext cx="10553700" cy="2636044"/>
        </p:xfrm>
        <a:graphic>
          <a:graphicData uri="http://schemas.openxmlformats.org/drawingml/2006/table">
            <a:tbl>
              <a:tblPr/>
              <a:tblGrid>
                <a:gridCol w="2321814"/>
                <a:gridCol w="3166110"/>
                <a:gridCol w="5065776"/>
              </a:tblGrid>
              <a:tr h="439341">
                <a:tc>
                  <a:txBody>
                    <a:bodyPr/>
                    <a:lstStyle/>
                    <a:p>
                      <a:pPr indent="0" marL="0">
                        <a:lnSpc>
                          <a:spcPts val="2240"/>
                        </a:lnSpc>
                        <a:buNone/>
                      </a:pPr>
                      <a:r>
                        <a:rPr lang="en-US" sz="1600" b="1" dirty="0">
                          <a:solidFill>
                            <a:srgbClr val="1F2A37"/>
                          </a:solidFill>
                          <a:latin typeface="DM Sans" pitchFamily="34" charset="0"/>
                          <a:ea typeface="DM Sans" pitchFamily="34" charset="-122"/>
                          <a:cs typeface="DM Sans" pitchFamily="34" charset="-120"/>
                        </a:rPr>
                        <a:t>count</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2240"/>
                        </a:lnSpc>
                        <a:buNone/>
                      </a:pPr>
                      <a:r>
                        <a:rPr lang="en-US" sz="1600" b="1" dirty="0">
                          <a:solidFill>
                            <a:srgbClr val="1F2A37"/>
                          </a:solidFill>
                          <a:latin typeface="DM Sans" pitchFamily="34" charset="0"/>
                          <a:ea typeface="DM Sans" pitchFamily="34" charset="-122"/>
                          <a:cs typeface="DM Sans" pitchFamily="34" charset="-120"/>
                        </a:rPr>
                        <a:t>count &lt;= 5 ?</a:t>
                      </a:r>
                      <a:endParaRPr lang="en-US" sz="1600" dirty="0">
                        <a:latin typeface="DM Sans" charset="0"/>
                        <a:ea typeface="DM Sans" charset="0"/>
                        <a:cs typeface="DM Sans" charset="0"/>
                      </a:endParaRPr>
                    </a:p>
                  </a:txBody>
                  <a:tcPr marL="71120" marR="71120" marT="71120" marB="7112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2240"/>
                        </a:lnSpc>
                        <a:buNone/>
                      </a:pPr>
                      <a:r>
                        <a:rPr lang="en-US" sz="1600" b="1" dirty="0">
                          <a:solidFill>
                            <a:srgbClr val="1F2A37"/>
                          </a:solidFill>
                          <a:latin typeface="DM Sans" pitchFamily="34" charset="0"/>
                          <a:ea typeface="DM Sans" pitchFamily="34" charset="-122"/>
                          <a:cs typeface="DM Sans" pitchFamily="34" charset="-120"/>
                        </a:rPr>
                        <a:t>What happens</a:t>
                      </a:r>
                      <a:endParaRPr lang="en-US" sz="1600" dirty="0">
                        <a:latin typeface="DM Sans" charset="0"/>
                        <a:ea typeface="DM Sans" charset="0"/>
                        <a:cs typeface="DM Sans" charset="0"/>
                      </a:endParaRPr>
                    </a:p>
                  </a:txBody>
                  <a:tcPr marL="71120" marR="71120" marT="71120" marB="7112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1</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True</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prints Hello 1 → count becomes 2</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2</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True</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prints Hello 2 → count becomes 3</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5</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True</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prints Hello 5 → count becomes 6</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6</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False</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loop stops → prints Done!</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4: while loops</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4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REMEMBER</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Every loop has 3 parts</a:t>
            </a:r>
            <a:endParaRPr lang="en-US" sz="3600" dirty="0"/>
          </a:p>
        </p:txBody>
      </p:sp>
      <p:sp>
        <p:nvSpPr>
          <p:cNvPr id="4" name="Shape 2"/>
          <p:cNvSpPr/>
          <p:nvPr/>
        </p:nvSpPr>
        <p:spPr>
          <a:xfrm>
            <a:off x="815975" y="1989404"/>
            <a:ext cx="3346450" cy="2917825"/>
          </a:xfrm>
          <a:prstGeom prst="roundRect">
            <a:avLst>
              <a:gd name="adj" fmla="val 4244"/>
            </a:avLst>
          </a:prstGeom>
          <a:solidFill>
            <a:srgbClr val="FFFFFF"/>
          </a:solidFill>
          <a:ln w="6350">
            <a:solidFill>
              <a:srgbClr val="D5DEE8"/>
            </a:solidFill>
            <a:prstDash val="solid"/>
          </a:ln>
        </p:spPr>
      </p:sp>
      <p:sp>
        <p:nvSpPr>
          <p:cNvPr id="5" name="Text 3"/>
          <p:cNvSpPr/>
          <p:nvPr/>
        </p:nvSpPr>
        <p:spPr>
          <a:xfrm>
            <a:off x="1121833" y="2295261"/>
            <a:ext cx="2816775"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3776AB"/>
                </a:solidFill>
                <a:latin typeface="DM Sans" pitchFamily="34" charset="0"/>
                <a:ea typeface="DM Sans" pitchFamily="34" charset="-122"/>
                <a:cs typeface="DM Sans" pitchFamily="34" charset="-120"/>
              </a:rPr>
              <a:t>1</a:t>
            </a:r>
            <a:endParaRPr lang="en-US" sz="3600" dirty="0"/>
          </a:p>
        </p:txBody>
      </p:sp>
      <p:sp>
        <p:nvSpPr>
          <p:cNvPr id="6" name="Text 4"/>
          <p:cNvSpPr/>
          <p:nvPr/>
        </p:nvSpPr>
        <p:spPr>
          <a:xfrm>
            <a:off x="1121833" y="2904861"/>
            <a:ext cx="2816775"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F2A37"/>
                </a:solidFill>
                <a:latin typeface="DM Sans" pitchFamily="34" charset="0"/>
                <a:ea typeface="DM Sans" pitchFamily="34" charset="-122"/>
                <a:cs typeface="DM Sans" pitchFamily="34" charset="-120"/>
              </a:rPr>
              <a:t>Start</a:t>
            </a:r>
            <a:endParaRPr lang="en-US" sz="2200" dirty="0"/>
          </a:p>
        </p:txBody>
      </p:sp>
      <p:sp>
        <p:nvSpPr>
          <p:cNvPr id="7" name="Text 5"/>
          <p:cNvSpPr/>
          <p:nvPr/>
        </p:nvSpPr>
        <p:spPr>
          <a:xfrm>
            <a:off x="1121833" y="3392488"/>
            <a:ext cx="2734733" cy="487627"/>
          </a:xfrm>
          <a:prstGeom prst="roundRect">
            <a:avLst>
              <a:gd name="adj" fmla="val 15627"/>
            </a:avLst>
          </a:prstGeom>
          <a:solidFill>
            <a:srgbClr val="EEF2F6"/>
          </a:solidFill>
          <a:ln/>
        </p:spPr>
        <p:txBody>
          <a:bodyPr wrap="square" lIns="130082" tIns="79282" rIns="57184" bIns="53882" rtlCol="0" anchor="t">
            <a:normAutofit/>
          </a:bodyPr>
          <a:lstStyle/>
          <a:p>
            <a:pPr algn="l" indent="0" marL="0">
              <a:lnSpc>
                <a:spcPts val="2240"/>
              </a:lnSpc>
              <a:buNone/>
            </a:pPr>
            <a:r>
              <a:rPr lang="en-US" sz="1600" dirty="0">
                <a:solidFill>
                  <a:srgbClr val="1F2A37"/>
                </a:solidFill>
                <a:latin typeface="JetBrains Mono" pitchFamily="49" charset="0"/>
                <a:ea typeface="JetBrains Mono" pitchFamily="49" charset="-122"/>
                <a:cs typeface="JetBrains Mono" pitchFamily="49" charset="-120"/>
              </a:rPr>
              <a:t>count = 1</a:t>
            </a:r>
            <a:endParaRPr lang="en-US" sz="1600" dirty="0"/>
          </a:p>
        </p:txBody>
      </p:sp>
      <p:sp>
        <p:nvSpPr>
          <p:cNvPr id="8" name="Text 6"/>
          <p:cNvSpPr/>
          <p:nvPr/>
        </p:nvSpPr>
        <p:spPr>
          <a:xfrm>
            <a:off x="1121833" y="4032517"/>
            <a:ext cx="2816775"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Create the counter before the loop</a:t>
            </a:r>
            <a:endParaRPr lang="en-US" sz="1600" dirty="0"/>
          </a:p>
        </p:txBody>
      </p:sp>
      <p:sp>
        <p:nvSpPr>
          <p:cNvPr id="9" name="Shape 7"/>
          <p:cNvSpPr/>
          <p:nvPr/>
        </p:nvSpPr>
        <p:spPr>
          <a:xfrm>
            <a:off x="4422775" y="1989404"/>
            <a:ext cx="3346450" cy="2917825"/>
          </a:xfrm>
          <a:prstGeom prst="roundRect">
            <a:avLst>
              <a:gd name="adj" fmla="val 4244"/>
            </a:avLst>
          </a:prstGeom>
          <a:solidFill>
            <a:srgbClr val="FFFFFF"/>
          </a:solidFill>
          <a:ln w="6350">
            <a:solidFill>
              <a:srgbClr val="D5DEE8"/>
            </a:solidFill>
            <a:prstDash val="solid"/>
          </a:ln>
        </p:spPr>
      </p:sp>
      <p:sp>
        <p:nvSpPr>
          <p:cNvPr id="10" name="Text 8"/>
          <p:cNvSpPr/>
          <p:nvPr/>
        </p:nvSpPr>
        <p:spPr>
          <a:xfrm>
            <a:off x="4728633" y="2295261"/>
            <a:ext cx="2816775"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3776AB"/>
                </a:solidFill>
                <a:latin typeface="DM Sans" pitchFamily="34" charset="0"/>
                <a:ea typeface="DM Sans" pitchFamily="34" charset="-122"/>
                <a:cs typeface="DM Sans" pitchFamily="34" charset="-120"/>
              </a:rPr>
              <a:t>2</a:t>
            </a:r>
            <a:endParaRPr lang="en-US" sz="3600" dirty="0"/>
          </a:p>
        </p:txBody>
      </p:sp>
      <p:sp>
        <p:nvSpPr>
          <p:cNvPr id="11" name="Text 9"/>
          <p:cNvSpPr/>
          <p:nvPr/>
        </p:nvSpPr>
        <p:spPr>
          <a:xfrm>
            <a:off x="4728633" y="2904861"/>
            <a:ext cx="2816775"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F2A37"/>
                </a:solidFill>
                <a:latin typeface="DM Sans" pitchFamily="34" charset="0"/>
                <a:ea typeface="DM Sans" pitchFamily="34" charset="-122"/>
                <a:cs typeface="DM Sans" pitchFamily="34" charset="-120"/>
              </a:rPr>
              <a:t>Condition</a:t>
            </a:r>
            <a:endParaRPr lang="en-US" sz="2200" dirty="0"/>
          </a:p>
        </p:txBody>
      </p:sp>
      <p:sp>
        <p:nvSpPr>
          <p:cNvPr id="12" name="Text 10"/>
          <p:cNvSpPr/>
          <p:nvPr/>
        </p:nvSpPr>
        <p:spPr>
          <a:xfrm>
            <a:off x="4728633" y="3392488"/>
            <a:ext cx="2734733" cy="487627"/>
          </a:xfrm>
          <a:prstGeom prst="roundRect">
            <a:avLst>
              <a:gd name="adj" fmla="val 15627"/>
            </a:avLst>
          </a:prstGeom>
          <a:solidFill>
            <a:srgbClr val="EEF2F6"/>
          </a:solidFill>
          <a:ln/>
        </p:spPr>
        <p:txBody>
          <a:bodyPr wrap="square" lIns="130082" tIns="79282" rIns="57184" bIns="53882" rtlCol="0" anchor="t">
            <a:normAutofit/>
          </a:bodyPr>
          <a:lstStyle/>
          <a:p>
            <a:pPr algn="l" indent="0" marL="0">
              <a:lnSpc>
                <a:spcPts val="2240"/>
              </a:lnSpc>
              <a:buNone/>
            </a:pPr>
            <a:r>
              <a:rPr lang="en-US" sz="1600" dirty="0">
                <a:solidFill>
                  <a:srgbClr val="1F2A37"/>
                </a:solidFill>
                <a:latin typeface="JetBrains Mono" pitchFamily="49" charset="0"/>
                <a:ea typeface="JetBrains Mono" pitchFamily="49" charset="-122"/>
                <a:cs typeface="JetBrains Mono" pitchFamily="49" charset="-120"/>
              </a:rPr>
              <a:t>count &lt;= 5</a:t>
            </a:r>
            <a:endParaRPr lang="en-US" sz="1600" dirty="0"/>
          </a:p>
        </p:txBody>
      </p:sp>
      <p:sp>
        <p:nvSpPr>
          <p:cNvPr id="13" name="Text 11"/>
          <p:cNvSpPr/>
          <p:nvPr/>
        </p:nvSpPr>
        <p:spPr>
          <a:xfrm>
            <a:off x="4728633" y="4032517"/>
            <a:ext cx="3037417"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Checked before every round</a:t>
            </a:r>
            <a:endParaRPr lang="en-US" sz="1600" dirty="0"/>
          </a:p>
        </p:txBody>
      </p:sp>
      <p:sp>
        <p:nvSpPr>
          <p:cNvPr id="14" name="Shape 12"/>
          <p:cNvSpPr/>
          <p:nvPr/>
        </p:nvSpPr>
        <p:spPr>
          <a:xfrm>
            <a:off x="8029575" y="1989404"/>
            <a:ext cx="3346450" cy="2917825"/>
          </a:xfrm>
          <a:prstGeom prst="roundRect">
            <a:avLst>
              <a:gd name="adj" fmla="val 4244"/>
            </a:avLst>
          </a:prstGeom>
          <a:solidFill>
            <a:srgbClr val="FFFFFF"/>
          </a:solidFill>
          <a:ln w="6350">
            <a:solidFill>
              <a:srgbClr val="D5DEE8"/>
            </a:solidFill>
            <a:prstDash val="solid"/>
          </a:ln>
        </p:spPr>
      </p:sp>
      <p:sp>
        <p:nvSpPr>
          <p:cNvPr id="15" name="Text 13"/>
          <p:cNvSpPr/>
          <p:nvPr/>
        </p:nvSpPr>
        <p:spPr>
          <a:xfrm>
            <a:off x="8335434" y="2295261"/>
            <a:ext cx="2816775"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3776AB"/>
                </a:solidFill>
                <a:latin typeface="DM Sans" pitchFamily="34" charset="0"/>
                <a:ea typeface="DM Sans" pitchFamily="34" charset="-122"/>
                <a:cs typeface="DM Sans" pitchFamily="34" charset="-120"/>
              </a:rPr>
              <a:t>3</a:t>
            </a:r>
            <a:endParaRPr lang="en-US" sz="3600" dirty="0"/>
          </a:p>
        </p:txBody>
      </p:sp>
      <p:sp>
        <p:nvSpPr>
          <p:cNvPr id="16" name="Text 14"/>
          <p:cNvSpPr/>
          <p:nvPr/>
        </p:nvSpPr>
        <p:spPr>
          <a:xfrm>
            <a:off x="8335434" y="2904861"/>
            <a:ext cx="2816775"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F2A37"/>
                </a:solidFill>
                <a:latin typeface="DM Sans" pitchFamily="34" charset="0"/>
                <a:ea typeface="DM Sans" pitchFamily="34" charset="-122"/>
                <a:cs typeface="DM Sans" pitchFamily="34" charset="-120"/>
              </a:rPr>
              <a:t>Update</a:t>
            </a:r>
            <a:endParaRPr lang="en-US" sz="2200" dirty="0"/>
          </a:p>
        </p:txBody>
      </p:sp>
      <p:sp>
        <p:nvSpPr>
          <p:cNvPr id="17" name="Text 15"/>
          <p:cNvSpPr/>
          <p:nvPr/>
        </p:nvSpPr>
        <p:spPr>
          <a:xfrm>
            <a:off x="8335434" y="3392488"/>
            <a:ext cx="2734733" cy="487627"/>
          </a:xfrm>
          <a:prstGeom prst="roundRect">
            <a:avLst>
              <a:gd name="adj" fmla="val 15627"/>
            </a:avLst>
          </a:prstGeom>
          <a:solidFill>
            <a:srgbClr val="EEF2F6"/>
          </a:solidFill>
          <a:ln/>
        </p:spPr>
        <p:txBody>
          <a:bodyPr wrap="square" lIns="130082" tIns="79282" rIns="57184" bIns="53882" rtlCol="0" anchor="t">
            <a:normAutofit/>
          </a:bodyPr>
          <a:lstStyle/>
          <a:p>
            <a:pPr algn="l" indent="0" marL="0">
              <a:lnSpc>
                <a:spcPts val="2240"/>
              </a:lnSpc>
              <a:buNone/>
            </a:pPr>
            <a:r>
              <a:rPr lang="en-US" sz="1600" dirty="0">
                <a:solidFill>
                  <a:srgbClr val="1F2A37"/>
                </a:solidFill>
                <a:latin typeface="JetBrains Mono" pitchFamily="49" charset="0"/>
                <a:ea typeface="JetBrains Mono" pitchFamily="49" charset="-122"/>
                <a:cs typeface="JetBrains Mono" pitchFamily="49" charset="-120"/>
              </a:rPr>
              <a:t>count += 1</a:t>
            </a:r>
            <a:endParaRPr lang="en-US" sz="1600" dirty="0"/>
          </a:p>
        </p:txBody>
      </p:sp>
      <p:sp>
        <p:nvSpPr>
          <p:cNvPr id="18" name="Text 16"/>
          <p:cNvSpPr/>
          <p:nvPr/>
        </p:nvSpPr>
        <p:spPr>
          <a:xfrm>
            <a:off x="8335434" y="4032517"/>
            <a:ext cx="2816775"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Move towards the end</a:t>
            </a:r>
            <a:endParaRPr lang="en-US" sz="1600" dirty="0"/>
          </a:p>
        </p:txBody>
      </p:sp>
      <p:sp>
        <p:nvSpPr>
          <p:cNvPr id="19" name="Text 1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4: while loops</a:t>
            </a:r>
            <a:endParaRPr lang="en-US" sz="1200" dirty="0"/>
          </a:p>
        </p:txBody>
      </p:sp>
      <p:sp>
        <p:nvSpPr>
          <p:cNvPr id="20"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F5F8A"/>
        </a:solidFill>
      </p:bgPr>
    </p:bg>
    <p:spTree>
      <p:nvGrpSpPr>
        <p:cNvPr id="1" name=""/>
        <p:cNvGrpSpPr/>
        <p:nvPr/>
      </p:nvGrpSpPr>
      <p:grpSpPr>
        <a:xfrm>
          <a:off x="0" y="0"/>
          <a:ext cx="0" cy="0"/>
          <a:chOff x="0" y="0"/>
          <a:chExt cx="0" cy="0"/>
        </a:xfrm>
      </p:grpSpPr>
      <p:sp>
        <p:nvSpPr>
          <p:cNvPr id="2" name="Text 0"/>
          <p:cNvSpPr/>
          <p:nvPr/>
        </p:nvSpPr>
        <p:spPr>
          <a:xfrm>
            <a:off x="812800" y="1969827"/>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FE0F1"/>
                </a:solidFill>
                <a:latin typeface="DM Sans" pitchFamily="34" charset="0"/>
                <a:ea typeface="DM Sans" pitchFamily="34" charset="-122"/>
                <a:cs typeface="DM Sans" pitchFamily="34" charset="-120"/>
              </a:rPr>
              <a:t>⚠️ WATCH OUT</a:t>
            </a:r>
            <a:endParaRPr lang="en-US" sz="1200" dirty="0"/>
          </a:p>
        </p:txBody>
      </p:sp>
      <p:sp>
        <p:nvSpPr>
          <p:cNvPr id="3" name="Text 1"/>
          <p:cNvSpPr/>
          <p:nvPr>
            <p:ph type="title"/>
          </p:nvPr>
        </p:nvSpPr>
        <p:spPr>
          <a:xfrm>
            <a:off x="812800" y="2386347"/>
            <a:ext cx="5127752" cy="665427"/>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AF9F6"/>
                </a:solidFill>
                <a:latin typeface="DM Sans" pitchFamily="34" charset="0"/>
                <a:ea typeface="DM Sans" pitchFamily="34" charset="-122"/>
                <a:cs typeface="DM Sans" pitchFamily="34" charset="-120"/>
              </a:rPr>
              <a:t>Infinite loops</a:t>
            </a:r>
            <a:endParaRPr lang="en-US" sz="4800" dirty="0"/>
          </a:p>
        </p:txBody>
      </p:sp>
      <p:sp>
        <p:nvSpPr>
          <p:cNvPr id="4" name="Text 2"/>
          <p:cNvSpPr/>
          <p:nvPr/>
        </p:nvSpPr>
        <p:spPr>
          <a:xfrm>
            <a:off x="812800" y="3229570"/>
            <a:ext cx="5127752" cy="688314"/>
          </a:xfrm>
          <a:prstGeom prst="rect">
            <a:avLst/>
          </a:prstGeom>
          <a:noFill/>
          <a:ln/>
        </p:spPr>
        <p:txBody>
          <a:bodyPr wrap="square" lIns="0" tIns="0" rIns="0" bIns="0" rtlCol="0" anchor="t">
            <a:normAutofit/>
          </a:bodyPr>
          <a:lstStyle/>
          <a:p>
            <a:pPr algn="l" indent="0" marL="0">
              <a:lnSpc>
                <a:spcPts val="2610"/>
              </a:lnSpc>
              <a:buNone/>
            </a:pPr>
            <a:r>
              <a:rPr lang="en-US" sz="1800" dirty="0">
                <a:solidFill>
                  <a:srgbClr val="E3ECF6"/>
                </a:solidFill>
                <a:latin typeface="DM Sans" pitchFamily="34" charset="0"/>
                <a:ea typeface="DM Sans" pitchFamily="34" charset="-122"/>
                <a:cs typeface="DM Sans" pitchFamily="34" charset="-120"/>
              </a:rPr>
              <a:t>If the condition </a:t>
            </a:r>
            <a:r>
              <a:rPr lang="en-US" sz="1800" b="1" dirty="0">
                <a:solidFill>
                  <a:srgbClr val="E3ECF6"/>
                </a:solidFill>
                <a:latin typeface="DM Sans" pitchFamily="34" charset="0"/>
                <a:ea typeface="DM Sans" pitchFamily="34" charset="-122"/>
                <a:cs typeface="DM Sans" pitchFamily="34" charset="-120"/>
              </a:rPr>
              <a:t>never</a:t>
            </a:r>
            <a:r>
              <a:rPr lang="en-US" sz="1800" dirty="0">
                <a:solidFill>
                  <a:srgbClr val="E3ECF6"/>
                </a:solidFill>
                <a:latin typeface="DM Sans" pitchFamily="34" charset="0"/>
                <a:ea typeface="DM Sans" pitchFamily="34" charset="-122"/>
                <a:cs typeface="DM Sans" pitchFamily="34" charset="-120"/>
              </a:rPr>
              <a:t> becomes False, the loop runs </a:t>
            </a:r>
            <a:r>
              <a:rPr lang="en-US" sz="1800" b="1" dirty="0">
                <a:solidFill>
                  <a:srgbClr val="E3ECF6"/>
                </a:solidFill>
                <a:latin typeface="DM Sans" pitchFamily="34" charset="0"/>
                <a:ea typeface="DM Sans" pitchFamily="34" charset="-122"/>
                <a:cs typeface="DM Sans" pitchFamily="34" charset="-120"/>
              </a:rPr>
              <a:t>forever</a:t>
            </a:r>
            <a:r>
              <a:rPr lang="en-US" sz="1800" dirty="0">
                <a:solidFill>
                  <a:srgbClr val="E3ECF6"/>
                </a:solidFill>
                <a:latin typeface="DM Sans" pitchFamily="34" charset="0"/>
                <a:ea typeface="DM Sans" pitchFamily="34" charset="-122"/>
                <a:cs typeface="DM Sans" pitchFamily="34" charset="-120"/>
              </a:rPr>
              <a:t>.</a:t>
            </a:r>
            <a:endParaRPr lang="en-US" sz="1800" dirty="0"/>
          </a:p>
        </p:txBody>
      </p:sp>
      <p:sp>
        <p:nvSpPr>
          <p:cNvPr id="5" name="Text 3"/>
          <p:cNvSpPr/>
          <p:nvPr/>
        </p:nvSpPr>
        <p:spPr>
          <a:xfrm>
            <a:off x="812800" y="4095688"/>
            <a:ext cx="5127752" cy="614627"/>
          </a:xfrm>
          <a:prstGeom prst="rect">
            <a:avLst/>
          </a:prstGeom>
          <a:noFill/>
          <a:ln/>
        </p:spPr>
        <p:txBody>
          <a:bodyPr wrap="square" lIns="0" tIns="0" rIns="0" bIns="0" rtlCol="0" anchor="t">
            <a:normAutofit/>
          </a:bodyPr>
          <a:lstStyle/>
          <a:p>
            <a:pPr algn="l" indent="0" marL="0">
              <a:lnSpc>
                <a:spcPts val="2320"/>
              </a:lnSpc>
              <a:buNone/>
            </a:pPr>
            <a:r>
              <a:rPr lang="en-US" sz="1600" b="1" dirty="0">
                <a:solidFill>
                  <a:srgbClr val="E3ECF6"/>
                </a:solidFill>
                <a:latin typeface="DM Sans" pitchFamily="34" charset="0"/>
                <a:ea typeface="DM Sans" pitchFamily="34" charset="-122"/>
                <a:cs typeface="DM Sans" pitchFamily="34" charset="-120"/>
              </a:rPr>
              <a:t>Stop it:</a:t>
            </a:r>
            <a:r>
              <a:rPr lang="en-US" sz="1600" dirty="0">
                <a:solidFill>
                  <a:srgbClr val="E3ECF6"/>
                </a:solidFill>
                <a:latin typeface="DM Sans" pitchFamily="34" charset="0"/>
                <a:ea typeface="DM Sans" pitchFamily="34" charset="-122"/>
                <a:cs typeface="DM Sans" pitchFamily="34" charset="-120"/>
              </a:rPr>
              <a:t> press ■ Stop in Colab / Jupyter, or Ctrl + C in a terminal.</a:t>
            </a:r>
            <a:endParaRPr lang="en-US" sz="1600" dirty="0"/>
          </a:p>
        </p:txBody>
      </p:sp>
      <p:sp>
        <p:nvSpPr>
          <p:cNvPr id="6" name="Text 4"/>
          <p:cNvSpPr/>
          <p:nvPr/>
        </p:nvSpPr>
        <p:spPr>
          <a:xfrm>
            <a:off x="6400800" y="2108268"/>
            <a:ext cx="4978400" cy="2438268"/>
          </a:xfrm>
          <a:prstGeom prst="roundRect">
            <a:avLst>
              <a:gd name="adj" fmla="val 6250"/>
            </a:avLst>
          </a:prstGeom>
          <a:solidFill>
            <a:srgbClr val="1F2A37"/>
          </a:solidFill>
          <a:ln/>
        </p:spPr>
        <p:txBody>
          <a:bodyPr wrap="square" lIns="361764" tIns="310964" rIns="236796" bIns="285564" rtlCol="0" anchor="t">
            <a:normAutofit/>
          </a:bodyPr>
          <a:lstStyle/>
          <a:p>
            <a:pPr algn="l" indent="0" marL="0">
              <a:lnSpc>
                <a:spcPts val="2720"/>
              </a:lnSpc>
              <a:buNone/>
            </a:pPr>
            <a:r>
              <a:rPr lang="en-US" sz="1700" dirty="0">
                <a:solidFill>
                  <a:srgbClr val="E8EDF3"/>
                </a:solidFill>
                <a:latin typeface="JetBrains Mono" pitchFamily="49" charset="0"/>
                <a:ea typeface="JetBrains Mono" pitchFamily="49" charset="-122"/>
                <a:cs typeface="JetBrains Mono" pitchFamily="49" charset="-120"/>
              </a:rPr>
              <a:t>count = 1</a:t>
            </a:r>
            <a:endParaRPr lang="en-US" sz="1700" dirty="0"/>
          </a:p>
          <a:p>
            <a:pPr algn="l" indent="0" marL="0">
              <a:lnSpc>
                <a:spcPts val="2720"/>
              </a:lnSpc>
              <a:buNone/>
            </a:pPr>
            <a:r>
              <a:rPr lang="en-US" sz="1700" dirty="0">
                <a:solidFill>
                  <a:srgbClr val="8EC1F0"/>
                </a:solidFill>
                <a:latin typeface="JetBrains Mono" pitchFamily="49" charset="0"/>
                <a:ea typeface="JetBrains Mono" pitchFamily="49" charset="-122"/>
                <a:cs typeface="JetBrains Mono" pitchFamily="49" charset="-120"/>
              </a:rPr>
              <a:t>while</a:t>
            </a:r>
            <a:r>
              <a:rPr lang="en-US" sz="1700" dirty="0">
                <a:solidFill>
                  <a:srgbClr val="E8EDF3"/>
                </a:solidFill>
                <a:latin typeface="JetBrains Mono" pitchFamily="49" charset="0"/>
                <a:ea typeface="JetBrains Mono" pitchFamily="49" charset="-122"/>
                <a:cs typeface="JetBrains Mono" pitchFamily="49" charset="-120"/>
              </a:rPr>
              <a:t> count &lt;= 5:</a:t>
            </a:r>
            <a:endParaRPr lang="en-US" sz="1700" dirty="0"/>
          </a:p>
          <a:p>
            <a:pPr algn="l" indent="0" marL="0">
              <a:lnSpc>
                <a:spcPts val="2720"/>
              </a:lnSpc>
              <a:buNone/>
            </a:pPr>
            <a:r>
              <a:rPr lang="en-US" sz="1700" dirty="0">
                <a:solidFill>
                  <a:srgbClr val="E8EDF3"/>
                </a:solidFill>
                <a:latin typeface="JetBrains Mono" pitchFamily="49" charset="0"/>
                <a:ea typeface="JetBrains Mono" pitchFamily="49" charset="-122"/>
                <a:cs typeface="JetBrains Mono" pitchFamily="49" charset="-120"/>
              </a:rPr>
              <a:t>    print(</a:t>
            </a:r>
            <a:r>
              <a:rPr lang="en-US" sz="1700" dirty="0">
                <a:solidFill>
                  <a:srgbClr val="F2C94C"/>
                </a:solidFill>
                <a:latin typeface="JetBrains Mono" pitchFamily="49" charset="0"/>
                <a:ea typeface="JetBrains Mono" pitchFamily="49" charset="-122"/>
                <a:cs typeface="JetBrains Mono" pitchFamily="49" charset="-120"/>
              </a:rPr>
              <a:t>"Hello"</a:t>
            </a:r>
            <a:r>
              <a:rPr lang="en-US" sz="1700" dirty="0">
                <a:solidFill>
                  <a:srgbClr val="E8EDF3"/>
                </a:solidFill>
                <a:latin typeface="JetBrains Mono" pitchFamily="49" charset="0"/>
                <a:ea typeface="JetBrains Mono" pitchFamily="49" charset="-122"/>
                <a:cs typeface="JetBrains Mono" pitchFamily="49" charset="-120"/>
              </a:rPr>
              <a:t>)</a:t>
            </a:r>
            <a:endParaRPr lang="en-US" sz="1700" dirty="0"/>
          </a:p>
          <a:p>
            <a:pPr algn="l" indent="0" marL="0">
              <a:lnSpc>
                <a:spcPts val="2720"/>
              </a:lnSpc>
              <a:buNone/>
            </a:pPr>
            <a:r>
              <a:rPr lang="en-US" sz="1700" dirty="0">
                <a:solidFill>
                  <a:srgbClr val="E8EDF3"/>
                </a:solidFill>
                <a:latin typeface="JetBrains Mono" pitchFamily="49" charset="0"/>
                <a:ea typeface="JetBrains Mono" pitchFamily="49" charset="-122"/>
                <a:cs typeface="JetBrains Mono" pitchFamily="49" charset="-120"/>
              </a:rPr>
              <a:t>    </a:t>
            </a:r>
            <a:r>
              <a:rPr lang="en-US" sz="1700" dirty="0">
                <a:solidFill>
                  <a:srgbClr val="93A1B3"/>
                </a:solidFill>
                <a:latin typeface="JetBrains Mono" pitchFamily="49" charset="0"/>
                <a:ea typeface="JetBrains Mono" pitchFamily="49" charset="-122"/>
                <a:cs typeface="JetBrains Mono" pitchFamily="49" charset="-120"/>
              </a:rPr>
              <a:t># forgot count += 1</a:t>
            </a:r>
            <a:endParaRPr lang="en-US" sz="1700" dirty="0"/>
          </a:p>
          <a:p>
            <a:pPr algn="l" indent="0" marL="0">
              <a:lnSpc>
                <a:spcPts val="2720"/>
              </a:lnSpc>
              <a:buNone/>
            </a:pPr>
            <a:r>
              <a:rPr lang="en-US" sz="1700" dirty="0">
                <a:solidFill>
                  <a:srgbClr val="E8EDF3"/>
                </a:solidFill>
                <a:latin typeface="JetBrains Mono" pitchFamily="49" charset="0"/>
                <a:ea typeface="JetBrains Mono" pitchFamily="49" charset="-122"/>
                <a:cs typeface="JetBrains Mono" pitchFamily="49" charset="-120"/>
              </a:rPr>
              <a:t>    </a:t>
            </a:r>
            <a:r>
              <a:rPr lang="en-US" sz="1700" dirty="0">
                <a:solidFill>
                  <a:srgbClr val="93A1B3"/>
                </a:solidFill>
                <a:latin typeface="JetBrains Mono" pitchFamily="49" charset="0"/>
                <a:ea typeface="JetBrains Mono" pitchFamily="49" charset="-122"/>
                <a:cs typeface="JetBrains Mono" pitchFamily="49" charset="-120"/>
              </a:rPr>
              <a:t># count is ALWAYS 1!</a:t>
            </a:r>
            <a:endParaRPr lang="en-US" sz="1700" dirty="0"/>
          </a:p>
        </p:txBody>
      </p:sp>
      <p:sp>
        <p:nvSpPr>
          <p:cNvPr id="7" name="Text 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E0F1"/>
                </a:solidFill>
                <a:latin typeface="DM Sans" pitchFamily="34" charset="0"/>
                <a:ea typeface="DM Sans" pitchFamily="34" charset="-122"/>
                <a:cs typeface="DM Sans" pitchFamily="34" charset="-120"/>
              </a:rPr>
              <a:t>Python for Beginners · Day 4: while loops</a:t>
            </a:r>
            <a:endParaRPr lang="en-US" sz="1200" dirty="0"/>
          </a:p>
        </p:txBody>
      </p:sp>
      <p:sp>
        <p:nvSpPr>
          <p:cNvPr id="8" name="Text 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FE0F1"/>
                </a:solidFill>
                <a:latin typeface="DM Sans" pitchFamily="34" charset="0"/>
                <a:ea typeface="DM Sans" pitchFamily="34" charset="-122"/>
                <a:cs typeface="DM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LOOPS + INPUT</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Repeat until the user says stop</a:t>
            </a:r>
            <a:endParaRPr lang="en-US" sz="3600" dirty="0"/>
          </a:p>
        </p:txBody>
      </p:sp>
      <p:sp>
        <p:nvSpPr>
          <p:cNvPr id="4" name="Text 2"/>
          <p:cNvSpPr/>
          <p:nvPr/>
        </p:nvSpPr>
        <p:spPr>
          <a:xfrm>
            <a:off x="812800" y="1986229"/>
            <a:ext cx="627888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Code</a:t>
            </a:r>
            <a:endParaRPr lang="en-US" sz="1400" dirty="0"/>
          </a:p>
        </p:txBody>
      </p:sp>
      <p:sp>
        <p:nvSpPr>
          <p:cNvPr id="5" name="Text 3"/>
          <p:cNvSpPr/>
          <p:nvPr/>
        </p:nvSpPr>
        <p:spPr>
          <a:xfrm>
            <a:off x="812800" y="2362138"/>
            <a:ext cx="6096000" cy="2387600"/>
          </a:xfrm>
          <a:prstGeom prst="roundRect">
            <a:avLst>
              <a:gd name="adj" fmla="val 5319"/>
            </a:avLst>
          </a:prstGeom>
          <a:solidFill>
            <a:srgbClr val="1F2A37"/>
          </a:solidFill>
          <a:ln/>
        </p:spPr>
        <p:txBody>
          <a:bodyPr wrap="square" lIns="293003" tIns="242203" rIns="129935" bIns="216803" rtlCol="0" anchor="t">
            <a:normAutofit/>
          </a:bodyPr>
          <a:lstStyle/>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word = </a:t>
            </a:r>
            <a:r>
              <a:rPr lang="en-US" sz="1500" dirty="0">
                <a:solidFill>
                  <a:srgbClr val="F2C94C"/>
                </a:solidFill>
                <a:latin typeface="JetBrains Mono" pitchFamily="49" charset="0"/>
                <a:ea typeface="JetBrains Mono" pitchFamily="49" charset="-122"/>
                <a:cs typeface="JetBrains Mono" pitchFamily="49" charset="-120"/>
              </a:rPr>
              <a:t>""</a:t>
            </a:r>
            <a:endParaRPr lang="en-US" sz="1500" dirty="0"/>
          </a:p>
          <a:p>
            <a:pPr algn="l" indent="0" marL="0">
              <a:lnSpc>
                <a:spcPts val="2400"/>
              </a:lnSpc>
              <a:buNone/>
            </a:pPr>
            <a:r>
              <a:rPr lang="en-US" sz="1500" dirty="0">
                <a:solidFill>
                  <a:srgbClr val="8EC1F0"/>
                </a:solidFill>
                <a:latin typeface="JetBrains Mono" pitchFamily="49" charset="0"/>
                <a:ea typeface="JetBrains Mono" pitchFamily="49" charset="-122"/>
                <a:cs typeface="JetBrains Mono" pitchFamily="49" charset="-120"/>
              </a:rPr>
              <a:t>while</a:t>
            </a:r>
            <a:r>
              <a:rPr lang="en-US" sz="1500" dirty="0">
                <a:solidFill>
                  <a:srgbClr val="E8EDF3"/>
                </a:solidFill>
                <a:latin typeface="JetBrains Mono" pitchFamily="49" charset="0"/>
                <a:ea typeface="JetBrains Mono" pitchFamily="49" charset="-122"/>
                <a:cs typeface="JetBrains Mono" pitchFamily="49" charset="-120"/>
              </a:rPr>
              <a:t> word != </a:t>
            </a:r>
            <a:r>
              <a:rPr lang="en-US" sz="1500" dirty="0">
                <a:solidFill>
                  <a:srgbClr val="F2C94C"/>
                </a:solidFill>
                <a:latin typeface="JetBrains Mono" pitchFamily="49" charset="0"/>
                <a:ea typeface="JetBrains Mono" pitchFamily="49" charset="-122"/>
                <a:cs typeface="JetBrains Mono" pitchFamily="49" charset="-120"/>
              </a:rPr>
              <a:t>"quit"</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    word = input(</a:t>
            </a:r>
            <a:r>
              <a:rPr lang="en-US" sz="1500" dirty="0">
                <a:solidFill>
                  <a:srgbClr val="F2C94C"/>
                </a:solidFill>
                <a:latin typeface="JetBrains Mono" pitchFamily="49" charset="0"/>
                <a:ea typeface="JetBrains Mono" pitchFamily="49" charset="-122"/>
                <a:cs typeface="JetBrains Mono" pitchFamily="49" charset="-120"/>
              </a:rPr>
              <a:t>"Type a word: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    print(</a:t>
            </a:r>
            <a:r>
              <a:rPr lang="en-US" sz="1500" dirty="0">
                <a:solidFill>
                  <a:srgbClr val="F2C94C"/>
                </a:solidFill>
                <a:latin typeface="JetBrains Mono" pitchFamily="49" charset="0"/>
                <a:ea typeface="JetBrains Mono" pitchFamily="49" charset="-122"/>
                <a:cs typeface="JetBrains Mono" pitchFamily="49" charset="-120"/>
              </a:rPr>
              <a:t>"You typed:"</a:t>
            </a:r>
            <a:r>
              <a:rPr lang="en-US" sz="1500" dirty="0">
                <a:solidFill>
                  <a:srgbClr val="E8EDF3"/>
                </a:solidFill>
                <a:latin typeface="JetBrains Mono" pitchFamily="49" charset="0"/>
                <a:ea typeface="JetBrains Mono" pitchFamily="49" charset="-122"/>
                <a:cs typeface="JetBrains Mono" pitchFamily="49" charset="-120"/>
              </a:rPr>
              <a:t>, word)</a:t>
            </a:r>
            <a:endParaRPr lang="en-US" sz="1500" dirty="0"/>
          </a:p>
          <a:p>
            <a:pPr algn="l" indent="0" marL="0">
              <a:lnSpc>
                <a:spcPts val="2400"/>
              </a:lnSpc>
              <a:buNone/>
            </a:pP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print(</a:t>
            </a:r>
            <a:r>
              <a:rPr lang="en-US" sz="1500" dirty="0">
                <a:solidFill>
                  <a:srgbClr val="F2C94C"/>
                </a:solidFill>
                <a:latin typeface="JetBrains Mono" pitchFamily="49" charset="0"/>
                <a:ea typeface="JetBrains Mono" pitchFamily="49" charset="-122"/>
                <a:cs typeface="JetBrains Mono" pitchFamily="49" charset="-120"/>
              </a:rPr>
              <a:t>"Goodbye! 👋"</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6" name="Text 4"/>
          <p:cNvSpPr/>
          <p:nvPr/>
        </p:nvSpPr>
        <p:spPr>
          <a:xfrm>
            <a:off x="7315200" y="1986229"/>
            <a:ext cx="418592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Output</a:t>
            </a:r>
            <a:endParaRPr lang="en-US" sz="1400" dirty="0"/>
          </a:p>
        </p:txBody>
      </p:sp>
      <p:sp>
        <p:nvSpPr>
          <p:cNvPr id="7" name="Text 5"/>
          <p:cNvSpPr/>
          <p:nvPr/>
        </p:nvSpPr>
        <p:spPr>
          <a:xfrm>
            <a:off x="7315200" y="2362138"/>
            <a:ext cx="4064000" cy="1980935"/>
          </a:xfrm>
          <a:prstGeom prst="roundRect">
            <a:avLst>
              <a:gd name="adj" fmla="val 6411"/>
            </a:avLst>
          </a:prstGeom>
          <a:solidFill>
            <a:srgbClr val="EEF2F6"/>
          </a:solidFill>
          <a:ln/>
        </p:spPr>
        <p:txBody>
          <a:bodyPr wrap="square" lIns="318403" tIns="242203" rIns="165495" bIns="216803" rtlCol="0" anchor="t">
            <a:normAutofit/>
          </a:bodyPr>
          <a:lstStyle/>
          <a:p>
            <a:pPr algn="l" indent="0" marL="0">
              <a:lnSpc>
                <a:spcPts val="2240"/>
              </a:lnSpc>
              <a:buNone/>
            </a:pPr>
            <a:r>
              <a:rPr lang="en-US" sz="1400" dirty="0">
                <a:solidFill>
                  <a:srgbClr val="1F2A37"/>
                </a:solidFill>
                <a:latin typeface="JetBrains Mono" pitchFamily="49" charset="0"/>
                <a:ea typeface="JetBrains Mono" pitchFamily="49" charset="-122"/>
                <a:cs typeface="JetBrains Mono" pitchFamily="49" charset="-120"/>
              </a:rPr>
              <a:t>Type a word: apple</a:t>
            </a:r>
            <a:endParaRPr lang="en-US" sz="1400" dirty="0"/>
          </a:p>
          <a:p>
            <a:pPr algn="l" indent="0" marL="0">
              <a:lnSpc>
                <a:spcPts val="2240"/>
              </a:lnSpc>
              <a:buNone/>
            </a:pPr>
            <a:r>
              <a:rPr lang="en-US" sz="1400" dirty="0">
                <a:solidFill>
                  <a:srgbClr val="1F2A37"/>
                </a:solidFill>
                <a:latin typeface="JetBrains Mono" pitchFamily="49" charset="0"/>
                <a:ea typeface="JetBrains Mono" pitchFamily="49" charset="-122"/>
                <a:cs typeface="JetBrains Mono" pitchFamily="49" charset="-120"/>
              </a:rPr>
              <a:t>You typed: apple</a:t>
            </a:r>
            <a:endParaRPr lang="en-US" sz="1400" dirty="0"/>
          </a:p>
          <a:p>
            <a:pPr algn="l" indent="0" marL="0">
              <a:lnSpc>
                <a:spcPts val="2240"/>
              </a:lnSpc>
              <a:buNone/>
            </a:pPr>
            <a:r>
              <a:rPr lang="en-US" sz="1400" dirty="0">
                <a:solidFill>
                  <a:srgbClr val="1F2A37"/>
                </a:solidFill>
                <a:latin typeface="JetBrains Mono" pitchFamily="49" charset="0"/>
                <a:ea typeface="JetBrains Mono" pitchFamily="49" charset="-122"/>
                <a:cs typeface="JetBrains Mono" pitchFamily="49" charset="-120"/>
              </a:rPr>
              <a:t>Type a word: quit</a:t>
            </a:r>
            <a:endParaRPr lang="en-US" sz="1400" dirty="0"/>
          </a:p>
          <a:p>
            <a:pPr algn="l" indent="0" marL="0">
              <a:lnSpc>
                <a:spcPts val="2240"/>
              </a:lnSpc>
              <a:buNone/>
            </a:pPr>
            <a:r>
              <a:rPr lang="en-US" sz="1400" dirty="0">
                <a:solidFill>
                  <a:srgbClr val="1F2A37"/>
                </a:solidFill>
                <a:latin typeface="JetBrains Mono" pitchFamily="49" charset="0"/>
                <a:ea typeface="JetBrains Mono" pitchFamily="49" charset="-122"/>
                <a:cs typeface="JetBrains Mono" pitchFamily="49" charset="-120"/>
              </a:rPr>
              <a:t>You typed: quit</a:t>
            </a:r>
            <a:endParaRPr lang="en-US" sz="1400" dirty="0"/>
          </a:p>
          <a:p>
            <a:pPr algn="l" indent="0" marL="0">
              <a:lnSpc>
                <a:spcPts val="2240"/>
              </a:lnSpc>
              <a:buNone/>
            </a:pPr>
            <a:r>
              <a:rPr lang="en-US" sz="1400" dirty="0">
                <a:solidFill>
                  <a:srgbClr val="1F2A37"/>
                </a:solidFill>
                <a:latin typeface="JetBrains Mono" pitchFamily="49" charset="0"/>
                <a:ea typeface="JetBrains Mono" pitchFamily="49" charset="-122"/>
                <a:cs typeface="JetBrains Mono" pitchFamily="49" charset="-120"/>
              </a:rPr>
              <a:t>Goodbye! 👋</a:t>
            </a:r>
            <a:endParaRPr lang="en-US" sz="1400" dirty="0"/>
          </a:p>
        </p:txBody>
      </p:sp>
      <p:sp>
        <p:nvSpPr>
          <p:cNvPr id="8" name="Shape 6"/>
          <p:cNvSpPr/>
          <p:nvPr/>
        </p:nvSpPr>
        <p:spPr>
          <a:xfrm>
            <a:off x="7315200" y="2362138"/>
            <a:ext cx="4064000" cy="1980935"/>
          </a:xfrm>
          <a:custGeom>
            <a:avLst/>
            <a:gdLst/>
            <a:ahLst/>
            <a:cxnLst/>
            <a:rect l="l" t="t" r="r" b="b"/>
            <a:pathLst>
              <a:path w="4064000" h="1980935">
                <a:moveTo>
                  <a:pt x="127000" y="1980935"/>
                </a:moveTo>
                <a:lnTo>
                  <a:pt x="127000" y="1980935"/>
                </a:lnTo>
                <a:arcTo hR="127000" wR="127000" stAng="5400000" swAng="5400000"/>
                <a:lnTo>
                  <a:pt x="0" y="127000"/>
                </a:lnTo>
                <a:arcTo hR="127000" wR="127000" stAng="10800000" swAng="5400000"/>
                <a:lnTo>
                  <a:pt x="127000" y="0"/>
                </a:lnTo>
                <a:arcTo hR="127000" wR="76200" stAng="16200000" swAng="-5400000"/>
                <a:lnTo>
                  <a:pt x="50800" y="1853935"/>
                </a:lnTo>
                <a:arcTo hR="127000" wR="76200" stAng="10800000" swAng="-5400000"/>
                <a:close/>
              </a:path>
            </a:pathLst>
          </a:custGeom>
          <a:solidFill>
            <a:srgbClr val="3776AB"/>
          </a:solidFill>
          <a:ln/>
        </p:spPr>
      </p:sp>
      <p:sp>
        <p:nvSpPr>
          <p:cNvPr id="9" name="Text 7"/>
          <p:cNvSpPr/>
          <p:nvPr/>
        </p:nvSpPr>
        <p:spPr>
          <a:xfrm>
            <a:off x="812800" y="5105338"/>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We don’t know how many times it will repeat — that’s when </a:t>
            </a:r>
            <a:r>
              <a:rPr lang="en-US" sz="1600" b="1" dirty="0">
                <a:solidFill>
                  <a:srgbClr val="4A5568"/>
                </a:solidFill>
                <a:latin typeface="DM Sans" pitchFamily="34" charset="0"/>
                <a:ea typeface="DM Sans" pitchFamily="34" charset="-122"/>
                <a:cs typeface="DM Sans" pitchFamily="34" charset="-120"/>
              </a:rPr>
              <a:t>while</a:t>
            </a:r>
            <a:r>
              <a:rPr lang="en-US" sz="1600" dirty="0">
                <a:solidFill>
                  <a:srgbClr val="4A5568"/>
                </a:solidFill>
                <a:latin typeface="DM Sans" pitchFamily="34" charset="0"/>
                <a:ea typeface="DM Sans" pitchFamily="34" charset="-122"/>
                <a:cs typeface="DM Sans" pitchFamily="34" charset="-120"/>
              </a:rPr>
              <a:t> is perfect.</a:t>
            </a:r>
            <a:endParaRPr lang="en-US" sz="1600" dirty="0"/>
          </a:p>
        </p:txBody>
      </p:sp>
      <p:sp>
        <p:nvSpPr>
          <p:cNvPr id="10"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4: while loops</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INPUT VALIDATION</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Keep asking until the answer is valid</a:t>
            </a:r>
            <a:endParaRPr lang="en-US" sz="3600" dirty="0"/>
          </a:p>
        </p:txBody>
      </p:sp>
      <p:sp>
        <p:nvSpPr>
          <p:cNvPr id="4" name="Text 2"/>
          <p:cNvSpPr/>
          <p:nvPr/>
        </p:nvSpPr>
        <p:spPr>
          <a:xfrm>
            <a:off x="812800" y="1986229"/>
            <a:ext cx="627888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Code</a:t>
            </a:r>
            <a:endParaRPr lang="en-US" sz="1400" dirty="0"/>
          </a:p>
        </p:txBody>
      </p:sp>
      <p:sp>
        <p:nvSpPr>
          <p:cNvPr id="5" name="Text 3"/>
          <p:cNvSpPr/>
          <p:nvPr/>
        </p:nvSpPr>
        <p:spPr>
          <a:xfrm>
            <a:off x="812800" y="2362138"/>
            <a:ext cx="6096000" cy="2549790"/>
          </a:xfrm>
          <a:prstGeom prst="roundRect">
            <a:avLst>
              <a:gd name="adj" fmla="val 4981"/>
            </a:avLst>
          </a:prstGeom>
          <a:solidFill>
            <a:srgbClr val="1F2A37"/>
          </a:solidFill>
          <a:ln/>
        </p:spPr>
        <p:txBody>
          <a:bodyPr wrap="square" lIns="267603" tIns="242203" rIns="103011" bIns="216803" rtlCol="0" anchor="t">
            <a:normAutofit/>
          </a:bodyPr>
          <a:lstStyle/>
          <a:p>
            <a:pPr algn="l" indent="0" marL="0">
              <a:lnSpc>
                <a:spcPts val="2240"/>
              </a:lnSpc>
              <a:buNone/>
            </a:pPr>
            <a:r>
              <a:rPr lang="en-US" sz="1400" dirty="0">
                <a:solidFill>
                  <a:srgbClr val="E8EDF3"/>
                </a:solidFill>
                <a:latin typeface="JetBrains Mono" pitchFamily="49" charset="0"/>
                <a:ea typeface="JetBrains Mono" pitchFamily="49" charset="-122"/>
                <a:cs typeface="JetBrains Mono" pitchFamily="49" charset="-120"/>
              </a:rPr>
              <a:t>rating = int(input(</a:t>
            </a:r>
            <a:r>
              <a:rPr lang="en-US" sz="1400" dirty="0">
                <a:solidFill>
                  <a:srgbClr val="F2C94C"/>
                </a:solidFill>
                <a:latin typeface="JetBrains Mono" pitchFamily="49" charset="0"/>
                <a:ea typeface="JetBrains Mono" pitchFamily="49" charset="-122"/>
                <a:cs typeface="JetBrains Mono" pitchFamily="49" charset="-120"/>
              </a:rPr>
              <a:t>"Rate 1-5: "</a:t>
            </a:r>
            <a:r>
              <a:rPr lang="en-US" sz="1400" dirty="0">
                <a:solidFill>
                  <a:srgbClr val="E8EDF3"/>
                </a:solidFill>
                <a:latin typeface="JetBrains Mono" pitchFamily="49" charset="0"/>
                <a:ea typeface="JetBrains Mono" pitchFamily="49" charset="-122"/>
                <a:cs typeface="JetBrains Mono" pitchFamily="49" charset="-120"/>
              </a:rPr>
              <a:t>))</a:t>
            </a:r>
            <a:endParaRPr lang="en-US" sz="1400" dirty="0"/>
          </a:p>
          <a:p>
            <a:pPr algn="l" indent="0" marL="0">
              <a:lnSpc>
                <a:spcPts val="2240"/>
              </a:lnSpc>
              <a:buNone/>
            </a:pPr>
            <a:endParaRPr lang="en-US" sz="1400" dirty="0"/>
          </a:p>
          <a:p>
            <a:pPr algn="l" indent="0" marL="0">
              <a:lnSpc>
                <a:spcPts val="2240"/>
              </a:lnSpc>
              <a:buNone/>
            </a:pPr>
            <a:r>
              <a:rPr lang="en-US" sz="1400" dirty="0">
                <a:solidFill>
                  <a:srgbClr val="8EC1F0"/>
                </a:solidFill>
                <a:latin typeface="JetBrains Mono" pitchFamily="49" charset="0"/>
                <a:ea typeface="JetBrains Mono" pitchFamily="49" charset="-122"/>
                <a:cs typeface="JetBrains Mono" pitchFamily="49" charset="-120"/>
              </a:rPr>
              <a:t>while</a:t>
            </a:r>
            <a:r>
              <a:rPr lang="en-US" sz="1400" dirty="0">
                <a:solidFill>
                  <a:srgbClr val="E8EDF3"/>
                </a:solidFill>
                <a:latin typeface="JetBrains Mono" pitchFamily="49" charset="0"/>
                <a:ea typeface="JetBrains Mono" pitchFamily="49" charset="-122"/>
                <a:cs typeface="JetBrains Mono" pitchFamily="49" charset="-120"/>
              </a:rPr>
              <a:t> rating &lt; 1 </a:t>
            </a:r>
            <a:r>
              <a:rPr lang="en-US" sz="1400" dirty="0">
                <a:solidFill>
                  <a:srgbClr val="8EC1F0"/>
                </a:solidFill>
                <a:latin typeface="JetBrains Mono" pitchFamily="49" charset="0"/>
                <a:ea typeface="JetBrains Mono" pitchFamily="49" charset="-122"/>
                <a:cs typeface="JetBrains Mono" pitchFamily="49" charset="-120"/>
              </a:rPr>
              <a:t>or</a:t>
            </a:r>
            <a:r>
              <a:rPr lang="en-US" sz="1400" dirty="0">
                <a:solidFill>
                  <a:srgbClr val="E8EDF3"/>
                </a:solidFill>
                <a:latin typeface="JetBrains Mono" pitchFamily="49" charset="0"/>
                <a:ea typeface="JetBrains Mono" pitchFamily="49" charset="-122"/>
                <a:cs typeface="JetBrains Mono" pitchFamily="49" charset="-120"/>
              </a:rPr>
              <a:t> rating &gt; 5:</a:t>
            </a:r>
            <a:endParaRPr lang="en-US" sz="1400" dirty="0"/>
          </a:p>
          <a:p>
            <a:pPr algn="l" indent="0" marL="0">
              <a:lnSpc>
                <a:spcPts val="2240"/>
              </a:lnSpc>
              <a:buNone/>
            </a:pPr>
            <a:r>
              <a:rPr lang="en-US" sz="1400" dirty="0">
                <a:solidFill>
                  <a:srgbClr val="E8EDF3"/>
                </a:solidFill>
                <a:latin typeface="JetBrains Mono" pitchFamily="49" charset="0"/>
                <a:ea typeface="JetBrains Mono" pitchFamily="49" charset="-122"/>
                <a:cs typeface="JetBrains Mono" pitchFamily="49" charset="-120"/>
              </a:rPr>
              <a:t>    print(</a:t>
            </a:r>
            <a:r>
              <a:rPr lang="en-US" sz="1400" dirty="0">
                <a:solidFill>
                  <a:srgbClr val="F2C94C"/>
                </a:solidFill>
                <a:latin typeface="JetBrains Mono" pitchFamily="49" charset="0"/>
                <a:ea typeface="JetBrains Mono" pitchFamily="49" charset="-122"/>
                <a:cs typeface="JetBrains Mono" pitchFamily="49" charset="-120"/>
              </a:rPr>
              <a:t>"Please enter 1 to 5!"</a:t>
            </a:r>
            <a:r>
              <a:rPr lang="en-US" sz="1400" dirty="0">
                <a:solidFill>
                  <a:srgbClr val="E8EDF3"/>
                </a:solidFill>
                <a:latin typeface="JetBrains Mono" pitchFamily="49" charset="0"/>
                <a:ea typeface="JetBrains Mono" pitchFamily="49" charset="-122"/>
                <a:cs typeface="JetBrains Mono" pitchFamily="49" charset="-120"/>
              </a:rPr>
              <a:t>)</a:t>
            </a:r>
            <a:endParaRPr lang="en-US" sz="1400" dirty="0"/>
          </a:p>
          <a:p>
            <a:pPr algn="l" indent="0" marL="0">
              <a:lnSpc>
                <a:spcPts val="2240"/>
              </a:lnSpc>
              <a:buNone/>
            </a:pPr>
            <a:r>
              <a:rPr lang="en-US" sz="1400" dirty="0">
                <a:solidFill>
                  <a:srgbClr val="E8EDF3"/>
                </a:solidFill>
                <a:latin typeface="JetBrains Mono" pitchFamily="49" charset="0"/>
                <a:ea typeface="JetBrains Mono" pitchFamily="49" charset="-122"/>
                <a:cs typeface="JetBrains Mono" pitchFamily="49" charset="-120"/>
              </a:rPr>
              <a:t>    rating = int(input(</a:t>
            </a:r>
            <a:r>
              <a:rPr lang="en-US" sz="1400" dirty="0">
                <a:solidFill>
                  <a:srgbClr val="F2C94C"/>
                </a:solidFill>
                <a:latin typeface="JetBrains Mono" pitchFamily="49" charset="0"/>
                <a:ea typeface="JetBrains Mono" pitchFamily="49" charset="-122"/>
                <a:cs typeface="JetBrains Mono" pitchFamily="49" charset="-120"/>
              </a:rPr>
              <a:t>"Rate 1-5: "</a:t>
            </a:r>
            <a:r>
              <a:rPr lang="en-US" sz="1400" dirty="0">
                <a:solidFill>
                  <a:srgbClr val="E8EDF3"/>
                </a:solidFill>
                <a:latin typeface="JetBrains Mono" pitchFamily="49" charset="0"/>
                <a:ea typeface="JetBrains Mono" pitchFamily="49" charset="-122"/>
                <a:cs typeface="JetBrains Mono" pitchFamily="49" charset="-120"/>
              </a:rPr>
              <a:t>))</a:t>
            </a:r>
            <a:endParaRPr lang="en-US" sz="1400" dirty="0"/>
          </a:p>
          <a:p>
            <a:pPr algn="l" indent="0" marL="0">
              <a:lnSpc>
                <a:spcPts val="2240"/>
              </a:lnSpc>
              <a:buNone/>
            </a:pPr>
            <a:endParaRPr lang="en-US" sz="1400" dirty="0"/>
          </a:p>
          <a:p>
            <a:pPr algn="l" indent="0" marL="0">
              <a:lnSpc>
                <a:spcPts val="2240"/>
              </a:lnSpc>
              <a:buNone/>
            </a:pPr>
            <a:r>
              <a:rPr lang="en-US" sz="1400" dirty="0">
                <a:solidFill>
                  <a:srgbClr val="E8EDF3"/>
                </a:solidFill>
                <a:latin typeface="JetBrains Mono" pitchFamily="49" charset="0"/>
                <a:ea typeface="JetBrains Mono" pitchFamily="49" charset="-122"/>
                <a:cs typeface="JetBrains Mono" pitchFamily="49" charset="-120"/>
              </a:rPr>
              <a:t>print(</a:t>
            </a:r>
            <a:r>
              <a:rPr lang="en-US" sz="1400" dirty="0">
                <a:solidFill>
                  <a:srgbClr val="F2C94C"/>
                </a:solidFill>
                <a:latin typeface="JetBrains Mono" pitchFamily="49" charset="0"/>
                <a:ea typeface="JetBrains Mono" pitchFamily="49" charset="-122"/>
                <a:cs typeface="JetBrains Mono" pitchFamily="49" charset="-120"/>
              </a:rPr>
              <a:t>"Thanks for rating"</a:t>
            </a:r>
            <a:r>
              <a:rPr lang="en-US" sz="1400" dirty="0">
                <a:solidFill>
                  <a:srgbClr val="E8EDF3"/>
                </a:solidFill>
                <a:latin typeface="JetBrains Mono" pitchFamily="49" charset="0"/>
                <a:ea typeface="JetBrains Mono" pitchFamily="49" charset="-122"/>
                <a:cs typeface="JetBrains Mono" pitchFamily="49" charset="-120"/>
              </a:rPr>
              <a:t>, rating)</a:t>
            </a:r>
            <a:endParaRPr lang="en-US" sz="1400" dirty="0"/>
          </a:p>
        </p:txBody>
      </p:sp>
      <p:sp>
        <p:nvSpPr>
          <p:cNvPr id="6" name="Text 4"/>
          <p:cNvSpPr/>
          <p:nvPr/>
        </p:nvSpPr>
        <p:spPr>
          <a:xfrm>
            <a:off x="7315200" y="1986229"/>
            <a:ext cx="418592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Output</a:t>
            </a:r>
            <a:endParaRPr lang="en-US" sz="1400" dirty="0"/>
          </a:p>
        </p:txBody>
      </p:sp>
      <p:sp>
        <p:nvSpPr>
          <p:cNvPr id="7" name="Text 5"/>
          <p:cNvSpPr/>
          <p:nvPr/>
        </p:nvSpPr>
        <p:spPr>
          <a:xfrm>
            <a:off x="7315200" y="2362138"/>
            <a:ext cx="4064000" cy="2265363"/>
          </a:xfrm>
          <a:prstGeom prst="roundRect">
            <a:avLst>
              <a:gd name="adj" fmla="val 5606"/>
            </a:avLst>
          </a:prstGeom>
          <a:solidFill>
            <a:srgbClr val="EEF2F6"/>
          </a:solidFill>
          <a:ln/>
        </p:spPr>
        <p:txBody>
          <a:bodyPr wrap="square" lIns="318403" tIns="242203" rIns="165495" bIns="216803" rtlCol="0" anchor="t">
            <a:normAutofit/>
          </a:bodyPr>
          <a:lstStyle/>
          <a:p>
            <a:pPr algn="l" indent="0" marL="0">
              <a:lnSpc>
                <a:spcPts val="2240"/>
              </a:lnSpc>
              <a:buNone/>
            </a:pPr>
            <a:r>
              <a:rPr lang="en-US" sz="1400" dirty="0">
                <a:solidFill>
                  <a:srgbClr val="1F2A37"/>
                </a:solidFill>
                <a:latin typeface="JetBrains Mono" pitchFamily="49" charset="0"/>
                <a:ea typeface="JetBrains Mono" pitchFamily="49" charset="-122"/>
                <a:cs typeface="JetBrains Mono" pitchFamily="49" charset="-120"/>
              </a:rPr>
              <a:t>Rate 1-5: 9</a:t>
            </a:r>
            <a:endParaRPr lang="en-US" sz="1400" dirty="0"/>
          </a:p>
          <a:p>
            <a:pPr algn="l" indent="0" marL="0">
              <a:lnSpc>
                <a:spcPts val="2240"/>
              </a:lnSpc>
              <a:buNone/>
            </a:pPr>
            <a:r>
              <a:rPr lang="en-US" sz="1400" dirty="0">
                <a:solidFill>
                  <a:srgbClr val="1F2A37"/>
                </a:solidFill>
                <a:latin typeface="JetBrains Mono" pitchFamily="49" charset="0"/>
                <a:ea typeface="JetBrains Mono" pitchFamily="49" charset="-122"/>
                <a:cs typeface="JetBrains Mono" pitchFamily="49" charset="-120"/>
              </a:rPr>
              <a:t>Please enter 1 to 5!</a:t>
            </a:r>
            <a:endParaRPr lang="en-US" sz="1400" dirty="0"/>
          </a:p>
          <a:p>
            <a:pPr algn="l" indent="0" marL="0">
              <a:lnSpc>
                <a:spcPts val="2240"/>
              </a:lnSpc>
              <a:buNone/>
            </a:pPr>
            <a:r>
              <a:rPr lang="en-US" sz="1400" dirty="0">
                <a:solidFill>
                  <a:srgbClr val="1F2A37"/>
                </a:solidFill>
                <a:latin typeface="JetBrains Mono" pitchFamily="49" charset="0"/>
                <a:ea typeface="JetBrains Mono" pitchFamily="49" charset="-122"/>
                <a:cs typeface="JetBrains Mono" pitchFamily="49" charset="-120"/>
              </a:rPr>
              <a:t>Rate 1-5: 0</a:t>
            </a:r>
            <a:endParaRPr lang="en-US" sz="1400" dirty="0"/>
          </a:p>
          <a:p>
            <a:pPr algn="l" indent="0" marL="0">
              <a:lnSpc>
                <a:spcPts val="2240"/>
              </a:lnSpc>
              <a:buNone/>
            </a:pPr>
            <a:r>
              <a:rPr lang="en-US" sz="1400" dirty="0">
                <a:solidFill>
                  <a:srgbClr val="1F2A37"/>
                </a:solidFill>
                <a:latin typeface="JetBrains Mono" pitchFamily="49" charset="0"/>
                <a:ea typeface="JetBrains Mono" pitchFamily="49" charset="-122"/>
                <a:cs typeface="JetBrains Mono" pitchFamily="49" charset="-120"/>
              </a:rPr>
              <a:t>Please enter 1 to 5!</a:t>
            </a:r>
            <a:endParaRPr lang="en-US" sz="1400" dirty="0"/>
          </a:p>
          <a:p>
            <a:pPr algn="l" indent="0" marL="0">
              <a:lnSpc>
                <a:spcPts val="2240"/>
              </a:lnSpc>
              <a:buNone/>
            </a:pPr>
            <a:r>
              <a:rPr lang="en-US" sz="1400" dirty="0">
                <a:solidFill>
                  <a:srgbClr val="1F2A37"/>
                </a:solidFill>
                <a:latin typeface="JetBrains Mono" pitchFamily="49" charset="0"/>
                <a:ea typeface="JetBrains Mono" pitchFamily="49" charset="-122"/>
                <a:cs typeface="JetBrains Mono" pitchFamily="49" charset="-120"/>
              </a:rPr>
              <a:t>Rate 1-5: 3</a:t>
            </a:r>
            <a:endParaRPr lang="en-US" sz="1400" dirty="0"/>
          </a:p>
          <a:p>
            <a:pPr algn="l" indent="0" marL="0">
              <a:lnSpc>
                <a:spcPts val="2240"/>
              </a:lnSpc>
              <a:buNone/>
            </a:pPr>
            <a:r>
              <a:rPr lang="en-US" sz="1400" dirty="0">
                <a:solidFill>
                  <a:srgbClr val="1F2A37"/>
                </a:solidFill>
                <a:latin typeface="JetBrains Mono" pitchFamily="49" charset="0"/>
                <a:ea typeface="JetBrains Mono" pitchFamily="49" charset="-122"/>
                <a:cs typeface="JetBrains Mono" pitchFamily="49" charset="-120"/>
              </a:rPr>
              <a:t>Thanks for rating 3</a:t>
            </a:r>
            <a:endParaRPr lang="en-US" sz="1400" dirty="0"/>
          </a:p>
        </p:txBody>
      </p:sp>
      <p:sp>
        <p:nvSpPr>
          <p:cNvPr id="8" name="Shape 6"/>
          <p:cNvSpPr/>
          <p:nvPr/>
        </p:nvSpPr>
        <p:spPr>
          <a:xfrm>
            <a:off x="7315200" y="2362138"/>
            <a:ext cx="4064000" cy="2265363"/>
          </a:xfrm>
          <a:custGeom>
            <a:avLst/>
            <a:gdLst/>
            <a:ahLst/>
            <a:cxnLst/>
            <a:rect l="l" t="t" r="r" b="b"/>
            <a:pathLst>
              <a:path w="4064000" h="2265363">
                <a:moveTo>
                  <a:pt x="127000" y="2265363"/>
                </a:moveTo>
                <a:lnTo>
                  <a:pt x="127000" y="2265363"/>
                </a:lnTo>
                <a:arcTo hR="127000" wR="127000" stAng="5400000" swAng="5400000"/>
                <a:lnTo>
                  <a:pt x="0" y="127000"/>
                </a:lnTo>
                <a:arcTo hR="127000" wR="127000" stAng="10800000" swAng="5400000"/>
                <a:lnTo>
                  <a:pt x="127000" y="0"/>
                </a:lnTo>
                <a:arcTo hR="127000" wR="76200" stAng="16200000" swAng="-5400000"/>
                <a:lnTo>
                  <a:pt x="50800" y="2138363"/>
                </a:lnTo>
                <a:arcTo hR="127000" wR="76200" stAng="10800000" swAng="-5400000"/>
                <a:close/>
              </a:path>
            </a:pathLst>
          </a:custGeom>
          <a:solidFill>
            <a:srgbClr val="3776AB"/>
          </a:solidFill>
          <a:ln/>
        </p:spPr>
      </p:sp>
      <p:sp>
        <p:nvSpPr>
          <p:cNvPr id="9" name="Text 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4: while loops</a:t>
            </a:r>
            <a:endParaRPr lang="en-US" sz="1200" dirty="0"/>
          </a:p>
        </p:txBody>
      </p:sp>
      <p:sp>
        <p:nvSpPr>
          <p:cNvPr id="10"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F4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CONTROLLING THE LOOP</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break and continue</a:t>
            </a:r>
            <a:endParaRPr lang="en-US" sz="3600" dirty="0"/>
          </a:p>
        </p:txBody>
      </p:sp>
      <p:sp>
        <p:nvSpPr>
          <p:cNvPr id="4" name="Shape 2"/>
          <p:cNvSpPr/>
          <p:nvPr/>
        </p:nvSpPr>
        <p:spPr>
          <a:xfrm>
            <a:off x="815975" y="1989404"/>
            <a:ext cx="5124450" cy="3509566"/>
          </a:xfrm>
          <a:prstGeom prst="roundRect">
            <a:avLst>
              <a:gd name="adj" fmla="val 3528"/>
            </a:avLst>
          </a:prstGeom>
          <a:solidFill>
            <a:srgbClr val="FFFFFF"/>
          </a:solidFill>
          <a:ln w="6350">
            <a:solidFill>
              <a:srgbClr val="D5DEE8"/>
            </a:solidFill>
            <a:prstDash val="solid"/>
          </a:ln>
        </p:spPr>
      </p:sp>
      <p:sp>
        <p:nvSpPr>
          <p:cNvPr id="5" name="Text 3"/>
          <p:cNvSpPr/>
          <p:nvPr/>
        </p:nvSpPr>
        <p:spPr>
          <a:xfrm>
            <a:off x="1121833" y="2295265"/>
            <a:ext cx="4648115"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3776AB"/>
                </a:solidFill>
                <a:latin typeface="DM Sans" pitchFamily="34" charset="0"/>
                <a:ea typeface="DM Sans" pitchFamily="34" charset="-122"/>
                <a:cs typeface="DM Sans" pitchFamily="34" charset="-120"/>
              </a:rPr>
              <a:t>break</a:t>
            </a:r>
            <a:r>
              <a:rPr lang="en-US" sz="2200" b="1" dirty="0">
                <a:solidFill>
                  <a:srgbClr val="1F2A37"/>
                </a:solidFill>
                <a:latin typeface="DM Sans" pitchFamily="34" charset="0"/>
                <a:ea typeface="DM Sans" pitchFamily="34" charset="-122"/>
                <a:cs typeface="DM Sans" pitchFamily="34" charset="-120"/>
              </a:rPr>
              <a:t> — leave now</a:t>
            </a:r>
            <a:endParaRPr lang="en-US" sz="2200" dirty="0"/>
          </a:p>
        </p:txBody>
      </p:sp>
      <p:sp>
        <p:nvSpPr>
          <p:cNvPr id="6" name="Text 4"/>
          <p:cNvSpPr/>
          <p:nvPr/>
        </p:nvSpPr>
        <p:spPr>
          <a:xfrm>
            <a:off x="1121833" y="2782888"/>
            <a:ext cx="4512733" cy="1727002"/>
          </a:xfrm>
          <a:prstGeom prst="roundRect">
            <a:avLst>
              <a:gd name="adj" fmla="val 5883"/>
            </a:avLst>
          </a:prstGeom>
          <a:solidFill>
            <a:srgbClr val="1F2A37"/>
          </a:solidFill>
          <a:ln/>
        </p:spPr>
        <p:txBody>
          <a:bodyPr wrap="square" lIns="224242" tIns="173442" rIns="104100" bIns="148042" rtlCol="0" anchor="t">
            <a:normAutofit/>
          </a:bodyPr>
          <a:lstStyle/>
          <a:p>
            <a:pPr algn="l" indent="0" marL="0">
              <a:lnSpc>
                <a:spcPts val="2080"/>
              </a:lnSpc>
              <a:buNone/>
            </a:pPr>
            <a:r>
              <a:rPr lang="en-US" sz="1300" dirty="0">
                <a:solidFill>
                  <a:srgbClr val="8EC1F0"/>
                </a:solidFill>
                <a:latin typeface="JetBrains Mono" pitchFamily="49" charset="0"/>
                <a:ea typeface="JetBrains Mono" pitchFamily="49" charset="-122"/>
                <a:cs typeface="JetBrains Mono" pitchFamily="49" charset="-120"/>
              </a:rPr>
              <a:t>while</a:t>
            </a:r>
            <a:r>
              <a:rPr lang="en-US" sz="1300" dirty="0">
                <a:solidFill>
                  <a:srgbClr val="E8EDF3"/>
                </a:solidFill>
                <a:latin typeface="JetBrains Mono" pitchFamily="49" charset="0"/>
                <a:ea typeface="JetBrains Mono" pitchFamily="49" charset="-122"/>
                <a:cs typeface="JetBrains Mono" pitchFamily="49" charset="-120"/>
              </a:rPr>
              <a:t> True:</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    pw = input(</a:t>
            </a:r>
            <a:r>
              <a:rPr lang="en-US" sz="1300" dirty="0">
                <a:solidFill>
                  <a:srgbClr val="F2C94C"/>
                </a:solidFill>
                <a:latin typeface="JetBrains Mono" pitchFamily="49" charset="0"/>
                <a:ea typeface="JetBrains Mono" pitchFamily="49" charset="-122"/>
                <a:cs typeface="JetBrains Mono" pitchFamily="49" charset="-120"/>
              </a:rPr>
              <a:t>"Password: "</a:t>
            </a:r>
            <a:r>
              <a:rPr lang="en-US" sz="1300" dirty="0">
                <a:solidFill>
                  <a:srgbClr val="E8EDF3"/>
                </a:solidFill>
                <a:latin typeface="JetBrains Mono" pitchFamily="49" charset="0"/>
                <a:ea typeface="JetBrains Mono" pitchFamily="49" charset="-122"/>
                <a:cs typeface="JetBrains Mono" pitchFamily="49" charset="-120"/>
              </a:rPr>
              <a:t>)</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    </a:t>
            </a:r>
            <a:r>
              <a:rPr lang="en-US" sz="1300" dirty="0">
                <a:solidFill>
                  <a:srgbClr val="8EC1F0"/>
                </a:solidFill>
                <a:latin typeface="JetBrains Mono" pitchFamily="49" charset="0"/>
                <a:ea typeface="JetBrains Mono" pitchFamily="49" charset="-122"/>
                <a:cs typeface="JetBrains Mono" pitchFamily="49" charset="-120"/>
              </a:rPr>
              <a:t>if</a:t>
            </a:r>
            <a:r>
              <a:rPr lang="en-US" sz="1300" dirty="0">
                <a:solidFill>
                  <a:srgbClr val="E8EDF3"/>
                </a:solidFill>
                <a:latin typeface="JetBrains Mono" pitchFamily="49" charset="0"/>
                <a:ea typeface="JetBrains Mono" pitchFamily="49" charset="-122"/>
                <a:cs typeface="JetBrains Mono" pitchFamily="49" charset="-120"/>
              </a:rPr>
              <a:t> pw == </a:t>
            </a:r>
            <a:r>
              <a:rPr lang="en-US" sz="1300" dirty="0">
                <a:solidFill>
                  <a:srgbClr val="F2C94C"/>
                </a:solidFill>
                <a:latin typeface="JetBrains Mono" pitchFamily="49" charset="0"/>
                <a:ea typeface="JetBrains Mono" pitchFamily="49" charset="-122"/>
                <a:cs typeface="JetBrains Mono" pitchFamily="49" charset="-120"/>
              </a:rPr>
              <a:t>"python123"</a:t>
            </a:r>
            <a:r>
              <a:rPr lang="en-US" sz="1300" dirty="0">
                <a:solidFill>
                  <a:srgbClr val="E8EDF3"/>
                </a:solidFill>
                <a:latin typeface="JetBrains Mono" pitchFamily="49" charset="0"/>
                <a:ea typeface="JetBrains Mono" pitchFamily="49" charset="-122"/>
                <a:cs typeface="JetBrains Mono" pitchFamily="49" charset="-120"/>
              </a:rPr>
              <a:t>:</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        print(</a:t>
            </a:r>
            <a:r>
              <a:rPr lang="en-US" sz="1300" dirty="0">
                <a:solidFill>
                  <a:srgbClr val="F2C94C"/>
                </a:solidFill>
                <a:latin typeface="JetBrains Mono" pitchFamily="49" charset="0"/>
                <a:ea typeface="JetBrains Mono" pitchFamily="49" charset="-122"/>
                <a:cs typeface="JetBrains Mono" pitchFamily="49" charset="-120"/>
              </a:rPr>
              <a:t>"Welcome!"</a:t>
            </a:r>
            <a:r>
              <a:rPr lang="en-US" sz="1300" dirty="0">
                <a:solidFill>
                  <a:srgbClr val="E8EDF3"/>
                </a:solidFill>
                <a:latin typeface="JetBrains Mono" pitchFamily="49" charset="0"/>
                <a:ea typeface="JetBrains Mono" pitchFamily="49" charset="-122"/>
                <a:cs typeface="JetBrains Mono" pitchFamily="49" charset="-120"/>
              </a:rPr>
              <a:t>)</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        </a:t>
            </a:r>
            <a:r>
              <a:rPr lang="en-US" sz="1300" dirty="0">
                <a:solidFill>
                  <a:srgbClr val="8EC1F0"/>
                </a:solidFill>
                <a:latin typeface="JetBrains Mono" pitchFamily="49" charset="0"/>
                <a:ea typeface="JetBrains Mono" pitchFamily="49" charset="-122"/>
                <a:cs typeface="JetBrains Mono" pitchFamily="49" charset="-120"/>
              </a:rPr>
              <a:t>break</a:t>
            </a:r>
            <a:endParaRPr lang="en-US" sz="1300" dirty="0"/>
          </a:p>
        </p:txBody>
      </p:sp>
      <p:sp>
        <p:nvSpPr>
          <p:cNvPr id="7" name="Text 5"/>
          <p:cNvSpPr/>
          <p:nvPr/>
        </p:nvSpPr>
        <p:spPr>
          <a:xfrm>
            <a:off x="1121833" y="4662289"/>
            <a:ext cx="464811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DM Sans" pitchFamily="34" charset="0"/>
                <a:ea typeface="DM Sans" pitchFamily="34" charset="-122"/>
                <a:cs typeface="DM Sans" pitchFamily="34" charset="-120"/>
              </a:rPr>
              <a:t>Stops the loop immediately.</a:t>
            </a:r>
            <a:endParaRPr lang="en-US" sz="1500" dirty="0"/>
          </a:p>
        </p:txBody>
      </p:sp>
      <p:sp>
        <p:nvSpPr>
          <p:cNvPr id="8" name="Shape 6"/>
          <p:cNvSpPr/>
          <p:nvPr/>
        </p:nvSpPr>
        <p:spPr>
          <a:xfrm>
            <a:off x="6251575" y="1989404"/>
            <a:ext cx="5124450" cy="3509566"/>
          </a:xfrm>
          <a:prstGeom prst="roundRect">
            <a:avLst>
              <a:gd name="adj" fmla="val 3528"/>
            </a:avLst>
          </a:prstGeom>
          <a:solidFill>
            <a:srgbClr val="FFFFFF"/>
          </a:solidFill>
          <a:ln w="6350">
            <a:solidFill>
              <a:srgbClr val="D5DEE8"/>
            </a:solidFill>
            <a:prstDash val="solid"/>
          </a:ln>
        </p:spPr>
      </p:sp>
      <p:sp>
        <p:nvSpPr>
          <p:cNvPr id="9" name="Text 7"/>
          <p:cNvSpPr/>
          <p:nvPr/>
        </p:nvSpPr>
        <p:spPr>
          <a:xfrm>
            <a:off x="6557434" y="2295265"/>
            <a:ext cx="4648115"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3776AB"/>
                </a:solidFill>
                <a:latin typeface="DM Sans" pitchFamily="34" charset="0"/>
                <a:ea typeface="DM Sans" pitchFamily="34" charset="-122"/>
                <a:cs typeface="DM Sans" pitchFamily="34" charset="-120"/>
              </a:rPr>
              <a:t>continue</a:t>
            </a:r>
            <a:r>
              <a:rPr lang="en-US" sz="2200" b="1" dirty="0">
                <a:solidFill>
                  <a:srgbClr val="1F2A37"/>
                </a:solidFill>
                <a:latin typeface="DM Sans" pitchFamily="34" charset="0"/>
                <a:ea typeface="DM Sans" pitchFamily="34" charset="-122"/>
                <a:cs typeface="DM Sans" pitchFamily="34" charset="-120"/>
              </a:rPr>
              <a:t> — skip</a:t>
            </a:r>
            <a:endParaRPr lang="en-US" sz="2200" dirty="0"/>
          </a:p>
        </p:txBody>
      </p:sp>
      <p:sp>
        <p:nvSpPr>
          <p:cNvPr id="10" name="Text 8"/>
          <p:cNvSpPr/>
          <p:nvPr/>
        </p:nvSpPr>
        <p:spPr>
          <a:xfrm>
            <a:off x="6557434" y="2782888"/>
            <a:ext cx="4512733" cy="1991122"/>
          </a:xfrm>
          <a:prstGeom prst="roundRect">
            <a:avLst>
              <a:gd name="adj" fmla="val 5103"/>
            </a:avLst>
          </a:prstGeom>
          <a:solidFill>
            <a:srgbClr val="1F2A37"/>
          </a:solidFill>
          <a:ln/>
        </p:spPr>
        <p:txBody>
          <a:bodyPr wrap="square" lIns="224242" tIns="173442" rIns="104100" bIns="148042" rtlCol="0" anchor="t">
            <a:normAutofit/>
          </a:bodyPr>
          <a:lstStyle/>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n = 0</a:t>
            </a:r>
            <a:endParaRPr lang="en-US" sz="1300" dirty="0"/>
          </a:p>
          <a:p>
            <a:pPr algn="l" indent="0" marL="0">
              <a:lnSpc>
                <a:spcPts val="2080"/>
              </a:lnSpc>
              <a:buNone/>
            </a:pPr>
            <a:r>
              <a:rPr lang="en-US" sz="1300" dirty="0">
                <a:solidFill>
                  <a:srgbClr val="8EC1F0"/>
                </a:solidFill>
                <a:latin typeface="JetBrains Mono" pitchFamily="49" charset="0"/>
                <a:ea typeface="JetBrains Mono" pitchFamily="49" charset="-122"/>
                <a:cs typeface="JetBrains Mono" pitchFamily="49" charset="-120"/>
              </a:rPr>
              <a:t>while</a:t>
            </a:r>
            <a:r>
              <a:rPr lang="en-US" sz="1300" dirty="0">
                <a:solidFill>
                  <a:srgbClr val="E8EDF3"/>
                </a:solidFill>
                <a:latin typeface="JetBrains Mono" pitchFamily="49" charset="0"/>
                <a:ea typeface="JetBrains Mono" pitchFamily="49" charset="-122"/>
                <a:cs typeface="JetBrains Mono" pitchFamily="49" charset="-120"/>
              </a:rPr>
              <a:t> n &lt; 10:</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    n += 1</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    </a:t>
            </a:r>
            <a:r>
              <a:rPr lang="en-US" sz="1300" dirty="0">
                <a:solidFill>
                  <a:srgbClr val="8EC1F0"/>
                </a:solidFill>
                <a:latin typeface="JetBrains Mono" pitchFamily="49" charset="0"/>
                <a:ea typeface="JetBrains Mono" pitchFamily="49" charset="-122"/>
                <a:cs typeface="JetBrains Mono" pitchFamily="49" charset="-120"/>
              </a:rPr>
              <a:t>if</a:t>
            </a:r>
            <a:r>
              <a:rPr lang="en-US" sz="1300" dirty="0">
                <a:solidFill>
                  <a:srgbClr val="E8EDF3"/>
                </a:solidFill>
                <a:latin typeface="JetBrains Mono" pitchFamily="49" charset="0"/>
                <a:ea typeface="JetBrains Mono" pitchFamily="49" charset="-122"/>
                <a:cs typeface="JetBrains Mono" pitchFamily="49" charset="-120"/>
              </a:rPr>
              <a:t> n == 5:</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        </a:t>
            </a:r>
            <a:r>
              <a:rPr lang="en-US" sz="1300" dirty="0">
                <a:solidFill>
                  <a:srgbClr val="8EC1F0"/>
                </a:solidFill>
                <a:latin typeface="JetBrains Mono" pitchFamily="49" charset="0"/>
                <a:ea typeface="JetBrains Mono" pitchFamily="49" charset="-122"/>
                <a:cs typeface="JetBrains Mono" pitchFamily="49" charset="-120"/>
              </a:rPr>
              <a:t>continue</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    print(n)</a:t>
            </a:r>
            <a:endParaRPr lang="en-US" sz="1300" dirty="0"/>
          </a:p>
        </p:txBody>
      </p:sp>
      <p:sp>
        <p:nvSpPr>
          <p:cNvPr id="11" name="Text 9"/>
          <p:cNvSpPr/>
          <p:nvPr/>
        </p:nvSpPr>
        <p:spPr>
          <a:xfrm>
            <a:off x="6557434" y="4926409"/>
            <a:ext cx="464811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DM Sans" pitchFamily="34" charset="0"/>
                <a:ea typeface="DM Sans" pitchFamily="34" charset="-122"/>
                <a:cs typeface="DM Sans" pitchFamily="34" charset="-120"/>
              </a:rPr>
              <a:t>Skips this round (prints 1–10 without 5).</a:t>
            </a:r>
            <a:endParaRPr lang="en-US" sz="1500" dirty="0"/>
          </a:p>
        </p:txBody>
      </p:sp>
      <p:sp>
        <p:nvSpPr>
          <p:cNvPr id="12" name="Text 1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4: while loops</a:t>
            </a:r>
            <a:endParaRPr lang="en-US" sz="1200" dirty="0"/>
          </a:p>
        </p:txBody>
      </p:sp>
      <p:sp>
        <p:nvSpPr>
          <p:cNvPr id="13"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 GAME UPGRADE</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Guess the Number — now with a loop</a:t>
            </a:r>
            <a:endParaRPr lang="en-US" sz="3600" dirty="0"/>
          </a:p>
        </p:txBody>
      </p:sp>
      <p:sp>
        <p:nvSpPr>
          <p:cNvPr id="4" name="Text 2"/>
          <p:cNvSpPr/>
          <p:nvPr/>
        </p:nvSpPr>
        <p:spPr>
          <a:xfrm>
            <a:off x="812800" y="1935429"/>
            <a:ext cx="6126427" cy="3727450"/>
          </a:xfrm>
          <a:prstGeom prst="roundRect">
            <a:avLst>
              <a:gd name="adj" fmla="val 3407"/>
            </a:avLst>
          </a:prstGeom>
          <a:solidFill>
            <a:srgbClr val="1F2A37"/>
          </a:solidFill>
          <a:ln/>
        </p:spPr>
        <p:txBody>
          <a:bodyPr wrap="square" lIns="267603" tIns="216803" rIns="102098" bIns="191403" rtlCol="0" anchor="t">
            <a:normAutofit/>
          </a:bodyPr>
          <a:lstStyle/>
          <a:p>
            <a:pPr algn="l" indent="0" marL="0">
              <a:lnSpc>
                <a:spcPts val="1950"/>
              </a:lnSpc>
              <a:buNone/>
            </a:pPr>
            <a:r>
              <a:rPr lang="en-US" sz="1300" dirty="0">
                <a:solidFill>
                  <a:srgbClr val="8EC1F0"/>
                </a:solidFill>
                <a:latin typeface="JetBrains Mono" pitchFamily="49" charset="0"/>
                <a:ea typeface="JetBrains Mono" pitchFamily="49" charset="-122"/>
                <a:cs typeface="JetBrains Mono" pitchFamily="49" charset="-120"/>
              </a:rPr>
              <a:t>import</a:t>
            </a:r>
            <a:r>
              <a:rPr lang="en-US" sz="1300" dirty="0">
                <a:solidFill>
                  <a:srgbClr val="E8EDF3"/>
                </a:solidFill>
                <a:latin typeface="JetBrains Mono" pitchFamily="49" charset="0"/>
                <a:ea typeface="JetBrains Mono" pitchFamily="49" charset="-122"/>
                <a:cs typeface="JetBrains Mono" pitchFamily="49" charset="-120"/>
              </a:rPr>
              <a:t> random</a:t>
            </a:r>
            <a:endParaRPr lang="en-US" sz="1300" dirty="0"/>
          </a:p>
          <a:p>
            <a:pPr algn="l" indent="0" marL="0">
              <a:lnSpc>
                <a:spcPts val="1950"/>
              </a:lnSpc>
              <a:buNone/>
            </a:pPr>
            <a:r>
              <a:rPr lang="en-US" sz="1300" dirty="0">
                <a:solidFill>
                  <a:srgbClr val="E8EDF3"/>
                </a:solidFill>
                <a:latin typeface="JetBrains Mono" pitchFamily="49" charset="0"/>
                <a:ea typeface="JetBrains Mono" pitchFamily="49" charset="-122"/>
                <a:cs typeface="JetBrains Mono" pitchFamily="49" charset="-120"/>
              </a:rPr>
              <a:t>secret = random.randint(1, 20)</a:t>
            </a:r>
            <a:endParaRPr lang="en-US" sz="1300" dirty="0"/>
          </a:p>
          <a:p>
            <a:pPr algn="l" indent="0" marL="0">
              <a:lnSpc>
                <a:spcPts val="1950"/>
              </a:lnSpc>
              <a:buNone/>
            </a:pPr>
            <a:r>
              <a:rPr lang="en-US" sz="1300" dirty="0">
                <a:solidFill>
                  <a:srgbClr val="E8EDF3"/>
                </a:solidFill>
                <a:latin typeface="JetBrains Mono" pitchFamily="49" charset="0"/>
                <a:ea typeface="JetBrains Mono" pitchFamily="49" charset="-122"/>
                <a:cs typeface="JetBrains Mono" pitchFamily="49" charset="-120"/>
              </a:rPr>
              <a:t>tries = 0</a:t>
            </a:r>
            <a:endParaRPr lang="en-US" sz="1300" dirty="0"/>
          </a:p>
          <a:p>
            <a:pPr algn="l" indent="0" marL="0">
              <a:lnSpc>
                <a:spcPts val="1950"/>
              </a:lnSpc>
              <a:buNone/>
            </a:pPr>
            <a:r>
              <a:rPr lang="en-US" sz="1300" dirty="0">
                <a:solidFill>
                  <a:srgbClr val="E8EDF3"/>
                </a:solidFill>
                <a:latin typeface="JetBrains Mono" pitchFamily="49" charset="0"/>
                <a:ea typeface="JetBrains Mono" pitchFamily="49" charset="-122"/>
                <a:cs typeface="JetBrains Mono" pitchFamily="49" charset="-120"/>
              </a:rPr>
              <a:t>guess = 0</a:t>
            </a:r>
            <a:endParaRPr lang="en-US" sz="1300" dirty="0"/>
          </a:p>
          <a:p>
            <a:pPr algn="l" indent="0" marL="0">
              <a:lnSpc>
                <a:spcPts val="1950"/>
              </a:lnSpc>
              <a:buNone/>
            </a:pPr>
            <a:r>
              <a:rPr lang="en-US" sz="1300" dirty="0">
                <a:solidFill>
                  <a:srgbClr val="8EC1F0"/>
                </a:solidFill>
                <a:latin typeface="JetBrains Mono" pitchFamily="49" charset="0"/>
                <a:ea typeface="JetBrains Mono" pitchFamily="49" charset="-122"/>
                <a:cs typeface="JetBrains Mono" pitchFamily="49" charset="-120"/>
              </a:rPr>
              <a:t>while</a:t>
            </a:r>
            <a:r>
              <a:rPr lang="en-US" sz="1300" dirty="0">
                <a:solidFill>
                  <a:srgbClr val="E8EDF3"/>
                </a:solidFill>
                <a:latin typeface="JetBrains Mono" pitchFamily="49" charset="0"/>
                <a:ea typeface="JetBrains Mono" pitchFamily="49" charset="-122"/>
                <a:cs typeface="JetBrains Mono" pitchFamily="49" charset="-120"/>
              </a:rPr>
              <a:t> guess != secret:</a:t>
            </a:r>
            <a:endParaRPr lang="en-US" sz="1300" dirty="0"/>
          </a:p>
          <a:p>
            <a:pPr algn="l" indent="0" marL="0">
              <a:lnSpc>
                <a:spcPts val="1950"/>
              </a:lnSpc>
              <a:buNone/>
            </a:pPr>
            <a:r>
              <a:rPr lang="en-US" sz="1300" dirty="0">
                <a:solidFill>
                  <a:srgbClr val="E8EDF3"/>
                </a:solidFill>
                <a:latin typeface="JetBrains Mono" pitchFamily="49" charset="0"/>
                <a:ea typeface="JetBrains Mono" pitchFamily="49" charset="-122"/>
                <a:cs typeface="JetBrains Mono" pitchFamily="49" charset="-120"/>
              </a:rPr>
              <a:t>    guess = int(input(</a:t>
            </a:r>
            <a:r>
              <a:rPr lang="en-US" sz="1300" dirty="0">
                <a:solidFill>
                  <a:srgbClr val="F2C94C"/>
                </a:solidFill>
                <a:latin typeface="JetBrains Mono" pitchFamily="49" charset="0"/>
                <a:ea typeface="JetBrains Mono" pitchFamily="49" charset="-122"/>
                <a:cs typeface="JetBrains Mono" pitchFamily="49" charset="-120"/>
              </a:rPr>
              <a:t>"Your guess: "</a:t>
            </a:r>
            <a:r>
              <a:rPr lang="en-US" sz="1300" dirty="0">
                <a:solidFill>
                  <a:srgbClr val="E8EDF3"/>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8EDF3"/>
                </a:solidFill>
                <a:latin typeface="JetBrains Mono" pitchFamily="49" charset="0"/>
                <a:ea typeface="JetBrains Mono" pitchFamily="49" charset="-122"/>
                <a:cs typeface="JetBrains Mono" pitchFamily="49" charset="-120"/>
              </a:rPr>
              <a:t>    tries += 1</a:t>
            </a:r>
            <a:endParaRPr lang="en-US" sz="1300" dirty="0"/>
          </a:p>
          <a:p>
            <a:pPr algn="l" indent="0" marL="0">
              <a:lnSpc>
                <a:spcPts val="1950"/>
              </a:lnSpc>
              <a:buNone/>
            </a:pPr>
            <a:r>
              <a:rPr lang="en-US" sz="1300" dirty="0">
                <a:solidFill>
                  <a:srgbClr val="E8EDF3"/>
                </a:solidFill>
                <a:latin typeface="JetBrains Mono" pitchFamily="49" charset="0"/>
                <a:ea typeface="JetBrains Mono" pitchFamily="49" charset="-122"/>
                <a:cs typeface="JetBrains Mono" pitchFamily="49" charset="-120"/>
              </a:rPr>
              <a:t>    </a:t>
            </a:r>
            <a:r>
              <a:rPr lang="en-US" sz="1300" dirty="0">
                <a:solidFill>
                  <a:srgbClr val="8EC1F0"/>
                </a:solidFill>
                <a:latin typeface="JetBrains Mono" pitchFamily="49" charset="0"/>
                <a:ea typeface="JetBrains Mono" pitchFamily="49" charset="-122"/>
                <a:cs typeface="JetBrains Mono" pitchFamily="49" charset="-120"/>
              </a:rPr>
              <a:t>if</a:t>
            </a:r>
            <a:r>
              <a:rPr lang="en-US" sz="1300" dirty="0">
                <a:solidFill>
                  <a:srgbClr val="E8EDF3"/>
                </a:solidFill>
                <a:latin typeface="JetBrains Mono" pitchFamily="49" charset="0"/>
                <a:ea typeface="JetBrains Mono" pitchFamily="49" charset="-122"/>
                <a:cs typeface="JetBrains Mono" pitchFamily="49" charset="-120"/>
              </a:rPr>
              <a:t> guess &lt; secret:</a:t>
            </a:r>
            <a:endParaRPr lang="en-US" sz="1300" dirty="0"/>
          </a:p>
          <a:p>
            <a:pPr algn="l" indent="0" marL="0">
              <a:lnSpc>
                <a:spcPts val="1950"/>
              </a:lnSpc>
              <a:buNone/>
            </a:pPr>
            <a:r>
              <a:rPr lang="en-US" sz="1300" dirty="0">
                <a:solidFill>
                  <a:srgbClr val="E8EDF3"/>
                </a:solidFill>
                <a:latin typeface="JetBrains Mono" pitchFamily="49" charset="0"/>
                <a:ea typeface="JetBrains Mono" pitchFamily="49" charset="-122"/>
                <a:cs typeface="JetBrains Mono" pitchFamily="49" charset="-120"/>
              </a:rPr>
              <a:t>        print(</a:t>
            </a:r>
            <a:r>
              <a:rPr lang="en-US" sz="1300" dirty="0">
                <a:solidFill>
                  <a:srgbClr val="F2C94C"/>
                </a:solidFill>
                <a:latin typeface="JetBrains Mono" pitchFamily="49" charset="0"/>
                <a:ea typeface="JetBrains Mono" pitchFamily="49" charset="-122"/>
                <a:cs typeface="JetBrains Mono" pitchFamily="49" charset="-120"/>
              </a:rPr>
              <a:t>"Too low!"</a:t>
            </a:r>
            <a:r>
              <a:rPr lang="en-US" sz="1300" dirty="0">
                <a:solidFill>
                  <a:srgbClr val="E8EDF3"/>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8EDF3"/>
                </a:solidFill>
                <a:latin typeface="JetBrains Mono" pitchFamily="49" charset="0"/>
                <a:ea typeface="JetBrains Mono" pitchFamily="49" charset="-122"/>
                <a:cs typeface="JetBrains Mono" pitchFamily="49" charset="-120"/>
              </a:rPr>
              <a:t>    </a:t>
            </a:r>
            <a:r>
              <a:rPr lang="en-US" sz="1300" dirty="0">
                <a:solidFill>
                  <a:srgbClr val="8EC1F0"/>
                </a:solidFill>
                <a:latin typeface="JetBrains Mono" pitchFamily="49" charset="0"/>
                <a:ea typeface="JetBrains Mono" pitchFamily="49" charset="-122"/>
                <a:cs typeface="JetBrains Mono" pitchFamily="49" charset="-120"/>
              </a:rPr>
              <a:t>elif</a:t>
            </a:r>
            <a:r>
              <a:rPr lang="en-US" sz="1300" dirty="0">
                <a:solidFill>
                  <a:srgbClr val="E8EDF3"/>
                </a:solidFill>
                <a:latin typeface="JetBrains Mono" pitchFamily="49" charset="0"/>
                <a:ea typeface="JetBrains Mono" pitchFamily="49" charset="-122"/>
                <a:cs typeface="JetBrains Mono" pitchFamily="49" charset="-120"/>
              </a:rPr>
              <a:t> guess &gt; secret:</a:t>
            </a:r>
            <a:endParaRPr lang="en-US" sz="1300" dirty="0"/>
          </a:p>
          <a:p>
            <a:pPr algn="l" indent="0" marL="0">
              <a:lnSpc>
                <a:spcPts val="1950"/>
              </a:lnSpc>
              <a:buNone/>
            </a:pPr>
            <a:r>
              <a:rPr lang="en-US" sz="1300" dirty="0">
                <a:solidFill>
                  <a:srgbClr val="E8EDF3"/>
                </a:solidFill>
                <a:latin typeface="JetBrains Mono" pitchFamily="49" charset="0"/>
                <a:ea typeface="JetBrains Mono" pitchFamily="49" charset="-122"/>
                <a:cs typeface="JetBrains Mono" pitchFamily="49" charset="-120"/>
              </a:rPr>
              <a:t>        print(</a:t>
            </a:r>
            <a:r>
              <a:rPr lang="en-US" sz="1300" dirty="0">
                <a:solidFill>
                  <a:srgbClr val="F2C94C"/>
                </a:solidFill>
                <a:latin typeface="JetBrains Mono" pitchFamily="49" charset="0"/>
                <a:ea typeface="JetBrains Mono" pitchFamily="49" charset="-122"/>
                <a:cs typeface="JetBrains Mono" pitchFamily="49" charset="-120"/>
              </a:rPr>
              <a:t>"Too high!"</a:t>
            </a:r>
            <a:r>
              <a:rPr lang="en-US" sz="1300" dirty="0">
                <a:solidFill>
                  <a:srgbClr val="E8EDF3"/>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endParaRPr lang="en-US" sz="1300" dirty="0"/>
          </a:p>
          <a:p>
            <a:pPr algn="l" indent="0" marL="0">
              <a:lnSpc>
                <a:spcPts val="1950"/>
              </a:lnSpc>
              <a:buNone/>
            </a:pPr>
            <a:r>
              <a:rPr lang="en-US" sz="1300" dirty="0">
                <a:solidFill>
                  <a:srgbClr val="E8EDF3"/>
                </a:solidFill>
                <a:latin typeface="JetBrains Mono" pitchFamily="49" charset="0"/>
                <a:ea typeface="JetBrains Mono" pitchFamily="49" charset="-122"/>
                <a:cs typeface="JetBrains Mono" pitchFamily="49" charset="-120"/>
              </a:rPr>
              <a:t>print(</a:t>
            </a:r>
            <a:r>
              <a:rPr lang="en-US" sz="1300" dirty="0">
                <a:solidFill>
                  <a:srgbClr val="F2C94C"/>
                </a:solidFill>
                <a:latin typeface="JetBrains Mono" pitchFamily="49" charset="0"/>
                <a:ea typeface="JetBrains Mono" pitchFamily="49" charset="-122"/>
                <a:cs typeface="JetBrains Mono" pitchFamily="49" charset="-120"/>
              </a:rPr>
              <a:t>"Correct! Tries:"</a:t>
            </a:r>
            <a:r>
              <a:rPr lang="en-US" sz="1300" dirty="0">
                <a:solidFill>
                  <a:srgbClr val="E8EDF3"/>
                </a:solidFill>
                <a:latin typeface="JetBrains Mono" pitchFamily="49" charset="0"/>
                <a:ea typeface="JetBrains Mono" pitchFamily="49" charset="-122"/>
                <a:cs typeface="JetBrains Mono" pitchFamily="49" charset="-120"/>
              </a:rPr>
              <a:t>, tries)</a:t>
            </a:r>
            <a:endParaRPr lang="en-US" sz="1300" dirty="0"/>
          </a:p>
        </p:txBody>
      </p:sp>
      <p:sp>
        <p:nvSpPr>
          <p:cNvPr id="5" name="Text 3"/>
          <p:cNvSpPr/>
          <p:nvPr/>
        </p:nvSpPr>
        <p:spPr>
          <a:xfrm>
            <a:off x="7294828" y="1935429"/>
            <a:ext cx="4206836" cy="320014"/>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1F2A37"/>
                </a:solidFill>
                <a:latin typeface="DM Sans" pitchFamily="34" charset="0"/>
                <a:ea typeface="DM Sans" pitchFamily="34" charset="-122"/>
                <a:cs typeface="DM Sans" pitchFamily="34" charset="-120"/>
              </a:rPr>
              <a:t>On Day 3 the player had only </a:t>
            </a:r>
            <a:r>
              <a:rPr lang="en-US" sz="1600" b="1" dirty="0">
                <a:solidFill>
                  <a:srgbClr val="1F2A37"/>
                </a:solidFill>
                <a:latin typeface="DM Sans" pitchFamily="34" charset="0"/>
                <a:ea typeface="DM Sans" pitchFamily="34" charset="-122"/>
                <a:cs typeface="DM Sans" pitchFamily="34" charset="-120"/>
              </a:rPr>
              <a:t>one</a:t>
            </a:r>
            <a:r>
              <a:rPr lang="en-US" sz="1600" dirty="0">
                <a:solidFill>
                  <a:srgbClr val="1F2A37"/>
                </a:solidFill>
                <a:latin typeface="DM Sans" pitchFamily="34" charset="0"/>
                <a:ea typeface="DM Sans" pitchFamily="34" charset="-122"/>
                <a:cs typeface="DM Sans" pitchFamily="34" charset="-120"/>
              </a:rPr>
              <a:t> guess.</a:t>
            </a:r>
            <a:endParaRPr lang="en-US" sz="1600" dirty="0"/>
          </a:p>
        </p:txBody>
      </p:sp>
      <p:sp>
        <p:nvSpPr>
          <p:cNvPr id="6" name="Text 4"/>
          <p:cNvSpPr/>
          <p:nvPr/>
        </p:nvSpPr>
        <p:spPr>
          <a:xfrm>
            <a:off x="7294828" y="2407841"/>
            <a:ext cx="4206836" cy="614627"/>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1F2A37"/>
                </a:solidFill>
                <a:latin typeface="DM Sans" pitchFamily="34" charset="0"/>
                <a:ea typeface="DM Sans" pitchFamily="34" charset="-122"/>
                <a:cs typeface="DM Sans" pitchFamily="34" charset="-120"/>
              </a:rPr>
              <a:t>Now the loop keeps going </a:t>
            </a:r>
            <a:r>
              <a:rPr lang="en-US" sz="1600" b="1" dirty="0">
                <a:solidFill>
                  <a:srgbClr val="1F2A37"/>
                </a:solidFill>
                <a:latin typeface="DM Sans" pitchFamily="34" charset="0"/>
                <a:ea typeface="DM Sans" pitchFamily="34" charset="-122"/>
                <a:cs typeface="DM Sans" pitchFamily="34" charset="-120"/>
              </a:rPr>
              <a:t>until the guess is right</a:t>
            </a:r>
            <a:r>
              <a:rPr lang="en-US" sz="1600" dirty="0">
                <a:solidFill>
                  <a:srgbClr val="1F2A37"/>
                </a:solidFill>
                <a:latin typeface="DM Sans" pitchFamily="34" charset="0"/>
                <a:ea typeface="DM Sans" pitchFamily="34" charset="-122"/>
                <a:cs typeface="DM Sans" pitchFamily="34" charset="-120"/>
              </a:rPr>
              <a:t>.</a:t>
            </a:r>
            <a:endParaRPr lang="en-US" sz="1600" dirty="0"/>
          </a:p>
        </p:txBody>
      </p:sp>
      <p:sp>
        <p:nvSpPr>
          <p:cNvPr id="7" name="Text 5"/>
          <p:cNvSpPr/>
          <p:nvPr/>
        </p:nvSpPr>
        <p:spPr>
          <a:xfrm>
            <a:off x="7294828" y="3174870"/>
            <a:ext cx="4206836" cy="320014"/>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1F2A37"/>
                </a:solidFill>
                <a:latin typeface="DM Sans" pitchFamily="34" charset="0"/>
                <a:ea typeface="DM Sans" pitchFamily="34" charset="-122"/>
                <a:cs typeface="DM Sans" pitchFamily="34" charset="-120"/>
              </a:rPr>
              <a:t>We also </a:t>
            </a:r>
            <a:r>
              <a:rPr lang="en-US" sz="1600" b="1" dirty="0">
                <a:solidFill>
                  <a:srgbClr val="1F2A37"/>
                </a:solidFill>
                <a:latin typeface="DM Sans" pitchFamily="34" charset="0"/>
                <a:ea typeface="DM Sans" pitchFamily="34" charset="-122"/>
                <a:cs typeface="DM Sans" pitchFamily="34" charset="-120"/>
              </a:rPr>
              <a:t>count the tries</a:t>
            </a:r>
            <a:r>
              <a:rPr lang="en-US" sz="1600" dirty="0">
                <a:solidFill>
                  <a:srgbClr val="1F2A37"/>
                </a:solidFill>
                <a:latin typeface="DM Sans" pitchFamily="34" charset="0"/>
                <a:ea typeface="DM Sans" pitchFamily="34" charset="-122"/>
                <a:cs typeface="DM Sans" pitchFamily="34" charset="-120"/>
              </a:rPr>
              <a:t> with </a:t>
            </a:r>
            <a:r>
              <a:rPr lang="en-US" sz="1600" b="1" dirty="0">
                <a:solidFill>
                  <a:srgbClr val="3776AB"/>
                </a:solidFill>
                <a:latin typeface="DM Sans" pitchFamily="34" charset="0"/>
                <a:ea typeface="DM Sans" pitchFamily="34" charset="-122"/>
                <a:cs typeface="DM Sans" pitchFamily="34" charset="-120"/>
              </a:rPr>
              <a:t>tries += 1</a:t>
            </a:r>
            <a:r>
              <a:rPr lang="en-US" sz="1600" dirty="0">
                <a:solidFill>
                  <a:srgbClr val="1F2A37"/>
                </a:solidFill>
                <a:latin typeface="DM Sans" pitchFamily="34" charset="0"/>
                <a:ea typeface="DM Sans" pitchFamily="34" charset="-122"/>
                <a:cs typeface="DM Sans" pitchFamily="34" charset="-120"/>
              </a:rPr>
              <a:t>.</a:t>
            </a:r>
            <a:endParaRPr lang="en-US" sz="1600" dirty="0"/>
          </a:p>
        </p:txBody>
      </p:sp>
      <p:sp>
        <p:nvSpPr>
          <p:cNvPr id="8" name="Text 6"/>
          <p:cNvSpPr/>
          <p:nvPr/>
        </p:nvSpPr>
        <p:spPr>
          <a:xfrm>
            <a:off x="7294828" y="3647281"/>
            <a:ext cx="4084307" cy="631825"/>
          </a:xfrm>
          <a:prstGeom prst="roundRect">
            <a:avLst>
              <a:gd name="adj" fmla="val 16080"/>
            </a:avLst>
          </a:prstGeom>
          <a:solidFill>
            <a:srgbClr val="E3ECF6"/>
          </a:solidFill>
          <a:ln/>
        </p:spPr>
        <p:txBody>
          <a:bodyPr wrap="square" lIns="173442" tIns="148042" rIns="63105" bIns="122642" rtlCol="0" anchor="t">
            <a:normAutofit/>
          </a:bodyPr>
          <a:lstStyle/>
          <a:p>
            <a:pPr algn="l" indent="0" marL="0">
              <a:lnSpc>
                <a:spcPts val="2175"/>
              </a:lnSpc>
              <a:buNone/>
            </a:pPr>
            <a:r>
              <a:rPr lang="en-US" sz="1500" dirty="0">
                <a:solidFill>
                  <a:srgbClr val="1F2A37"/>
                </a:solidFill>
                <a:latin typeface="DM Sans" pitchFamily="34" charset="0"/>
                <a:ea typeface="DM Sans" pitchFamily="34" charset="-122"/>
                <a:cs typeface="DM Sans" pitchFamily="34" charset="-120"/>
              </a:rPr>
              <a:t>⭐ Challenge: give the player only </a:t>
            </a:r>
            <a:r>
              <a:rPr lang="en-US" sz="1500" b="1" dirty="0">
                <a:solidFill>
                  <a:srgbClr val="1F2A37"/>
                </a:solidFill>
                <a:latin typeface="DM Sans" pitchFamily="34" charset="0"/>
                <a:ea typeface="DM Sans" pitchFamily="34" charset="-122"/>
                <a:cs typeface="DM Sans" pitchFamily="34" charset="-120"/>
              </a:rPr>
              <a:t>5 tries</a:t>
            </a:r>
            <a:r>
              <a:rPr lang="en-US" sz="1500" dirty="0">
                <a:solidFill>
                  <a:srgbClr val="1F2A37"/>
                </a:solidFill>
                <a:latin typeface="DM Sans" pitchFamily="34" charset="0"/>
                <a:ea typeface="DM Sans" pitchFamily="34" charset="-122"/>
                <a:cs typeface="DM Sans" pitchFamily="34" charset="-120"/>
              </a:rPr>
              <a:t>.</a:t>
            </a:r>
            <a:endParaRPr lang="en-US" sz="1500" dirty="0"/>
          </a:p>
        </p:txBody>
      </p:sp>
      <p:sp>
        <p:nvSpPr>
          <p:cNvPr id="9" name="Text 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4: while loops</a:t>
            </a:r>
            <a:endParaRPr lang="en-US" sz="1200" dirty="0"/>
          </a:p>
        </p:txBody>
      </p:sp>
      <p:sp>
        <p:nvSpPr>
          <p:cNvPr id="10"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1F4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 QUICK CHECK</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Predict before you run!</a:t>
            </a:r>
            <a:endParaRPr lang="en-US" sz="3600" dirty="0"/>
          </a:p>
        </p:txBody>
      </p:sp>
      <p:sp>
        <p:nvSpPr>
          <p:cNvPr id="4" name="Shape 2"/>
          <p:cNvSpPr/>
          <p:nvPr/>
        </p:nvSpPr>
        <p:spPr>
          <a:xfrm>
            <a:off x="815975" y="1989404"/>
            <a:ext cx="3346450" cy="2348905"/>
          </a:xfrm>
          <a:prstGeom prst="roundRect">
            <a:avLst>
              <a:gd name="adj" fmla="val 5272"/>
            </a:avLst>
          </a:prstGeom>
          <a:solidFill>
            <a:srgbClr val="FFFFFF"/>
          </a:solidFill>
          <a:ln w="6350">
            <a:solidFill>
              <a:srgbClr val="D5DEE8"/>
            </a:solidFill>
            <a:prstDash val="solid"/>
          </a:ln>
        </p:spPr>
      </p:sp>
      <p:sp>
        <p:nvSpPr>
          <p:cNvPr id="5" name="Text 3"/>
          <p:cNvSpPr/>
          <p:nvPr/>
        </p:nvSpPr>
        <p:spPr>
          <a:xfrm>
            <a:off x="1071033" y="2244465"/>
            <a:ext cx="292142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7"/>
                </a:solidFill>
                <a:latin typeface="DM Sans" pitchFamily="34" charset="0"/>
                <a:ea typeface="DM Sans" pitchFamily="34" charset="-122"/>
                <a:cs typeface="DM Sans" pitchFamily="34" charset="-120"/>
              </a:rPr>
              <a:t>Q1. How many times?</a:t>
            </a:r>
            <a:endParaRPr lang="en-US" sz="1800" dirty="0"/>
          </a:p>
        </p:txBody>
      </p:sp>
      <p:sp>
        <p:nvSpPr>
          <p:cNvPr id="6" name="Text 4"/>
          <p:cNvSpPr/>
          <p:nvPr/>
        </p:nvSpPr>
        <p:spPr>
          <a:xfrm>
            <a:off x="1071033" y="2671167"/>
            <a:ext cx="2836333" cy="1412081"/>
          </a:xfrm>
          <a:prstGeom prst="roundRect">
            <a:avLst>
              <a:gd name="adj" fmla="val 6296"/>
            </a:avLst>
          </a:prstGeom>
          <a:solidFill>
            <a:srgbClr val="1F2A37"/>
          </a:solidFill>
          <a:ln/>
        </p:spPr>
        <p:txBody>
          <a:bodyPr wrap="square" lIns="177162" tIns="151762" rIns="104264" bIns="126362" rtlCol="0" anchor="t">
            <a:normAutofit/>
          </a:bodyPr>
          <a:lstStyle/>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i = 0</a:t>
            </a:r>
            <a:endParaRPr lang="en-US" sz="1300" dirty="0"/>
          </a:p>
          <a:p>
            <a:pPr algn="l" indent="0" marL="0">
              <a:lnSpc>
                <a:spcPts val="2080"/>
              </a:lnSpc>
              <a:buNone/>
            </a:pPr>
            <a:r>
              <a:rPr lang="en-US" sz="1300" dirty="0">
                <a:solidFill>
                  <a:srgbClr val="8EC1F0"/>
                </a:solidFill>
                <a:latin typeface="JetBrains Mono" pitchFamily="49" charset="0"/>
                <a:ea typeface="JetBrains Mono" pitchFamily="49" charset="-122"/>
                <a:cs typeface="JetBrains Mono" pitchFamily="49" charset="-120"/>
              </a:rPr>
              <a:t>while</a:t>
            </a:r>
            <a:r>
              <a:rPr lang="en-US" sz="1300" dirty="0">
                <a:solidFill>
                  <a:srgbClr val="E8EDF3"/>
                </a:solidFill>
                <a:latin typeface="JetBrains Mono" pitchFamily="49" charset="0"/>
                <a:ea typeface="JetBrains Mono" pitchFamily="49" charset="-122"/>
                <a:cs typeface="JetBrains Mono" pitchFamily="49" charset="-120"/>
              </a:rPr>
              <a:t> i &lt; 3:</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    print(</a:t>
            </a:r>
            <a:r>
              <a:rPr lang="en-US" sz="1300" dirty="0">
                <a:solidFill>
                  <a:srgbClr val="F2C94C"/>
                </a:solidFill>
                <a:latin typeface="JetBrains Mono" pitchFamily="49" charset="0"/>
                <a:ea typeface="JetBrains Mono" pitchFamily="49" charset="-122"/>
                <a:cs typeface="JetBrains Mono" pitchFamily="49" charset="-120"/>
              </a:rPr>
              <a:t>"Hi"</a:t>
            </a:r>
            <a:r>
              <a:rPr lang="en-US" sz="1300" dirty="0">
                <a:solidFill>
                  <a:srgbClr val="E8EDF3"/>
                </a:solidFill>
                <a:latin typeface="JetBrains Mono" pitchFamily="49" charset="0"/>
                <a:ea typeface="JetBrains Mono" pitchFamily="49" charset="-122"/>
                <a:cs typeface="JetBrains Mono" pitchFamily="49" charset="-120"/>
              </a:rPr>
              <a:t>)</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    i += 1</a:t>
            </a:r>
            <a:endParaRPr lang="en-US" sz="1300" dirty="0"/>
          </a:p>
        </p:txBody>
      </p:sp>
      <p:sp>
        <p:nvSpPr>
          <p:cNvPr id="7" name="Shape 5"/>
          <p:cNvSpPr/>
          <p:nvPr/>
        </p:nvSpPr>
        <p:spPr>
          <a:xfrm>
            <a:off x="4422775" y="1989404"/>
            <a:ext cx="3346450" cy="2348905"/>
          </a:xfrm>
          <a:prstGeom prst="roundRect">
            <a:avLst>
              <a:gd name="adj" fmla="val 5272"/>
            </a:avLst>
          </a:prstGeom>
          <a:solidFill>
            <a:srgbClr val="FFFFFF"/>
          </a:solidFill>
          <a:ln w="6350">
            <a:solidFill>
              <a:srgbClr val="D5DEE8"/>
            </a:solidFill>
            <a:prstDash val="solid"/>
          </a:ln>
        </p:spPr>
      </p:sp>
      <p:sp>
        <p:nvSpPr>
          <p:cNvPr id="8" name="Text 6"/>
          <p:cNvSpPr/>
          <p:nvPr/>
        </p:nvSpPr>
        <p:spPr>
          <a:xfrm>
            <a:off x="4677833" y="2244465"/>
            <a:ext cx="292142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7"/>
                </a:solidFill>
                <a:latin typeface="DM Sans" pitchFamily="34" charset="0"/>
                <a:ea typeface="DM Sans" pitchFamily="34" charset="-122"/>
                <a:cs typeface="DM Sans" pitchFamily="34" charset="-120"/>
              </a:rPr>
              <a:t>Q2. What’s wrong?</a:t>
            </a:r>
            <a:endParaRPr lang="en-US" sz="1800" dirty="0"/>
          </a:p>
        </p:txBody>
      </p:sp>
      <p:sp>
        <p:nvSpPr>
          <p:cNvPr id="9" name="Text 7"/>
          <p:cNvSpPr/>
          <p:nvPr/>
        </p:nvSpPr>
        <p:spPr>
          <a:xfrm>
            <a:off x="4677833" y="2671167"/>
            <a:ext cx="2836333" cy="1147961"/>
          </a:xfrm>
          <a:prstGeom prst="roundRect">
            <a:avLst>
              <a:gd name="adj" fmla="val 7744"/>
            </a:avLst>
          </a:prstGeom>
          <a:solidFill>
            <a:srgbClr val="1F2A37"/>
          </a:solidFill>
          <a:ln/>
        </p:spPr>
        <p:txBody>
          <a:bodyPr wrap="square" lIns="177162" tIns="151762" rIns="104264" bIns="126362" rtlCol="0" anchor="t">
            <a:normAutofit/>
          </a:bodyPr>
          <a:lstStyle/>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x = 10</a:t>
            </a:r>
            <a:endParaRPr lang="en-US" sz="1300" dirty="0"/>
          </a:p>
          <a:p>
            <a:pPr algn="l" indent="0" marL="0">
              <a:lnSpc>
                <a:spcPts val="2080"/>
              </a:lnSpc>
              <a:buNone/>
            </a:pPr>
            <a:r>
              <a:rPr lang="en-US" sz="1300" dirty="0">
                <a:solidFill>
                  <a:srgbClr val="8EC1F0"/>
                </a:solidFill>
                <a:latin typeface="JetBrains Mono" pitchFamily="49" charset="0"/>
                <a:ea typeface="JetBrains Mono" pitchFamily="49" charset="-122"/>
                <a:cs typeface="JetBrains Mono" pitchFamily="49" charset="-120"/>
              </a:rPr>
              <a:t>while</a:t>
            </a:r>
            <a:r>
              <a:rPr lang="en-US" sz="1300" dirty="0">
                <a:solidFill>
                  <a:srgbClr val="E8EDF3"/>
                </a:solidFill>
                <a:latin typeface="JetBrains Mono" pitchFamily="49" charset="0"/>
                <a:ea typeface="JetBrains Mono" pitchFamily="49" charset="-122"/>
                <a:cs typeface="JetBrains Mono" pitchFamily="49" charset="-120"/>
              </a:rPr>
              <a:t> x &gt; 0:</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    print(x)</a:t>
            </a:r>
            <a:endParaRPr lang="en-US" sz="1300" dirty="0"/>
          </a:p>
        </p:txBody>
      </p:sp>
      <p:sp>
        <p:nvSpPr>
          <p:cNvPr id="10" name="Shape 8"/>
          <p:cNvSpPr/>
          <p:nvPr/>
        </p:nvSpPr>
        <p:spPr>
          <a:xfrm>
            <a:off x="8029575" y="1989404"/>
            <a:ext cx="3346450" cy="2348905"/>
          </a:xfrm>
          <a:prstGeom prst="roundRect">
            <a:avLst>
              <a:gd name="adj" fmla="val 5272"/>
            </a:avLst>
          </a:prstGeom>
          <a:solidFill>
            <a:srgbClr val="FFFFFF"/>
          </a:solidFill>
          <a:ln w="6350">
            <a:solidFill>
              <a:srgbClr val="D5DEE8"/>
            </a:solidFill>
            <a:prstDash val="solid"/>
          </a:ln>
        </p:spPr>
      </p:sp>
      <p:sp>
        <p:nvSpPr>
          <p:cNvPr id="11" name="Text 9"/>
          <p:cNvSpPr/>
          <p:nvPr/>
        </p:nvSpPr>
        <p:spPr>
          <a:xfrm>
            <a:off x="8284634" y="2244465"/>
            <a:ext cx="292142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7"/>
                </a:solidFill>
                <a:latin typeface="DM Sans" pitchFamily="34" charset="0"/>
                <a:ea typeface="DM Sans" pitchFamily="34" charset="-122"/>
                <a:cs typeface="DM Sans" pitchFamily="34" charset="-120"/>
              </a:rPr>
              <a:t>Q3. What is printed?</a:t>
            </a:r>
            <a:endParaRPr lang="en-US" sz="1800" dirty="0"/>
          </a:p>
        </p:txBody>
      </p:sp>
      <p:sp>
        <p:nvSpPr>
          <p:cNvPr id="12" name="Text 10"/>
          <p:cNvSpPr/>
          <p:nvPr/>
        </p:nvSpPr>
        <p:spPr>
          <a:xfrm>
            <a:off x="8284634" y="2671167"/>
            <a:ext cx="2836333" cy="1412081"/>
          </a:xfrm>
          <a:prstGeom prst="roundRect">
            <a:avLst>
              <a:gd name="adj" fmla="val 6296"/>
            </a:avLst>
          </a:prstGeom>
          <a:solidFill>
            <a:srgbClr val="1F2A37"/>
          </a:solidFill>
          <a:ln/>
        </p:spPr>
        <p:txBody>
          <a:bodyPr wrap="square" lIns="177162" tIns="151762" rIns="104264" bIns="126362" rtlCol="0" anchor="t">
            <a:normAutofit/>
          </a:bodyPr>
          <a:lstStyle/>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n = 1</a:t>
            </a:r>
            <a:endParaRPr lang="en-US" sz="1300" dirty="0"/>
          </a:p>
          <a:p>
            <a:pPr algn="l" indent="0" marL="0">
              <a:lnSpc>
                <a:spcPts val="2080"/>
              </a:lnSpc>
              <a:buNone/>
            </a:pPr>
            <a:r>
              <a:rPr lang="en-US" sz="1300" dirty="0">
                <a:solidFill>
                  <a:srgbClr val="8EC1F0"/>
                </a:solidFill>
                <a:latin typeface="JetBrains Mono" pitchFamily="49" charset="0"/>
                <a:ea typeface="JetBrains Mono" pitchFamily="49" charset="-122"/>
                <a:cs typeface="JetBrains Mono" pitchFamily="49" charset="-120"/>
              </a:rPr>
              <a:t>while</a:t>
            </a:r>
            <a:r>
              <a:rPr lang="en-US" sz="1300" dirty="0">
                <a:solidFill>
                  <a:srgbClr val="E8EDF3"/>
                </a:solidFill>
                <a:latin typeface="JetBrains Mono" pitchFamily="49" charset="0"/>
                <a:ea typeface="JetBrains Mono" pitchFamily="49" charset="-122"/>
                <a:cs typeface="JetBrains Mono" pitchFamily="49" charset="-120"/>
              </a:rPr>
              <a:t> n &lt; 20:</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    n = n * 2</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print(n)</a:t>
            </a:r>
            <a:endParaRPr lang="en-US" sz="13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4: while loops</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SUMMARY</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What we learned today</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129"/>
          <a:ext cx="10553700" cy="3075384"/>
        </p:xfrm>
        <a:graphic>
          <a:graphicData uri="http://schemas.openxmlformats.org/drawingml/2006/table">
            <a:tbl>
              <a:tblPr/>
              <a:tblGrid>
                <a:gridCol w="3588258"/>
                <a:gridCol w="6965442"/>
              </a:tblGrid>
              <a:tr h="439341">
                <a:tc>
                  <a:txBody>
                    <a:bodyPr/>
                    <a:lstStyle/>
                    <a:p>
                      <a:pPr indent="0" marL="0">
                        <a:lnSpc>
                          <a:spcPts val="2240"/>
                        </a:lnSpc>
                        <a:buNone/>
                      </a:pPr>
                      <a:r>
                        <a:rPr lang="en-US" sz="1600" b="1" dirty="0">
                          <a:solidFill>
                            <a:srgbClr val="1F2A37"/>
                          </a:solidFill>
                          <a:latin typeface="DM Sans" pitchFamily="34" charset="0"/>
                          <a:ea typeface="DM Sans" pitchFamily="34" charset="-122"/>
                          <a:cs typeface="DM Sans" pitchFamily="34" charset="-120"/>
                        </a:rPr>
                        <a:t>Code</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2240"/>
                        </a:lnSpc>
                        <a:buNone/>
                      </a:pPr>
                      <a:r>
                        <a:rPr lang="en-US" sz="1600" b="1" dirty="0">
                          <a:solidFill>
                            <a:srgbClr val="1F2A37"/>
                          </a:solidFill>
                          <a:latin typeface="DM Sans" pitchFamily="34" charset="0"/>
                          <a:ea typeface="DM Sans" pitchFamily="34" charset="-122"/>
                          <a:cs typeface="DM Sans" pitchFamily="34" charset="-120"/>
                        </a:rPr>
                        <a:t>Meaning</a:t>
                      </a:r>
                      <a:endParaRPr lang="en-US" sz="1600" dirty="0">
                        <a:latin typeface="DM Sans" charset="0"/>
                        <a:ea typeface="DM Sans" charset="0"/>
                        <a:cs typeface="DM Sans" charset="0"/>
                      </a:endParaRPr>
                    </a:p>
                  </a:txBody>
                  <a:tcPr marL="71120" marR="71120" marT="71120" marB="7112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while count &lt;= 5:</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repeat while the condition is True</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count += 1</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update the counter so the loop can end</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infinite loop</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condition never False → press ■ Stop</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while True:</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loop until something happens…</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break</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…then leave the loop immediately</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continue</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skip to the next round</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4: while loops</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3776AB"/>
          </a:solidFill>
          <a:ln/>
        </p:spPr>
      </p:sp>
      <p:sp>
        <p:nvSpPr>
          <p:cNvPr id="3" name="Text 1"/>
          <p:cNvSpPr/>
          <p:nvPr/>
        </p:nvSpPr>
        <p:spPr>
          <a:xfrm>
            <a:off x="812800" y="2467645"/>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 YOUR TURN</a:t>
            </a:r>
            <a:endParaRPr lang="en-US" sz="1200" dirty="0"/>
          </a:p>
        </p:txBody>
      </p:sp>
      <p:sp>
        <p:nvSpPr>
          <p:cNvPr id="4" name="Text 2"/>
          <p:cNvSpPr/>
          <p:nvPr>
            <p:ph type="title"/>
          </p:nvPr>
        </p:nvSpPr>
        <p:spPr>
          <a:xfrm>
            <a:off x="812800" y="2884165"/>
            <a:ext cx="5127752" cy="665427"/>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F2A37"/>
                </a:solidFill>
                <a:latin typeface="DM Sans" pitchFamily="34" charset="0"/>
                <a:ea typeface="DM Sans" pitchFamily="34" charset="-122"/>
                <a:cs typeface="DM Sans" pitchFamily="34" charset="-120"/>
              </a:rPr>
              <a:t>Practice time!</a:t>
            </a:r>
            <a:endParaRPr lang="en-US" sz="4800" dirty="0"/>
          </a:p>
        </p:txBody>
      </p:sp>
      <p:sp>
        <p:nvSpPr>
          <p:cNvPr id="5" name="Text 3"/>
          <p:cNvSpPr/>
          <p:nvPr/>
        </p:nvSpPr>
        <p:spPr>
          <a:xfrm>
            <a:off x="812800" y="3727388"/>
            <a:ext cx="5127752" cy="688314"/>
          </a:xfrm>
          <a:prstGeom prst="rect">
            <a:avLst/>
          </a:prstGeom>
          <a:noFill/>
          <a:ln/>
        </p:spPr>
        <p:txBody>
          <a:bodyPr wrap="square" lIns="0" tIns="0" rIns="0" bIns="0" rtlCol="0" anchor="t">
            <a:normAutofit/>
          </a:bodyPr>
          <a:lstStyle/>
          <a:p>
            <a:pPr algn="l" indent="0" marL="0">
              <a:lnSpc>
                <a:spcPts val="2610"/>
              </a:lnSpc>
              <a:buNone/>
            </a:pPr>
            <a:r>
              <a:rPr lang="en-US" sz="1800" dirty="0">
                <a:solidFill>
                  <a:srgbClr val="4A5568"/>
                </a:solidFill>
                <a:latin typeface="DM Sans" pitchFamily="34" charset="0"/>
                <a:ea typeface="DM Sans" pitchFamily="34" charset="-122"/>
                <a:cs typeface="DM Sans" pitchFamily="34" charset="-120"/>
              </a:rPr>
              <a:t>Open </a:t>
            </a:r>
            <a:r>
              <a:rPr lang="en-US" sz="1800" b="1" dirty="0">
                <a:solidFill>
                  <a:srgbClr val="4A5568"/>
                </a:solidFill>
                <a:latin typeface="DM Sans" pitchFamily="34" charset="0"/>
                <a:ea typeface="DM Sans" pitchFamily="34" charset="-122"/>
                <a:cs typeface="DM Sans" pitchFamily="34" charset="-120"/>
              </a:rPr>
              <a:t>exercises.ipynb</a:t>
            </a:r>
            <a:r>
              <a:rPr lang="en-US" sz="1800" dirty="0">
                <a:solidFill>
                  <a:srgbClr val="4A5568"/>
                </a:solidFill>
                <a:latin typeface="DM Sans" pitchFamily="34" charset="0"/>
                <a:ea typeface="DM Sans" pitchFamily="34" charset="-122"/>
                <a:cs typeface="DM Sans" pitchFamily="34" charset="-120"/>
              </a:rPr>
              <a:t> in the Day 4 folder and solve the 10 tasks, from ⭐ to ⭐⭐⭐.</a:t>
            </a:r>
            <a:endParaRPr lang="en-US" sz="1800" dirty="0"/>
          </a:p>
        </p:txBody>
      </p:sp>
      <p:sp>
        <p:nvSpPr>
          <p:cNvPr id="6" name="Text 4"/>
          <p:cNvSpPr/>
          <p:nvPr/>
        </p:nvSpPr>
        <p:spPr>
          <a:xfrm>
            <a:off x="6403975" y="1910829"/>
            <a:ext cx="4972050" cy="642144"/>
          </a:xfrm>
          <a:prstGeom prst="roundRect">
            <a:avLst>
              <a:gd name="adj" fmla="val 15328"/>
            </a:avLst>
          </a:prstGeom>
          <a:solidFill>
            <a:srgbClr val="FFFFFF"/>
          </a:solidFill>
          <a:ln w="6350">
            <a:solidFill>
              <a:srgbClr val="D5DEE8"/>
            </a:solidFill>
            <a:prstDash val="solid"/>
          </a:ln>
        </p:spPr>
        <p:txBody>
          <a:bodyPr wrap="square" lIns="200831" tIns="150031" rIns="65449" bIns="124631"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 Countdown from 10 to 1</a:t>
            </a:r>
            <a:endParaRPr lang="en-US" sz="1600" dirty="0"/>
          </a:p>
        </p:txBody>
      </p:sp>
      <p:sp>
        <p:nvSpPr>
          <p:cNvPr id="7" name="Text 5"/>
          <p:cNvSpPr/>
          <p:nvPr/>
        </p:nvSpPr>
        <p:spPr>
          <a:xfrm>
            <a:off x="6403975" y="2711723"/>
            <a:ext cx="4972050" cy="642144"/>
          </a:xfrm>
          <a:prstGeom prst="roundRect">
            <a:avLst>
              <a:gd name="adj" fmla="val 15328"/>
            </a:avLst>
          </a:prstGeom>
          <a:solidFill>
            <a:srgbClr val="FFFFFF"/>
          </a:solidFill>
          <a:ln w="6350">
            <a:solidFill>
              <a:srgbClr val="D5DEE8"/>
            </a:solidFill>
            <a:prstDash val="solid"/>
          </a:ln>
        </p:spPr>
        <p:txBody>
          <a:bodyPr wrap="square" lIns="200831" tIns="150031" rIns="65449" bIns="124631"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 Adding machine until “done”</a:t>
            </a:r>
            <a:endParaRPr lang="en-US" sz="1600" dirty="0"/>
          </a:p>
        </p:txBody>
      </p:sp>
      <p:sp>
        <p:nvSpPr>
          <p:cNvPr id="8" name="Text 6"/>
          <p:cNvSpPr/>
          <p:nvPr/>
        </p:nvSpPr>
        <p:spPr>
          <a:xfrm>
            <a:off x="6403975" y="3512617"/>
            <a:ext cx="4972050" cy="642144"/>
          </a:xfrm>
          <a:prstGeom prst="roundRect">
            <a:avLst>
              <a:gd name="adj" fmla="val 15328"/>
            </a:avLst>
          </a:prstGeom>
          <a:solidFill>
            <a:srgbClr val="FFFFFF"/>
          </a:solidFill>
          <a:ln w="6350">
            <a:solidFill>
              <a:srgbClr val="D5DEE8"/>
            </a:solidFill>
            <a:prstDash val="solid"/>
          </a:ln>
        </p:spPr>
        <p:txBody>
          <a:bodyPr wrap="square" lIns="200831" tIns="150031" rIns="65449" bIns="124631"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 Piggy bank 🐷</a:t>
            </a:r>
            <a:endParaRPr lang="en-US" sz="1600" dirty="0"/>
          </a:p>
        </p:txBody>
      </p:sp>
      <p:sp>
        <p:nvSpPr>
          <p:cNvPr id="9" name="Text 7"/>
          <p:cNvSpPr/>
          <p:nvPr/>
        </p:nvSpPr>
        <p:spPr>
          <a:xfrm>
            <a:off x="6400800" y="4310335"/>
            <a:ext cx="4978400" cy="640027"/>
          </a:xfrm>
          <a:prstGeom prst="roundRect">
            <a:avLst>
              <a:gd name="adj" fmla="val 15874"/>
            </a:avLst>
          </a:prstGeom>
          <a:solidFill>
            <a:srgbClr val="E3ECF6"/>
          </a:solidFill>
          <a:ln/>
        </p:spPr>
        <p:txBody>
          <a:bodyPr wrap="square" lIns="198842" tIns="148042" rIns="63206" bIns="122642" rtlCol="0" anchor="t">
            <a:normAutofit/>
          </a:bodyPr>
          <a:lstStyle/>
          <a:p>
            <a:pPr algn="l" indent="0" marL="0">
              <a:lnSpc>
                <a:spcPts val="2240"/>
              </a:lnSpc>
              <a:buNone/>
            </a:pPr>
            <a:r>
              <a:rPr lang="en-US" sz="1600" b="1" dirty="0">
                <a:solidFill>
                  <a:srgbClr val="1F2A37"/>
                </a:solidFill>
                <a:latin typeface="DM Sans" pitchFamily="34" charset="0"/>
                <a:ea typeface="DM Sans" pitchFamily="34" charset="-122"/>
                <a:cs typeface="DM Sans" pitchFamily="34" charset="-120"/>
              </a:rPr>
              <a:t>Next lesson:</a:t>
            </a:r>
            <a:r>
              <a:rPr lang="en-US" sz="1600" dirty="0">
                <a:solidFill>
                  <a:srgbClr val="1F2A37"/>
                </a:solidFill>
                <a:latin typeface="DM Sans" pitchFamily="34" charset="0"/>
                <a:ea typeface="DM Sans" pitchFamily="34" charset="-122"/>
                <a:cs typeface="DM Sans" pitchFamily="34" charset="-120"/>
              </a:rPr>
              <a:t> for loops and range() 🔂</a:t>
            </a:r>
            <a:endParaRPr lang="en-US" sz="1600" dirty="0"/>
          </a:p>
        </p:txBody>
      </p:sp>
    </p:spTree>
  </p:cSld>
  <p:clrMapOvr>
    <a:masterClrMapping/>
  </p:clrMapOvr>
</p:sld>
</file>

<file path=ppt/theme/theme1.xml><?xml version="1.0" encoding="utf-8"?>
<a:theme xmlns:a="http://schemas.openxmlformats.org/drawingml/2006/main" name="Day 4 — While Loops">
  <a:themeElements>
    <a:clrScheme name="Day 4 — While Loops">
      <a:dk1>
        <a:srgbClr val="1F2A37"/>
      </a:dk1>
      <a:lt1>
        <a:srgbClr val="FAF9F6"/>
      </a:lt1>
      <a:dk2>
        <a:srgbClr val="565E67"/>
      </a:dk2>
      <a:lt2>
        <a:srgbClr val="E4E4E3"/>
      </a:lt2>
      <a:accent1>
        <a:srgbClr val="3776AB"/>
      </a:accent1>
      <a:accent2>
        <a:srgbClr val="2F5F8A"/>
      </a:accent2>
      <a:accent3>
        <a:srgbClr val="8A94A3"/>
      </a:accent3>
      <a:accent4>
        <a:srgbClr val="4A5568"/>
      </a:accent4>
      <a:accent5>
        <a:srgbClr val="CFE0F1"/>
      </a:accent5>
      <a:accent6>
        <a:srgbClr val="9AA0A6"/>
      </a:accent6>
      <a:hlink>
        <a:srgbClr val="0563C1"/>
      </a:hlink>
      <a:folHlink>
        <a:srgbClr val="954F72"/>
      </a:folHlink>
    </a:clrScheme>
    <a:fontScheme name="Day 4 — While Loops">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4 — While Loops</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2026-10-24T05:09:01Z</dcterms:created>
  <dcterms:modified xsi:type="dcterms:W3CDTF">2026-10-24T05:09:01Z</dcterms:modified>
</cp:coreProperties>
</file>