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embeddedFontLst>
    <p:embeddedFont>
      <p:font typeface="DM Sans" pitchFamily="34" charset="0"/>
      <p:regular r:id="rId23"/>
      <p:bold r:id="rId24"/>
    </p:embeddedFont>
    <p:embeddedFont>
      <p:font typeface="JetBrains Mono" panose="02000009000000000000" pitchFamily="49" charset="0"/>
      <p:regular r:id="rId25"/>
      <p:bold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font" Target="fonts/font3.fntdata"/><Relationship Id="rId26"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Today we learn how Python remembers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together. Today's ideas are used in every lesson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"What did we learn?" before showing the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left version, what does 20 mean? With variables, the name explains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like a labelled box holds an object, a variable holds a value you can use later in your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age = 19 as "age gets 19". Each variable stores a different type: text, a whole number, and a decimal.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names make code easier to understand for you and for everyone who reads it later. Run 1name = "Ali" live to show the SyntaxError.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Variables can change, that's what makes them powerful (and why they're called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tells us the type of any value. Quotes make anything a string, even "20". True and False need capital letters and no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highlighted operators are new for most students. Use sharing sweets as an example: 7 sweets between 2 children, each gets 7 // 2 = 3, and 7 % 2 = 1 is left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try it with their own names. Point out the space at the end of the prompt, so the answer doesn't stick to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can't add text and a number. This is one of the most common beginner bugs. The fix is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int() for whole numbers and float() when the user might type a decimal, like a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Commas are easiest for beginners. f-strings are what professionals use, and we use them more from Day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 75. Q2 = str, because it is in quotes. Q3 = 2, because 17 ÷ 5 = 3 remainder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"let's code together" task as a class, then give 20 minutes for the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F2A37"/>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F2A3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F2A37"/>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F2A3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3776AB"/>
          </a:solidFill>
          <a:ln/>
        </p:spPr>
      </p:sp>
      <p:pic>
        <p:nvPicPr>
          <p:cNvPr id="3" name="Image 0" descr="Python logo">    </p:cNvPr>
          <p:cNvPicPr>
            <a:picLocks noChangeAspect="1"/>
          </p:cNvPicPr>
          <p:nvPr/>
        </p:nvPicPr>
        <p:blipFill>
          <a:blip r:embed="rId1"/>
          <a:srcRect l="0" r="0" t="0" b="0"/>
          <a:stretch/>
        </p:blipFill>
        <p:spPr>
          <a:xfrm>
            <a:off x="812800" y="1317096"/>
            <a:ext cx="1270000" cy="1270000"/>
          </a:xfrm>
          <a:prstGeom prst="rect">
            <a:avLst/>
          </a:prstGeom>
        </p:spPr>
      </p:pic>
      <p:sp>
        <p:nvSpPr>
          <p:cNvPr id="4" name="Text 1"/>
          <p:cNvSpPr/>
          <p:nvPr/>
        </p:nvSpPr>
        <p:spPr>
          <a:xfrm>
            <a:off x="812800" y="2790296"/>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PYTHON FOR BEGINNERS · DAY 2</a:t>
            </a:r>
            <a:endParaRPr lang="en-US" sz="1200" dirty="0"/>
          </a:p>
        </p:txBody>
      </p:sp>
      <p:sp>
        <p:nvSpPr>
          <p:cNvPr id="5" name="Text 2"/>
          <p:cNvSpPr/>
          <p:nvPr>
            <p:ph type="title"/>
          </p:nvPr>
        </p:nvSpPr>
        <p:spPr>
          <a:xfrm>
            <a:off x="812800" y="3206816"/>
            <a:ext cx="5127752" cy="1305454"/>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F2A37"/>
                </a:solidFill>
                <a:latin typeface="DM Sans" pitchFamily="34" charset="0"/>
                <a:ea typeface="DM Sans" pitchFamily="34" charset="-122"/>
                <a:cs typeface="DM Sans" pitchFamily="34" charset="-120"/>
              </a:rPr>
              <a:t>Variables &amp; Data Types</a:t>
            </a:r>
            <a:endParaRPr lang="en-US" sz="4800" dirty="0"/>
          </a:p>
        </p:txBody>
      </p:sp>
      <p:sp>
        <p:nvSpPr>
          <p:cNvPr id="6" name="Text 3"/>
          <p:cNvSpPr/>
          <p:nvPr/>
        </p:nvSpPr>
        <p:spPr>
          <a:xfrm>
            <a:off x="812800" y="4690070"/>
            <a:ext cx="5588000" cy="388607"/>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4A5568"/>
                </a:solidFill>
                <a:latin typeface="DM Sans" pitchFamily="34" charset="0"/>
                <a:ea typeface="DM Sans" pitchFamily="34" charset="-122"/>
                <a:cs typeface="DM Sans" pitchFamily="34" charset="-120"/>
              </a:rPr>
              <a:t>Storing information, input &amp; operators</a:t>
            </a:r>
            <a:endParaRPr lang="en-US" sz="2200" dirty="0"/>
          </a:p>
        </p:txBody>
      </p:sp>
      <p:sp>
        <p:nvSpPr>
          <p:cNvPr id="7" name="Text 4"/>
          <p:cNvSpPr/>
          <p:nvPr/>
        </p:nvSpPr>
        <p:spPr>
          <a:xfrm>
            <a:off x="812800" y="5256477"/>
            <a:ext cx="512775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Instructor: Homaira Mohammadi</a:t>
            </a:r>
            <a:endParaRPr lang="en-US" sz="1600" dirty="0"/>
          </a:p>
        </p:txBody>
      </p:sp>
      <p:sp>
        <p:nvSpPr>
          <p:cNvPr id="8" name="Text 5"/>
          <p:cNvSpPr/>
          <p:nvPr/>
        </p:nvSpPr>
        <p:spPr>
          <a:xfrm>
            <a:off x="6400800" y="2159066"/>
            <a:ext cx="4978400" cy="2539802"/>
          </a:xfrm>
          <a:prstGeom prst="roundRect">
            <a:avLst>
              <a:gd name="adj" fmla="val 6000"/>
            </a:avLst>
          </a:prstGeom>
          <a:solidFill>
            <a:srgbClr val="1F2A37"/>
          </a:solidFill>
          <a:ln/>
          <a:effectLst>
            <a:outerShdw sx="100000" sy="100000" kx="0" ky="0" algn="bl" rotWithShape="0" blurRad="406400" dist="152400" dir="5400000">
              <a:srgbClr val="1F2A37">
                <a:alpha val="18000"/>
              </a:srgbClr>
            </a:outerShdw>
          </a:effectLst>
        </p:spPr>
        <p:txBody>
          <a:bodyPr wrap="square" lIns="361764" tIns="310964" rIns="236796" bIns="285564" rtlCol="0" anchor="t">
            <a:normAutofit/>
          </a:bodyPr>
          <a:lstStyle/>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name = </a:t>
            </a:r>
            <a:r>
              <a:rPr lang="en-US" sz="1800" dirty="0">
                <a:solidFill>
                  <a:srgbClr val="F2C94C"/>
                </a:solidFill>
                <a:latin typeface="JetBrains Mono" pitchFamily="49" charset="0"/>
                <a:ea typeface="JetBrains Mono" pitchFamily="49" charset="-122"/>
                <a:cs typeface="JetBrains Mono" pitchFamily="49" charset="-120"/>
              </a:rPr>
              <a:t>"Homaira"</a:t>
            </a: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age = 20</a:t>
            </a: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gpa = 3.8</a:t>
            </a:r>
            <a:endParaRPr lang="en-US" sz="1800" dirty="0"/>
          </a:p>
          <a:p>
            <a:pPr algn="l" indent="0" marL="0">
              <a:lnSpc>
                <a:spcPts val="2880"/>
              </a:lnSpc>
              <a:buNone/>
            </a:pP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print(name, age, gpa)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TODAY’S GOALS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By the end of today, you can…</a:t>
            </a:r>
            <a:endParaRPr lang="en-US" sz="3600" dirty="0"/>
          </a:p>
        </p:txBody>
      </p:sp>
      <p:pic>
        <p:nvPicPr>
          <p:cNvPr id="4" name="Image 0" descr="CheckCircle">    </p:cNvPr>
          <p:cNvPicPr>
            <a:picLocks noChangeAspect="1"/>
          </p:cNvPicPr>
          <p:nvPr/>
        </p:nvPicPr>
        <p:blipFill>
          <a:blip r:embed="rId1"/>
          <a:srcRect l="0" r="0" t="0" b="0"/>
          <a:stretch/>
        </p:blipFill>
        <p:spPr>
          <a:xfrm>
            <a:off x="812800" y="1986228"/>
            <a:ext cx="304800" cy="304800"/>
          </a:xfrm>
          <a:prstGeom prst="rect">
            <a:avLst/>
          </a:prstGeom>
        </p:spPr>
      </p:pic>
      <p:sp>
        <p:nvSpPr>
          <p:cNvPr id="5" name="Text 2"/>
          <p:cNvSpPr/>
          <p:nvPr/>
        </p:nvSpPr>
        <p:spPr>
          <a:xfrm>
            <a:off x="1270000" y="1987484"/>
            <a:ext cx="347218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Create and update </a:t>
            </a:r>
            <a:r>
              <a:rPr lang="en-US" sz="1700" b="1" dirty="0">
                <a:solidFill>
                  <a:srgbClr val="1F2A37"/>
                </a:solidFill>
                <a:latin typeface="DM Sans" pitchFamily="34" charset="0"/>
                <a:ea typeface="DM Sans" pitchFamily="34" charset="-122"/>
                <a:cs typeface="DM Sans" pitchFamily="34" charset="-120"/>
              </a:rPr>
              <a:t>variables</a:t>
            </a:r>
            <a:endParaRPr lang="en-US" sz="1700" dirty="0"/>
          </a:p>
        </p:txBody>
      </p:sp>
      <p:pic>
        <p:nvPicPr>
          <p:cNvPr id="6" name="Image 1" descr="CheckCircle">    </p:cNvPr>
          <p:cNvPicPr>
            <a:picLocks noChangeAspect="1"/>
          </p:cNvPicPr>
          <p:nvPr/>
        </p:nvPicPr>
        <p:blipFill>
          <a:blip r:embed="rId2"/>
          <a:srcRect l="0" r="0" t="0" b="0"/>
          <a:stretch/>
        </p:blipFill>
        <p:spPr>
          <a:xfrm>
            <a:off x="6299200" y="1986228"/>
            <a:ext cx="304800" cy="304800"/>
          </a:xfrm>
          <a:prstGeom prst="rect">
            <a:avLst/>
          </a:prstGeom>
        </p:spPr>
      </p:pic>
      <p:sp>
        <p:nvSpPr>
          <p:cNvPr id="7" name="Text 3"/>
          <p:cNvSpPr/>
          <p:nvPr/>
        </p:nvSpPr>
        <p:spPr>
          <a:xfrm>
            <a:off x="6756400" y="1987484"/>
            <a:ext cx="2808446"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Follow the naming rules</a:t>
            </a:r>
            <a:endParaRPr lang="en-US" sz="1700" dirty="0"/>
          </a:p>
        </p:txBody>
      </p:sp>
      <p:pic>
        <p:nvPicPr>
          <p:cNvPr id="8" name="Image 2" descr="CheckCircle">    </p:cNvPr>
          <p:cNvPicPr>
            <a:picLocks noChangeAspect="1"/>
          </p:cNvPicPr>
          <p:nvPr/>
        </p:nvPicPr>
        <p:blipFill>
          <a:blip r:embed="rId3"/>
          <a:srcRect l="0" r="0" t="0" b="0"/>
          <a:stretch/>
        </p:blipFill>
        <p:spPr>
          <a:xfrm>
            <a:off x="812800" y="2468828"/>
            <a:ext cx="304800" cy="304800"/>
          </a:xfrm>
          <a:prstGeom prst="rect">
            <a:avLst/>
          </a:prstGeom>
        </p:spPr>
      </p:pic>
      <p:sp>
        <p:nvSpPr>
          <p:cNvPr id="9" name="Text 4"/>
          <p:cNvSpPr/>
          <p:nvPr/>
        </p:nvSpPr>
        <p:spPr>
          <a:xfrm>
            <a:off x="1270000" y="2470084"/>
            <a:ext cx="269978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Use </a:t>
            </a:r>
            <a:r>
              <a:rPr lang="en-US" sz="1700" b="1" dirty="0">
                <a:solidFill>
                  <a:srgbClr val="1F2A37"/>
                </a:solidFill>
                <a:latin typeface="DM Sans" pitchFamily="34" charset="0"/>
                <a:ea typeface="DM Sans" pitchFamily="34" charset="-122"/>
                <a:cs typeface="DM Sans" pitchFamily="34" charset="-120"/>
              </a:rPr>
              <a:t>int</a:t>
            </a:r>
            <a:r>
              <a:rPr lang="en-US" sz="1700" dirty="0">
                <a:solidFill>
                  <a:srgbClr val="1F2A37"/>
                </a:solidFill>
                <a:latin typeface="DM Sans" pitchFamily="34" charset="0"/>
                <a:ea typeface="DM Sans" pitchFamily="34" charset="-122"/>
                <a:cs typeface="DM Sans" pitchFamily="34" charset="-120"/>
              </a:rPr>
              <a:t>, </a:t>
            </a:r>
            <a:r>
              <a:rPr lang="en-US" sz="1700" b="1" dirty="0">
                <a:solidFill>
                  <a:srgbClr val="1F2A37"/>
                </a:solidFill>
                <a:latin typeface="DM Sans" pitchFamily="34" charset="0"/>
                <a:ea typeface="DM Sans" pitchFamily="34" charset="-122"/>
                <a:cs typeface="DM Sans" pitchFamily="34" charset="-120"/>
              </a:rPr>
              <a:t>float</a:t>
            </a:r>
            <a:r>
              <a:rPr lang="en-US" sz="1700" dirty="0">
                <a:solidFill>
                  <a:srgbClr val="1F2A37"/>
                </a:solidFill>
                <a:latin typeface="DM Sans" pitchFamily="34" charset="0"/>
                <a:ea typeface="DM Sans" pitchFamily="34" charset="-122"/>
                <a:cs typeface="DM Sans" pitchFamily="34" charset="-120"/>
              </a:rPr>
              <a:t>, </a:t>
            </a:r>
            <a:r>
              <a:rPr lang="en-US" sz="1700" b="1" dirty="0">
                <a:solidFill>
                  <a:srgbClr val="1F2A37"/>
                </a:solidFill>
                <a:latin typeface="DM Sans" pitchFamily="34" charset="0"/>
                <a:ea typeface="DM Sans" pitchFamily="34" charset="-122"/>
                <a:cs typeface="DM Sans" pitchFamily="34" charset="-120"/>
              </a:rPr>
              <a:t>str</a:t>
            </a:r>
            <a:r>
              <a:rPr lang="en-US" sz="1700" dirty="0">
                <a:solidFill>
                  <a:srgbClr val="1F2A37"/>
                </a:solidFill>
                <a:latin typeface="DM Sans" pitchFamily="34" charset="0"/>
                <a:ea typeface="DM Sans" pitchFamily="34" charset="-122"/>
                <a:cs typeface="DM Sans" pitchFamily="34" charset="-120"/>
              </a:rPr>
              <a:t>, </a:t>
            </a:r>
            <a:r>
              <a:rPr lang="en-US" sz="1700" b="1" dirty="0">
                <a:solidFill>
                  <a:srgbClr val="1F2A37"/>
                </a:solidFill>
                <a:latin typeface="DM Sans" pitchFamily="34" charset="0"/>
                <a:ea typeface="DM Sans" pitchFamily="34" charset="-122"/>
                <a:cs typeface="DM Sans" pitchFamily="34" charset="-120"/>
              </a:rPr>
              <a:t>bool</a:t>
            </a:r>
            <a:endParaRPr lang="en-US" sz="1700" dirty="0"/>
          </a:p>
        </p:txBody>
      </p:sp>
      <p:pic>
        <p:nvPicPr>
          <p:cNvPr id="10" name="Image 3" descr="CheckCircle">    </p:cNvPr>
          <p:cNvPicPr>
            <a:picLocks noChangeAspect="1"/>
          </p:cNvPicPr>
          <p:nvPr/>
        </p:nvPicPr>
        <p:blipFill>
          <a:blip r:embed="rId4"/>
          <a:srcRect l="0" r="0" t="0" b="0"/>
          <a:stretch/>
        </p:blipFill>
        <p:spPr>
          <a:xfrm>
            <a:off x="6299200" y="2468828"/>
            <a:ext cx="304800" cy="304800"/>
          </a:xfrm>
          <a:prstGeom prst="rect">
            <a:avLst/>
          </a:prstGeom>
        </p:spPr>
      </p:pic>
      <p:sp>
        <p:nvSpPr>
          <p:cNvPr id="11" name="Text 5"/>
          <p:cNvSpPr/>
          <p:nvPr/>
        </p:nvSpPr>
        <p:spPr>
          <a:xfrm>
            <a:off x="6756400" y="2470084"/>
            <a:ext cx="2971403"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Do maths with operators</a:t>
            </a:r>
            <a:endParaRPr lang="en-US" sz="1700" dirty="0"/>
          </a:p>
        </p:txBody>
      </p:sp>
      <p:pic>
        <p:nvPicPr>
          <p:cNvPr id="12" name="Image 4" descr="CheckCircle">    </p:cNvPr>
          <p:cNvPicPr>
            <a:picLocks noChangeAspect="1"/>
          </p:cNvPicPr>
          <p:nvPr/>
        </p:nvPicPr>
        <p:blipFill>
          <a:blip r:embed="rId5"/>
          <a:srcRect l="0" r="0" t="0" b="0"/>
          <a:stretch/>
        </p:blipFill>
        <p:spPr>
          <a:xfrm>
            <a:off x="812800" y="2951428"/>
            <a:ext cx="304800" cy="304800"/>
          </a:xfrm>
          <a:prstGeom prst="rect">
            <a:avLst/>
          </a:prstGeom>
        </p:spPr>
      </p:pic>
      <p:sp>
        <p:nvSpPr>
          <p:cNvPr id="13" name="Text 6"/>
          <p:cNvSpPr/>
          <p:nvPr/>
        </p:nvSpPr>
        <p:spPr>
          <a:xfrm>
            <a:off x="1270000" y="2952684"/>
            <a:ext cx="2662873"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Get input with </a:t>
            </a:r>
            <a:r>
              <a:rPr lang="en-US" sz="1700" b="1" dirty="0">
                <a:solidFill>
                  <a:srgbClr val="1F2A37"/>
                </a:solidFill>
                <a:latin typeface="DM Sans" pitchFamily="34" charset="0"/>
                <a:ea typeface="DM Sans" pitchFamily="34" charset="-122"/>
                <a:cs typeface="DM Sans" pitchFamily="34" charset="-120"/>
              </a:rPr>
              <a:t>input()</a:t>
            </a:r>
            <a:endParaRPr lang="en-US" sz="1700" dirty="0"/>
          </a:p>
        </p:txBody>
      </p:sp>
      <p:pic>
        <p:nvPicPr>
          <p:cNvPr id="14" name="Image 5" descr="CheckCircle">    </p:cNvPr>
          <p:cNvPicPr>
            <a:picLocks noChangeAspect="1"/>
          </p:cNvPicPr>
          <p:nvPr/>
        </p:nvPicPr>
        <p:blipFill>
          <a:blip r:embed="rId6"/>
          <a:srcRect l="0" r="0" t="0" b="0"/>
          <a:stretch/>
        </p:blipFill>
        <p:spPr>
          <a:xfrm>
            <a:off x="6299200" y="2951428"/>
            <a:ext cx="304800" cy="304800"/>
          </a:xfrm>
          <a:prstGeom prst="rect">
            <a:avLst/>
          </a:prstGeom>
        </p:spPr>
      </p:pic>
      <p:sp>
        <p:nvSpPr>
          <p:cNvPr id="15" name="Text 7"/>
          <p:cNvSpPr/>
          <p:nvPr/>
        </p:nvSpPr>
        <p:spPr>
          <a:xfrm>
            <a:off x="6756400" y="2952684"/>
            <a:ext cx="3547031"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Convert with </a:t>
            </a:r>
            <a:r>
              <a:rPr lang="en-US" sz="1700" b="1" dirty="0">
                <a:solidFill>
                  <a:srgbClr val="1F2A37"/>
                </a:solidFill>
                <a:latin typeface="DM Sans" pitchFamily="34" charset="0"/>
                <a:ea typeface="DM Sans" pitchFamily="34" charset="-122"/>
                <a:cs typeface="DM Sans" pitchFamily="34" charset="-120"/>
              </a:rPr>
              <a:t>int()</a:t>
            </a:r>
            <a:r>
              <a:rPr lang="en-US" sz="1700" dirty="0">
                <a:solidFill>
                  <a:srgbClr val="1F2A37"/>
                </a:solidFill>
                <a:latin typeface="DM Sans" pitchFamily="34" charset="0"/>
                <a:ea typeface="DM Sans" pitchFamily="34" charset="-122"/>
                <a:cs typeface="DM Sans" pitchFamily="34" charset="-120"/>
              </a:rPr>
              <a:t> and </a:t>
            </a:r>
            <a:r>
              <a:rPr lang="en-US" sz="1700" b="1" dirty="0">
                <a:solidFill>
                  <a:srgbClr val="1F2A37"/>
                </a:solidFill>
                <a:latin typeface="DM Sans" pitchFamily="34" charset="0"/>
                <a:ea typeface="DM Sans" pitchFamily="34" charset="-122"/>
                <a:cs typeface="DM Sans" pitchFamily="34" charset="-120"/>
              </a:rPr>
              <a:t>float()</a:t>
            </a:r>
            <a:endParaRPr lang="en-US" sz="1700" dirty="0"/>
          </a:p>
        </p:txBody>
      </p:sp>
      <p:sp>
        <p:nvSpPr>
          <p:cNvPr id="16"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2: variables &amp; data types</a:t>
            </a:r>
            <a:endParaRPr lang="en-US" sz="1200" dirty="0"/>
          </a:p>
        </p:txBody>
      </p:sp>
      <p:sp>
        <p:nvSpPr>
          <p:cNvPr id="17"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REVIEW OF LAST CLASS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What did we learn?</a:t>
            </a:r>
            <a:endParaRPr lang="en-US" sz="3600" dirty="0"/>
          </a:p>
        </p:txBody>
      </p:sp>
      <p:sp>
        <p:nvSpPr>
          <p:cNvPr id="4" name="Shape 2"/>
          <p:cNvSpPr/>
          <p:nvPr/>
        </p:nvSpPr>
        <p:spPr>
          <a:xfrm>
            <a:off x="815975" y="1989403"/>
            <a:ext cx="2501900" cy="1317757"/>
          </a:xfrm>
          <a:prstGeom prst="roundRect">
            <a:avLst>
              <a:gd name="adj" fmla="val 9397"/>
            </a:avLst>
          </a:prstGeom>
          <a:solidFill>
            <a:srgbClr val="FFFFFF"/>
          </a:solidFill>
          <a:ln w="6350">
            <a:solidFill>
              <a:srgbClr val="D5DEE8"/>
            </a:solidFill>
            <a:prstDash val="solid"/>
          </a:ln>
        </p:spPr>
      </p:sp>
      <p:sp>
        <p:nvSpPr>
          <p:cNvPr id="5" name="Text 3"/>
          <p:cNvSpPr/>
          <p:nvPr/>
        </p:nvSpPr>
        <p:spPr>
          <a:xfrm>
            <a:off x="1020233" y="2219061"/>
            <a:ext cx="2156185"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776AB"/>
                </a:solidFill>
                <a:latin typeface="DM Sans" pitchFamily="34" charset="0"/>
                <a:ea typeface="DM Sans" pitchFamily="34" charset="-122"/>
                <a:cs typeface="DM Sans" pitchFamily="34" charset="-120"/>
              </a:rPr>
              <a:t>Python basics</a:t>
            </a:r>
            <a:endParaRPr lang="en-US" sz="1600" dirty="0"/>
          </a:p>
        </p:txBody>
      </p:sp>
      <p:sp>
        <p:nvSpPr>
          <p:cNvPr id="6" name="Text 4"/>
          <p:cNvSpPr/>
          <p:nvPr/>
        </p:nvSpPr>
        <p:spPr>
          <a:xfrm>
            <a:off x="1020233" y="2579688"/>
            <a:ext cx="2156185"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What Python is and where it’s used</a:t>
            </a:r>
            <a:endParaRPr lang="en-US" sz="1400" dirty="0"/>
          </a:p>
        </p:txBody>
      </p:sp>
      <p:sp>
        <p:nvSpPr>
          <p:cNvPr id="7" name="Shape 5"/>
          <p:cNvSpPr/>
          <p:nvPr/>
        </p:nvSpPr>
        <p:spPr>
          <a:xfrm>
            <a:off x="3502025" y="1989403"/>
            <a:ext cx="2501900" cy="1317757"/>
          </a:xfrm>
          <a:prstGeom prst="roundRect">
            <a:avLst>
              <a:gd name="adj" fmla="val 9397"/>
            </a:avLst>
          </a:prstGeom>
          <a:solidFill>
            <a:srgbClr val="FFFFFF"/>
          </a:solidFill>
          <a:ln w="6350">
            <a:solidFill>
              <a:srgbClr val="D5DEE8"/>
            </a:solidFill>
            <a:prstDash val="solid"/>
          </a:ln>
        </p:spPr>
      </p:sp>
      <p:sp>
        <p:nvSpPr>
          <p:cNvPr id="8" name="Text 6"/>
          <p:cNvSpPr/>
          <p:nvPr/>
        </p:nvSpPr>
        <p:spPr>
          <a:xfrm>
            <a:off x="3706283" y="2219061"/>
            <a:ext cx="2156185"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776AB"/>
                </a:solidFill>
                <a:latin typeface="DM Sans" pitchFamily="34" charset="0"/>
                <a:ea typeface="DM Sans" pitchFamily="34" charset="-122"/>
                <a:cs typeface="DM Sans" pitchFamily="34" charset="-120"/>
              </a:rPr>
              <a:t>print()</a:t>
            </a:r>
            <a:endParaRPr lang="en-US" sz="1600" dirty="0"/>
          </a:p>
        </p:txBody>
      </p:sp>
      <p:sp>
        <p:nvSpPr>
          <p:cNvPr id="9" name="Text 7"/>
          <p:cNvSpPr/>
          <p:nvPr/>
        </p:nvSpPr>
        <p:spPr>
          <a:xfrm>
            <a:off x="3706283" y="2579688"/>
            <a:ext cx="2156185"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Shows output on the screen</a:t>
            </a:r>
            <a:endParaRPr lang="en-US" sz="1400" dirty="0"/>
          </a:p>
        </p:txBody>
      </p:sp>
      <p:sp>
        <p:nvSpPr>
          <p:cNvPr id="10" name="Shape 8"/>
          <p:cNvSpPr/>
          <p:nvPr/>
        </p:nvSpPr>
        <p:spPr>
          <a:xfrm>
            <a:off x="6188075" y="1989403"/>
            <a:ext cx="2501900" cy="1317757"/>
          </a:xfrm>
          <a:prstGeom prst="roundRect">
            <a:avLst>
              <a:gd name="adj" fmla="val 9397"/>
            </a:avLst>
          </a:prstGeom>
          <a:solidFill>
            <a:srgbClr val="FFFFFF"/>
          </a:solidFill>
          <a:ln w="6350">
            <a:solidFill>
              <a:srgbClr val="D5DEE8"/>
            </a:solidFill>
            <a:prstDash val="solid"/>
          </a:ln>
        </p:spPr>
      </p:sp>
      <p:sp>
        <p:nvSpPr>
          <p:cNvPr id="11" name="Text 9"/>
          <p:cNvSpPr/>
          <p:nvPr/>
        </p:nvSpPr>
        <p:spPr>
          <a:xfrm>
            <a:off x="6392333" y="2219061"/>
            <a:ext cx="2156185"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776AB"/>
                </a:solidFill>
                <a:latin typeface="DM Sans" pitchFamily="34" charset="0"/>
                <a:ea typeface="DM Sans" pitchFamily="34" charset="-122"/>
                <a:cs typeface="DM Sans" pitchFamily="34" charset="-120"/>
              </a:rPr>
              <a:t>Comments</a:t>
            </a:r>
            <a:endParaRPr lang="en-US" sz="1600" dirty="0"/>
          </a:p>
        </p:txBody>
      </p:sp>
      <p:sp>
        <p:nvSpPr>
          <p:cNvPr id="12" name="Text 10"/>
          <p:cNvSpPr/>
          <p:nvPr/>
        </p:nvSpPr>
        <p:spPr>
          <a:xfrm>
            <a:off x="6392333" y="2579688"/>
            <a:ext cx="2156185"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Notes that start with #</a:t>
            </a:r>
            <a:endParaRPr lang="en-US" sz="1400" dirty="0"/>
          </a:p>
        </p:txBody>
      </p:sp>
      <p:sp>
        <p:nvSpPr>
          <p:cNvPr id="13" name="Shape 11"/>
          <p:cNvSpPr/>
          <p:nvPr/>
        </p:nvSpPr>
        <p:spPr>
          <a:xfrm>
            <a:off x="8874125" y="1989403"/>
            <a:ext cx="2501900" cy="1317757"/>
          </a:xfrm>
          <a:prstGeom prst="roundRect">
            <a:avLst>
              <a:gd name="adj" fmla="val 9397"/>
            </a:avLst>
          </a:prstGeom>
          <a:solidFill>
            <a:srgbClr val="FFFFFF"/>
          </a:solidFill>
          <a:ln w="6350">
            <a:solidFill>
              <a:srgbClr val="D5DEE8"/>
            </a:solidFill>
            <a:prstDash val="solid"/>
          </a:ln>
        </p:spPr>
      </p:sp>
      <p:sp>
        <p:nvSpPr>
          <p:cNvPr id="14" name="Text 12"/>
          <p:cNvSpPr/>
          <p:nvPr/>
        </p:nvSpPr>
        <p:spPr>
          <a:xfrm>
            <a:off x="9078384" y="2219061"/>
            <a:ext cx="2156185"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776AB"/>
                </a:solidFill>
                <a:latin typeface="DM Sans" pitchFamily="34" charset="0"/>
                <a:ea typeface="DM Sans" pitchFamily="34" charset="-122"/>
                <a:cs typeface="DM Sans" pitchFamily="34" charset="-120"/>
              </a:rPr>
              <a:t>Running code</a:t>
            </a:r>
            <a:endParaRPr lang="en-US" sz="1600" dirty="0"/>
          </a:p>
        </p:txBody>
      </p:sp>
      <p:sp>
        <p:nvSpPr>
          <p:cNvPr id="15" name="Text 13"/>
          <p:cNvSpPr/>
          <p:nvPr/>
        </p:nvSpPr>
        <p:spPr>
          <a:xfrm>
            <a:off x="9078384" y="2579688"/>
            <a:ext cx="2156185"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Top to bottom, line by line</a:t>
            </a:r>
            <a:endParaRPr lang="en-US" sz="1400" dirty="0"/>
          </a:p>
        </p:txBody>
      </p:sp>
      <p:sp>
        <p:nvSpPr>
          <p:cNvPr id="16" name="Text 14"/>
          <p:cNvSpPr/>
          <p:nvPr/>
        </p:nvSpPr>
        <p:spPr>
          <a:xfrm>
            <a:off x="812800" y="3665934"/>
            <a:ext cx="4064000" cy="782307"/>
          </a:xfrm>
          <a:prstGeom prst="roundRect">
            <a:avLst>
              <a:gd name="adj" fmla="val 16234"/>
            </a:avLst>
          </a:prstGeom>
          <a:solidFill>
            <a:srgbClr val="1F2A37"/>
          </a:solidFill>
          <a:ln/>
        </p:spPr>
        <p:txBody>
          <a:bodyPr wrap="square" lIns="267603" tIns="191403" rIns="163971" bIns="166003" rtlCol="0" anchor="t">
            <a:normAutofit/>
          </a:bodyPr>
          <a:lstStyle/>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a:t>
            </a:r>
            <a:r>
              <a:rPr lang="en-US" sz="1600" dirty="0">
                <a:solidFill>
                  <a:srgbClr val="F2C94C"/>
                </a:solidFill>
                <a:latin typeface="JetBrains Mono" pitchFamily="49" charset="0"/>
                <a:ea typeface="JetBrains Mono" pitchFamily="49" charset="-122"/>
                <a:cs typeface="JetBrains Mono" pitchFamily="49" charset="-120"/>
              </a:rPr>
              <a:t>"Hello Python"</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2: variables &amp; data types</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WHY DO WE NEED VARIABLES?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Store it once, use it anywhere</a:t>
            </a:r>
            <a:endParaRPr lang="en-US" sz="3600" dirty="0"/>
          </a:p>
        </p:txBody>
      </p:sp>
      <p:sp>
        <p:nvSpPr>
          <p:cNvPr id="4" name="Text 2"/>
          <p:cNvSpPr/>
          <p:nvPr/>
        </p:nvSpPr>
        <p:spPr>
          <a:xfrm>
            <a:off x="812800" y="1986228"/>
            <a:ext cx="52324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A5568"/>
                </a:solidFill>
                <a:latin typeface="DM Sans" pitchFamily="34" charset="0"/>
                <a:ea typeface="DM Sans" pitchFamily="34" charset="-122"/>
                <a:cs typeface="DM Sans" pitchFamily="34" charset="-120"/>
              </a:rPr>
              <a:t>Without variables 😩</a:t>
            </a:r>
            <a:endParaRPr lang="en-US" sz="1600" dirty="0"/>
          </a:p>
        </p:txBody>
      </p:sp>
      <p:sp>
        <p:nvSpPr>
          <p:cNvPr id="5" name="Text 3"/>
          <p:cNvSpPr/>
          <p:nvPr/>
        </p:nvSpPr>
        <p:spPr>
          <a:xfrm>
            <a:off x="812800" y="2397655"/>
            <a:ext cx="5080000" cy="1534120"/>
          </a:xfrm>
          <a:prstGeom prst="roundRect">
            <a:avLst>
              <a:gd name="adj" fmla="val 8278"/>
            </a:avLst>
          </a:prstGeom>
          <a:solidFill>
            <a:srgbClr val="1F2A37"/>
          </a:solidFill>
          <a:ln/>
        </p:spPr>
        <p:txBody>
          <a:bodyPr wrap="square" lIns="293003" tIns="242203" rIns="160415" bIns="216803" rtlCol="0" anchor="t">
            <a:normAutofit/>
          </a:bodyPr>
          <a:lstStyle/>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a:t>
            </a:r>
            <a:r>
              <a:rPr lang="en-US" sz="1600" dirty="0">
                <a:solidFill>
                  <a:srgbClr val="F2C94C"/>
                </a:solidFill>
                <a:latin typeface="JetBrains Mono" pitchFamily="49" charset="0"/>
                <a:ea typeface="JetBrains Mono" pitchFamily="49" charset="-122"/>
                <a:cs typeface="JetBrains Mono" pitchFamily="49" charset="-120"/>
              </a:rPr>
              <a:t>"Homaira"</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print(20)</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a:t>
            </a:r>
            <a:r>
              <a:rPr lang="en-US" sz="1600" dirty="0">
                <a:solidFill>
                  <a:srgbClr val="F2C94C"/>
                </a:solidFill>
                <a:latin typeface="JetBrains Mono" pitchFamily="49" charset="0"/>
                <a:ea typeface="JetBrains Mono" pitchFamily="49" charset="-122"/>
                <a:cs typeface="JetBrains Mono" pitchFamily="49" charset="-120"/>
              </a:rPr>
              <a:t>"Computer Science"</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p:txBody>
      </p:sp>
      <p:sp>
        <p:nvSpPr>
          <p:cNvPr id="6" name="Text 4"/>
          <p:cNvSpPr/>
          <p:nvPr/>
        </p:nvSpPr>
        <p:spPr>
          <a:xfrm>
            <a:off x="812800" y="4058776"/>
            <a:ext cx="52324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DM Sans" pitchFamily="34" charset="0"/>
                <a:ea typeface="DM Sans" pitchFamily="34" charset="-122"/>
                <a:cs typeface="DM Sans" pitchFamily="34" charset="-120"/>
              </a:rPr>
              <a:t>Hard to manage, hard to change, repeated data</a:t>
            </a:r>
            <a:endParaRPr lang="en-US" sz="1500" dirty="0"/>
          </a:p>
        </p:txBody>
      </p:sp>
      <p:sp>
        <p:nvSpPr>
          <p:cNvPr id="7" name="Text 5"/>
          <p:cNvSpPr/>
          <p:nvPr/>
        </p:nvSpPr>
        <p:spPr>
          <a:xfrm>
            <a:off x="6299200" y="1986228"/>
            <a:ext cx="52324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776AB"/>
                </a:solidFill>
                <a:latin typeface="DM Sans" pitchFamily="34" charset="0"/>
                <a:ea typeface="DM Sans" pitchFamily="34" charset="-122"/>
                <a:cs typeface="DM Sans" pitchFamily="34" charset="-120"/>
              </a:rPr>
              <a:t>With variables 😎</a:t>
            </a:r>
            <a:endParaRPr lang="en-US" sz="1600" dirty="0"/>
          </a:p>
        </p:txBody>
      </p:sp>
      <p:sp>
        <p:nvSpPr>
          <p:cNvPr id="8" name="Text 6"/>
          <p:cNvSpPr/>
          <p:nvPr/>
        </p:nvSpPr>
        <p:spPr>
          <a:xfrm>
            <a:off x="6299200" y="2397655"/>
            <a:ext cx="5080000" cy="1534120"/>
          </a:xfrm>
          <a:prstGeom prst="roundRect">
            <a:avLst>
              <a:gd name="adj" fmla="val 8278"/>
            </a:avLst>
          </a:prstGeom>
          <a:solidFill>
            <a:srgbClr val="1F2A37"/>
          </a:solidFill>
          <a:ln/>
        </p:spPr>
        <p:txBody>
          <a:bodyPr wrap="square" lIns="293003" tIns="242203" rIns="160415" bIns="216803" rtlCol="0" anchor="t">
            <a:normAutofit/>
          </a:bodyPr>
          <a:lstStyle/>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name = </a:t>
            </a:r>
            <a:r>
              <a:rPr lang="en-US" sz="1600" dirty="0">
                <a:solidFill>
                  <a:srgbClr val="F2C94C"/>
                </a:solidFill>
                <a:latin typeface="JetBrains Mono" pitchFamily="49" charset="0"/>
                <a:ea typeface="JetBrains Mono" pitchFamily="49" charset="-122"/>
                <a:cs typeface="JetBrains Mono" pitchFamily="49" charset="-120"/>
              </a:rPr>
              <a:t>"Homaira"</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age = 20</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major = </a:t>
            </a:r>
            <a:r>
              <a:rPr lang="en-US" sz="1600" dirty="0">
                <a:solidFill>
                  <a:srgbClr val="F2C94C"/>
                </a:solidFill>
                <a:latin typeface="JetBrains Mono" pitchFamily="49" charset="0"/>
                <a:ea typeface="JetBrains Mono" pitchFamily="49" charset="-122"/>
                <a:cs typeface="JetBrains Mono" pitchFamily="49" charset="-120"/>
              </a:rPr>
              <a:t>"Computer Science"</a:t>
            </a:r>
            <a:endParaRPr lang="en-US" sz="1600" dirty="0"/>
          </a:p>
        </p:txBody>
      </p:sp>
      <p:sp>
        <p:nvSpPr>
          <p:cNvPr id="9" name="Text 7"/>
          <p:cNvSpPr/>
          <p:nvPr/>
        </p:nvSpPr>
        <p:spPr>
          <a:xfrm>
            <a:off x="6299200" y="4058776"/>
            <a:ext cx="52324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DM Sans" pitchFamily="34" charset="0"/>
                <a:ea typeface="DM Sans" pitchFamily="34" charset="-122"/>
                <a:cs typeface="DM Sans" pitchFamily="34" charset="-120"/>
              </a:rPr>
              <a:t>Stored cleanly — easy to manage and update</a:t>
            </a:r>
            <a:endParaRPr lang="en-US" sz="15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2: variables &amp; data types</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WHAT IS A VARIABLE?</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A labelled box that stores a value</a:t>
            </a:r>
            <a:endParaRPr lang="en-US" sz="3600" dirty="0"/>
          </a:p>
        </p:txBody>
      </p:sp>
      <p:sp>
        <p:nvSpPr>
          <p:cNvPr id="4" name="Text 2"/>
          <p:cNvSpPr/>
          <p:nvPr/>
        </p:nvSpPr>
        <p:spPr>
          <a:xfrm>
            <a:off x="1778000" y="1986229"/>
            <a:ext cx="3048000" cy="487627"/>
          </a:xfrm>
          <a:custGeom>
            <a:avLst/>
            <a:gdLst/>
            <a:ahLst/>
            <a:cxnLst/>
            <a:rect l="l" t="t" r="r" b="b"/>
            <a:pathLst>
              <a:path w="3048000" h="487627">
                <a:moveTo>
                  <a:pt x="101600" y="0"/>
                </a:moveTo>
                <a:lnTo>
                  <a:pt x="2946400" y="0"/>
                </a:lnTo>
                <a:arcTo hR="101600" wR="101600" stAng="16200000" swAng="5400000"/>
                <a:lnTo>
                  <a:pt x="3048000" y="487627"/>
                </a:lnTo>
                <a:lnTo>
                  <a:pt x="0" y="487627"/>
                </a:lnTo>
                <a:lnTo>
                  <a:pt x="0" y="101600"/>
                </a:lnTo>
                <a:arcTo hR="101600" wR="101600" stAng="10800000" swAng="5400000"/>
                <a:close/>
              </a:path>
            </a:pathLst>
          </a:custGeom>
          <a:solidFill>
            <a:srgbClr val="3776AB"/>
          </a:solidFill>
          <a:ln/>
        </p:spPr>
        <p:txBody>
          <a:bodyPr wrap="square" lIns="268224" tIns="101600" rIns="268224" bIns="76200" rtlCol="0" anchor="t">
            <a:normAutofit/>
          </a:bodyPr>
          <a:lstStyle/>
          <a:p>
            <a:pPr algn="ctr" indent="0" marL="0">
              <a:lnSpc>
                <a:spcPts val="2240"/>
              </a:lnSpc>
              <a:buNone/>
            </a:pPr>
            <a:r>
              <a:rPr lang="en-US" sz="1600" b="1" dirty="0">
                <a:solidFill>
                  <a:srgbClr val="FAF9F6"/>
                </a:solidFill>
                <a:latin typeface="DM Sans" pitchFamily="34" charset="0"/>
                <a:ea typeface="DM Sans" pitchFamily="34" charset="-122"/>
                <a:cs typeface="DM Sans" pitchFamily="34" charset="-120"/>
              </a:rPr>
              <a:t>name</a:t>
            </a:r>
            <a:endParaRPr lang="en-US" sz="1600" dirty="0"/>
          </a:p>
        </p:txBody>
      </p:sp>
      <p:sp>
        <p:nvSpPr>
          <p:cNvPr id="5" name="Text 3"/>
          <p:cNvSpPr/>
          <p:nvPr/>
        </p:nvSpPr>
        <p:spPr>
          <a:xfrm>
            <a:off x="1790700" y="2486555"/>
            <a:ext cx="3022600" cy="1336014"/>
          </a:xfrm>
          <a:custGeom>
            <a:avLst/>
            <a:gdLst/>
            <a:ahLst/>
            <a:cxnLst/>
            <a:rect l="l" t="t" r="r" b="b"/>
            <a:pathLst>
              <a:path w="3022600" h="1336014">
                <a:moveTo>
                  <a:pt x="0" y="0"/>
                </a:moveTo>
                <a:lnTo>
                  <a:pt x="3022600" y="0"/>
                </a:lnTo>
                <a:lnTo>
                  <a:pt x="3022600" y="1247114"/>
                </a:lnTo>
                <a:arcTo hR="88900" wR="88900" stAng="0" swAng="5400000"/>
                <a:lnTo>
                  <a:pt x="88900" y="1336014"/>
                </a:lnTo>
                <a:arcTo hR="88900" wR="88900" stAng="5400000" swAng="5400000"/>
                <a:lnTo>
                  <a:pt x="0" y="0"/>
                </a:lnTo>
                <a:close/>
              </a:path>
            </a:pathLst>
          </a:custGeom>
          <a:solidFill>
            <a:srgbClr val="FFFFFF"/>
          </a:solidFill>
          <a:ln w="25400">
            <a:solidFill>
              <a:srgbClr val="3776AB"/>
            </a:solidFill>
            <a:prstDash val="solid"/>
          </a:ln>
        </p:spPr>
        <p:txBody>
          <a:bodyPr wrap="square" lIns="281686" tIns="419100" rIns="281686" bIns="393700" rtlCol="0" anchor="t">
            <a:normAutofit/>
          </a:bodyPr>
          <a:lstStyle/>
          <a:p>
            <a:pPr algn="ctr" indent="0" marL="0">
              <a:lnSpc>
                <a:spcPts val="3920"/>
              </a:lnSpc>
              <a:buNone/>
            </a:pPr>
            <a:r>
              <a:rPr lang="en-US" sz="2800" b="1" dirty="0">
                <a:solidFill>
                  <a:srgbClr val="1F2A37"/>
                </a:solidFill>
                <a:latin typeface="JetBrains Mono" pitchFamily="49" charset="0"/>
                <a:ea typeface="JetBrains Mono" pitchFamily="49" charset="-122"/>
                <a:cs typeface="JetBrains Mono" pitchFamily="49" charset="-120"/>
              </a:rPr>
              <a:t>"Ahmad"</a:t>
            </a:r>
            <a:endParaRPr lang="en-US" sz="2800" dirty="0"/>
          </a:p>
        </p:txBody>
      </p:sp>
      <p:sp>
        <p:nvSpPr>
          <p:cNvPr id="6" name="Text 4"/>
          <p:cNvSpPr/>
          <p:nvPr/>
        </p:nvSpPr>
        <p:spPr>
          <a:xfrm>
            <a:off x="6400800" y="2044040"/>
            <a:ext cx="5127752" cy="338402"/>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1F2A37"/>
                </a:solidFill>
                <a:latin typeface="DM Sans" pitchFamily="34" charset="0"/>
                <a:ea typeface="DM Sans" pitchFamily="34" charset="-122"/>
                <a:cs typeface="DM Sans" pitchFamily="34" charset="-120"/>
              </a:rPr>
              <a:t>The </a:t>
            </a:r>
            <a:r>
              <a:rPr lang="en-US" sz="1700" b="1" dirty="0">
                <a:solidFill>
                  <a:srgbClr val="1F2A37"/>
                </a:solidFill>
                <a:latin typeface="DM Sans" pitchFamily="34" charset="0"/>
                <a:ea typeface="DM Sans" pitchFamily="34" charset="-122"/>
                <a:cs typeface="DM Sans" pitchFamily="34" charset="-120"/>
              </a:rPr>
              <a:t>label</a:t>
            </a:r>
            <a:r>
              <a:rPr lang="en-US" sz="1700" dirty="0">
                <a:solidFill>
                  <a:srgbClr val="1F2A37"/>
                </a:solidFill>
                <a:latin typeface="DM Sans" pitchFamily="34" charset="0"/>
                <a:ea typeface="DM Sans" pitchFamily="34" charset="-122"/>
                <a:cs typeface="DM Sans" pitchFamily="34" charset="-120"/>
              </a:rPr>
              <a:t> is the variable’s name</a:t>
            </a:r>
            <a:endParaRPr lang="en-US" sz="1700" dirty="0"/>
          </a:p>
        </p:txBody>
      </p:sp>
      <p:sp>
        <p:nvSpPr>
          <p:cNvPr id="7" name="Text 5"/>
          <p:cNvSpPr/>
          <p:nvPr/>
        </p:nvSpPr>
        <p:spPr>
          <a:xfrm>
            <a:off x="6400800" y="2534841"/>
            <a:ext cx="5127752" cy="338402"/>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1F2A37"/>
                </a:solidFill>
                <a:latin typeface="DM Sans" pitchFamily="34" charset="0"/>
                <a:ea typeface="DM Sans" pitchFamily="34" charset="-122"/>
                <a:cs typeface="DM Sans" pitchFamily="34" charset="-120"/>
              </a:rPr>
              <a:t>What’s </a:t>
            </a:r>
            <a:r>
              <a:rPr lang="en-US" sz="1700" b="1" dirty="0">
                <a:solidFill>
                  <a:srgbClr val="1F2A37"/>
                </a:solidFill>
                <a:latin typeface="DM Sans" pitchFamily="34" charset="0"/>
                <a:ea typeface="DM Sans" pitchFamily="34" charset="-122"/>
                <a:cs typeface="DM Sans" pitchFamily="34" charset="-120"/>
              </a:rPr>
              <a:t>inside</a:t>
            </a:r>
            <a:r>
              <a:rPr lang="en-US" sz="1700" dirty="0">
                <a:solidFill>
                  <a:srgbClr val="1F2A37"/>
                </a:solidFill>
                <a:latin typeface="DM Sans" pitchFamily="34" charset="0"/>
                <a:ea typeface="DM Sans" pitchFamily="34" charset="-122"/>
                <a:cs typeface="DM Sans" pitchFamily="34" charset="-120"/>
              </a:rPr>
              <a:t> is its value</a:t>
            </a:r>
            <a:endParaRPr lang="en-US" sz="1700" dirty="0"/>
          </a:p>
        </p:txBody>
      </p:sp>
      <p:sp>
        <p:nvSpPr>
          <p:cNvPr id="8" name="Text 6"/>
          <p:cNvSpPr/>
          <p:nvPr/>
        </p:nvSpPr>
        <p:spPr>
          <a:xfrm>
            <a:off x="6400800" y="3025645"/>
            <a:ext cx="4978400" cy="751814"/>
          </a:xfrm>
          <a:prstGeom prst="roundRect">
            <a:avLst>
              <a:gd name="adj" fmla="val 13514"/>
            </a:avLst>
          </a:prstGeom>
          <a:solidFill>
            <a:srgbClr val="1F2A37"/>
          </a:solidFill>
          <a:ln/>
        </p:spPr>
        <p:txBody>
          <a:bodyPr wrap="square" lIns="249642" tIns="173442" rIns="117054" bIns="148042" rtlCol="0" anchor="t">
            <a:normAutofit/>
          </a:bodyPr>
          <a:lstStyle/>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name = </a:t>
            </a:r>
            <a:r>
              <a:rPr lang="en-US" sz="1700" dirty="0">
                <a:solidFill>
                  <a:srgbClr val="F2C94C"/>
                </a:solidFill>
                <a:latin typeface="JetBrains Mono" pitchFamily="49" charset="0"/>
                <a:ea typeface="JetBrains Mono" pitchFamily="49" charset="-122"/>
                <a:cs typeface="JetBrains Mono" pitchFamily="49" charset="-120"/>
              </a:rPr>
              <a:t>"Ahmad"</a:t>
            </a:r>
            <a:endParaRPr lang="en-US" sz="1700" dirty="0"/>
          </a:p>
        </p:txBody>
      </p:sp>
      <p:sp>
        <p:nvSpPr>
          <p:cNvPr id="9"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2: variables &amp; data types</a:t>
            </a:r>
            <a:endParaRPr lang="en-US" sz="1200" dirty="0"/>
          </a:p>
        </p:txBody>
      </p:sp>
      <p:sp>
        <p:nvSpPr>
          <p:cNvPr id="10"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CREATING VARIABLES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variable_name = value</a:t>
            </a:r>
            <a:endParaRPr lang="en-US" sz="3600" dirty="0"/>
          </a:p>
        </p:txBody>
      </p:sp>
      <p:sp>
        <p:nvSpPr>
          <p:cNvPr id="4" name="Text 2"/>
          <p:cNvSpPr/>
          <p:nvPr/>
        </p:nvSpPr>
        <p:spPr>
          <a:xfrm>
            <a:off x="812800" y="1986229"/>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5"/>
            <a:ext cx="6096000" cy="2834548"/>
          </a:xfrm>
          <a:prstGeom prst="roundRect">
            <a:avLst>
              <a:gd name="adj" fmla="val 4480"/>
            </a:avLst>
          </a:prstGeom>
          <a:solidFill>
            <a:srgbClr val="1F2A37"/>
          </a:solidFill>
          <a:ln/>
        </p:spPr>
        <p:txBody>
          <a:bodyPr wrap="square" lIns="293003" tIns="242203" rIns="129935" bIns="216803" rtlCol="0" anchor="t">
            <a:normAutofit/>
          </a:bodyPr>
          <a:lstStyle/>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student_name = </a:t>
            </a:r>
            <a:r>
              <a:rPr lang="en-US" sz="1600" dirty="0">
                <a:solidFill>
                  <a:srgbClr val="F2C94C"/>
                </a:solidFill>
                <a:latin typeface="JetBrains Mono" pitchFamily="49" charset="0"/>
                <a:ea typeface="JetBrains Mono" pitchFamily="49" charset="-122"/>
                <a:cs typeface="JetBrains Mono" pitchFamily="49" charset="-120"/>
              </a:rPr>
              <a:t>"Sara"</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student_age = 19</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student_gpa = 3.5</a:t>
            </a:r>
            <a:endParaRPr lang="en-US" sz="1600" dirty="0"/>
          </a:p>
          <a:p>
            <a:pPr algn="l" indent="0" marL="0">
              <a:lnSpc>
                <a:spcPts val="2560"/>
              </a:lnSpc>
              <a:buNone/>
            </a:pP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print(student_name)</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print(student_age)</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print(student_gpa)</a:t>
            </a:r>
            <a:endParaRPr lang="en-US" sz="1600" dirty="0"/>
          </a:p>
        </p:txBody>
      </p:sp>
      <p:sp>
        <p:nvSpPr>
          <p:cNvPr id="6" name="Text 4"/>
          <p:cNvSpPr/>
          <p:nvPr/>
        </p:nvSpPr>
        <p:spPr>
          <a:xfrm>
            <a:off x="7315200" y="1986229"/>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7315200" y="2362135"/>
            <a:ext cx="4064000" cy="1534120"/>
          </a:xfrm>
          <a:prstGeom prst="roundRect">
            <a:avLst>
              <a:gd name="adj" fmla="val 8278"/>
            </a:avLst>
          </a:prstGeom>
          <a:solidFill>
            <a:srgbClr val="EEF2F6"/>
          </a:solidFill>
          <a:ln/>
        </p:spPr>
        <p:txBody>
          <a:bodyPr wrap="square" lIns="318403" tIns="242203" rIns="165495" bIns="216803" rtlCol="0" anchor="t">
            <a:normAutofit/>
          </a:bodyPr>
          <a:lstStyle/>
          <a:p>
            <a:pPr algn="l" indent="0" marL="0">
              <a:lnSpc>
                <a:spcPts val="2560"/>
              </a:lnSpc>
              <a:buNone/>
            </a:pPr>
            <a:r>
              <a:rPr lang="en-US" sz="1600" dirty="0">
                <a:solidFill>
                  <a:srgbClr val="1F2A37"/>
                </a:solidFill>
                <a:latin typeface="JetBrains Mono" pitchFamily="49" charset="0"/>
                <a:ea typeface="JetBrains Mono" pitchFamily="49" charset="-122"/>
                <a:cs typeface="JetBrains Mono" pitchFamily="49" charset="-120"/>
              </a:rPr>
              <a:t>Sara</a:t>
            </a:r>
            <a:endParaRPr lang="en-US" sz="1600" dirty="0"/>
          </a:p>
          <a:p>
            <a:pPr algn="l" indent="0" marL="0">
              <a:lnSpc>
                <a:spcPts val="2560"/>
              </a:lnSpc>
              <a:buNone/>
            </a:pPr>
            <a:r>
              <a:rPr lang="en-US" sz="1600" dirty="0">
                <a:solidFill>
                  <a:srgbClr val="1F2A37"/>
                </a:solidFill>
                <a:latin typeface="JetBrains Mono" pitchFamily="49" charset="0"/>
                <a:ea typeface="JetBrains Mono" pitchFamily="49" charset="-122"/>
                <a:cs typeface="JetBrains Mono" pitchFamily="49" charset="-120"/>
              </a:rPr>
              <a:t>19</a:t>
            </a:r>
            <a:endParaRPr lang="en-US" sz="1600" dirty="0"/>
          </a:p>
          <a:p>
            <a:pPr algn="l" indent="0" marL="0">
              <a:lnSpc>
                <a:spcPts val="2560"/>
              </a:lnSpc>
              <a:buNone/>
            </a:pPr>
            <a:r>
              <a:rPr lang="en-US" sz="1600" dirty="0">
                <a:solidFill>
                  <a:srgbClr val="1F2A37"/>
                </a:solidFill>
                <a:latin typeface="JetBrains Mono" pitchFamily="49" charset="0"/>
                <a:ea typeface="JetBrains Mono" pitchFamily="49" charset="-122"/>
                <a:cs typeface="JetBrains Mono" pitchFamily="49" charset="-120"/>
              </a:rPr>
              <a:t>3.5</a:t>
            </a:r>
            <a:endParaRPr lang="en-US" sz="1600" dirty="0"/>
          </a:p>
        </p:txBody>
      </p:sp>
      <p:sp>
        <p:nvSpPr>
          <p:cNvPr id="8" name="Shape 6"/>
          <p:cNvSpPr/>
          <p:nvPr/>
        </p:nvSpPr>
        <p:spPr>
          <a:xfrm>
            <a:off x="7315200" y="2362135"/>
            <a:ext cx="4064000" cy="1534120"/>
          </a:xfrm>
          <a:custGeom>
            <a:avLst/>
            <a:gdLst/>
            <a:ahLst/>
            <a:cxnLst/>
            <a:rect l="l" t="t" r="r" b="b"/>
            <a:pathLst>
              <a:path w="4064000" h="1534120">
                <a:moveTo>
                  <a:pt x="127000" y="1534120"/>
                </a:moveTo>
                <a:lnTo>
                  <a:pt x="127000" y="1534120"/>
                </a:lnTo>
                <a:arcTo hR="127000" wR="127000" stAng="5400000" swAng="5400000"/>
                <a:lnTo>
                  <a:pt x="0" y="127000"/>
                </a:lnTo>
                <a:arcTo hR="127000" wR="127000" stAng="10800000" swAng="5400000"/>
                <a:lnTo>
                  <a:pt x="127000" y="0"/>
                </a:lnTo>
                <a:arcTo hR="127000" wR="76200" stAng="16200000" swAng="-5400000"/>
                <a:lnTo>
                  <a:pt x="50800" y="1407120"/>
                </a:lnTo>
                <a:arcTo hR="127000" wR="76200" stAng="10800000" swAng="-5400000"/>
                <a:close/>
              </a:path>
            </a:pathLst>
          </a:custGeom>
          <a:solidFill>
            <a:srgbClr val="3776AB"/>
          </a:solidFill>
          <a:ln/>
        </p:spPr>
      </p:sp>
      <p:sp>
        <p:nvSpPr>
          <p:cNvPr id="9" name="Text 7"/>
          <p:cNvSpPr/>
          <p:nvPr/>
        </p:nvSpPr>
        <p:spPr>
          <a:xfrm>
            <a:off x="7315200" y="4023255"/>
            <a:ext cx="4064000" cy="857250"/>
          </a:xfrm>
          <a:prstGeom prst="roundRect">
            <a:avLst>
              <a:gd name="adj" fmla="val 11852"/>
            </a:avLst>
          </a:prstGeom>
          <a:solidFill>
            <a:srgbClr val="E3ECF6"/>
          </a:solidFill>
          <a:ln/>
        </p:spPr>
        <p:txBody>
          <a:bodyPr wrap="square" lIns="173442" tIns="122642" rIns="63714" bIns="97242" rtlCol="0" anchor="t">
            <a:normAutofit/>
          </a:bodyPr>
          <a:lstStyle/>
          <a:p>
            <a:pPr algn="l" indent="0" marL="0">
              <a:lnSpc>
                <a:spcPts val="2175"/>
              </a:lnSpc>
              <a:buNone/>
            </a:pPr>
            <a:r>
              <a:rPr lang="en-US" sz="1500" b="1" dirty="0">
                <a:solidFill>
                  <a:srgbClr val="1F2A37"/>
                </a:solidFill>
                <a:latin typeface="DM Sans" pitchFamily="34" charset="0"/>
                <a:ea typeface="DM Sans" pitchFamily="34" charset="-122"/>
                <a:cs typeface="DM Sans" pitchFamily="34" charset="-120"/>
              </a:rPr>
              <a:t>=</a:t>
            </a:r>
            <a:r>
              <a:rPr lang="en-US" sz="1500" dirty="0">
                <a:solidFill>
                  <a:srgbClr val="1F2A37"/>
                </a:solidFill>
                <a:latin typeface="DM Sans" pitchFamily="34" charset="0"/>
                <a:ea typeface="DM Sans" pitchFamily="34" charset="-122"/>
                <a:cs typeface="DM Sans" pitchFamily="34" charset="-120"/>
              </a:rPr>
              <a:t> means “store this value”, </a:t>
            </a:r>
            <a:r>
              <a:rPr lang="en-US" sz="1500" b="1" dirty="0">
                <a:solidFill>
                  <a:srgbClr val="1F2A37"/>
                </a:solidFill>
                <a:latin typeface="DM Sans" pitchFamily="34" charset="0"/>
                <a:ea typeface="DM Sans" pitchFamily="34" charset="-122"/>
                <a:cs typeface="DM Sans" pitchFamily="34" charset="-120"/>
              </a:rPr>
              <a:t>not</a:t>
            </a:r>
            <a:r>
              <a:rPr lang="en-US" sz="1500" dirty="0">
                <a:solidFill>
                  <a:srgbClr val="1F2A37"/>
                </a:solidFill>
                <a:latin typeface="DM Sans" pitchFamily="34" charset="0"/>
                <a:ea typeface="DM Sans" pitchFamily="34" charset="-122"/>
                <a:cs typeface="DM Sans" pitchFamily="34" charset="-120"/>
              </a:rPr>
              <a:t> “is equal to”.</a:t>
            </a:r>
            <a:endParaRPr lang="en-US" sz="15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2: variables &amp; data types</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NAMING RULES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Good names, allowed names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29"/>
          <a:ext cx="10553700" cy="2063750"/>
        </p:xfrm>
        <a:graphic>
          <a:graphicData uri="http://schemas.openxmlformats.org/drawingml/2006/table">
            <a:tbl>
              <a:tblPr/>
              <a:tblGrid>
                <a:gridCol w="4221480"/>
                <a:gridCol w="3166110"/>
                <a:gridCol w="3166110"/>
              </a:tblGrid>
              <a:tr h="412750">
                <a:tc>
                  <a:txBody>
                    <a:bodyPr/>
                    <a:lstStyle/>
                    <a:p>
                      <a:pPr indent="0" marL="0">
                        <a:lnSpc>
                          <a:spcPts val="2100"/>
                        </a:lnSpc>
                        <a:buNone/>
                      </a:pPr>
                      <a:r>
                        <a:rPr lang="en-US" sz="1500" b="1" dirty="0">
                          <a:solidFill>
                            <a:srgbClr val="1F2A37"/>
                          </a:solidFill>
                          <a:latin typeface="DM Sans" pitchFamily="34" charset="0"/>
                          <a:ea typeface="DM Sans" pitchFamily="34" charset="-122"/>
                          <a:cs typeface="DM Sans" pitchFamily="34" charset="-120"/>
                        </a:rPr>
                        <a:t>Rule</a:t>
                      </a:r>
                      <a:endParaRPr lang="en-US" sz="1500" dirty="0">
                        <a:latin typeface="DM Sans" charset="0"/>
                        <a:ea typeface="DM Sans" charset="0"/>
                        <a:cs typeface="DM Sans" charset="0"/>
                      </a:endParaRPr>
                    </a:p>
                  </a:txBody>
                  <a:tcPr marL="66675" marR="66675" marT="66675" marB="66675" anchor="t">
                    <a:lnL w="12700" cap="flat" cmpd="sng" algn="ctr">
                      <a:solidFill>
                        <a:srgbClr val="C0C3C6"/>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0C3C6"/>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100"/>
                        </a:lnSpc>
                        <a:buNone/>
                      </a:pPr>
                      <a:r>
                        <a:rPr lang="en-US" sz="1500" b="1" dirty="0">
                          <a:solidFill>
                            <a:srgbClr val="1F2A37"/>
                          </a:solidFill>
                          <a:latin typeface="DM Sans" pitchFamily="34" charset="0"/>
                          <a:ea typeface="DM Sans" pitchFamily="34" charset="-122"/>
                          <a:cs typeface="DM Sans" pitchFamily="34" charset="-120"/>
                        </a:rPr>
                        <a:t>Wrong</a:t>
                      </a:r>
                      <a:endParaRPr lang="en-US" sz="1500" dirty="0">
                        <a:latin typeface="DM Sans" charset="0"/>
                        <a:ea typeface="DM Sans" charset="0"/>
                        <a:cs typeface="DM Sans" charset="0"/>
                      </a:endParaRPr>
                    </a:p>
                  </a:txBody>
                  <a:tcPr marL="66675" marR="66675" marT="66675" marB="66675"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0C3C6"/>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100"/>
                        </a:lnSpc>
                        <a:buNone/>
                      </a:pPr>
                      <a:r>
                        <a:rPr lang="en-US" sz="1500" b="1" dirty="0">
                          <a:solidFill>
                            <a:srgbClr val="1F2A37"/>
                          </a:solidFill>
                          <a:latin typeface="DM Sans" pitchFamily="34" charset="0"/>
                          <a:ea typeface="DM Sans" pitchFamily="34" charset="-122"/>
                          <a:cs typeface="DM Sans" pitchFamily="34" charset="-120"/>
                        </a:rPr>
                        <a:t>Correct</a:t>
                      </a:r>
                      <a:endParaRPr lang="en-US" sz="1500" dirty="0">
                        <a:latin typeface="DM Sans" charset="0"/>
                        <a:ea typeface="DM Sans" charset="0"/>
                        <a:cs typeface="DM Sans" charset="0"/>
                      </a:endParaRPr>
                    </a:p>
                  </a:txBody>
                  <a:tcPr marL="66675" marR="66675" marT="66675" marB="66675"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0C3C6"/>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Can’t start with a number</a:t>
                      </a:r>
                      <a:endParaRPr lang="en-US" sz="1500" dirty="0">
                        <a:latin typeface="DM Sans" charset="0"/>
                        <a:ea typeface="DM Sans" charset="0"/>
                        <a:cs typeface="DM Sans" charset="0"/>
                      </a:endParaRPr>
                    </a:p>
                  </a:txBody>
                  <a:tcPr marL="66675" marR="66675" marT="66675" marB="66675" anchor="t">
                    <a:lnL w="12700" cap="flat" cmpd="sng" algn="ctr">
                      <a:solidFill>
                        <a:srgbClr val="C0C3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1name</a:t>
                      </a:r>
                      <a:endParaRPr lang="en-US" sz="1500" dirty="0">
                        <a:latin typeface="DM Sans" charset="0"/>
                        <a:ea typeface="DM Sans" charset="0"/>
                        <a:cs typeface="DM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name1</a:t>
                      </a:r>
                      <a:endParaRPr lang="en-US" sz="1500" dirty="0">
                        <a:latin typeface="DM Sans" charset="0"/>
                        <a:ea typeface="DM Sans" charset="0"/>
                        <a:cs typeface="DM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No spaces — use _</a:t>
                      </a:r>
                      <a:endParaRPr lang="en-US" sz="1500" dirty="0">
                        <a:latin typeface="DM Sans" charset="0"/>
                        <a:ea typeface="DM Sans" charset="0"/>
                        <a:cs typeface="DM Sans" charset="0"/>
                      </a:endParaRPr>
                    </a:p>
                  </a:txBody>
                  <a:tcPr marL="66675" marR="66675" marT="66675" marB="66675" anchor="t">
                    <a:lnL w="12700" cap="flat" cmpd="sng" algn="ctr">
                      <a:solidFill>
                        <a:srgbClr val="C0C3C6"/>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student name</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student_name</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Case-sensitive</a:t>
                      </a:r>
                      <a:endParaRPr lang="en-US" sz="1500" dirty="0">
                        <a:latin typeface="DM Sans" charset="0"/>
                        <a:ea typeface="DM Sans" charset="0"/>
                        <a:cs typeface="DM Sans" charset="0"/>
                      </a:endParaRPr>
                    </a:p>
                  </a:txBody>
                  <a:tcPr marL="66675" marR="66675" marT="66675" marB="66675" anchor="t">
                    <a:lnL w="12700" cap="flat" cmpd="sng" algn="ctr">
                      <a:solidFill>
                        <a:srgbClr val="C0C3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Name = name</a:t>
                      </a:r>
                      <a:endParaRPr lang="en-US" sz="1500" dirty="0">
                        <a:latin typeface="DM Sans" charset="0"/>
                        <a:ea typeface="DM Sans" charset="0"/>
                        <a:cs typeface="DM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Name ≠ name</a:t>
                      </a:r>
                      <a:endParaRPr lang="en-US" sz="1500" dirty="0">
                        <a:latin typeface="DM Sans" charset="0"/>
                        <a:ea typeface="DM Sans" charset="0"/>
                        <a:cs typeface="DM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12750">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Use clear names</a:t>
                      </a:r>
                      <a:endParaRPr lang="en-US" sz="1500" dirty="0">
                        <a:latin typeface="DM Sans" charset="0"/>
                        <a:ea typeface="DM Sans" charset="0"/>
                        <a:cs typeface="DM Sans" charset="0"/>
                      </a:endParaRPr>
                    </a:p>
                  </a:txBody>
                  <a:tcPr marL="66675" marR="66675" marT="66675" marB="66675" anchor="t">
                    <a:lnL w="12700" cap="flat" cmpd="sng" algn="ctr">
                      <a:solidFill>
                        <a:srgbClr val="C0C3C6"/>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x = 20</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100"/>
                        </a:lnSpc>
                        <a:buNone/>
                      </a:pPr>
                      <a:r>
                        <a:rPr lang="en-US" sz="1500" dirty="0">
                          <a:solidFill>
                            <a:srgbClr val="1F2A37"/>
                          </a:solidFill>
                          <a:latin typeface="DM Sans" pitchFamily="34" charset="0"/>
                          <a:ea typeface="DM Sans" pitchFamily="34" charset="-122"/>
                          <a:cs typeface="DM Sans" pitchFamily="34" charset="-120"/>
                        </a:rPr>
                        <a:t>student_age = 20</a:t>
                      </a:r>
                      <a:endParaRPr lang="en-US" sz="1500" dirty="0">
                        <a:latin typeface="DM Sans" charset="0"/>
                        <a:ea typeface="DM Sans" charset="0"/>
                        <a:cs typeface="DM Sans" charset="0"/>
                      </a:endParaRPr>
                    </a:p>
                  </a:txBody>
                  <a:tcPr marL="66675" marR="66675" marT="66675" marB="6667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bl>
          </a:graphicData>
        </a:graphic>
      </p:graphicFrame>
      <p:sp>
        <p:nvSpPr>
          <p:cNvPr id="5" name="Text 2"/>
          <p:cNvSpPr/>
          <p:nvPr/>
        </p:nvSpPr>
        <p:spPr>
          <a:xfrm>
            <a:off x="812800" y="431667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DM Sans" pitchFamily="34" charset="0"/>
                <a:ea typeface="DM Sans" pitchFamily="34" charset="-122"/>
                <a:cs typeface="DM Sans" pitchFamily="34" charset="-120"/>
              </a:rPr>
              <a:t>Python style: all lowercase with </a:t>
            </a:r>
            <a:r>
              <a:rPr lang="en-US" sz="1500" b="1" dirty="0">
                <a:solidFill>
                  <a:srgbClr val="4A5568"/>
                </a:solidFill>
                <a:latin typeface="DM Sans" pitchFamily="34" charset="0"/>
                <a:ea typeface="DM Sans" pitchFamily="34" charset="-122"/>
                <a:cs typeface="DM Sans" pitchFamily="34" charset="-120"/>
              </a:rPr>
              <a:t>_</a:t>
            </a:r>
            <a:r>
              <a:rPr lang="en-US" sz="1500" dirty="0">
                <a:solidFill>
                  <a:srgbClr val="4A5568"/>
                </a:solidFill>
                <a:latin typeface="DM Sans" pitchFamily="34" charset="0"/>
                <a:ea typeface="DM Sans" pitchFamily="34" charset="-122"/>
                <a:cs typeface="DM Sans" pitchFamily="34" charset="-120"/>
              </a:rPr>
              <a:t> between words (snake_case).</a:t>
            </a:r>
            <a:endParaRPr lang="en-US" sz="15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2: variables &amp; data types</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VARIABLES CAN CHANGE</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Multiple assignment &amp; updates</a:t>
            </a:r>
            <a:endParaRPr lang="en-US" sz="3600" dirty="0"/>
          </a:p>
        </p:txBody>
      </p:sp>
      <p:sp>
        <p:nvSpPr>
          <p:cNvPr id="4" name="Shape 2"/>
          <p:cNvSpPr/>
          <p:nvPr/>
        </p:nvSpPr>
        <p:spPr>
          <a:xfrm>
            <a:off x="815975" y="1989404"/>
            <a:ext cx="5124450" cy="2818342"/>
          </a:xfrm>
          <a:prstGeom prst="roundRect">
            <a:avLst>
              <a:gd name="adj" fmla="val 4394"/>
            </a:avLst>
          </a:prstGeom>
          <a:solidFill>
            <a:srgbClr val="FFFFFF"/>
          </a:solidFill>
          <a:ln w="6350">
            <a:solidFill>
              <a:srgbClr val="D5DEE8"/>
            </a:solidFill>
            <a:prstDash val="solid"/>
          </a:ln>
        </p:spPr>
      </p:sp>
      <p:sp>
        <p:nvSpPr>
          <p:cNvPr id="5" name="Text 3"/>
          <p:cNvSpPr/>
          <p:nvPr/>
        </p:nvSpPr>
        <p:spPr>
          <a:xfrm>
            <a:off x="1121833" y="2295261"/>
            <a:ext cx="46481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3776AB"/>
                </a:solidFill>
                <a:latin typeface="DM Sans" pitchFamily="34" charset="0"/>
                <a:ea typeface="DM Sans" pitchFamily="34" charset="-122"/>
                <a:cs typeface="DM Sans" pitchFamily="34" charset="-120"/>
              </a:rPr>
              <a:t>Many at once</a:t>
            </a:r>
            <a:endParaRPr lang="en-US" sz="2000" dirty="0"/>
          </a:p>
        </p:txBody>
      </p:sp>
      <p:sp>
        <p:nvSpPr>
          <p:cNvPr id="6" name="Text 4"/>
          <p:cNvSpPr/>
          <p:nvPr/>
        </p:nvSpPr>
        <p:spPr>
          <a:xfrm>
            <a:off x="1121833" y="2752461"/>
            <a:ext cx="4512733" cy="1016000"/>
          </a:xfrm>
          <a:prstGeom prst="roundRect">
            <a:avLst>
              <a:gd name="adj" fmla="val 10000"/>
            </a:avLst>
          </a:prstGeom>
          <a:solidFill>
            <a:srgbClr val="1F2A37"/>
          </a:solidFill>
          <a:ln/>
        </p:spPr>
        <p:txBody>
          <a:bodyPr wrap="square" lIns="224242" tIns="173442" rIns="104100" bIns="148042" rtlCol="0" anchor="t">
            <a:normAutofit/>
          </a:bodyPr>
          <a:lstStyle/>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x, y, z = 10, 20, 30</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print(x, y, z)</a:t>
            </a:r>
            <a:endParaRPr lang="en-US" sz="1500" dirty="0"/>
          </a:p>
        </p:txBody>
      </p:sp>
      <p:sp>
        <p:nvSpPr>
          <p:cNvPr id="7" name="Text 5"/>
          <p:cNvSpPr/>
          <p:nvPr/>
        </p:nvSpPr>
        <p:spPr>
          <a:xfrm>
            <a:off x="1121833" y="3920861"/>
            <a:ext cx="4648115"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Same as three separate lines.</a:t>
            </a:r>
            <a:endParaRPr lang="en-US" sz="1500" dirty="0"/>
          </a:p>
        </p:txBody>
      </p:sp>
      <p:sp>
        <p:nvSpPr>
          <p:cNvPr id="8" name="Shape 6"/>
          <p:cNvSpPr/>
          <p:nvPr/>
        </p:nvSpPr>
        <p:spPr>
          <a:xfrm>
            <a:off x="6251575" y="1989404"/>
            <a:ext cx="5124450" cy="2818342"/>
          </a:xfrm>
          <a:prstGeom prst="roundRect">
            <a:avLst>
              <a:gd name="adj" fmla="val 4394"/>
            </a:avLst>
          </a:prstGeom>
          <a:solidFill>
            <a:srgbClr val="FFFFFF"/>
          </a:solidFill>
          <a:ln w="6350">
            <a:solidFill>
              <a:srgbClr val="D5DEE8"/>
            </a:solidFill>
            <a:prstDash val="solid"/>
          </a:ln>
        </p:spPr>
      </p:sp>
      <p:sp>
        <p:nvSpPr>
          <p:cNvPr id="9" name="Text 7"/>
          <p:cNvSpPr/>
          <p:nvPr/>
        </p:nvSpPr>
        <p:spPr>
          <a:xfrm>
            <a:off x="6557434" y="2295261"/>
            <a:ext cx="46481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3776AB"/>
                </a:solidFill>
                <a:latin typeface="DM Sans" pitchFamily="34" charset="0"/>
                <a:ea typeface="DM Sans" pitchFamily="34" charset="-122"/>
                <a:cs typeface="DM Sans" pitchFamily="34" charset="-120"/>
              </a:rPr>
              <a:t>Change the value</a:t>
            </a:r>
            <a:endParaRPr lang="en-US" sz="2000" dirty="0"/>
          </a:p>
        </p:txBody>
      </p:sp>
      <p:sp>
        <p:nvSpPr>
          <p:cNvPr id="10" name="Text 8"/>
          <p:cNvSpPr/>
          <p:nvPr/>
        </p:nvSpPr>
        <p:spPr>
          <a:xfrm>
            <a:off x="6557434" y="2752461"/>
            <a:ext cx="4512733" cy="1320800"/>
          </a:xfrm>
          <a:prstGeom prst="roundRect">
            <a:avLst>
              <a:gd name="adj" fmla="val 7692"/>
            </a:avLst>
          </a:prstGeom>
          <a:solidFill>
            <a:srgbClr val="1F2A37"/>
          </a:solidFill>
          <a:ln/>
        </p:spPr>
        <p:txBody>
          <a:bodyPr wrap="square" lIns="224242" tIns="173442" rIns="104100" bIns="148042" rtlCol="0" anchor="t">
            <a:normAutofit/>
          </a:bodyPr>
          <a:lstStyle/>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score = 50</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score = 80     </a:t>
            </a:r>
            <a:r>
              <a:rPr lang="en-US" sz="1500" dirty="0">
                <a:solidFill>
                  <a:srgbClr val="93A1B3"/>
                </a:solidFill>
                <a:latin typeface="JetBrains Mono" pitchFamily="49" charset="0"/>
                <a:ea typeface="JetBrains Mono" pitchFamily="49" charset="-122"/>
                <a:cs typeface="JetBrains Mono" pitchFamily="49" charset="-120"/>
              </a:rPr>
              <a:t># replaced</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score += 10    </a:t>
            </a:r>
            <a:r>
              <a:rPr lang="en-US" sz="1500" dirty="0">
                <a:solidFill>
                  <a:srgbClr val="93A1B3"/>
                </a:solidFill>
                <a:latin typeface="JetBrains Mono" pitchFamily="49" charset="0"/>
                <a:ea typeface="JetBrains Mono" pitchFamily="49" charset="-122"/>
                <a:cs typeface="JetBrains Mono" pitchFamily="49" charset="-120"/>
              </a:rPr>
              <a:t># now 90</a:t>
            </a:r>
            <a:endParaRPr lang="en-US" sz="1500" dirty="0"/>
          </a:p>
        </p:txBody>
      </p:sp>
      <p:sp>
        <p:nvSpPr>
          <p:cNvPr id="11" name="Text 9"/>
          <p:cNvSpPr/>
          <p:nvPr/>
        </p:nvSpPr>
        <p:spPr>
          <a:xfrm>
            <a:off x="6557434" y="4225665"/>
            <a:ext cx="4648115" cy="30162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4A5568"/>
                </a:solidFill>
                <a:latin typeface="DM Sans" pitchFamily="34" charset="0"/>
                <a:ea typeface="DM Sans" pitchFamily="34" charset="-122"/>
                <a:cs typeface="DM Sans" pitchFamily="34" charset="-120"/>
              </a:rPr>
              <a:t>+=</a:t>
            </a:r>
            <a:r>
              <a:rPr lang="en-US" sz="1500" dirty="0">
                <a:solidFill>
                  <a:srgbClr val="4A5568"/>
                </a:solidFill>
                <a:latin typeface="DM Sans" pitchFamily="34" charset="0"/>
                <a:ea typeface="DM Sans" pitchFamily="34" charset="-122"/>
                <a:cs typeface="DM Sans" pitchFamily="34" charset="-120"/>
              </a:rPr>
              <a:t> is short for score = score + 10</a:t>
            </a:r>
            <a:endParaRPr lang="en-US" sz="15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2: variables &amp; data types</a:t>
            </a:r>
            <a:endParaRPr lang="en-US" sz="1200" dirty="0"/>
          </a:p>
        </p:txBody>
      </p:sp>
      <p:sp>
        <p:nvSpPr>
          <p:cNvPr id="13"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DATA TYPES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What kind of information is it?</a:t>
            </a:r>
            <a:endParaRPr lang="en-US" sz="3600" dirty="0"/>
          </a:p>
        </p:txBody>
      </p:sp>
      <p:sp>
        <p:nvSpPr>
          <p:cNvPr id="4" name="Shape 2"/>
          <p:cNvSpPr/>
          <p:nvPr/>
        </p:nvSpPr>
        <p:spPr>
          <a:xfrm>
            <a:off x="815975" y="1989404"/>
            <a:ext cx="2501900" cy="1637837"/>
          </a:xfrm>
          <a:prstGeom prst="roundRect">
            <a:avLst>
              <a:gd name="adj" fmla="val 7560"/>
            </a:avLst>
          </a:prstGeom>
          <a:solidFill>
            <a:srgbClr val="FFFFFF"/>
          </a:solidFill>
          <a:ln w="6350">
            <a:solidFill>
              <a:srgbClr val="D5DEE8"/>
            </a:solidFill>
            <a:prstDash val="solid"/>
          </a:ln>
        </p:spPr>
      </p:sp>
      <p:sp>
        <p:nvSpPr>
          <p:cNvPr id="5" name="Text 3"/>
          <p:cNvSpPr/>
          <p:nvPr/>
        </p:nvSpPr>
        <p:spPr>
          <a:xfrm>
            <a:off x="1071033" y="2244465"/>
            <a:ext cx="205153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776AB"/>
                </a:solidFill>
                <a:latin typeface="JetBrains Mono" pitchFamily="49" charset="0"/>
                <a:ea typeface="JetBrains Mono" pitchFamily="49" charset="-122"/>
                <a:cs typeface="JetBrains Mono" pitchFamily="49" charset="-120"/>
              </a:rPr>
              <a:t>int</a:t>
            </a:r>
            <a:endParaRPr lang="en-US" sz="2200" dirty="0"/>
          </a:p>
        </p:txBody>
      </p:sp>
      <p:sp>
        <p:nvSpPr>
          <p:cNvPr id="6" name="Text 4"/>
          <p:cNvSpPr/>
          <p:nvPr/>
        </p:nvSpPr>
        <p:spPr>
          <a:xfrm>
            <a:off x="1071033" y="2737185"/>
            <a:ext cx="20515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DM Sans" pitchFamily="34" charset="0"/>
                <a:ea typeface="DM Sans" pitchFamily="34" charset="-122"/>
                <a:cs typeface="DM Sans" pitchFamily="34" charset="-120"/>
              </a:rPr>
              <a:t>Whole number</a:t>
            </a:r>
            <a:endParaRPr lang="en-US" sz="1500" dirty="0"/>
          </a:p>
        </p:txBody>
      </p:sp>
      <p:sp>
        <p:nvSpPr>
          <p:cNvPr id="7" name="Text 5"/>
          <p:cNvSpPr/>
          <p:nvPr/>
        </p:nvSpPr>
        <p:spPr>
          <a:xfrm>
            <a:off x="1071033" y="3105485"/>
            <a:ext cx="205153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JetBrains Mono" pitchFamily="49" charset="0"/>
                <a:ea typeface="JetBrains Mono" pitchFamily="49" charset="-122"/>
                <a:cs typeface="JetBrains Mono" pitchFamily="49" charset="-120"/>
              </a:rPr>
              <a:t>10</a:t>
            </a:r>
            <a:endParaRPr lang="en-US" sz="1500" dirty="0"/>
          </a:p>
        </p:txBody>
      </p:sp>
      <p:sp>
        <p:nvSpPr>
          <p:cNvPr id="8" name="Shape 6"/>
          <p:cNvSpPr/>
          <p:nvPr/>
        </p:nvSpPr>
        <p:spPr>
          <a:xfrm>
            <a:off x="3502025" y="1989404"/>
            <a:ext cx="2501900" cy="1637837"/>
          </a:xfrm>
          <a:prstGeom prst="roundRect">
            <a:avLst>
              <a:gd name="adj" fmla="val 7560"/>
            </a:avLst>
          </a:prstGeom>
          <a:solidFill>
            <a:srgbClr val="FFFFFF"/>
          </a:solidFill>
          <a:ln w="6350">
            <a:solidFill>
              <a:srgbClr val="D5DEE8"/>
            </a:solidFill>
            <a:prstDash val="solid"/>
          </a:ln>
        </p:spPr>
      </p:sp>
      <p:sp>
        <p:nvSpPr>
          <p:cNvPr id="9" name="Text 7"/>
          <p:cNvSpPr/>
          <p:nvPr/>
        </p:nvSpPr>
        <p:spPr>
          <a:xfrm>
            <a:off x="3757083" y="2244465"/>
            <a:ext cx="205153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776AB"/>
                </a:solidFill>
                <a:latin typeface="JetBrains Mono" pitchFamily="49" charset="0"/>
                <a:ea typeface="JetBrains Mono" pitchFamily="49" charset="-122"/>
                <a:cs typeface="JetBrains Mono" pitchFamily="49" charset="-120"/>
              </a:rPr>
              <a:t>float</a:t>
            </a:r>
            <a:endParaRPr lang="en-US" sz="2200" dirty="0"/>
          </a:p>
        </p:txBody>
      </p:sp>
      <p:sp>
        <p:nvSpPr>
          <p:cNvPr id="10" name="Text 8"/>
          <p:cNvSpPr/>
          <p:nvPr/>
        </p:nvSpPr>
        <p:spPr>
          <a:xfrm>
            <a:off x="3757083" y="2737185"/>
            <a:ext cx="20515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DM Sans" pitchFamily="34" charset="0"/>
                <a:ea typeface="DM Sans" pitchFamily="34" charset="-122"/>
                <a:cs typeface="DM Sans" pitchFamily="34" charset="-120"/>
              </a:rPr>
              <a:t>Decimal</a:t>
            </a:r>
            <a:endParaRPr lang="en-US" sz="1500" dirty="0"/>
          </a:p>
        </p:txBody>
      </p:sp>
      <p:sp>
        <p:nvSpPr>
          <p:cNvPr id="11" name="Text 9"/>
          <p:cNvSpPr/>
          <p:nvPr/>
        </p:nvSpPr>
        <p:spPr>
          <a:xfrm>
            <a:off x="3757083" y="3105485"/>
            <a:ext cx="205153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JetBrains Mono" pitchFamily="49" charset="0"/>
                <a:ea typeface="JetBrains Mono" pitchFamily="49" charset="-122"/>
                <a:cs typeface="JetBrains Mono" pitchFamily="49" charset="-120"/>
              </a:rPr>
              <a:t>3.5</a:t>
            </a:r>
            <a:endParaRPr lang="en-US" sz="1500" dirty="0"/>
          </a:p>
        </p:txBody>
      </p:sp>
      <p:sp>
        <p:nvSpPr>
          <p:cNvPr id="12" name="Shape 10"/>
          <p:cNvSpPr/>
          <p:nvPr/>
        </p:nvSpPr>
        <p:spPr>
          <a:xfrm>
            <a:off x="6188075" y="1989404"/>
            <a:ext cx="2501900" cy="1637837"/>
          </a:xfrm>
          <a:prstGeom prst="roundRect">
            <a:avLst>
              <a:gd name="adj" fmla="val 7560"/>
            </a:avLst>
          </a:prstGeom>
          <a:solidFill>
            <a:srgbClr val="FFFFFF"/>
          </a:solidFill>
          <a:ln w="6350">
            <a:solidFill>
              <a:srgbClr val="D5DEE8"/>
            </a:solidFill>
            <a:prstDash val="solid"/>
          </a:ln>
        </p:spPr>
      </p:sp>
      <p:sp>
        <p:nvSpPr>
          <p:cNvPr id="13" name="Text 11"/>
          <p:cNvSpPr/>
          <p:nvPr/>
        </p:nvSpPr>
        <p:spPr>
          <a:xfrm>
            <a:off x="6443133" y="2244465"/>
            <a:ext cx="205153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776AB"/>
                </a:solidFill>
                <a:latin typeface="JetBrains Mono" pitchFamily="49" charset="0"/>
                <a:ea typeface="JetBrains Mono" pitchFamily="49" charset="-122"/>
                <a:cs typeface="JetBrains Mono" pitchFamily="49" charset="-120"/>
              </a:rPr>
              <a:t>str</a:t>
            </a:r>
            <a:endParaRPr lang="en-US" sz="2200" dirty="0"/>
          </a:p>
        </p:txBody>
      </p:sp>
      <p:sp>
        <p:nvSpPr>
          <p:cNvPr id="14" name="Text 12"/>
          <p:cNvSpPr/>
          <p:nvPr/>
        </p:nvSpPr>
        <p:spPr>
          <a:xfrm>
            <a:off x="6443133" y="2737185"/>
            <a:ext cx="20515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DM Sans" pitchFamily="34" charset="0"/>
                <a:ea typeface="DM Sans" pitchFamily="34" charset="-122"/>
                <a:cs typeface="DM Sans" pitchFamily="34" charset="-120"/>
              </a:rPr>
              <a:t>Text (string)</a:t>
            </a:r>
            <a:endParaRPr lang="en-US" sz="1500" dirty="0"/>
          </a:p>
        </p:txBody>
      </p:sp>
      <p:sp>
        <p:nvSpPr>
          <p:cNvPr id="15" name="Text 13"/>
          <p:cNvSpPr/>
          <p:nvPr/>
        </p:nvSpPr>
        <p:spPr>
          <a:xfrm>
            <a:off x="6443133" y="3105485"/>
            <a:ext cx="205153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JetBrains Mono" pitchFamily="49" charset="0"/>
                <a:ea typeface="JetBrains Mono" pitchFamily="49" charset="-122"/>
                <a:cs typeface="JetBrains Mono" pitchFamily="49" charset="-120"/>
              </a:rPr>
              <a:t>"Python"</a:t>
            </a:r>
            <a:endParaRPr lang="en-US" sz="1500" dirty="0"/>
          </a:p>
        </p:txBody>
      </p:sp>
      <p:sp>
        <p:nvSpPr>
          <p:cNvPr id="16" name="Shape 14"/>
          <p:cNvSpPr/>
          <p:nvPr/>
        </p:nvSpPr>
        <p:spPr>
          <a:xfrm>
            <a:off x="8874125" y="1989404"/>
            <a:ext cx="2501900" cy="1637837"/>
          </a:xfrm>
          <a:prstGeom prst="roundRect">
            <a:avLst>
              <a:gd name="adj" fmla="val 7560"/>
            </a:avLst>
          </a:prstGeom>
          <a:solidFill>
            <a:srgbClr val="FFFFFF"/>
          </a:solidFill>
          <a:ln w="6350">
            <a:solidFill>
              <a:srgbClr val="D5DEE8"/>
            </a:solidFill>
            <a:prstDash val="solid"/>
          </a:ln>
        </p:spPr>
      </p:sp>
      <p:sp>
        <p:nvSpPr>
          <p:cNvPr id="17" name="Text 15"/>
          <p:cNvSpPr/>
          <p:nvPr/>
        </p:nvSpPr>
        <p:spPr>
          <a:xfrm>
            <a:off x="9129184" y="2244465"/>
            <a:ext cx="205153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776AB"/>
                </a:solidFill>
                <a:latin typeface="JetBrains Mono" pitchFamily="49" charset="0"/>
                <a:ea typeface="JetBrains Mono" pitchFamily="49" charset="-122"/>
                <a:cs typeface="JetBrains Mono" pitchFamily="49" charset="-120"/>
              </a:rPr>
              <a:t>bool</a:t>
            </a:r>
            <a:endParaRPr lang="en-US" sz="2200" dirty="0"/>
          </a:p>
        </p:txBody>
      </p:sp>
      <p:sp>
        <p:nvSpPr>
          <p:cNvPr id="18" name="Text 16"/>
          <p:cNvSpPr/>
          <p:nvPr/>
        </p:nvSpPr>
        <p:spPr>
          <a:xfrm>
            <a:off x="9129184" y="2737185"/>
            <a:ext cx="20515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DM Sans" pitchFamily="34" charset="0"/>
                <a:ea typeface="DM Sans" pitchFamily="34" charset="-122"/>
                <a:cs typeface="DM Sans" pitchFamily="34" charset="-120"/>
              </a:rPr>
              <a:t>True or False</a:t>
            </a:r>
            <a:endParaRPr lang="en-US" sz="1500" dirty="0"/>
          </a:p>
        </p:txBody>
      </p:sp>
      <p:sp>
        <p:nvSpPr>
          <p:cNvPr id="19" name="Text 17"/>
          <p:cNvSpPr/>
          <p:nvPr/>
        </p:nvSpPr>
        <p:spPr>
          <a:xfrm>
            <a:off x="9129184" y="3105485"/>
            <a:ext cx="205153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JetBrains Mono" pitchFamily="49" charset="0"/>
                <a:ea typeface="JetBrains Mono" pitchFamily="49" charset="-122"/>
                <a:cs typeface="JetBrains Mono" pitchFamily="49" charset="-120"/>
              </a:rPr>
              <a:t>True</a:t>
            </a:r>
            <a:endParaRPr lang="en-US" sz="1500" dirty="0"/>
          </a:p>
        </p:txBody>
      </p:sp>
      <p:sp>
        <p:nvSpPr>
          <p:cNvPr id="20" name="Text 18"/>
          <p:cNvSpPr/>
          <p:nvPr/>
        </p:nvSpPr>
        <p:spPr>
          <a:xfrm>
            <a:off x="812800" y="3986014"/>
            <a:ext cx="5181600" cy="571500"/>
          </a:xfrm>
          <a:prstGeom prst="roundRect">
            <a:avLst>
              <a:gd name="adj" fmla="val 15556"/>
            </a:avLst>
          </a:prstGeom>
          <a:solidFill>
            <a:srgbClr val="EEF2F6"/>
          </a:solidFill>
          <a:ln/>
        </p:spPr>
        <p:txBody>
          <a:bodyPr wrap="square" lIns="177162" tIns="126362" rIns="33906" bIns="100962" rtlCol="0" anchor="t">
            <a:normAutofit/>
          </a:bodyPr>
          <a:lstStyle/>
          <a:p>
            <a:pPr algn="l" indent="0" marL="0">
              <a:lnSpc>
                <a:spcPts val="2100"/>
              </a:lnSpc>
              <a:buNone/>
            </a:pPr>
            <a:r>
              <a:rPr lang="en-US" sz="1500" dirty="0">
                <a:solidFill>
                  <a:srgbClr val="1F2A37"/>
                </a:solidFill>
                <a:latin typeface="JetBrains Mono" pitchFamily="49" charset="0"/>
                <a:ea typeface="JetBrains Mono" pitchFamily="49" charset="-122"/>
                <a:cs typeface="JetBrains Mono" pitchFamily="49" charset="-120"/>
              </a:rPr>
              <a:t>type(20) → int</a:t>
            </a:r>
            <a:endParaRPr lang="en-US" sz="1500" dirty="0"/>
          </a:p>
        </p:txBody>
      </p:sp>
      <p:sp>
        <p:nvSpPr>
          <p:cNvPr id="21" name="Text 19"/>
          <p:cNvSpPr/>
          <p:nvPr/>
        </p:nvSpPr>
        <p:spPr>
          <a:xfrm>
            <a:off x="6197600" y="3986014"/>
            <a:ext cx="5181600" cy="571500"/>
          </a:xfrm>
          <a:prstGeom prst="roundRect">
            <a:avLst>
              <a:gd name="adj" fmla="val 15556"/>
            </a:avLst>
          </a:prstGeom>
          <a:solidFill>
            <a:srgbClr val="EEF2F6"/>
          </a:solidFill>
          <a:ln/>
        </p:spPr>
        <p:txBody>
          <a:bodyPr wrap="square" lIns="177162" tIns="126362" rIns="33906" bIns="100962" rtlCol="0" anchor="t">
            <a:normAutofit/>
          </a:bodyPr>
          <a:lstStyle/>
          <a:p>
            <a:pPr algn="l" indent="0" marL="0">
              <a:lnSpc>
                <a:spcPts val="2100"/>
              </a:lnSpc>
              <a:buNone/>
            </a:pPr>
            <a:r>
              <a:rPr lang="en-US" sz="1500" dirty="0">
                <a:solidFill>
                  <a:srgbClr val="1F2A37"/>
                </a:solidFill>
                <a:latin typeface="JetBrains Mono" pitchFamily="49" charset="0"/>
                <a:ea typeface="JetBrains Mono" pitchFamily="49" charset="-122"/>
                <a:cs typeface="JetBrains Mono" pitchFamily="49" charset="-120"/>
              </a:rPr>
              <a:t>type("20") → str ⚠️</a:t>
            </a:r>
            <a:endParaRPr lang="en-US" sz="1500" dirty="0"/>
          </a:p>
        </p:txBody>
      </p:sp>
      <p:sp>
        <p:nvSpPr>
          <p:cNvPr id="22" name="Text 2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2: variables &amp; data types</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ARITHMETIC OPERATORS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Maths with a = 7 and b = 2</a:t>
            </a:r>
            <a:endParaRPr lang="en-US" sz="3600" dirty="0"/>
          </a:p>
        </p:txBody>
      </p:sp>
      <p:sp>
        <p:nvSpPr>
          <p:cNvPr id="4" name="Shape 2"/>
          <p:cNvSpPr/>
          <p:nvPr/>
        </p:nvSpPr>
        <p:spPr>
          <a:xfrm>
            <a:off x="815975" y="1938604"/>
            <a:ext cx="1416050" cy="1574337"/>
          </a:xfrm>
          <a:prstGeom prst="roundRect">
            <a:avLst>
              <a:gd name="adj" fmla="val 6951"/>
            </a:avLst>
          </a:prstGeom>
          <a:solidFill>
            <a:srgbClr val="FFFFFF"/>
          </a:solidFill>
          <a:ln w="6350">
            <a:solidFill>
              <a:srgbClr val="D5DEE8"/>
            </a:solidFill>
            <a:prstDash val="solid"/>
          </a:ln>
        </p:spPr>
      </p:sp>
      <p:sp>
        <p:nvSpPr>
          <p:cNvPr id="5" name="Text 3"/>
          <p:cNvSpPr/>
          <p:nvPr/>
        </p:nvSpPr>
        <p:spPr>
          <a:xfrm>
            <a:off x="1407120" y="2142865"/>
            <a:ext cx="233693" cy="452107"/>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3776AB"/>
                </a:solidFill>
                <a:latin typeface="JetBrains Mono" pitchFamily="49" charset="0"/>
                <a:ea typeface="JetBrains Mono" pitchFamily="49" charset="-122"/>
                <a:cs typeface="JetBrains Mono" pitchFamily="49" charset="-120"/>
              </a:rPr>
              <a:t>+</a:t>
            </a:r>
            <a:endParaRPr lang="en-US" sz="2400" dirty="0"/>
          </a:p>
        </p:txBody>
      </p:sp>
      <p:sp>
        <p:nvSpPr>
          <p:cNvPr id="6" name="Text 4"/>
          <p:cNvSpPr/>
          <p:nvPr/>
        </p:nvSpPr>
        <p:spPr>
          <a:xfrm>
            <a:off x="1345882" y="2645767"/>
            <a:ext cx="356235"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A5568"/>
                </a:solidFill>
                <a:latin typeface="DM Sans" pitchFamily="34" charset="0"/>
                <a:ea typeface="DM Sans" pitchFamily="34" charset="-122"/>
                <a:cs typeface="DM Sans" pitchFamily="34" charset="-120"/>
              </a:rPr>
              <a:t>add</a:t>
            </a:r>
            <a:endParaRPr lang="en-US" sz="1300" dirty="0"/>
          </a:p>
        </p:txBody>
      </p:sp>
      <p:sp>
        <p:nvSpPr>
          <p:cNvPr id="7" name="Text 5"/>
          <p:cNvSpPr/>
          <p:nvPr/>
        </p:nvSpPr>
        <p:spPr>
          <a:xfrm>
            <a:off x="1418034" y="2953085"/>
            <a:ext cx="211865"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F2A37"/>
                </a:solidFill>
                <a:latin typeface="DM Sans" pitchFamily="34" charset="0"/>
                <a:ea typeface="DM Sans" pitchFamily="34" charset="-122"/>
                <a:cs typeface="DM Sans" pitchFamily="34" charset="-120"/>
              </a:rPr>
              <a:t>9</a:t>
            </a:r>
            <a:endParaRPr lang="en-US" sz="2000" dirty="0"/>
          </a:p>
        </p:txBody>
      </p:sp>
      <p:sp>
        <p:nvSpPr>
          <p:cNvPr id="8" name="Shape 6"/>
          <p:cNvSpPr/>
          <p:nvPr/>
        </p:nvSpPr>
        <p:spPr>
          <a:xfrm>
            <a:off x="2339975" y="1938604"/>
            <a:ext cx="1416050" cy="1574337"/>
          </a:xfrm>
          <a:prstGeom prst="roundRect">
            <a:avLst>
              <a:gd name="adj" fmla="val 6951"/>
            </a:avLst>
          </a:prstGeom>
          <a:solidFill>
            <a:srgbClr val="FFFFFF"/>
          </a:solidFill>
          <a:ln w="6350">
            <a:solidFill>
              <a:srgbClr val="D5DEE8"/>
            </a:solidFill>
            <a:prstDash val="solid"/>
          </a:ln>
        </p:spPr>
      </p:sp>
      <p:sp>
        <p:nvSpPr>
          <p:cNvPr id="9" name="Text 7"/>
          <p:cNvSpPr/>
          <p:nvPr/>
        </p:nvSpPr>
        <p:spPr>
          <a:xfrm>
            <a:off x="2931120" y="2142865"/>
            <a:ext cx="233693" cy="452107"/>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3776AB"/>
                </a:solidFill>
                <a:latin typeface="JetBrains Mono" pitchFamily="49" charset="0"/>
                <a:ea typeface="JetBrains Mono" pitchFamily="49" charset="-122"/>
                <a:cs typeface="JetBrains Mono" pitchFamily="49" charset="-120"/>
              </a:rPr>
              <a:t>-</a:t>
            </a:r>
            <a:endParaRPr lang="en-US" sz="2400" dirty="0"/>
          </a:p>
        </p:txBody>
      </p:sp>
      <p:sp>
        <p:nvSpPr>
          <p:cNvPr id="10" name="Text 8"/>
          <p:cNvSpPr/>
          <p:nvPr/>
        </p:nvSpPr>
        <p:spPr>
          <a:xfrm>
            <a:off x="2657958" y="2645767"/>
            <a:ext cx="780018"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A5568"/>
                </a:solidFill>
                <a:latin typeface="DM Sans" pitchFamily="34" charset="0"/>
                <a:ea typeface="DM Sans" pitchFamily="34" charset="-122"/>
                <a:cs typeface="DM Sans" pitchFamily="34" charset="-120"/>
              </a:rPr>
              <a:t>subtract</a:t>
            </a:r>
            <a:endParaRPr lang="en-US" sz="1300" dirty="0"/>
          </a:p>
        </p:txBody>
      </p:sp>
      <p:sp>
        <p:nvSpPr>
          <p:cNvPr id="11" name="Text 9"/>
          <p:cNvSpPr/>
          <p:nvPr/>
        </p:nvSpPr>
        <p:spPr>
          <a:xfrm>
            <a:off x="2943688" y="2953085"/>
            <a:ext cx="208558"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F2A37"/>
                </a:solidFill>
                <a:latin typeface="DM Sans" pitchFamily="34" charset="0"/>
                <a:ea typeface="DM Sans" pitchFamily="34" charset="-122"/>
                <a:cs typeface="DM Sans" pitchFamily="34" charset="-120"/>
              </a:rPr>
              <a:t>5</a:t>
            </a:r>
            <a:endParaRPr lang="en-US" sz="2000" dirty="0"/>
          </a:p>
        </p:txBody>
      </p:sp>
      <p:sp>
        <p:nvSpPr>
          <p:cNvPr id="12" name="Shape 10"/>
          <p:cNvSpPr/>
          <p:nvPr/>
        </p:nvSpPr>
        <p:spPr>
          <a:xfrm>
            <a:off x="3863975" y="1938604"/>
            <a:ext cx="1416050" cy="1574337"/>
          </a:xfrm>
          <a:prstGeom prst="roundRect">
            <a:avLst>
              <a:gd name="adj" fmla="val 6951"/>
            </a:avLst>
          </a:prstGeom>
          <a:solidFill>
            <a:srgbClr val="FFFFFF"/>
          </a:solidFill>
          <a:ln w="6350">
            <a:solidFill>
              <a:srgbClr val="D5DEE8"/>
            </a:solidFill>
            <a:prstDash val="solid"/>
          </a:ln>
        </p:spPr>
      </p:sp>
      <p:sp>
        <p:nvSpPr>
          <p:cNvPr id="13" name="Text 11"/>
          <p:cNvSpPr/>
          <p:nvPr/>
        </p:nvSpPr>
        <p:spPr>
          <a:xfrm>
            <a:off x="4455120" y="2142865"/>
            <a:ext cx="233693" cy="452107"/>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3776AB"/>
                </a:solidFill>
                <a:latin typeface="JetBrains Mono" pitchFamily="49" charset="0"/>
                <a:ea typeface="JetBrains Mono" pitchFamily="49" charset="-122"/>
                <a:cs typeface="JetBrains Mono" pitchFamily="49" charset="-120"/>
              </a:rPr>
              <a:t>*</a:t>
            </a:r>
            <a:endParaRPr lang="en-US" sz="2400" dirty="0"/>
          </a:p>
        </p:txBody>
      </p:sp>
      <p:sp>
        <p:nvSpPr>
          <p:cNvPr id="14" name="Text 12"/>
          <p:cNvSpPr/>
          <p:nvPr/>
        </p:nvSpPr>
        <p:spPr>
          <a:xfrm>
            <a:off x="4203065" y="2645767"/>
            <a:ext cx="737870"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A5568"/>
                </a:solidFill>
                <a:latin typeface="DM Sans" pitchFamily="34" charset="0"/>
                <a:ea typeface="DM Sans" pitchFamily="34" charset="-122"/>
                <a:cs typeface="DM Sans" pitchFamily="34" charset="-120"/>
              </a:rPr>
              <a:t>multiply</a:t>
            </a:r>
            <a:endParaRPr lang="en-US" sz="1300" dirty="0"/>
          </a:p>
        </p:txBody>
      </p:sp>
      <p:sp>
        <p:nvSpPr>
          <p:cNvPr id="15" name="Text 13"/>
          <p:cNvSpPr/>
          <p:nvPr/>
        </p:nvSpPr>
        <p:spPr>
          <a:xfrm>
            <a:off x="4417457" y="2953085"/>
            <a:ext cx="309086"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F2A37"/>
                </a:solidFill>
                <a:latin typeface="DM Sans" pitchFamily="34" charset="0"/>
                <a:ea typeface="DM Sans" pitchFamily="34" charset="-122"/>
                <a:cs typeface="DM Sans" pitchFamily="34" charset="-120"/>
              </a:rPr>
              <a:t>14</a:t>
            </a:r>
            <a:endParaRPr lang="en-US" sz="2000" dirty="0"/>
          </a:p>
        </p:txBody>
      </p:sp>
      <p:sp>
        <p:nvSpPr>
          <p:cNvPr id="16" name="Shape 14"/>
          <p:cNvSpPr/>
          <p:nvPr/>
        </p:nvSpPr>
        <p:spPr>
          <a:xfrm>
            <a:off x="5387975" y="1938604"/>
            <a:ext cx="1416050" cy="1574337"/>
          </a:xfrm>
          <a:prstGeom prst="roundRect">
            <a:avLst>
              <a:gd name="adj" fmla="val 6951"/>
            </a:avLst>
          </a:prstGeom>
          <a:solidFill>
            <a:srgbClr val="FFFFFF"/>
          </a:solidFill>
          <a:ln w="6350">
            <a:solidFill>
              <a:srgbClr val="D5DEE8"/>
            </a:solidFill>
            <a:prstDash val="solid"/>
          </a:ln>
        </p:spPr>
      </p:sp>
      <p:sp>
        <p:nvSpPr>
          <p:cNvPr id="17" name="Text 15"/>
          <p:cNvSpPr/>
          <p:nvPr/>
        </p:nvSpPr>
        <p:spPr>
          <a:xfrm>
            <a:off x="5979120" y="2142865"/>
            <a:ext cx="233693" cy="452107"/>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3776AB"/>
                </a:solidFill>
                <a:latin typeface="JetBrains Mono" pitchFamily="49" charset="0"/>
                <a:ea typeface="JetBrains Mono" pitchFamily="49" charset="-122"/>
                <a:cs typeface="JetBrains Mono" pitchFamily="49" charset="-120"/>
              </a:rPr>
              <a:t>/</a:t>
            </a:r>
            <a:endParaRPr lang="en-US" sz="2400" dirty="0"/>
          </a:p>
        </p:txBody>
      </p:sp>
      <p:sp>
        <p:nvSpPr>
          <p:cNvPr id="18" name="Text 16"/>
          <p:cNvSpPr/>
          <p:nvPr/>
        </p:nvSpPr>
        <p:spPr>
          <a:xfrm>
            <a:off x="5815727" y="2645767"/>
            <a:ext cx="560546"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A5568"/>
                </a:solidFill>
                <a:latin typeface="DM Sans" pitchFamily="34" charset="0"/>
                <a:ea typeface="DM Sans" pitchFamily="34" charset="-122"/>
                <a:cs typeface="DM Sans" pitchFamily="34" charset="-120"/>
              </a:rPr>
              <a:t>divide</a:t>
            </a:r>
            <a:endParaRPr lang="en-US" sz="1300" dirty="0"/>
          </a:p>
        </p:txBody>
      </p:sp>
      <p:sp>
        <p:nvSpPr>
          <p:cNvPr id="19" name="Text 17"/>
          <p:cNvSpPr/>
          <p:nvPr/>
        </p:nvSpPr>
        <p:spPr>
          <a:xfrm>
            <a:off x="5871051" y="2953085"/>
            <a:ext cx="449898"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F2A37"/>
                </a:solidFill>
                <a:latin typeface="DM Sans" pitchFamily="34" charset="0"/>
                <a:ea typeface="DM Sans" pitchFamily="34" charset="-122"/>
                <a:cs typeface="DM Sans" pitchFamily="34" charset="-120"/>
              </a:rPr>
              <a:t>3.5</a:t>
            </a:r>
            <a:endParaRPr lang="en-US" sz="2000" dirty="0"/>
          </a:p>
        </p:txBody>
      </p:sp>
      <p:sp>
        <p:nvSpPr>
          <p:cNvPr id="20" name="Shape 18"/>
          <p:cNvSpPr/>
          <p:nvPr/>
        </p:nvSpPr>
        <p:spPr>
          <a:xfrm>
            <a:off x="6908800" y="1935429"/>
            <a:ext cx="1422400" cy="1580687"/>
          </a:xfrm>
          <a:prstGeom prst="roundRect">
            <a:avLst>
              <a:gd name="adj" fmla="val 7143"/>
            </a:avLst>
          </a:prstGeom>
          <a:solidFill>
            <a:srgbClr val="E3ECF6"/>
          </a:solidFill>
          <a:ln/>
        </p:spPr>
      </p:sp>
      <p:sp>
        <p:nvSpPr>
          <p:cNvPr id="21" name="Text 19"/>
          <p:cNvSpPr/>
          <p:nvPr/>
        </p:nvSpPr>
        <p:spPr>
          <a:xfrm>
            <a:off x="7400529" y="2138629"/>
            <a:ext cx="438944" cy="452107"/>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2F5F8A"/>
                </a:solidFill>
                <a:latin typeface="JetBrains Mono" pitchFamily="49" charset="0"/>
                <a:ea typeface="JetBrains Mono" pitchFamily="49" charset="-122"/>
                <a:cs typeface="JetBrains Mono" pitchFamily="49" charset="-120"/>
              </a:rPr>
              <a:t>//</a:t>
            </a:r>
            <a:endParaRPr lang="en-US" sz="2400" dirty="0"/>
          </a:p>
        </p:txBody>
      </p:sp>
      <p:sp>
        <p:nvSpPr>
          <p:cNvPr id="22" name="Text 20"/>
          <p:cNvSpPr/>
          <p:nvPr/>
        </p:nvSpPr>
        <p:spPr>
          <a:xfrm>
            <a:off x="7132565" y="2641538"/>
            <a:ext cx="974804"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F2A37"/>
                </a:solidFill>
                <a:latin typeface="DM Sans" pitchFamily="34" charset="0"/>
                <a:ea typeface="DM Sans" pitchFamily="34" charset="-122"/>
                <a:cs typeface="DM Sans" pitchFamily="34" charset="-120"/>
              </a:rPr>
              <a:t>whole part</a:t>
            </a:r>
            <a:endParaRPr lang="en-US" sz="1300" dirty="0"/>
          </a:p>
        </p:txBody>
      </p:sp>
      <p:sp>
        <p:nvSpPr>
          <p:cNvPr id="23" name="Text 21"/>
          <p:cNvSpPr/>
          <p:nvPr/>
        </p:nvSpPr>
        <p:spPr>
          <a:xfrm>
            <a:off x="7518003" y="2948849"/>
            <a:ext cx="203994"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F2A37"/>
                </a:solidFill>
                <a:latin typeface="DM Sans" pitchFamily="34" charset="0"/>
                <a:ea typeface="DM Sans" pitchFamily="34" charset="-122"/>
                <a:cs typeface="DM Sans" pitchFamily="34" charset="-120"/>
              </a:rPr>
              <a:t>3</a:t>
            </a:r>
            <a:endParaRPr lang="en-US" sz="2000" dirty="0"/>
          </a:p>
        </p:txBody>
      </p:sp>
      <p:sp>
        <p:nvSpPr>
          <p:cNvPr id="24" name="Shape 22"/>
          <p:cNvSpPr/>
          <p:nvPr/>
        </p:nvSpPr>
        <p:spPr>
          <a:xfrm>
            <a:off x="8432800" y="1935429"/>
            <a:ext cx="1422400" cy="1580687"/>
          </a:xfrm>
          <a:prstGeom prst="roundRect">
            <a:avLst>
              <a:gd name="adj" fmla="val 7143"/>
            </a:avLst>
          </a:prstGeom>
          <a:solidFill>
            <a:srgbClr val="E3ECF6"/>
          </a:solidFill>
          <a:ln/>
        </p:spPr>
      </p:sp>
      <p:sp>
        <p:nvSpPr>
          <p:cNvPr id="25" name="Text 23"/>
          <p:cNvSpPr/>
          <p:nvPr/>
        </p:nvSpPr>
        <p:spPr>
          <a:xfrm>
            <a:off x="9027120" y="2138629"/>
            <a:ext cx="233693" cy="452107"/>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2F5F8A"/>
                </a:solidFill>
                <a:latin typeface="JetBrains Mono" pitchFamily="49" charset="0"/>
                <a:ea typeface="JetBrains Mono" pitchFamily="49" charset="-122"/>
                <a:cs typeface="JetBrains Mono" pitchFamily="49" charset="-120"/>
              </a:rPr>
              <a:t>%</a:t>
            </a:r>
            <a:endParaRPr lang="en-US" sz="2400" dirty="0"/>
          </a:p>
        </p:txBody>
      </p:sp>
      <p:sp>
        <p:nvSpPr>
          <p:cNvPr id="26" name="Text 24"/>
          <p:cNvSpPr/>
          <p:nvPr/>
        </p:nvSpPr>
        <p:spPr>
          <a:xfrm>
            <a:off x="8675132" y="2641538"/>
            <a:ext cx="937736"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F2A37"/>
                </a:solidFill>
                <a:latin typeface="DM Sans" pitchFamily="34" charset="0"/>
                <a:ea typeface="DM Sans" pitchFamily="34" charset="-122"/>
                <a:cs typeface="DM Sans" pitchFamily="34" charset="-120"/>
              </a:rPr>
              <a:t>remainder</a:t>
            </a:r>
            <a:endParaRPr lang="en-US" sz="1300" dirty="0"/>
          </a:p>
        </p:txBody>
      </p:sp>
      <p:sp>
        <p:nvSpPr>
          <p:cNvPr id="27" name="Text 25"/>
          <p:cNvSpPr/>
          <p:nvPr/>
        </p:nvSpPr>
        <p:spPr>
          <a:xfrm>
            <a:off x="9072364" y="2948849"/>
            <a:ext cx="143272"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F2A37"/>
                </a:solidFill>
                <a:latin typeface="DM Sans" pitchFamily="34" charset="0"/>
                <a:ea typeface="DM Sans" pitchFamily="34" charset="-122"/>
                <a:cs typeface="DM Sans" pitchFamily="34" charset="-120"/>
              </a:rPr>
              <a:t>1</a:t>
            </a:r>
            <a:endParaRPr lang="en-US" sz="2000" dirty="0"/>
          </a:p>
        </p:txBody>
      </p:sp>
      <p:sp>
        <p:nvSpPr>
          <p:cNvPr id="28" name="Shape 26"/>
          <p:cNvSpPr/>
          <p:nvPr/>
        </p:nvSpPr>
        <p:spPr>
          <a:xfrm>
            <a:off x="9956800" y="1935429"/>
            <a:ext cx="1422400" cy="1580687"/>
          </a:xfrm>
          <a:prstGeom prst="roundRect">
            <a:avLst>
              <a:gd name="adj" fmla="val 7143"/>
            </a:avLst>
          </a:prstGeom>
          <a:solidFill>
            <a:srgbClr val="E3ECF6"/>
          </a:solidFill>
          <a:ln/>
        </p:spPr>
      </p:sp>
      <p:sp>
        <p:nvSpPr>
          <p:cNvPr id="29" name="Text 27"/>
          <p:cNvSpPr/>
          <p:nvPr/>
        </p:nvSpPr>
        <p:spPr>
          <a:xfrm>
            <a:off x="10448529" y="2138629"/>
            <a:ext cx="438944" cy="452107"/>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2F5F8A"/>
                </a:solidFill>
                <a:latin typeface="JetBrains Mono" pitchFamily="49" charset="0"/>
                <a:ea typeface="JetBrains Mono" pitchFamily="49" charset="-122"/>
                <a:cs typeface="JetBrains Mono" pitchFamily="49" charset="-120"/>
              </a:rPr>
              <a:t>**</a:t>
            </a:r>
            <a:endParaRPr lang="en-US" sz="2400" dirty="0"/>
          </a:p>
        </p:txBody>
      </p:sp>
      <p:sp>
        <p:nvSpPr>
          <p:cNvPr id="30" name="Text 28"/>
          <p:cNvSpPr/>
          <p:nvPr/>
        </p:nvSpPr>
        <p:spPr>
          <a:xfrm>
            <a:off x="10382488" y="2641538"/>
            <a:ext cx="571024"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F2A37"/>
                </a:solidFill>
                <a:latin typeface="DM Sans" pitchFamily="34" charset="0"/>
                <a:ea typeface="DM Sans" pitchFamily="34" charset="-122"/>
                <a:cs typeface="DM Sans" pitchFamily="34" charset="-120"/>
              </a:rPr>
              <a:t>power</a:t>
            </a:r>
            <a:endParaRPr lang="en-US" sz="1300" dirty="0"/>
          </a:p>
        </p:txBody>
      </p:sp>
      <p:sp>
        <p:nvSpPr>
          <p:cNvPr id="31" name="Text 29"/>
          <p:cNvSpPr/>
          <p:nvPr/>
        </p:nvSpPr>
        <p:spPr>
          <a:xfrm>
            <a:off x="10472268" y="2948849"/>
            <a:ext cx="391398"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F2A37"/>
                </a:solidFill>
                <a:latin typeface="DM Sans" pitchFamily="34" charset="0"/>
                <a:ea typeface="DM Sans" pitchFamily="34" charset="-122"/>
                <a:cs typeface="DM Sans" pitchFamily="34" charset="-120"/>
              </a:rPr>
              <a:t>49</a:t>
            </a:r>
            <a:endParaRPr lang="en-US" sz="2000" dirty="0"/>
          </a:p>
        </p:txBody>
      </p:sp>
      <p:sp>
        <p:nvSpPr>
          <p:cNvPr id="32" name="Text 30"/>
          <p:cNvSpPr/>
          <p:nvPr/>
        </p:nvSpPr>
        <p:spPr>
          <a:xfrm>
            <a:off x="812800" y="3820914"/>
            <a:ext cx="10883392" cy="320014"/>
          </a:xfrm>
          <a:prstGeom prst="rect">
            <a:avLst/>
          </a:prstGeom>
          <a:noFill/>
          <a:ln/>
        </p:spPr>
        <p:txBody>
          <a:bodyPr wrap="square" lIns="0" tIns="0" rIns="0" bIns="0" rtlCol="0" anchor="t">
            <a:normAutofit/>
          </a:bodyPr>
          <a:lstStyle/>
          <a:p>
            <a:pPr algn="l" indent="0" marL="0">
              <a:lnSpc>
                <a:spcPts val="2320"/>
              </a:lnSpc>
              <a:buNone/>
            </a:pPr>
            <a:r>
              <a:rPr lang="en-US" sz="1600" b="1" dirty="0">
                <a:solidFill>
                  <a:srgbClr val="4A5568"/>
                </a:solidFill>
                <a:latin typeface="DM Sans" pitchFamily="34" charset="0"/>
                <a:ea typeface="DM Sans" pitchFamily="34" charset="-122"/>
                <a:cs typeface="DM Sans" pitchFamily="34" charset="-120"/>
              </a:rPr>
              <a:t>%</a:t>
            </a:r>
            <a:r>
              <a:rPr lang="en-US" sz="1600" dirty="0">
                <a:solidFill>
                  <a:srgbClr val="4A5568"/>
                </a:solidFill>
                <a:latin typeface="DM Sans" pitchFamily="34" charset="0"/>
                <a:ea typeface="DM Sans" pitchFamily="34" charset="-122"/>
                <a:cs typeface="DM Sans" pitchFamily="34" charset="-120"/>
              </a:rPr>
              <a:t> is very useful: if </a:t>
            </a:r>
            <a:r>
              <a:rPr lang="en-US" sz="1600" b="1" dirty="0">
                <a:solidFill>
                  <a:srgbClr val="4A5568"/>
                </a:solidFill>
                <a:latin typeface="DM Sans" pitchFamily="34" charset="0"/>
                <a:ea typeface="DM Sans" pitchFamily="34" charset="-122"/>
                <a:cs typeface="DM Sans" pitchFamily="34" charset="-120"/>
              </a:rPr>
              <a:t>number % 2</a:t>
            </a:r>
            <a:r>
              <a:rPr lang="en-US" sz="1600" dirty="0">
                <a:solidFill>
                  <a:srgbClr val="4A5568"/>
                </a:solidFill>
                <a:latin typeface="DM Sans" pitchFamily="34" charset="0"/>
                <a:ea typeface="DM Sans" pitchFamily="34" charset="-122"/>
                <a:cs typeface="DM Sans" pitchFamily="34" charset="-120"/>
              </a:rPr>
              <a:t> is 0, the number is </a:t>
            </a:r>
            <a:r>
              <a:rPr lang="en-US" sz="1600" b="1" dirty="0">
                <a:solidFill>
                  <a:srgbClr val="4A5568"/>
                </a:solidFill>
                <a:latin typeface="DM Sans" pitchFamily="34" charset="0"/>
                <a:ea typeface="DM Sans" pitchFamily="34" charset="-122"/>
                <a:cs typeface="DM Sans" pitchFamily="34" charset="-120"/>
              </a:rPr>
              <a:t>even</a:t>
            </a:r>
            <a:r>
              <a:rPr lang="en-US" sz="1600" dirty="0">
                <a:solidFill>
                  <a:srgbClr val="4A5568"/>
                </a:solidFill>
                <a:latin typeface="DM Sans" pitchFamily="34" charset="0"/>
                <a:ea typeface="DM Sans" pitchFamily="34" charset="-122"/>
                <a:cs typeface="DM Sans" pitchFamily="34" charset="-120"/>
              </a:rPr>
              <a:t>. We use this on Day 3!</a:t>
            </a:r>
            <a:endParaRPr lang="en-US" sz="1600" dirty="0"/>
          </a:p>
        </p:txBody>
      </p:sp>
      <p:sp>
        <p:nvSpPr>
          <p:cNvPr id="33" name="Text 3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2: variables &amp; data types</a:t>
            </a:r>
            <a:endParaRPr lang="en-US" sz="1200" dirty="0"/>
          </a:p>
        </p:txBody>
      </p:sp>
      <p:sp>
        <p:nvSpPr>
          <p:cNvPr id="34" name="Text 3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INPUT()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Getting information from the user</a:t>
            </a:r>
            <a:endParaRPr lang="en-US" sz="3600" dirty="0"/>
          </a:p>
        </p:txBody>
      </p:sp>
      <p:sp>
        <p:nvSpPr>
          <p:cNvPr id="4" name="Text 2"/>
          <p:cNvSpPr/>
          <p:nvPr/>
        </p:nvSpPr>
        <p:spPr>
          <a:xfrm>
            <a:off x="812800" y="1986229"/>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8"/>
            <a:ext cx="6096000" cy="1259814"/>
          </a:xfrm>
          <a:prstGeom prst="roundRect">
            <a:avLst>
              <a:gd name="adj" fmla="val 10081"/>
            </a:avLst>
          </a:prstGeom>
          <a:solidFill>
            <a:srgbClr val="1F2A37"/>
          </a:solidFill>
          <a:ln/>
        </p:spPr>
        <p:txBody>
          <a:bodyPr wrap="square" lIns="318403" tIns="267603" rIns="156859" bIns="242203" rtlCol="0" anchor="t">
            <a:normAutofit/>
          </a:bodyPr>
          <a:lstStyle/>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name = input(</a:t>
            </a:r>
            <a:r>
              <a:rPr lang="en-US" sz="1600" dirty="0">
                <a:solidFill>
                  <a:srgbClr val="F2C94C"/>
                </a:solidFill>
                <a:latin typeface="JetBrains Mono" pitchFamily="49" charset="0"/>
                <a:ea typeface="JetBrains Mono" pitchFamily="49" charset="-122"/>
                <a:cs typeface="JetBrains Mono" pitchFamily="49" charset="-120"/>
              </a:rPr>
              <a:t>"What is your name? "</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a:t>
            </a:r>
            <a:r>
              <a:rPr lang="en-US" sz="1600" dirty="0">
                <a:solidFill>
                  <a:srgbClr val="F2C94C"/>
                </a:solidFill>
                <a:latin typeface="JetBrains Mono" pitchFamily="49" charset="0"/>
                <a:ea typeface="JetBrains Mono" pitchFamily="49" charset="-122"/>
                <a:cs typeface="JetBrains Mono" pitchFamily="49" charset="-120"/>
              </a:rPr>
              <a:t>"Hello"</a:t>
            </a:r>
            <a:r>
              <a:rPr lang="en-US" sz="1600" dirty="0">
                <a:solidFill>
                  <a:srgbClr val="E8EDF3"/>
                </a:solidFill>
                <a:latin typeface="JetBrains Mono" pitchFamily="49" charset="0"/>
                <a:ea typeface="JetBrains Mono" pitchFamily="49" charset="-122"/>
                <a:cs typeface="JetBrains Mono" pitchFamily="49" charset="-120"/>
              </a:rPr>
              <a:t>, name)</a:t>
            </a:r>
            <a:endParaRPr lang="en-US" sz="1600" dirty="0"/>
          </a:p>
        </p:txBody>
      </p:sp>
      <p:sp>
        <p:nvSpPr>
          <p:cNvPr id="6" name="Text 4"/>
          <p:cNvSpPr/>
          <p:nvPr/>
        </p:nvSpPr>
        <p:spPr>
          <a:xfrm>
            <a:off x="7315200" y="1986229"/>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7315200" y="2362138"/>
            <a:ext cx="4064000" cy="1219200"/>
          </a:xfrm>
          <a:prstGeom prst="roundRect">
            <a:avLst>
              <a:gd name="adj" fmla="val 10417"/>
            </a:avLst>
          </a:prstGeom>
          <a:solidFill>
            <a:srgbClr val="EEF2F6"/>
          </a:solidFill>
          <a:ln/>
        </p:spPr>
        <p:txBody>
          <a:bodyPr wrap="square" lIns="318403" tIns="267603" rIns="165495" bIns="242203" rtlCol="0" anchor="t">
            <a:normAutofit/>
          </a:bodyPr>
          <a:lstStyle/>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What is your name? Ali</a:t>
            </a:r>
            <a:endParaRPr lang="en-US" sz="1500" dirty="0"/>
          </a:p>
          <a:p>
            <a:pPr algn="l" indent="0" marL="0">
              <a:lnSpc>
                <a:spcPts val="2400"/>
              </a:lnSpc>
              <a:buNone/>
            </a:pPr>
            <a:r>
              <a:rPr lang="en-US" sz="1500" dirty="0">
                <a:solidFill>
                  <a:srgbClr val="1F2A37"/>
                </a:solidFill>
                <a:latin typeface="JetBrains Mono" pitchFamily="49" charset="0"/>
                <a:ea typeface="JetBrains Mono" pitchFamily="49" charset="-122"/>
                <a:cs typeface="JetBrains Mono" pitchFamily="49" charset="-120"/>
              </a:rPr>
              <a:t>Hello Ali</a:t>
            </a:r>
            <a:endParaRPr lang="en-US" sz="1500" dirty="0"/>
          </a:p>
        </p:txBody>
      </p:sp>
      <p:sp>
        <p:nvSpPr>
          <p:cNvPr id="8" name="Shape 6"/>
          <p:cNvSpPr/>
          <p:nvPr/>
        </p:nvSpPr>
        <p:spPr>
          <a:xfrm>
            <a:off x="7315200" y="2362138"/>
            <a:ext cx="4064000" cy="1219200"/>
          </a:xfrm>
          <a:custGeom>
            <a:avLst/>
            <a:gdLst/>
            <a:ahLst/>
            <a:cxnLst/>
            <a:rect l="l" t="t" r="r" b="b"/>
            <a:pathLst>
              <a:path w="4064000" h="1219200">
                <a:moveTo>
                  <a:pt x="127000" y="1219200"/>
                </a:moveTo>
                <a:lnTo>
                  <a:pt x="127000" y="1219200"/>
                </a:lnTo>
                <a:arcTo hR="127000" wR="127000" stAng="5400000" swAng="5400000"/>
                <a:lnTo>
                  <a:pt x="0" y="127000"/>
                </a:lnTo>
                <a:arcTo hR="127000" wR="127000" stAng="10800000" swAng="5400000"/>
                <a:lnTo>
                  <a:pt x="127000" y="0"/>
                </a:lnTo>
                <a:arcTo hR="127000" wR="76200" stAng="16200000" swAng="-5400000"/>
                <a:lnTo>
                  <a:pt x="50800" y="1092200"/>
                </a:lnTo>
                <a:arcTo hR="127000" wR="76200" stAng="10800000" swAng="-5400000"/>
                <a:close/>
              </a:path>
            </a:pathLst>
          </a:custGeom>
          <a:solidFill>
            <a:srgbClr val="3776AB"/>
          </a:solidFill>
          <a:ln/>
        </p:spPr>
      </p:sp>
      <p:sp>
        <p:nvSpPr>
          <p:cNvPr id="9" name="Text 7"/>
          <p:cNvSpPr/>
          <p:nvPr/>
        </p:nvSpPr>
        <p:spPr>
          <a:xfrm>
            <a:off x="812800" y="3977549"/>
            <a:ext cx="10883392" cy="614627"/>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DM Sans" pitchFamily="34" charset="0"/>
                <a:ea typeface="DM Sans" pitchFamily="34" charset="-122"/>
                <a:cs typeface="DM Sans" pitchFamily="34" charset="-120"/>
              </a:rPr>
              <a:t>The program </a:t>
            </a:r>
            <a:r>
              <a:rPr lang="en-US" sz="1600" b="1" dirty="0">
                <a:solidFill>
                  <a:srgbClr val="4A5568"/>
                </a:solidFill>
                <a:latin typeface="DM Sans" pitchFamily="34" charset="0"/>
                <a:ea typeface="DM Sans" pitchFamily="34" charset="-122"/>
                <a:cs typeface="DM Sans" pitchFamily="34" charset="-120"/>
              </a:rPr>
              <a:t>waits</a:t>
            </a:r>
            <a:r>
              <a:rPr lang="en-US" sz="1600" dirty="0">
                <a:solidFill>
                  <a:srgbClr val="4A5568"/>
                </a:solidFill>
                <a:latin typeface="DM Sans" pitchFamily="34" charset="0"/>
                <a:ea typeface="DM Sans" pitchFamily="34" charset="-122"/>
                <a:cs typeface="DM Sans" pitchFamily="34" charset="-120"/>
              </a:rPr>
              <a:t> until the user types and presses </a:t>
            </a:r>
            <a:r>
              <a:rPr lang="en-US" sz="1600" b="1" dirty="0">
                <a:solidFill>
                  <a:srgbClr val="4A5568"/>
                </a:solidFill>
                <a:latin typeface="DM Sans" pitchFamily="34" charset="0"/>
                <a:ea typeface="DM Sans" pitchFamily="34" charset="-122"/>
                <a:cs typeface="DM Sans" pitchFamily="34" charset="-120"/>
              </a:rPr>
              <a:t>Enter</a:t>
            </a:r>
            <a:r>
              <a:rPr lang="en-US" sz="1600" dirty="0">
                <a:solidFill>
                  <a:srgbClr val="4A5568"/>
                </a:solidFill>
                <a:latin typeface="DM Sans" pitchFamily="34" charset="0"/>
                <a:ea typeface="DM Sans" pitchFamily="34" charset="-122"/>
                <a:cs typeface="DM Sans" pitchFamily="34" charset="-120"/>
              </a:rPr>
              <a:t>. The text in the brackets is the question (the </a:t>
            </a:r>
            <a:r>
              <a:rPr lang="en-US" sz="1600" b="1" dirty="0">
                <a:solidFill>
                  <a:srgbClr val="4A5568"/>
                </a:solidFill>
                <a:latin typeface="DM Sans" pitchFamily="34" charset="0"/>
                <a:ea typeface="DM Sans" pitchFamily="34" charset="-122"/>
                <a:cs typeface="DM Sans" pitchFamily="34" charset="-120"/>
              </a:rPr>
              <a:t>prompt</a:t>
            </a:r>
            <a:r>
              <a:rPr lang="en-US" sz="1600" dirty="0">
                <a:solidFill>
                  <a:srgbClr val="4A5568"/>
                </a:solidFill>
                <a:latin typeface="DM Sans" pitchFamily="34" charset="0"/>
                <a:ea typeface="DM Sans" pitchFamily="34" charset="-122"/>
                <a:cs typeface="DM Sans" pitchFamily="34" charset="-120"/>
              </a:rPr>
              <a:t>).</a:t>
            </a:r>
            <a:endParaRPr lang="en-US" sz="16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2: variables &amp; data types</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F5F8A"/>
        </a:solidFill>
      </p:bgPr>
    </p:bg>
    <p:spTree>
      <p:nvGrpSpPr>
        <p:cNvPr id="1" name=""/>
        <p:cNvGrpSpPr/>
        <p:nvPr/>
      </p:nvGrpSpPr>
      <p:grpSpPr>
        <a:xfrm>
          <a:off x="0" y="0"/>
          <a:ext cx="0" cy="0"/>
          <a:chOff x="0" y="0"/>
          <a:chExt cx="0" cy="0"/>
        </a:xfrm>
      </p:grpSpPr>
      <p:sp>
        <p:nvSpPr>
          <p:cNvPr id="2" name="Text 0"/>
          <p:cNvSpPr/>
          <p:nvPr/>
        </p:nvSpPr>
        <p:spPr>
          <a:xfrm>
            <a:off x="812800" y="2046027"/>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FE0F1"/>
                </a:solidFill>
                <a:latin typeface="DM Sans" pitchFamily="34" charset="0"/>
                <a:ea typeface="DM Sans" pitchFamily="34" charset="-122"/>
                <a:cs typeface="DM Sans" pitchFamily="34" charset="-120"/>
              </a:rPr>
              <a:t>⚠️ VERY IMPORTANT</a:t>
            </a:r>
            <a:endParaRPr lang="en-US" sz="1200" dirty="0"/>
          </a:p>
        </p:txBody>
      </p:sp>
      <p:sp>
        <p:nvSpPr>
          <p:cNvPr id="3" name="Text 1"/>
          <p:cNvSpPr/>
          <p:nvPr>
            <p:ph type="title"/>
          </p:nvPr>
        </p:nvSpPr>
        <p:spPr>
          <a:xfrm>
            <a:off x="812800" y="2462547"/>
            <a:ext cx="5127752" cy="1305454"/>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AF9F6"/>
                </a:solidFill>
                <a:latin typeface="DM Sans" pitchFamily="34" charset="0"/>
                <a:ea typeface="DM Sans" pitchFamily="34" charset="-122"/>
                <a:cs typeface="DM Sans" pitchFamily="34" charset="-120"/>
              </a:rPr>
              <a:t>input() always gives text</a:t>
            </a:r>
            <a:endParaRPr lang="en-US" sz="4800" dirty="0"/>
          </a:p>
        </p:txBody>
      </p:sp>
      <p:sp>
        <p:nvSpPr>
          <p:cNvPr id="4" name="Text 2"/>
          <p:cNvSpPr/>
          <p:nvPr/>
        </p:nvSpPr>
        <p:spPr>
          <a:xfrm>
            <a:off x="812800" y="3945799"/>
            <a:ext cx="5127752" cy="688314"/>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E3ECF6"/>
                </a:solidFill>
                <a:latin typeface="DM Sans" pitchFamily="34" charset="0"/>
                <a:ea typeface="DM Sans" pitchFamily="34" charset="-122"/>
                <a:cs typeface="DM Sans" pitchFamily="34" charset="-120"/>
              </a:rPr>
              <a:t>Even if the user types a number, it’s stored as a </a:t>
            </a:r>
            <a:r>
              <a:rPr lang="en-US" sz="1800" b="1" dirty="0">
                <a:solidFill>
                  <a:srgbClr val="E3ECF6"/>
                </a:solidFill>
                <a:latin typeface="DM Sans" pitchFamily="34" charset="0"/>
                <a:ea typeface="DM Sans" pitchFamily="34" charset="-122"/>
                <a:cs typeface="DM Sans" pitchFamily="34" charset="-120"/>
              </a:rPr>
              <a:t>string</a:t>
            </a:r>
            <a:r>
              <a:rPr lang="en-US" sz="1800" dirty="0">
                <a:solidFill>
                  <a:srgbClr val="E3ECF6"/>
                </a:solidFill>
                <a:latin typeface="DM Sans" pitchFamily="34" charset="0"/>
                <a:ea typeface="DM Sans" pitchFamily="34" charset="-122"/>
                <a:cs typeface="DM Sans" pitchFamily="34" charset="-120"/>
              </a:rPr>
              <a:t>.</a:t>
            </a:r>
            <a:endParaRPr lang="en-US" sz="1800" dirty="0"/>
          </a:p>
        </p:txBody>
      </p:sp>
      <p:sp>
        <p:nvSpPr>
          <p:cNvPr id="5" name="Text 3"/>
          <p:cNvSpPr/>
          <p:nvPr/>
        </p:nvSpPr>
        <p:spPr>
          <a:xfrm>
            <a:off x="6400800" y="1752600"/>
            <a:ext cx="4978400" cy="3149600"/>
          </a:xfrm>
          <a:prstGeom prst="roundRect">
            <a:avLst>
              <a:gd name="adj" fmla="val 4839"/>
            </a:avLst>
          </a:prstGeom>
          <a:solidFill>
            <a:srgbClr val="1F2A37"/>
          </a:solidFill>
          <a:ln/>
        </p:spPr>
        <p:txBody>
          <a:bodyPr wrap="square" lIns="361764" tIns="310964" rIns="236796" bIns="285564" rtlCol="0" anchor="t">
            <a:normAutofit/>
          </a:bodyPr>
          <a:lstStyle/>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age = input(</a:t>
            </a:r>
            <a:r>
              <a:rPr lang="en-US" sz="1500" dirty="0">
                <a:solidFill>
                  <a:srgbClr val="F2C94C"/>
                </a:solidFill>
                <a:latin typeface="JetBrains Mono" pitchFamily="49" charset="0"/>
                <a:ea typeface="JetBrains Mono" pitchFamily="49" charset="-122"/>
                <a:cs typeface="JetBrains Mono" pitchFamily="49" charset="-120"/>
              </a:rPr>
              <a:t>"Age: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r>
              <a:rPr lang="en-US" sz="1500" dirty="0">
                <a:solidFill>
                  <a:srgbClr val="93A1B3"/>
                </a:solidFill>
                <a:latin typeface="JetBrains Mono" pitchFamily="49" charset="0"/>
                <a:ea typeface="JetBrains Mono" pitchFamily="49" charset="-122"/>
                <a:cs typeface="JetBrains Mono" pitchFamily="49" charset="-120"/>
              </a:rPr>
              <a:t># user types 20</a:t>
            </a:r>
            <a:endParaRPr lang="en-US" sz="1500" dirty="0"/>
          </a:p>
          <a:p>
            <a:pPr algn="l" indent="0" marL="0">
              <a:lnSpc>
                <a:spcPts val="2400"/>
              </a:lnSpc>
              <a:buNone/>
            </a:pP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print(type(age))</a:t>
            </a:r>
            <a:endParaRPr lang="en-US" sz="1500" dirty="0"/>
          </a:p>
          <a:p>
            <a:pPr algn="l" indent="0" marL="0">
              <a:lnSpc>
                <a:spcPts val="2400"/>
              </a:lnSpc>
              <a:buNone/>
            </a:pPr>
            <a:r>
              <a:rPr lang="en-US" sz="1500" dirty="0">
                <a:solidFill>
                  <a:srgbClr val="93A1B3"/>
                </a:solidFill>
                <a:latin typeface="JetBrains Mono" pitchFamily="49" charset="0"/>
                <a:ea typeface="JetBrains Mono" pitchFamily="49" charset="-122"/>
                <a:cs typeface="JetBrains Mono" pitchFamily="49" charset="-120"/>
              </a:rPr>
              <a:t># &lt;class 'str'&gt;</a:t>
            </a:r>
            <a:endParaRPr lang="en-US" sz="1500" dirty="0"/>
          </a:p>
          <a:p>
            <a:pPr algn="l" indent="0" marL="0">
              <a:lnSpc>
                <a:spcPts val="2400"/>
              </a:lnSpc>
              <a:buNone/>
            </a:pP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print(age + 5)</a:t>
            </a:r>
            <a:endParaRPr lang="en-US" sz="1500" dirty="0"/>
          </a:p>
          <a:p>
            <a:pPr algn="l" indent="0" marL="0">
              <a:lnSpc>
                <a:spcPts val="2400"/>
              </a:lnSpc>
              <a:buNone/>
            </a:pPr>
            <a:r>
              <a:rPr lang="en-US" sz="1500" dirty="0">
                <a:solidFill>
                  <a:srgbClr val="93A1B3"/>
                </a:solidFill>
                <a:latin typeface="JetBrains Mono" pitchFamily="49" charset="0"/>
                <a:ea typeface="JetBrains Mono" pitchFamily="49" charset="-122"/>
                <a:cs typeface="JetBrains Mono" pitchFamily="49" charset="-120"/>
              </a:rPr>
              <a:t># ❌ TypeError</a:t>
            </a:r>
            <a:endParaRPr lang="en-US" sz="1500" dirty="0"/>
          </a:p>
        </p:txBody>
      </p:sp>
      <p:sp>
        <p:nvSpPr>
          <p:cNvPr id="6"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E0F1"/>
                </a:solidFill>
                <a:latin typeface="DM Sans" pitchFamily="34" charset="0"/>
                <a:ea typeface="DM Sans" pitchFamily="34" charset="-122"/>
                <a:cs typeface="DM Sans" pitchFamily="34" charset="-120"/>
              </a:rPr>
              <a:t>Python for Beginners · Day 2: variables &amp; data types</a:t>
            </a:r>
            <a:endParaRPr lang="en-US" sz="1200" dirty="0"/>
          </a:p>
        </p:txBody>
      </p:sp>
      <p:sp>
        <p:nvSpPr>
          <p:cNvPr id="7"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FE0F1"/>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TYPE CONVERSION</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Turn text into a number</a:t>
            </a:r>
            <a:endParaRPr lang="en-US" sz="3600" dirty="0"/>
          </a:p>
        </p:txBody>
      </p:sp>
      <p:sp>
        <p:nvSpPr>
          <p:cNvPr id="4" name="Shape 2"/>
          <p:cNvSpPr/>
          <p:nvPr/>
        </p:nvSpPr>
        <p:spPr>
          <a:xfrm>
            <a:off x="815975" y="1938604"/>
            <a:ext cx="3397250" cy="1035844"/>
          </a:xfrm>
          <a:prstGeom prst="roundRect">
            <a:avLst>
              <a:gd name="adj" fmla="val 11954"/>
            </a:avLst>
          </a:prstGeom>
          <a:solidFill>
            <a:srgbClr val="FFFFFF"/>
          </a:solidFill>
          <a:ln w="6350">
            <a:solidFill>
              <a:srgbClr val="D5DEE8"/>
            </a:solidFill>
            <a:prstDash val="solid"/>
          </a:ln>
        </p:spPr>
      </p:sp>
      <p:sp>
        <p:nvSpPr>
          <p:cNvPr id="5" name="Text 3"/>
          <p:cNvSpPr/>
          <p:nvPr/>
        </p:nvSpPr>
        <p:spPr>
          <a:xfrm>
            <a:off x="1045633" y="2142865"/>
            <a:ext cx="3026071"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3776AB"/>
                </a:solidFill>
                <a:latin typeface="JetBrains Mono" pitchFamily="49" charset="0"/>
                <a:ea typeface="JetBrains Mono" pitchFamily="49" charset="-122"/>
                <a:cs typeface="JetBrains Mono" pitchFamily="49" charset="-120"/>
              </a:rPr>
              <a:t>int("20")</a:t>
            </a:r>
            <a:endParaRPr lang="en-US" sz="1700" dirty="0"/>
          </a:p>
        </p:txBody>
      </p:sp>
      <p:sp>
        <p:nvSpPr>
          <p:cNvPr id="6" name="Text 4"/>
          <p:cNvSpPr/>
          <p:nvPr/>
        </p:nvSpPr>
        <p:spPr>
          <a:xfrm>
            <a:off x="1045633" y="2521285"/>
            <a:ext cx="3026071"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 20 (whole number)</a:t>
            </a:r>
            <a:endParaRPr lang="en-US" sz="1400" dirty="0"/>
          </a:p>
        </p:txBody>
      </p:sp>
      <p:sp>
        <p:nvSpPr>
          <p:cNvPr id="7" name="Shape 5"/>
          <p:cNvSpPr/>
          <p:nvPr/>
        </p:nvSpPr>
        <p:spPr>
          <a:xfrm>
            <a:off x="4397375" y="1938604"/>
            <a:ext cx="3397250" cy="1035844"/>
          </a:xfrm>
          <a:prstGeom prst="roundRect">
            <a:avLst>
              <a:gd name="adj" fmla="val 11954"/>
            </a:avLst>
          </a:prstGeom>
          <a:solidFill>
            <a:srgbClr val="FFFFFF"/>
          </a:solidFill>
          <a:ln w="6350">
            <a:solidFill>
              <a:srgbClr val="D5DEE8"/>
            </a:solidFill>
            <a:prstDash val="solid"/>
          </a:ln>
        </p:spPr>
      </p:sp>
      <p:sp>
        <p:nvSpPr>
          <p:cNvPr id="8" name="Text 6"/>
          <p:cNvSpPr/>
          <p:nvPr/>
        </p:nvSpPr>
        <p:spPr>
          <a:xfrm>
            <a:off x="4627033" y="2142865"/>
            <a:ext cx="3026071"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3776AB"/>
                </a:solidFill>
                <a:latin typeface="JetBrains Mono" pitchFamily="49" charset="0"/>
                <a:ea typeface="JetBrains Mono" pitchFamily="49" charset="-122"/>
                <a:cs typeface="JetBrains Mono" pitchFamily="49" charset="-120"/>
              </a:rPr>
              <a:t>float("3.5")</a:t>
            </a:r>
            <a:endParaRPr lang="en-US" sz="1700" dirty="0"/>
          </a:p>
        </p:txBody>
      </p:sp>
      <p:sp>
        <p:nvSpPr>
          <p:cNvPr id="9" name="Text 7"/>
          <p:cNvSpPr/>
          <p:nvPr/>
        </p:nvSpPr>
        <p:spPr>
          <a:xfrm>
            <a:off x="4627033" y="2521285"/>
            <a:ext cx="3026071"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 3.5 (decimal)</a:t>
            </a:r>
            <a:endParaRPr lang="en-US" sz="1400" dirty="0"/>
          </a:p>
        </p:txBody>
      </p:sp>
      <p:sp>
        <p:nvSpPr>
          <p:cNvPr id="10" name="Shape 8"/>
          <p:cNvSpPr/>
          <p:nvPr/>
        </p:nvSpPr>
        <p:spPr>
          <a:xfrm>
            <a:off x="7978775" y="1938604"/>
            <a:ext cx="3397250" cy="1035844"/>
          </a:xfrm>
          <a:prstGeom prst="roundRect">
            <a:avLst>
              <a:gd name="adj" fmla="val 11954"/>
            </a:avLst>
          </a:prstGeom>
          <a:solidFill>
            <a:srgbClr val="FFFFFF"/>
          </a:solidFill>
          <a:ln w="6350">
            <a:solidFill>
              <a:srgbClr val="D5DEE8"/>
            </a:solidFill>
            <a:prstDash val="solid"/>
          </a:ln>
        </p:spPr>
      </p:sp>
      <p:sp>
        <p:nvSpPr>
          <p:cNvPr id="11" name="Text 9"/>
          <p:cNvSpPr/>
          <p:nvPr/>
        </p:nvSpPr>
        <p:spPr>
          <a:xfrm>
            <a:off x="8208434" y="2142865"/>
            <a:ext cx="3026071"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3776AB"/>
                </a:solidFill>
                <a:latin typeface="JetBrains Mono" pitchFamily="49" charset="0"/>
                <a:ea typeface="JetBrains Mono" pitchFamily="49" charset="-122"/>
                <a:cs typeface="JetBrains Mono" pitchFamily="49" charset="-120"/>
              </a:rPr>
              <a:t>str(20)</a:t>
            </a:r>
            <a:endParaRPr lang="en-US" sz="1700" dirty="0"/>
          </a:p>
        </p:txBody>
      </p:sp>
      <p:sp>
        <p:nvSpPr>
          <p:cNvPr id="12" name="Text 10"/>
          <p:cNvSpPr/>
          <p:nvPr/>
        </p:nvSpPr>
        <p:spPr>
          <a:xfrm>
            <a:off x="8208434" y="2521285"/>
            <a:ext cx="3026071"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 "20" (text)</a:t>
            </a:r>
            <a:endParaRPr lang="en-US" sz="1400" dirty="0"/>
          </a:p>
        </p:txBody>
      </p:sp>
      <p:sp>
        <p:nvSpPr>
          <p:cNvPr id="13" name="Text 11"/>
          <p:cNvSpPr/>
          <p:nvPr/>
        </p:nvSpPr>
        <p:spPr>
          <a:xfrm>
            <a:off x="812800" y="3282423"/>
            <a:ext cx="6126427" cy="1117600"/>
          </a:xfrm>
          <a:prstGeom prst="roundRect">
            <a:avLst>
              <a:gd name="adj" fmla="val 11364"/>
            </a:avLst>
          </a:prstGeom>
          <a:solidFill>
            <a:srgbClr val="1F2A37"/>
          </a:solidFill>
          <a:ln/>
        </p:spPr>
        <p:txBody>
          <a:bodyPr wrap="square" lIns="267603" tIns="216803" rIns="102098" bIns="191403" rtlCol="0" anchor="t">
            <a:normAutofit/>
          </a:bodyPr>
          <a:lstStyle/>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age = int(input(</a:t>
            </a:r>
            <a:r>
              <a:rPr lang="en-US" sz="1500" dirty="0">
                <a:solidFill>
                  <a:srgbClr val="F2C94C"/>
                </a:solidFill>
                <a:latin typeface="JetBrains Mono" pitchFamily="49" charset="0"/>
                <a:ea typeface="JetBrains Mono" pitchFamily="49" charset="-122"/>
                <a:cs typeface="JetBrains Mono" pitchFamily="49" charset="-120"/>
              </a:rPr>
              <a:t>"Age: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a:t>
            </a:r>
            <a:r>
              <a:rPr lang="en-US" sz="1500" dirty="0">
                <a:solidFill>
                  <a:srgbClr val="F2C94C"/>
                </a:solidFill>
                <a:latin typeface="JetBrains Mono" pitchFamily="49" charset="0"/>
                <a:ea typeface="JetBrains Mono" pitchFamily="49" charset="-122"/>
                <a:cs typeface="JetBrains Mono" pitchFamily="49" charset="-120"/>
              </a:rPr>
              <a:t>"Next year:"</a:t>
            </a:r>
            <a:r>
              <a:rPr lang="en-US" sz="1500" dirty="0">
                <a:solidFill>
                  <a:srgbClr val="E8EDF3"/>
                </a:solidFill>
                <a:latin typeface="JetBrains Mono" pitchFamily="49" charset="0"/>
                <a:ea typeface="JetBrains Mono" pitchFamily="49" charset="-122"/>
                <a:cs typeface="JetBrains Mono" pitchFamily="49" charset="-120"/>
              </a:rPr>
              <a:t>, age + 1)</a:t>
            </a:r>
            <a:endParaRPr lang="en-US" sz="1500" dirty="0"/>
          </a:p>
        </p:txBody>
      </p:sp>
      <p:sp>
        <p:nvSpPr>
          <p:cNvPr id="14" name="Text 12"/>
          <p:cNvSpPr/>
          <p:nvPr/>
        </p:nvSpPr>
        <p:spPr>
          <a:xfrm>
            <a:off x="7294828" y="3564998"/>
            <a:ext cx="4206836"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Read it </a:t>
            </a:r>
            <a:r>
              <a:rPr lang="en-US" sz="1500" b="1" dirty="0">
                <a:solidFill>
                  <a:srgbClr val="4A5568"/>
                </a:solidFill>
                <a:latin typeface="DM Sans" pitchFamily="34" charset="0"/>
                <a:ea typeface="DM Sans" pitchFamily="34" charset="-122"/>
                <a:cs typeface="DM Sans" pitchFamily="34" charset="-120"/>
              </a:rPr>
              <a:t>inside-out</a:t>
            </a:r>
            <a:r>
              <a:rPr lang="en-US" sz="1500" dirty="0">
                <a:solidFill>
                  <a:srgbClr val="4A5568"/>
                </a:solidFill>
                <a:latin typeface="DM Sans" pitchFamily="34" charset="0"/>
                <a:ea typeface="DM Sans" pitchFamily="34" charset="-122"/>
                <a:cs typeface="DM Sans" pitchFamily="34" charset="-120"/>
              </a:rPr>
              <a:t>: input() gets "20" → int() makes it 20 → stored in age.</a:t>
            </a:r>
            <a:endParaRPr lang="en-US" sz="1500" dirty="0"/>
          </a:p>
        </p:txBody>
      </p:sp>
      <p:sp>
        <p:nvSpPr>
          <p:cNvPr id="15" name="Text 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2: variables &amp; data types</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TEXT + VARIABLES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Three ways to combine them</a:t>
            </a:r>
            <a:endParaRPr lang="en-US" sz="3600" dirty="0"/>
          </a:p>
        </p:txBody>
      </p:sp>
      <p:sp>
        <p:nvSpPr>
          <p:cNvPr id="4" name="Shape 2"/>
          <p:cNvSpPr/>
          <p:nvPr/>
        </p:nvSpPr>
        <p:spPr>
          <a:xfrm>
            <a:off x="815975" y="1989404"/>
            <a:ext cx="3380317" cy="2069571"/>
          </a:xfrm>
          <a:prstGeom prst="roundRect">
            <a:avLst>
              <a:gd name="adj" fmla="val 5983"/>
            </a:avLst>
          </a:prstGeom>
          <a:solidFill>
            <a:srgbClr val="FFFFFF"/>
          </a:solidFill>
          <a:ln w="6350">
            <a:solidFill>
              <a:srgbClr val="D5DEE8"/>
            </a:solidFill>
            <a:prstDash val="solid"/>
          </a:ln>
        </p:spPr>
      </p:sp>
      <p:sp>
        <p:nvSpPr>
          <p:cNvPr id="5" name="Text 3"/>
          <p:cNvSpPr/>
          <p:nvPr/>
        </p:nvSpPr>
        <p:spPr>
          <a:xfrm>
            <a:off x="1071033" y="2244465"/>
            <a:ext cx="2956306"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3776AB"/>
                </a:solidFill>
                <a:latin typeface="DM Sans" pitchFamily="34" charset="0"/>
                <a:ea typeface="DM Sans" pitchFamily="34" charset="-122"/>
                <a:cs typeface="DM Sans" pitchFamily="34" charset="-120"/>
              </a:rPr>
              <a:t>1. Commas ✅</a:t>
            </a:r>
            <a:endParaRPr lang="en-US" sz="1700" dirty="0"/>
          </a:p>
        </p:txBody>
      </p:sp>
      <p:sp>
        <p:nvSpPr>
          <p:cNvPr id="6" name="Text 4"/>
          <p:cNvSpPr/>
          <p:nvPr/>
        </p:nvSpPr>
        <p:spPr>
          <a:xfrm>
            <a:off x="1071033" y="2630488"/>
            <a:ext cx="2870200" cy="548614"/>
          </a:xfrm>
          <a:prstGeom prst="roundRect">
            <a:avLst>
              <a:gd name="adj" fmla="val 13890"/>
            </a:avLst>
          </a:prstGeom>
          <a:solidFill>
            <a:srgbClr val="1F2A37"/>
          </a:solidFill>
          <a:ln/>
        </p:spPr>
        <p:txBody>
          <a:bodyPr wrap="square" lIns="155482" tIns="130082" rIns="80044" bIns="104682" rtlCol="0" anchor="t">
            <a:normAutofit/>
          </a:bodyPr>
          <a:lstStyle/>
          <a:p>
            <a:pPr algn="l" indent="0" marL="0">
              <a:lnSpc>
                <a:spcPts val="1920"/>
              </a:lnSpc>
              <a:buNone/>
            </a:pPr>
            <a:r>
              <a:rPr lang="en-US" sz="1200" dirty="0">
                <a:solidFill>
                  <a:srgbClr val="E8EDF3"/>
                </a:solidFill>
                <a:latin typeface="JetBrains Mono" pitchFamily="49" charset="0"/>
                <a:ea typeface="JetBrains Mono" pitchFamily="49" charset="-122"/>
                <a:cs typeface="JetBrains Mono" pitchFamily="49" charset="-120"/>
              </a:rPr>
              <a:t>print(</a:t>
            </a:r>
            <a:r>
              <a:rPr lang="en-US" sz="1200" dirty="0">
                <a:solidFill>
                  <a:srgbClr val="F2C94C"/>
                </a:solidFill>
                <a:latin typeface="JetBrains Mono" pitchFamily="49" charset="0"/>
                <a:ea typeface="JetBrains Mono" pitchFamily="49" charset="-122"/>
                <a:cs typeface="JetBrains Mono" pitchFamily="49" charset="-120"/>
              </a:rPr>
              <a:t>"Age:"</a:t>
            </a:r>
            <a:r>
              <a:rPr lang="en-US" sz="1200" dirty="0">
                <a:solidFill>
                  <a:srgbClr val="E8EDF3"/>
                </a:solidFill>
                <a:latin typeface="JetBrains Mono" pitchFamily="49" charset="0"/>
                <a:ea typeface="JetBrains Mono" pitchFamily="49" charset="-122"/>
                <a:cs typeface="JetBrains Mono" pitchFamily="49" charset="-120"/>
              </a:rPr>
              <a:t>, age)</a:t>
            </a:r>
            <a:endParaRPr lang="en-US" sz="1200" dirty="0"/>
          </a:p>
        </p:txBody>
      </p:sp>
      <p:sp>
        <p:nvSpPr>
          <p:cNvPr id="7" name="Text 5"/>
          <p:cNvSpPr/>
          <p:nvPr/>
        </p:nvSpPr>
        <p:spPr>
          <a:xfrm>
            <a:off x="1071033" y="3306105"/>
            <a:ext cx="295630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Easiest. Adds spaces for you.</a:t>
            </a:r>
            <a:endParaRPr lang="en-US" sz="1400" dirty="0"/>
          </a:p>
        </p:txBody>
      </p:sp>
      <p:sp>
        <p:nvSpPr>
          <p:cNvPr id="8" name="Shape 6"/>
          <p:cNvSpPr/>
          <p:nvPr/>
        </p:nvSpPr>
        <p:spPr>
          <a:xfrm>
            <a:off x="4405842" y="1989404"/>
            <a:ext cx="3380317" cy="2069571"/>
          </a:xfrm>
          <a:prstGeom prst="roundRect">
            <a:avLst>
              <a:gd name="adj" fmla="val 5983"/>
            </a:avLst>
          </a:prstGeom>
          <a:solidFill>
            <a:srgbClr val="FFFFFF"/>
          </a:solidFill>
          <a:ln w="6350">
            <a:solidFill>
              <a:srgbClr val="D5DEE8"/>
            </a:solidFill>
            <a:prstDash val="solid"/>
          </a:ln>
        </p:spPr>
      </p:sp>
      <p:sp>
        <p:nvSpPr>
          <p:cNvPr id="9" name="Text 7"/>
          <p:cNvSpPr/>
          <p:nvPr/>
        </p:nvSpPr>
        <p:spPr>
          <a:xfrm>
            <a:off x="4660900" y="2244465"/>
            <a:ext cx="2956306"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3776AB"/>
                </a:solidFill>
                <a:latin typeface="DM Sans" pitchFamily="34" charset="0"/>
                <a:ea typeface="DM Sans" pitchFamily="34" charset="-122"/>
                <a:cs typeface="DM Sans" pitchFamily="34" charset="-120"/>
              </a:rPr>
              <a:t>2. Plus +</a:t>
            </a:r>
            <a:endParaRPr lang="en-US" sz="1700" dirty="0"/>
          </a:p>
        </p:txBody>
      </p:sp>
      <p:sp>
        <p:nvSpPr>
          <p:cNvPr id="10" name="Text 8"/>
          <p:cNvSpPr/>
          <p:nvPr/>
        </p:nvSpPr>
        <p:spPr>
          <a:xfrm>
            <a:off x="4660900" y="2630488"/>
            <a:ext cx="2870200" cy="548614"/>
          </a:xfrm>
          <a:prstGeom prst="roundRect">
            <a:avLst>
              <a:gd name="adj" fmla="val 13890"/>
            </a:avLst>
          </a:prstGeom>
          <a:solidFill>
            <a:srgbClr val="1F2A37"/>
          </a:solidFill>
          <a:ln/>
        </p:spPr>
        <p:txBody>
          <a:bodyPr wrap="square" lIns="155482" tIns="130082" rIns="80044" bIns="104682" rtlCol="0" anchor="t">
            <a:normAutofit/>
          </a:bodyPr>
          <a:lstStyle/>
          <a:p>
            <a:pPr algn="l" indent="0" marL="0">
              <a:lnSpc>
                <a:spcPts val="1920"/>
              </a:lnSpc>
              <a:buNone/>
            </a:pPr>
            <a:r>
              <a:rPr lang="en-US" sz="1200" dirty="0">
                <a:solidFill>
                  <a:srgbClr val="E8EDF3"/>
                </a:solidFill>
                <a:latin typeface="JetBrains Mono" pitchFamily="49" charset="0"/>
                <a:ea typeface="JetBrains Mono" pitchFamily="49" charset="-122"/>
                <a:cs typeface="JetBrains Mono" pitchFamily="49" charset="-120"/>
              </a:rPr>
              <a:t>print(</a:t>
            </a:r>
            <a:r>
              <a:rPr lang="en-US" sz="1200" dirty="0">
                <a:solidFill>
                  <a:srgbClr val="F2C94C"/>
                </a:solidFill>
                <a:latin typeface="JetBrains Mono" pitchFamily="49" charset="0"/>
                <a:ea typeface="JetBrains Mono" pitchFamily="49" charset="-122"/>
                <a:cs typeface="JetBrains Mono" pitchFamily="49" charset="-120"/>
              </a:rPr>
              <a:t>"Age: "</a:t>
            </a:r>
            <a:r>
              <a:rPr lang="en-US" sz="1200" dirty="0">
                <a:solidFill>
                  <a:srgbClr val="E8EDF3"/>
                </a:solidFill>
                <a:latin typeface="JetBrains Mono" pitchFamily="49" charset="0"/>
                <a:ea typeface="JetBrains Mono" pitchFamily="49" charset="-122"/>
                <a:cs typeface="JetBrains Mono" pitchFamily="49" charset="-120"/>
              </a:rPr>
              <a:t> + str(age))</a:t>
            </a:r>
            <a:endParaRPr lang="en-US" sz="1200" dirty="0"/>
          </a:p>
        </p:txBody>
      </p:sp>
      <p:sp>
        <p:nvSpPr>
          <p:cNvPr id="11" name="Text 9"/>
          <p:cNvSpPr/>
          <p:nvPr/>
        </p:nvSpPr>
        <p:spPr>
          <a:xfrm>
            <a:off x="4660900" y="3306105"/>
            <a:ext cx="295630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Only joins strings — numbers need str().</a:t>
            </a:r>
            <a:endParaRPr lang="en-US" sz="1400" dirty="0"/>
          </a:p>
        </p:txBody>
      </p:sp>
      <p:sp>
        <p:nvSpPr>
          <p:cNvPr id="12" name="Shape 10"/>
          <p:cNvSpPr/>
          <p:nvPr/>
        </p:nvSpPr>
        <p:spPr>
          <a:xfrm>
            <a:off x="7995709" y="1989404"/>
            <a:ext cx="3380317" cy="2069571"/>
          </a:xfrm>
          <a:prstGeom prst="roundRect">
            <a:avLst>
              <a:gd name="adj" fmla="val 5983"/>
            </a:avLst>
          </a:prstGeom>
          <a:solidFill>
            <a:srgbClr val="FFFFFF"/>
          </a:solidFill>
          <a:ln w="6350">
            <a:solidFill>
              <a:srgbClr val="D5DEE8"/>
            </a:solidFill>
            <a:prstDash val="solid"/>
          </a:ln>
        </p:spPr>
      </p:sp>
      <p:sp>
        <p:nvSpPr>
          <p:cNvPr id="13" name="Text 11"/>
          <p:cNvSpPr/>
          <p:nvPr/>
        </p:nvSpPr>
        <p:spPr>
          <a:xfrm>
            <a:off x="8250767" y="2244465"/>
            <a:ext cx="2956306"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3776AB"/>
                </a:solidFill>
                <a:latin typeface="DM Sans" pitchFamily="34" charset="0"/>
                <a:ea typeface="DM Sans" pitchFamily="34" charset="-122"/>
                <a:cs typeface="DM Sans" pitchFamily="34" charset="-120"/>
              </a:rPr>
              <a:t>3. f-strings ⭐</a:t>
            </a:r>
            <a:endParaRPr lang="en-US" sz="1700" dirty="0"/>
          </a:p>
        </p:txBody>
      </p:sp>
      <p:sp>
        <p:nvSpPr>
          <p:cNvPr id="14" name="Text 12"/>
          <p:cNvSpPr/>
          <p:nvPr/>
        </p:nvSpPr>
        <p:spPr>
          <a:xfrm>
            <a:off x="8250767" y="2630488"/>
            <a:ext cx="2870200" cy="548614"/>
          </a:xfrm>
          <a:prstGeom prst="roundRect">
            <a:avLst>
              <a:gd name="adj" fmla="val 13890"/>
            </a:avLst>
          </a:prstGeom>
          <a:solidFill>
            <a:srgbClr val="1F2A37"/>
          </a:solidFill>
          <a:ln/>
        </p:spPr>
        <p:txBody>
          <a:bodyPr wrap="square" lIns="155482" tIns="130082" rIns="80044" bIns="104682" rtlCol="0" anchor="t">
            <a:normAutofit/>
          </a:bodyPr>
          <a:lstStyle/>
          <a:p>
            <a:pPr algn="l" indent="0" marL="0">
              <a:lnSpc>
                <a:spcPts val="1920"/>
              </a:lnSpc>
              <a:buNone/>
            </a:pPr>
            <a:r>
              <a:rPr lang="en-US" sz="1200" dirty="0">
                <a:solidFill>
                  <a:srgbClr val="E8EDF3"/>
                </a:solidFill>
                <a:latin typeface="JetBrains Mono" pitchFamily="49" charset="0"/>
                <a:ea typeface="JetBrains Mono" pitchFamily="49" charset="-122"/>
                <a:cs typeface="JetBrains Mono" pitchFamily="49" charset="-120"/>
              </a:rPr>
              <a:t>print(</a:t>
            </a:r>
            <a:r>
              <a:rPr lang="en-US" sz="1200" dirty="0">
                <a:solidFill>
                  <a:srgbClr val="F2C94C"/>
                </a:solidFill>
                <a:latin typeface="JetBrains Mono" pitchFamily="49" charset="0"/>
                <a:ea typeface="JetBrains Mono" pitchFamily="49" charset="-122"/>
                <a:cs typeface="JetBrains Mono" pitchFamily="49" charset="-120"/>
              </a:rPr>
              <a:t>f"Age: {age}"</a:t>
            </a:r>
            <a:r>
              <a:rPr lang="en-US" sz="1200" dirty="0">
                <a:solidFill>
                  <a:srgbClr val="E8EDF3"/>
                </a:solidFill>
                <a:latin typeface="JetBrains Mono" pitchFamily="49" charset="0"/>
                <a:ea typeface="JetBrains Mono" pitchFamily="49" charset="-122"/>
                <a:cs typeface="JetBrains Mono" pitchFamily="49" charset="-120"/>
              </a:rPr>
              <a:t>)</a:t>
            </a:r>
            <a:endParaRPr lang="en-US" sz="1200" dirty="0"/>
          </a:p>
        </p:txBody>
      </p:sp>
      <p:sp>
        <p:nvSpPr>
          <p:cNvPr id="15" name="Text 13"/>
          <p:cNvSpPr/>
          <p:nvPr/>
        </p:nvSpPr>
        <p:spPr>
          <a:xfrm>
            <a:off x="8250767" y="3306105"/>
            <a:ext cx="295630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The modern way: variables go in { }.</a:t>
            </a:r>
            <a:endParaRPr lang="en-US" sz="14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2: variables &amp; data types</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QUICK CHECK</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Predict before you run!</a:t>
            </a:r>
            <a:endParaRPr lang="en-US" sz="3600" dirty="0"/>
          </a:p>
        </p:txBody>
      </p:sp>
      <p:sp>
        <p:nvSpPr>
          <p:cNvPr id="4" name="Shape 2"/>
          <p:cNvSpPr/>
          <p:nvPr/>
        </p:nvSpPr>
        <p:spPr>
          <a:xfrm>
            <a:off x="815975" y="1989404"/>
            <a:ext cx="3346450" cy="2084784"/>
          </a:xfrm>
          <a:prstGeom prst="roundRect">
            <a:avLst>
              <a:gd name="adj" fmla="val 5939"/>
            </a:avLst>
          </a:prstGeom>
          <a:solidFill>
            <a:srgbClr val="FFFFFF"/>
          </a:solidFill>
          <a:ln w="6350">
            <a:solidFill>
              <a:srgbClr val="D5DEE8"/>
            </a:solidFill>
            <a:prstDash val="solid"/>
          </a:ln>
        </p:spPr>
      </p:sp>
      <p:sp>
        <p:nvSpPr>
          <p:cNvPr id="5" name="Text 3"/>
          <p:cNvSpPr/>
          <p:nvPr/>
        </p:nvSpPr>
        <p:spPr>
          <a:xfrm>
            <a:off x="1071033"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Q1. What is printed?</a:t>
            </a:r>
            <a:endParaRPr lang="en-US" sz="1800" dirty="0"/>
          </a:p>
        </p:txBody>
      </p:sp>
      <p:sp>
        <p:nvSpPr>
          <p:cNvPr id="6" name="Text 4"/>
          <p:cNvSpPr/>
          <p:nvPr/>
        </p:nvSpPr>
        <p:spPr>
          <a:xfrm>
            <a:off x="1071033" y="2671167"/>
            <a:ext cx="2836333" cy="1147961"/>
          </a:xfrm>
          <a:prstGeom prst="roundRect">
            <a:avLst>
              <a:gd name="adj" fmla="val 7744"/>
            </a:avLst>
          </a:prstGeom>
          <a:solidFill>
            <a:srgbClr val="1F2A37"/>
          </a:solidFill>
          <a:ln/>
        </p:spPr>
        <p:txBody>
          <a:bodyPr wrap="square" lIns="177162" tIns="151762" rIns="104264" bIns="126362" rtlCol="0" anchor="t">
            <a:normAutofit/>
          </a:bodyPr>
          <a:lstStyle/>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score = 50</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score = score + 25</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print(score)</a:t>
            </a:r>
            <a:endParaRPr lang="en-US" sz="1300" dirty="0"/>
          </a:p>
        </p:txBody>
      </p:sp>
      <p:sp>
        <p:nvSpPr>
          <p:cNvPr id="7" name="Shape 5"/>
          <p:cNvSpPr/>
          <p:nvPr/>
        </p:nvSpPr>
        <p:spPr>
          <a:xfrm>
            <a:off x="4422775" y="1989404"/>
            <a:ext cx="3346450" cy="2084784"/>
          </a:xfrm>
          <a:prstGeom prst="roundRect">
            <a:avLst>
              <a:gd name="adj" fmla="val 5939"/>
            </a:avLst>
          </a:prstGeom>
          <a:solidFill>
            <a:srgbClr val="FFFFFF"/>
          </a:solidFill>
          <a:ln w="6350">
            <a:solidFill>
              <a:srgbClr val="D5DEE8"/>
            </a:solidFill>
            <a:prstDash val="solid"/>
          </a:ln>
        </p:spPr>
      </p:sp>
      <p:sp>
        <p:nvSpPr>
          <p:cNvPr id="8" name="Text 6"/>
          <p:cNvSpPr/>
          <p:nvPr/>
        </p:nvSpPr>
        <p:spPr>
          <a:xfrm>
            <a:off x="4677833"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Q2. Which type?</a:t>
            </a:r>
            <a:endParaRPr lang="en-US" sz="1800" dirty="0"/>
          </a:p>
        </p:txBody>
      </p:sp>
      <p:sp>
        <p:nvSpPr>
          <p:cNvPr id="9" name="Text 7"/>
          <p:cNvSpPr/>
          <p:nvPr/>
        </p:nvSpPr>
        <p:spPr>
          <a:xfrm>
            <a:off x="4677833" y="2671167"/>
            <a:ext cx="2836333" cy="619720"/>
          </a:xfrm>
          <a:prstGeom prst="roundRect">
            <a:avLst>
              <a:gd name="adj" fmla="val 14345"/>
            </a:avLst>
          </a:prstGeom>
          <a:solidFill>
            <a:srgbClr val="1F2A37"/>
          </a:solidFill>
          <a:ln/>
        </p:spPr>
        <p:txBody>
          <a:bodyPr wrap="square" lIns="177162" tIns="151762" rIns="104264" bIns="126362" rtlCol="0" anchor="t">
            <a:normAutofit/>
          </a:bodyPr>
          <a:lstStyle/>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type(</a:t>
            </a:r>
            <a:r>
              <a:rPr lang="en-US" sz="1300" dirty="0">
                <a:solidFill>
                  <a:srgbClr val="F2C94C"/>
                </a:solidFill>
                <a:latin typeface="JetBrains Mono" pitchFamily="49" charset="0"/>
                <a:ea typeface="JetBrains Mono" pitchFamily="49" charset="-122"/>
                <a:cs typeface="JetBrains Mono" pitchFamily="49" charset="-120"/>
              </a:rPr>
              <a:t>"3.14"</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p:txBody>
      </p:sp>
      <p:sp>
        <p:nvSpPr>
          <p:cNvPr id="10" name="Shape 8"/>
          <p:cNvSpPr/>
          <p:nvPr/>
        </p:nvSpPr>
        <p:spPr>
          <a:xfrm>
            <a:off x="8029575" y="1989404"/>
            <a:ext cx="3346450" cy="2084784"/>
          </a:xfrm>
          <a:prstGeom prst="roundRect">
            <a:avLst>
              <a:gd name="adj" fmla="val 5939"/>
            </a:avLst>
          </a:prstGeom>
          <a:solidFill>
            <a:srgbClr val="FFFFFF"/>
          </a:solidFill>
          <a:ln w="6350">
            <a:solidFill>
              <a:srgbClr val="D5DEE8"/>
            </a:solidFill>
            <a:prstDash val="solid"/>
          </a:ln>
        </p:spPr>
      </p:sp>
      <p:sp>
        <p:nvSpPr>
          <p:cNvPr id="11" name="Text 9"/>
          <p:cNvSpPr/>
          <p:nvPr/>
        </p:nvSpPr>
        <p:spPr>
          <a:xfrm>
            <a:off x="8284634"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Q3. What is printed?</a:t>
            </a:r>
            <a:endParaRPr lang="en-US" sz="1800" dirty="0"/>
          </a:p>
        </p:txBody>
      </p:sp>
      <p:sp>
        <p:nvSpPr>
          <p:cNvPr id="12" name="Text 10"/>
          <p:cNvSpPr/>
          <p:nvPr/>
        </p:nvSpPr>
        <p:spPr>
          <a:xfrm>
            <a:off x="8284634" y="2671167"/>
            <a:ext cx="2836333" cy="619720"/>
          </a:xfrm>
          <a:prstGeom prst="roundRect">
            <a:avLst>
              <a:gd name="adj" fmla="val 14345"/>
            </a:avLst>
          </a:prstGeom>
          <a:solidFill>
            <a:srgbClr val="1F2A37"/>
          </a:solidFill>
          <a:ln/>
        </p:spPr>
        <p:txBody>
          <a:bodyPr wrap="square" lIns="177162" tIns="151762" rIns="104264" bIns="126362" rtlCol="0" anchor="t">
            <a:normAutofit/>
          </a:bodyPr>
          <a:lstStyle/>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print(17 % 5)</a:t>
            </a:r>
            <a:endParaRPr lang="en-US" sz="13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2: variables &amp; data types</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3776AB"/>
          </a:solidFill>
          <a:ln/>
        </p:spPr>
      </p:sp>
      <p:sp>
        <p:nvSpPr>
          <p:cNvPr id="3" name="Text 1"/>
          <p:cNvSpPr/>
          <p:nvPr/>
        </p:nvSpPr>
        <p:spPr>
          <a:xfrm>
            <a:off x="812800" y="2301949"/>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LET’S CODE TOGETHER</a:t>
            </a:r>
            <a:endParaRPr lang="en-US" sz="1200" dirty="0"/>
          </a:p>
        </p:txBody>
      </p:sp>
      <p:sp>
        <p:nvSpPr>
          <p:cNvPr id="4" name="Text 2"/>
          <p:cNvSpPr/>
          <p:nvPr>
            <p:ph type="title"/>
          </p:nvPr>
        </p:nvSpPr>
        <p:spPr>
          <a:xfrm>
            <a:off x="812800" y="2718470"/>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F2A37"/>
                </a:solidFill>
                <a:latin typeface="DM Sans" pitchFamily="34" charset="0"/>
                <a:ea typeface="DM Sans" pitchFamily="34" charset="-122"/>
                <a:cs typeface="DM Sans" pitchFamily="34" charset="-120"/>
              </a:rPr>
              <a:t>Practice time!</a:t>
            </a:r>
            <a:endParaRPr lang="en-US" sz="4800" dirty="0"/>
          </a:p>
        </p:txBody>
      </p:sp>
      <p:sp>
        <p:nvSpPr>
          <p:cNvPr id="5" name="Text 3"/>
          <p:cNvSpPr/>
          <p:nvPr/>
        </p:nvSpPr>
        <p:spPr>
          <a:xfrm>
            <a:off x="812800" y="3561693"/>
            <a:ext cx="5127752" cy="1019770"/>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4A5568"/>
                </a:solidFill>
                <a:latin typeface="DM Sans" pitchFamily="34" charset="0"/>
                <a:ea typeface="DM Sans" pitchFamily="34" charset="-122"/>
                <a:cs typeface="DM Sans" pitchFamily="34" charset="-120"/>
              </a:rPr>
              <a:t>Store your name, age and major, mix all 4 data types, and print everything. Then open </a:t>
            </a:r>
            <a:r>
              <a:rPr lang="en-US" sz="1800" b="1" dirty="0">
                <a:solidFill>
                  <a:srgbClr val="4A5568"/>
                </a:solidFill>
                <a:latin typeface="DM Sans" pitchFamily="34" charset="0"/>
                <a:ea typeface="DM Sans" pitchFamily="34" charset="-122"/>
                <a:cs typeface="DM Sans" pitchFamily="34" charset="-120"/>
              </a:rPr>
              <a:t>exercises.ipynb</a:t>
            </a:r>
            <a:r>
              <a:rPr lang="en-US" sz="1800" dirty="0">
                <a:solidFill>
                  <a:srgbClr val="4A5568"/>
                </a:solidFill>
                <a:latin typeface="DM Sans" pitchFamily="34" charset="0"/>
                <a:ea typeface="DM Sans" pitchFamily="34" charset="-122"/>
                <a:cs typeface="DM Sans" pitchFamily="34" charset="-120"/>
              </a:rPr>
              <a:t>.</a:t>
            </a:r>
            <a:endParaRPr lang="en-US" sz="1800" dirty="0"/>
          </a:p>
        </p:txBody>
      </p:sp>
      <p:sp>
        <p:nvSpPr>
          <p:cNvPr id="6" name="Text 4"/>
          <p:cNvSpPr/>
          <p:nvPr/>
        </p:nvSpPr>
        <p:spPr>
          <a:xfrm>
            <a:off x="6403975" y="1910829"/>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About me variables</a:t>
            </a:r>
            <a:endParaRPr lang="en-US" sz="1600" dirty="0"/>
          </a:p>
        </p:txBody>
      </p:sp>
      <p:sp>
        <p:nvSpPr>
          <p:cNvPr id="7" name="Text 5"/>
          <p:cNvSpPr/>
          <p:nvPr/>
        </p:nvSpPr>
        <p:spPr>
          <a:xfrm>
            <a:off x="6403975" y="2711723"/>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Sharing sweets with // and %</a:t>
            </a:r>
            <a:endParaRPr lang="en-US" sz="1600" dirty="0"/>
          </a:p>
        </p:txBody>
      </p:sp>
      <p:sp>
        <p:nvSpPr>
          <p:cNvPr id="8" name="Text 6"/>
          <p:cNvSpPr/>
          <p:nvPr/>
        </p:nvSpPr>
        <p:spPr>
          <a:xfrm>
            <a:off x="6403975" y="3512617"/>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Shopping receipt 🧾</a:t>
            </a:r>
            <a:endParaRPr lang="en-US" sz="1600" dirty="0"/>
          </a:p>
        </p:txBody>
      </p:sp>
      <p:sp>
        <p:nvSpPr>
          <p:cNvPr id="9" name="Text 7"/>
          <p:cNvSpPr/>
          <p:nvPr/>
        </p:nvSpPr>
        <p:spPr>
          <a:xfrm>
            <a:off x="6400800" y="4310335"/>
            <a:ext cx="4978400" cy="640027"/>
          </a:xfrm>
          <a:prstGeom prst="roundRect">
            <a:avLst>
              <a:gd name="adj" fmla="val 15874"/>
            </a:avLst>
          </a:prstGeom>
          <a:solidFill>
            <a:srgbClr val="E3ECF6"/>
          </a:solidFill>
          <a:ln/>
        </p:spPr>
        <p:txBody>
          <a:bodyPr wrap="square" lIns="198842" tIns="148042" rIns="63206" bIns="122642"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Next lesson:</a:t>
            </a:r>
            <a:r>
              <a:rPr lang="en-US" sz="1600" dirty="0">
                <a:solidFill>
                  <a:srgbClr val="1F2A37"/>
                </a:solidFill>
                <a:latin typeface="DM Sans" pitchFamily="34" charset="0"/>
                <a:ea typeface="DM Sans" pitchFamily="34" charset="-122"/>
                <a:cs typeface="DM Sans" pitchFamily="34" charset="-120"/>
              </a:rPr>
              <a:t> Making decisions with if 🧠</a:t>
            </a:r>
            <a:endParaRPr lang="en-US" sz="1600" dirty="0"/>
          </a:p>
        </p:txBody>
      </p:sp>
    </p:spTree>
  </p:cSld>
  <p:clrMapOvr>
    <a:masterClrMapping/>
  </p:clrMapOvr>
</p:sld>
</file>

<file path=ppt/theme/theme1.xml><?xml version="1.0" encoding="utf-8"?>
<a:theme xmlns:a="http://schemas.openxmlformats.org/drawingml/2006/main" name="Day 2 — Variables, Data Types, Input &amp; Operators">
  <a:themeElements>
    <a:clrScheme name="Day 2 — Variables, Data Types, Input &amp; Operators">
      <a:dk1>
        <a:srgbClr val="1F2A37"/>
      </a:dk1>
      <a:lt1>
        <a:srgbClr val="FAF9F6"/>
      </a:lt1>
      <a:dk2>
        <a:srgbClr val="565E67"/>
      </a:dk2>
      <a:lt2>
        <a:srgbClr val="E4E4E3"/>
      </a:lt2>
      <a:accent1>
        <a:srgbClr val="3776AB"/>
      </a:accent1>
      <a:accent2>
        <a:srgbClr val="2F5F8A"/>
      </a:accent2>
      <a:accent3>
        <a:srgbClr val="4A5568"/>
      </a:accent3>
      <a:accent4>
        <a:srgbClr val="8A94A3"/>
      </a:accent4>
      <a:accent5>
        <a:srgbClr val="CFE0F1"/>
      </a:accent5>
      <a:accent6>
        <a:srgbClr val="9AA0A6"/>
      </a:accent6>
      <a:hlink>
        <a:srgbClr val="0563C1"/>
      </a:hlink>
      <a:folHlink>
        <a:srgbClr val="954F72"/>
      </a:folHlink>
    </a:clrScheme>
    <a:fontScheme name="Day 2 — Variables, Data Types, Input &amp; Operators">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 — Variables, Data Types, Input &amp; Operators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2026-10-24T05:12:28Z</dcterms:created>
  <dcterms:modified xsi:type="dcterms:W3CDTF">2026-10-24T05:12:28Z</dcterms:modified>
</cp:coreProperties>
</file>