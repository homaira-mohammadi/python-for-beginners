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embeddedFontLst>
    <p:embeddedFont>
      <p:font typeface="DM Sans" pitchFamily="34" charset="0"/>
      <p:regular r:id="rId21"/>
      <p:bold r:id="rId22"/>
    </p:embeddedFont>
    <p:embeddedFont>
      <p:font typeface="JetBrains Mono" panose="02000009000000000000" pitchFamily="49"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learn how to store data with labels, like a real dictionary or a phone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together. By the end, students build a contact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one is easier to read? With a dictionary we use a name (key) instead of remembering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real-life examples: a phone book (name → number), a menu (dish → price), a class register (student →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 counts the pairs. "in" checks the keys. get() is the safe way: if the key is missing, it returns the default (or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Live-code each line and print the dictionary after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plain "for x in prices" loops through the keys only. .items() gives both the key and the value each round. sum(prices.values()) gives the total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dictionary error. Show it live, then fix it with get() or an if "email" in 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real apps store data, like a table in a spreadsheet: each row is a dictionary. Ask students: how would you find the top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already used tuples on Day 2 without knowing: x, y = 10, 20 is tuple unpacking. Try days[0] = "Monday" live to show the TypeError.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examples and let students choose: a shopping list (list), the days of the week (tuple), a student's details (dictionary).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 {'a': 10, 'b': 2, 'c': 3}. Q2 = no error, it prints None. Q3 = no, tuples can't be changed, so there is no append (AttributeError).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row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20–30 minutes. The contact book in the notebook is a great example to explore together before the final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F2A37"/>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F2A3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F2A37"/>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F2A3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3776AB"/>
          </a:solidFill>
          <a:ln/>
        </p:spPr>
      </p:sp>
      <p:pic>
        <p:nvPicPr>
          <p:cNvPr id="3" name="Image 0" descr="Python logo">    </p:cNvPr>
          <p:cNvPicPr>
            <a:picLocks noChangeAspect="1"/>
          </p:cNvPicPr>
          <p:nvPr/>
        </p:nvPicPr>
        <p:blipFill>
          <a:blip r:embed="rId1"/>
          <a:srcRect l="0" r="0" t="0" b="0"/>
          <a:stretch/>
        </p:blipFill>
        <p:spPr>
          <a:xfrm>
            <a:off x="812800" y="1317096"/>
            <a:ext cx="1270000" cy="1270000"/>
          </a:xfrm>
          <a:prstGeom prst="rect">
            <a:avLst/>
          </a:prstGeom>
        </p:spPr>
      </p:pic>
      <p:sp>
        <p:nvSpPr>
          <p:cNvPr id="4" name="Text 1"/>
          <p:cNvSpPr/>
          <p:nvPr/>
        </p:nvSpPr>
        <p:spPr>
          <a:xfrm>
            <a:off x="812800" y="2790296"/>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PYTHON FOR BEGINNERS · DAY 9</a:t>
            </a:r>
            <a:endParaRPr lang="en-US" sz="1200" dirty="0"/>
          </a:p>
        </p:txBody>
      </p:sp>
      <p:sp>
        <p:nvSpPr>
          <p:cNvPr id="5" name="Text 2"/>
          <p:cNvSpPr/>
          <p:nvPr>
            <p:ph type="title"/>
          </p:nvPr>
        </p:nvSpPr>
        <p:spPr>
          <a:xfrm>
            <a:off x="812800" y="3206816"/>
            <a:ext cx="5127752" cy="1305454"/>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F2A37"/>
                </a:solidFill>
                <a:latin typeface="DM Sans" pitchFamily="34" charset="0"/>
                <a:ea typeface="DM Sans" pitchFamily="34" charset="-122"/>
                <a:cs typeface="DM Sans" pitchFamily="34" charset="-120"/>
              </a:rPr>
              <a:t>Dictionaries &amp; Tuples</a:t>
            </a:r>
            <a:endParaRPr lang="en-US" sz="4800" dirty="0"/>
          </a:p>
        </p:txBody>
      </p:sp>
      <p:sp>
        <p:nvSpPr>
          <p:cNvPr id="6" name="Text 3"/>
          <p:cNvSpPr/>
          <p:nvPr/>
        </p:nvSpPr>
        <p:spPr>
          <a:xfrm>
            <a:off x="812800" y="4690070"/>
            <a:ext cx="5127752" cy="388607"/>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4A5568"/>
                </a:solidFill>
                <a:latin typeface="DM Sans" pitchFamily="34" charset="0"/>
                <a:ea typeface="DM Sans" pitchFamily="34" charset="-122"/>
                <a:cs typeface="DM Sans" pitchFamily="34" charset="-120"/>
              </a:rPr>
              <a:t>Storing data with labels</a:t>
            </a:r>
            <a:endParaRPr lang="en-US" sz="2200" dirty="0"/>
          </a:p>
        </p:txBody>
      </p:sp>
      <p:sp>
        <p:nvSpPr>
          <p:cNvPr id="7" name="Text 4"/>
          <p:cNvSpPr/>
          <p:nvPr/>
        </p:nvSpPr>
        <p:spPr>
          <a:xfrm>
            <a:off x="812800" y="5256477"/>
            <a:ext cx="512775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Instructor: Homaira Mohammadi</a:t>
            </a:r>
            <a:endParaRPr lang="en-US" sz="1600" dirty="0"/>
          </a:p>
        </p:txBody>
      </p:sp>
      <p:sp>
        <p:nvSpPr>
          <p:cNvPr id="8" name="Text 5"/>
          <p:cNvSpPr/>
          <p:nvPr/>
        </p:nvSpPr>
        <p:spPr>
          <a:xfrm>
            <a:off x="6400800" y="2159066"/>
            <a:ext cx="4978400" cy="2539802"/>
          </a:xfrm>
          <a:prstGeom prst="roundRect">
            <a:avLst>
              <a:gd name="adj" fmla="val 6000"/>
            </a:avLst>
          </a:prstGeom>
          <a:solidFill>
            <a:srgbClr val="1F2A37"/>
          </a:solidFill>
          <a:ln/>
          <a:effectLst>
            <a:outerShdw sx="100000" sy="100000" kx="0" ky="0" algn="bl" rotWithShape="0" blurRad="406400" dist="152400" dir="5400000">
              <a:srgbClr val="1F2A37">
                <a:alpha val="18000"/>
              </a:srgbClr>
            </a:outerShdw>
          </a:effectLst>
        </p:spPr>
        <p:txBody>
          <a:bodyPr wrap="square" lIns="361764" tIns="310964" rIns="236796" bIns="285564" rtlCol="0" anchor="t">
            <a:normAutofit/>
          </a:bodyPr>
          <a:lstStyle/>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student = {</a:t>
            </a: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    </a:t>
            </a:r>
            <a:r>
              <a:rPr lang="en-US" sz="1800" dirty="0">
                <a:solidFill>
                  <a:srgbClr val="F2C94C"/>
                </a:solidFill>
                <a:latin typeface="JetBrains Mono" pitchFamily="49" charset="0"/>
                <a:ea typeface="JetBrains Mono" pitchFamily="49" charset="-122"/>
                <a:cs typeface="JetBrains Mono" pitchFamily="49" charset="-120"/>
              </a:rPr>
              <a:t>"name"</a:t>
            </a:r>
            <a:r>
              <a:rPr lang="en-US" sz="1800" dirty="0">
                <a:solidFill>
                  <a:srgbClr val="E8EDF3"/>
                </a:solidFill>
                <a:latin typeface="JetBrains Mono" pitchFamily="49" charset="0"/>
                <a:ea typeface="JetBrains Mono" pitchFamily="49" charset="-122"/>
                <a:cs typeface="JetBrains Mono" pitchFamily="49" charset="-120"/>
              </a:rPr>
              <a:t>: </a:t>
            </a:r>
            <a:r>
              <a:rPr lang="en-US" sz="1800" dirty="0">
                <a:solidFill>
                  <a:srgbClr val="F2C94C"/>
                </a:solidFill>
                <a:latin typeface="JetBrains Mono" pitchFamily="49" charset="0"/>
                <a:ea typeface="JetBrains Mono" pitchFamily="49" charset="-122"/>
                <a:cs typeface="JetBrains Mono" pitchFamily="49" charset="-120"/>
              </a:rPr>
              <a:t>"Sara"</a:t>
            </a:r>
            <a:r>
              <a:rPr lang="en-US" sz="1800" dirty="0">
                <a:solidFill>
                  <a:srgbClr val="E8EDF3"/>
                </a:solidFill>
                <a:latin typeface="JetBrains Mono" pitchFamily="49" charset="0"/>
                <a:ea typeface="JetBrains Mono" pitchFamily="49" charset="-122"/>
                <a:cs typeface="JetBrains Mono" pitchFamily="49" charset="-120"/>
              </a:rPr>
              <a:t>,</a:t>
            </a: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    </a:t>
            </a:r>
            <a:r>
              <a:rPr lang="en-US" sz="1800" dirty="0">
                <a:solidFill>
                  <a:srgbClr val="F2C94C"/>
                </a:solidFill>
                <a:latin typeface="JetBrains Mono" pitchFamily="49" charset="0"/>
                <a:ea typeface="JetBrains Mono" pitchFamily="49" charset="-122"/>
                <a:cs typeface="JetBrains Mono" pitchFamily="49" charset="-120"/>
              </a:rPr>
              <a:t>"age"</a:t>
            </a:r>
            <a:r>
              <a:rPr lang="en-US" sz="1800" dirty="0">
                <a:solidFill>
                  <a:srgbClr val="E8EDF3"/>
                </a:solidFill>
                <a:latin typeface="JetBrains Mono" pitchFamily="49" charset="0"/>
                <a:ea typeface="JetBrains Mono" pitchFamily="49" charset="-122"/>
                <a:cs typeface="JetBrains Mono" pitchFamily="49" charset="-120"/>
              </a:rPr>
              <a:t>: 19</a:t>
            </a: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a:t>
            </a: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print(student[</a:t>
            </a:r>
            <a:r>
              <a:rPr lang="en-US" sz="1800" dirty="0">
                <a:solidFill>
                  <a:srgbClr val="F2C94C"/>
                </a:solidFill>
                <a:latin typeface="JetBrains Mono" pitchFamily="49" charset="0"/>
                <a:ea typeface="JetBrains Mono" pitchFamily="49" charset="-122"/>
                <a:cs typeface="JetBrains Mono" pitchFamily="49" charset="-120"/>
              </a:rPr>
              <a:t>"name"</a:t>
            </a:r>
            <a:r>
              <a:rPr lang="en-US" sz="1800" dirty="0">
                <a:solidFill>
                  <a:srgbClr val="E8EDF3"/>
                </a:solidFill>
                <a:latin typeface="JetBrains Mono" pitchFamily="49" charset="0"/>
                <a:ea typeface="JetBrains Mono" pitchFamily="49" charset="-122"/>
                <a:cs typeface="JetBrains Mono" pitchFamily="49" charset="-120"/>
              </a:rPr>
              <a: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TODAY’S GOALS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By the end of today, you can…</a:t>
            </a:r>
            <a:endParaRPr lang="en-US" sz="3600" dirty="0"/>
          </a:p>
        </p:txBody>
      </p:sp>
      <p:pic>
        <p:nvPicPr>
          <p:cNvPr id="4" name="Image 0" descr="CheckCircle">    </p:cNvPr>
          <p:cNvPicPr>
            <a:picLocks noChangeAspect="1"/>
          </p:cNvPicPr>
          <p:nvPr/>
        </p:nvPicPr>
        <p:blipFill>
          <a:blip r:embed="rId1"/>
          <a:srcRect l="0" r="0" t="0" b="0"/>
          <a:stretch/>
        </p:blipFill>
        <p:spPr>
          <a:xfrm>
            <a:off x="812800" y="1993834"/>
            <a:ext cx="304800" cy="304800"/>
          </a:xfrm>
          <a:prstGeom prst="rect">
            <a:avLst/>
          </a:prstGeom>
        </p:spPr>
      </p:pic>
      <p:sp>
        <p:nvSpPr>
          <p:cNvPr id="5" name="Text 2"/>
          <p:cNvSpPr/>
          <p:nvPr/>
        </p:nvSpPr>
        <p:spPr>
          <a:xfrm>
            <a:off x="1270000" y="1986228"/>
            <a:ext cx="3039586"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Store </a:t>
            </a:r>
            <a:r>
              <a:rPr lang="en-US" sz="1800" b="1" dirty="0">
                <a:solidFill>
                  <a:srgbClr val="1F2A37"/>
                </a:solidFill>
                <a:latin typeface="DM Sans" pitchFamily="34" charset="0"/>
                <a:ea typeface="DM Sans" pitchFamily="34" charset="-122"/>
                <a:cs typeface="DM Sans" pitchFamily="34" charset="-120"/>
              </a:rPr>
              <a:t>key → value</a:t>
            </a:r>
            <a:r>
              <a:rPr lang="en-US" sz="1800" dirty="0">
                <a:solidFill>
                  <a:srgbClr val="1F2A37"/>
                </a:solidFill>
                <a:latin typeface="DM Sans" pitchFamily="34" charset="0"/>
                <a:ea typeface="DM Sans" pitchFamily="34" charset="-122"/>
                <a:cs typeface="DM Sans" pitchFamily="34" charset="-120"/>
              </a:rPr>
              <a:t> pairs</a:t>
            </a:r>
            <a:endParaRPr lang="en-US" sz="1800" dirty="0"/>
          </a:p>
        </p:txBody>
      </p:sp>
      <p:pic>
        <p:nvPicPr>
          <p:cNvPr id="6" name="Image 1" descr="CheckCircle">    </p:cNvPr>
          <p:cNvPicPr>
            <a:picLocks noChangeAspect="1"/>
          </p:cNvPicPr>
          <p:nvPr/>
        </p:nvPicPr>
        <p:blipFill>
          <a:blip r:embed="rId2"/>
          <a:srcRect l="0" r="0" t="0" b="0"/>
          <a:stretch/>
        </p:blipFill>
        <p:spPr>
          <a:xfrm>
            <a:off x="6299200" y="1993834"/>
            <a:ext cx="304800" cy="304800"/>
          </a:xfrm>
          <a:prstGeom prst="rect">
            <a:avLst/>
          </a:prstGeom>
        </p:spPr>
      </p:pic>
      <p:sp>
        <p:nvSpPr>
          <p:cNvPr id="7" name="Text 3"/>
          <p:cNvSpPr/>
          <p:nvPr/>
        </p:nvSpPr>
        <p:spPr>
          <a:xfrm>
            <a:off x="6756400" y="1986228"/>
            <a:ext cx="3504248"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Get values safely with </a:t>
            </a:r>
            <a:r>
              <a:rPr lang="en-US" sz="1800" b="1" dirty="0">
                <a:solidFill>
                  <a:srgbClr val="1F2A37"/>
                </a:solidFill>
                <a:latin typeface="DM Sans" pitchFamily="34" charset="0"/>
                <a:ea typeface="DM Sans" pitchFamily="34" charset="-122"/>
                <a:cs typeface="DM Sans" pitchFamily="34" charset="-120"/>
              </a:rPr>
              <a:t>get()</a:t>
            </a:r>
            <a:endParaRPr lang="en-US" sz="1800" dirty="0"/>
          </a:p>
        </p:txBody>
      </p:sp>
      <p:pic>
        <p:nvPicPr>
          <p:cNvPr id="8" name="Image 2" descr="CheckCircle">    </p:cNvPr>
          <p:cNvPicPr>
            <a:picLocks noChangeAspect="1"/>
          </p:cNvPicPr>
          <p:nvPr/>
        </p:nvPicPr>
        <p:blipFill>
          <a:blip r:embed="rId3"/>
          <a:srcRect l="0" r="0" t="0" b="0"/>
          <a:stretch/>
        </p:blipFill>
        <p:spPr>
          <a:xfrm>
            <a:off x="812800" y="2491648"/>
            <a:ext cx="304800" cy="304800"/>
          </a:xfrm>
          <a:prstGeom prst="rect">
            <a:avLst/>
          </a:prstGeom>
        </p:spPr>
      </p:pic>
      <p:sp>
        <p:nvSpPr>
          <p:cNvPr id="9" name="Text 4"/>
          <p:cNvSpPr/>
          <p:nvPr/>
        </p:nvSpPr>
        <p:spPr>
          <a:xfrm>
            <a:off x="1270000" y="2484041"/>
            <a:ext cx="3771106"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Add, change and delete items</a:t>
            </a:r>
            <a:endParaRPr lang="en-US" sz="1800" dirty="0"/>
          </a:p>
        </p:txBody>
      </p:sp>
      <p:pic>
        <p:nvPicPr>
          <p:cNvPr id="10" name="Image 3" descr="CheckCircle">    </p:cNvPr>
          <p:cNvPicPr>
            <a:picLocks noChangeAspect="1"/>
          </p:cNvPicPr>
          <p:nvPr/>
        </p:nvPicPr>
        <p:blipFill>
          <a:blip r:embed="rId4"/>
          <a:srcRect l="0" r="0" t="0" b="0"/>
          <a:stretch/>
        </p:blipFill>
        <p:spPr>
          <a:xfrm>
            <a:off x="6299200" y="2491648"/>
            <a:ext cx="304800" cy="304800"/>
          </a:xfrm>
          <a:prstGeom prst="rect">
            <a:avLst/>
          </a:prstGeom>
        </p:spPr>
      </p:pic>
      <p:sp>
        <p:nvSpPr>
          <p:cNvPr id="11" name="Text 5"/>
          <p:cNvSpPr/>
          <p:nvPr/>
        </p:nvSpPr>
        <p:spPr>
          <a:xfrm>
            <a:off x="6756400" y="2484041"/>
            <a:ext cx="3283903"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Loop through a dictionary</a:t>
            </a:r>
            <a:endParaRPr lang="en-US" sz="1800" dirty="0"/>
          </a:p>
        </p:txBody>
      </p:sp>
      <p:pic>
        <p:nvPicPr>
          <p:cNvPr id="12" name="Image 4" descr="CheckCircle">    </p:cNvPr>
          <p:cNvPicPr>
            <a:picLocks noChangeAspect="1"/>
          </p:cNvPicPr>
          <p:nvPr/>
        </p:nvPicPr>
        <p:blipFill>
          <a:blip r:embed="rId5"/>
          <a:srcRect l="0" r="0" t="0" b="0"/>
          <a:stretch/>
        </p:blipFill>
        <p:spPr>
          <a:xfrm>
            <a:off x="812800" y="2989461"/>
            <a:ext cx="304800" cy="304800"/>
          </a:xfrm>
          <a:prstGeom prst="rect">
            <a:avLst/>
          </a:prstGeom>
        </p:spPr>
      </p:pic>
      <p:sp>
        <p:nvSpPr>
          <p:cNvPr id="13" name="Text 6"/>
          <p:cNvSpPr/>
          <p:nvPr/>
        </p:nvSpPr>
        <p:spPr>
          <a:xfrm>
            <a:off x="1270000" y="2981854"/>
            <a:ext cx="4267597"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Store records (list of dictionaries)</a:t>
            </a:r>
            <a:endParaRPr lang="en-US" sz="1800" dirty="0"/>
          </a:p>
        </p:txBody>
      </p:sp>
      <p:pic>
        <p:nvPicPr>
          <p:cNvPr id="14" name="Image 5" descr="CheckCircle">    </p:cNvPr>
          <p:cNvPicPr>
            <a:picLocks noChangeAspect="1"/>
          </p:cNvPicPr>
          <p:nvPr/>
        </p:nvPicPr>
        <p:blipFill>
          <a:blip r:embed="rId6"/>
          <a:srcRect l="0" r="0" t="0" b="0"/>
          <a:stretch/>
        </p:blipFill>
        <p:spPr>
          <a:xfrm>
            <a:off x="6299200" y="2989461"/>
            <a:ext cx="304800" cy="304800"/>
          </a:xfrm>
          <a:prstGeom prst="rect">
            <a:avLst/>
          </a:prstGeom>
        </p:spPr>
      </p:pic>
      <p:sp>
        <p:nvSpPr>
          <p:cNvPr id="15" name="Text 7"/>
          <p:cNvSpPr/>
          <p:nvPr/>
        </p:nvSpPr>
        <p:spPr>
          <a:xfrm>
            <a:off x="6756400" y="2981854"/>
            <a:ext cx="3154998"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Use </a:t>
            </a:r>
            <a:r>
              <a:rPr lang="en-US" sz="1800" b="1" dirty="0">
                <a:solidFill>
                  <a:srgbClr val="1F2A37"/>
                </a:solidFill>
                <a:latin typeface="DM Sans" pitchFamily="34" charset="0"/>
                <a:ea typeface="DM Sans" pitchFamily="34" charset="-122"/>
                <a:cs typeface="DM Sans" pitchFamily="34" charset="-120"/>
              </a:rPr>
              <a:t>tuples</a:t>
            </a:r>
            <a:r>
              <a:rPr lang="en-US" sz="1800" dirty="0">
                <a:solidFill>
                  <a:srgbClr val="1F2A37"/>
                </a:solidFill>
                <a:latin typeface="DM Sans" pitchFamily="34" charset="0"/>
                <a:ea typeface="DM Sans" pitchFamily="34" charset="-122"/>
                <a:cs typeface="DM Sans" pitchFamily="34" charset="-120"/>
              </a:rPr>
              <a:t> for fixed data</a:t>
            </a:r>
            <a:endParaRPr lang="en-US" sz="1800" dirty="0"/>
          </a:p>
        </p:txBody>
      </p:sp>
      <p:sp>
        <p:nvSpPr>
          <p:cNvPr id="16"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9: dictionaries &amp; tuples</a:t>
            </a:r>
            <a:endParaRPr lang="en-US" sz="1200" dirty="0"/>
          </a:p>
        </p:txBody>
      </p:sp>
      <p:sp>
        <p:nvSpPr>
          <p:cNvPr id="17"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THE PROBLEM WITH LISTS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What was index 2 again? 🤔</a:t>
            </a:r>
            <a:endParaRPr lang="en-US" sz="3600" dirty="0"/>
          </a:p>
        </p:txBody>
      </p:sp>
      <p:sp>
        <p:nvSpPr>
          <p:cNvPr id="4" name="Text 2"/>
          <p:cNvSpPr/>
          <p:nvPr/>
        </p:nvSpPr>
        <p:spPr>
          <a:xfrm>
            <a:off x="812800" y="1986228"/>
            <a:ext cx="52324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A5568"/>
                </a:solidFill>
                <a:latin typeface="DM Sans" pitchFamily="34" charset="0"/>
                <a:ea typeface="DM Sans" pitchFamily="34" charset="-122"/>
                <a:cs typeface="DM Sans" pitchFamily="34" charset="-120"/>
              </a:rPr>
              <a:t>List: by position</a:t>
            </a:r>
            <a:endParaRPr lang="en-US" sz="1600" dirty="0"/>
          </a:p>
        </p:txBody>
      </p:sp>
      <p:sp>
        <p:nvSpPr>
          <p:cNvPr id="5" name="Text 3"/>
          <p:cNvSpPr/>
          <p:nvPr/>
        </p:nvSpPr>
        <p:spPr>
          <a:xfrm>
            <a:off x="812800" y="2397655"/>
            <a:ext cx="5080000" cy="1727200"/>
          </a:xfrm>
          <a:prstGeom prst="roundRect">
            <a:avLst>
              <a:gd name="adj" fmla="val 7353"/>
            </a:avLst>
          </a:prstGeom>
          <a:solidFill>
            <a:srgbClr val="1F2A37"/>
          </a:solidFill>
          <a:ln/>
        </p:spPr>
        <p:txBody>
          <a:bodyPr wrap="square" lIns="293003" tIns="216803" rIns="160415" bIns="191403" rtlCol="0" anchor="t">
            <a:normAutofit/>
          </a:bodyPr>
          <a:lstStyle/>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student = [</a:t>
            </a:r>
            <a:r>
              <a:rPr lang="en-US" sz="1500" dirty="0">
                <a:solidFill>
                  <a:srgbClr val="F2C94C"/>
                </a:solidFill>
                <a:latin typeface="JetBrains Mono" pitchFamily="49" charset="0"/>
                <a:ea typeface="JetBrains Mono" pitchFamily="49" charset="-122"/>
                <a:cs typeface="JetBrains Mono" pitchFamily="49" charset="-120"/>
              </a:rPr>
              <a:t>"Sara"</a:t>
            </a:r>
            <a:r>
              <a:rPr lang="en-US" sz="1500" dirty="0">
                <a:solidFill>
                  <a:srgbClr val="E8EDF3"/>
                </a:solidFill>
                <a:latin typeface="JetBrains Mono" pitchFamily="49" charset="0"/>
                <a:ea typeface="JetBrains Mono" pitchFamily="49" charset="-122"/>
                <a:cs typeface="JetBrains Mono" pitchFamily="49" charset="-120"/>
              </a:rPr>
              <a:t>, 19,</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C94C"/>
                </a:solidFill>
                <a:latin typeface="JetBrains Mono" pitchFamily="49" charset="0"/>
                <a:ea typeface="JetBrains Mono" pitchFamily="49" charset="-122"/>
                <a:cs typeface="JetBrains Mono" pitchFamily="49" charset="-120"/>
              </a:rPr>
              <a:t>"Computer Science"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print(student[2])</a:t>
            </a:r>
            <a:endParaRPr lang="en-US" sz="1500" dirty="0"/>
          </a:p>
        </p:txBody>
      </p:sp>
      <p:sp>
        <p:nvSpPr>
          <p:cNvPr id="6" name="Text 4"/>
          <p:cNvSpPr/>
          <p:nvPr/>
        </p:nvSpPr>
        <p:spPr>
          <a:xfrm>
            <a:off x="6299200" y="1986228"/>
            <a:ext cx="52324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776AB"/>
                </a:solidFill>
                <a:latin typeface="DM Sans" pitchFamily="34" charset="0"/>
                <a:ea typeface="DM Sans" pitchFamily="34" charset="-122"/>
                <a:cs typeface="DM Sans" pitchFamily="34" charset="-120"/>
              </a:rPr>
              <a:t>Dictionary: by name</a:t>
            </a:r>
            <a:endParaRPr lang="en-US" sz="1600" dirty="0"/>
          </a:p>
        </p:txBody>
      </p:sp>
      <p:sp>
        <p:nvSpPr>
          <p:cNvPr id="7" name="Text 5"/>
          <p:cNvSpPr/>
          <p:nvPr/>
        </p:nvSpPr>
        <p:spPr>
          <a:xfrm>
            <a:off x="6299200" y="2397655"/>
            <a:ext cx="5080000" cy="2032000"/>
          </a:xfrm>
          <a:prstGeom prst="roundRect">
            <a:avLst>
              <a:gd name="adj" fmla="val 6250"/>
            </a:avLst>
          </a:prstGeom>
          <a:solidFill>
            <a:srgbClr val="1F2A37"/>
          </a:solidFill>
          <a:ln/>
        </p:spPr>
        <p:txBody>
          <a:bodyPr wrap="square" lIns="293003" tIns="216803" rIns="160415" bIns="191403" rtlCol="0" anchor="t">
            <a:normAutofit/>
          </a:bodyPr>
          <a:lstStyle/>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student = {</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C94C"/>
                </a:solidFill>
                <a:latin typeface="JetBrains Mono" pitchFamily="49" charset="0"/>
                <a:ea typeface="JetBrains Mono" pitchFamily="49" charset="-122"/>
                <a:cs typeface="JetBrains Mono" pitchFamily="49" charset="-120"/>
              </a:rPr>
              <a:t>"name"</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C94C"/>
                </a:solidFill>
                <a:latin typeface="JetBrains Mono" pitchFamily="49" charset="0"/>
                <a:ea typeface="JetBrains Mono" pitchFamily="49" charset="-122"/>
                <a:cs typeface="JetBrains Mono" pitchFamily="49" charset="-120"/>
              </a:rPr>
              <a:t>"Sara"</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C94C"/>
                </a:solidFill>
                <a:latin typeface="JetBrains Mono" pitchFamily="49" charset="0"/>
                <a:ea typeface="JetBrains Mono" pitchFamily="49" charset="-122"/>
                <a:cs typeface="JetBrains Mono" pitchFamily="49" charset="-120"/>
              </a:rPr>
              <a:t>"age"</a:t>
            </a:r>
            <a:r>
              <a:rPr lang="en-US" sz="1500" dirty="0">
                <a:solidFill>
                  <a:srgbClr val="E8EDF3"/>
                </a:solidFill>
                <a:latin typeface="JetBrains Mono" pitchFamily="49" charset="0"/>
                <a:ea typeface="JetBrains Mono" pitchFamily="49" charset="-122"/>
                <a:cs typeface="JetBrains Mono" pitchFamily="49" charset="-120"/>
              </a:rPr>
              <a:t>: 19,</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C94C"/>
                </a:solidFill>
                <a:latin typeface="JetBrains Mono" pitchFamily="49" charset="0"/>
                <a:ea typeface="JetBrains Mono" pitchFamily="49" charset="-122"/>
                <a:cs typeface="JetBrains Mono" pitchFamily="49" charset="-120"/>
              </a:rPr>
              <a:t>"major"</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C94C"/>
                </a:solidFill>
                <a:latin typeface="JetBrains Mono" pitchFamily="49" charset="0"/>
                <a:ea typeface="JetBrains Mono" pitchFamily="49" charset="-122"/>
                <a:cs typeface="JetBrains Mono" pitchFamily="49" charset="-120"/>
              </a:rPr>
              <a:t>"CS"</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print(student[</a:t>
            </a:r>
            <a:r>
              <a:rPr lang="en-US" sz="1500" dirty="0">
                <a:solidFill>
                  <a:srgbClr val="F2C94C"/>
                </a:solidFill>
                <a:latin typeface="JetBrains Mono" pitchFamily="49" charset="0"/>
                <a:ea typeface="JetBrains Mono" pitchFamily="49" charset="-122"/>
                <a:cs typeface="JetBrains Mono" pitchFamily="49" charset="-120"/>
              </a:rPr>
              <a:t>"major"</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9: dictionaries &amp; tuples</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WHAT IS A DICTIONARY?</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Pairs of key → value</a:t>
            </a:r>
            <a:endParaRPr lang="en-US" sz="3600" dirty="0"/>
          </a:p>
        </p:txBody>
      </p:sp>
      <p:sp>
        <p:nvSpPr>
          <p:cNvPr id="4" name="Text 2"/>
          <p:cNvSpPr/>
          <p:nvPr/>
        </p:nvSpPr>
        <p:spPr>
          <a:xfrm>
            <a:off x="812800" y="1998928"/>
            <a:ext cx="2159000" cy="538427"/>
          </a:xfrm>
          <a:prstGeom prst="roundRect">
            <a:avLst>
              <a:gd name="adj" fmla="val 16511"/>
            </a:avLst>
          </a:prstGeom>
          <a:solidFill>
            <a:srgbClr val="E3ECF6"/>
          </a:solidFill>
          <a:ln/>
        </p:spPr>
        <p:txBody>
          <a:bodyPr wrap="square" lIns="124711" tIns="100962" rIns="124711" bIns="75562" rtlCol="0" anchor="t">
            <a:normAutofit/>
          </a:bodyPr>
          <a:lstStyle/>
          <a:p>
            <a:pPr algn="ctr" indent="0" marL="0">
              <a:lnSpc>
                <a:spcPts val="2240"/>
              </a:lnSpc>
              <a:buNone/>
            </a:pPr>
            <a:r>
              <a:rPr lang="en-US" sz="1600" dirty="0">
                <a:solidFill>
                  <a:srgbClr val="1F2A37"/>
                </a:solidFill>
                <a:latin typeface="JetBrains Mono" pitchFamily="49" charset="0"/>
                <a:ea typeface="JetBrains Mono" pitchFamily="49" charset="-122"/>
                <a:cs typeface="JetBrains Mono" pitchFamily="49" charset="-120"/>
              </a:rPr>
              <a:t>"name"</a:t>
            </a:r>
            <a:endParaRPr lang="en-US" sz="1600" dirty="0"/>
          </a:p>
        </p:txBody>
      </p:sp>
      <p:pic>
        <p:nvPicPr>
          <p:cNvPr id="5" name="Image 0" descr="arrow-right">    </p:cNvPr>
          <p:cNvPicPr>
            <a:picLocks noChangeAspect="1"/>
          </p:cNvPicPr>
          <p:nvPr/>
        </p:nvPicPr>
        <p:blipFill>
          <a:blip r:embed="rId1"/>
          <a:srcRect l="0" r="0" t="0" b="0"/>
          <a:stretch/>
        </p:blipFill>
        <p:spPr>
          <a:xfrm>
            <a:off x="3073400" y="2166541"/>
            <a:ext cx="406400" cy="203200"/>
          </a:xfrm>
          <a:prstGeom prst="rect">
            <a:avLst/>
          </a:prstGeom>
        </p:spPr>
      </p:pic>
      <p:sp>
        <p:nvSpPr>
          <p:cNvPr id="6" name="Text 3"/>
          <p:cNvSpPr/>
          <p:nvPr/>
        </p:nvSpPr>
        <p:spPr>
          <a:xfrm>
            <a:off x="3689350" y="1992578"/>
            <a:ext cx="2146300" cy="551127"/>
          </a:xfrm>
          <a:prstGeom prst="roundRect">
            <a:avLst>
              <a:gd name="adj" fmla="val 14978"/>
            </a:avLst>
          </a:prstGeom>
          <a:solidFill>
            <a:srgbClr val="FFFFFF"/>
          </a:solidFill>
          <a:ln w="12700">
            <a:solidFill>
              <a:srgbClr val="D5DEE8"/>
            </a:solidFill>
            <a:prstDash val="solid"/>
          </a:ln>
        </p:spPr>
        <p:txBody>
          <a:bodyPr wrap="square" lIns="133302" tIns="109172" rIns="133302" bIns="83772" rtlCol="0" anchor="t">
            <a:normAutofit/>
          </a:bodyPr>
          <a:lstStyle/>
          <a:p>
            <a:pPr algn="ctr" indent="0" marL="0">
              <a:lnSpc>
                <a:spcPts val="2240"/>
              </a:lnSpc>
              <a:buNone/>
            </a:pPr>
            <a:r>
              <a:rPr lang="en-US" sz="1600" dirty="0">
                <a:solidFill>
                  <a:srgbClr val="1F2A37"/>
                </a:solidFill>
                <a:latin typeface="JetBrains Mono" pitchFamily="49" charset="0"/>
                <a:ea typeface="JetBrains Mono" pitchFamily="49" charset="-122"/>
                <a:cs typeface="JetBrains Mono" pitchFamily="49" charset="-120"/>
              </a:rPr>
              <a:t>"Sara"</a:t>
            </a:r>
            <a:endParaRPr lang="en-US" sz="1600" dirty="0"/>
          </a:p>
        </p:txBody>
      </p:sp>
      <p:sp>
        <p:nvSpPr>
          <p:cNvPr id="7" name="Text 4"/>
          <p:cNvSpPr/>
          <p:nvPr/>
        </p:nvSpPr>
        <p:spPr>
          <a:xfrm>
            <a:off x="812800" y="2664355"/>
            <a:ext cx="2159000" cy="538427"/>
          </a:xfrm>
          <a:prstGeom prst="roundRect">
            <a:avLst>
              <a:gd name="adj" fmla="val 16511"/>
            </a:avLst>
          </a:prstGeom>
          <a:solidFill>
            <a:srgbClr val="E3ECF6"/>
          </a:solidFill>
          <a:ln/>
        </p:spPr>
        <p:txBody>
          <a:bodyPr wrap="square" lIns="124711" tIns="100962" rIns="124711" bIns="75562" rtlCol="0" anchor="t">
            <a:normAutofit/>
          </a:bodyPr>
          <a:lstStyle/>
          <a:p>
            <a:pPr algn="ctr" indent="0" marL="0">
              <a:lnSpc>
                <a:spcPts val="2240"/>
              </a:lnSpc>
              <a:buNone/>
            </a:pPr>
            <a:r>
              <a:rPr lang="en-US" sz="1600" dirty="0">
                <a:solidFill>
                  <a:srgbClr val="1F2A37"/>
                </a:solidFill>
                <a:latin typeface="JetBrains Mono" pitchFamily="49" charset="0"/>
                <a:ea typeface="JetBrains Mono" pitchFamily="49" charset="-122"/>
                <a:cs typeface="JetBrains Mono" pitchFamily="49" charset="-120"/>
              </a:rPr>
              <a:t>"age"</a:t>
            </a:r>
            <a:endParaRPr lang="en-US" sz="1600" dirty="0"/>
          </a:p>
        </p:txBody>
      </p:sp>
      <p:pic>
        <p:nvPicPr>
          <p:cNvPr id="8" name="Image 1" descr="arrow-right">    </p:cNvPr>
          <p:cNvPicPr>
            <a:picLocks noChangeAspect="1"/>
          </p:cNvPicPr>
          <p:nvPr/>
        </p:nvPicPr>
        <p:blipFill>
          <a:blip r:embed="rId2"/>
          <a:srcRect l="0" r="0" t="0" b="0"/>
          <a:stretch/>
        </p:blipFill>
        <p:spPr>
          <a:xfrm>
            <a:off x="3073400" y="2831968"/>
            <a:ext cx="406400" cy="203200"/>
          </a:xfrm>
          <a:prstGeom prst="rect">
            <a:avLst/>
          </a:prstGeom>
        </p:spPr>
      </p:pic>
      <p:sp>
        <p:nvSpPr>
          <p:cNvPr id="9" name="Text 5"/>
          <p:cNvSpPr/>
          <p:nvPr/>
        </p:nvSpPr>
        <p:spPr>
          <a:xfrm>
            <a:off x="3689350" y="2658005"/>
            <a:ext cx="2146300" cy="551127"/>
          </a:xfrm>
          <a:prstGeom prst="roundRect">
            <a:avLst>
              <a:gd name="adj" fmla="val 14978"/>
            </a:avLst>
          </a:prstGeom>
          <a:solidFill>
            <a:srgbClr val="FFFFFF"/>
          </a:solidFill>
          <a:ln w="12700">
            <a:solidFill>
              <a:srgbClr val="D5DEE8"/>
            </a:solidFill>
            <a:prstDash val="solid"/>
          </a:ln>
        </p:spPr>
        <p:txBody>
          <a:bodyPr wrap="square" lIns="133302" tIns="109172" rIns="133302" bIns="83772" rtlCol="0" anchor="t">
            <a:normAutofit/>
          </a:bodyPr>
          <a:lstStyle/>
          <a:p>
            <a:pPr algn="ctr" indent="0" marL="0">
              <a:lnSpc>
                <a:spcPts val="2240"/>
              </a:lnSpc>
              <a:buNone/>
            </a:pPr>
            <a:r>
              <a:rPr lang="en-US" sz="1600" dirty="0">
                <a:solidFill>
                  <a:srgbClr val="1F2A37"/>
                </a:solidFill>
                <a:latin typeface="JetBrains Mono" pitchFamily="49" charset="0"/>
                <a:ea typeface="JetBrains Mono" pitchFamily="49" charset="-122"/>
                <a:cs typeface="JetBrains Mono" pitchFamily="49" charset="-120"/>
              </a:rPr>
              <a:t>19</a:t>
            </a:r>
            <a:endParaRPr lang="en-US" sz="1600" dirty="0"/>
          </a:p>
        </p:txBody>
      </p:sp>
      <p:sp>
        <p:nvSpPr>
          <p:cNvPr id="10" name="Text 6"/>
          <p:cNvSpPr/>
          <p:nvPr/>
        </p:nvSpPr>
        <p:spPr>
          <a:xfrm>
            <a:off x="812800" y="3329781"/>
            <a:ext cx="2159000" cy="538427"/>
          </a:xfrm>
          <a:prstGeom prst="roundRect">
            <a:avLst>
              <a:gd name="adj" fmla="val 16511"/>
            </a:avLst>
          </a:prstGeom>
          <a:solidFill>
            <a:srgbClr val="E3ECF6"/>
          </a:solidFill>
          <a:ln/>
        </p:spPr>
        <p:txBody>
          <a:bodyPr wrap="square" lIns="124711" tIns="100962" rIns="124711" bIns="75562" rtlCol="0" anchor="t">
            <a:normAutofit/>
          </a:bodyPr>
          <a:lstStyle/>
          <a:p>
            <a:pPr algn="ctr" indent="0" marL="0">
              <a:lnSpc>
                <a:spcPts val="2240"/>
              </a:lnSpc>
              <a:buNone/>
            </a:pPr>
            <a:r>
              <a:rPr lang="en-US" sz="1600" dirty="0">
                <a:solidFill>
                  <a:srgbClr val="1F2A37"/>
                </a:solidFill>
                <a:latin typeface="JetBrains Mono" pitchFamily="49" charset="0"/>
                <a:ea typeface="JetBrains Mono" pitchFamily="49" charset="-122"/>
                <a:cs typeface="JetBrains Mono" pitchFamily="49" charset="-120"/>
              </a:rPr>
              <a:t>"gpa"</a:t>
            </a:r>
            <a:endParaRPr lang="en-US" sz="1600" dirty="0"/>
          </a:p>
        </p:txBody>
      </p:sp>
      <p:pic>
        <p:nvPicPr>
          <p:cNvPr id="11" name="Image 2" descr="arrow-right">    </p:cNvPr>
          <p:cNvPicPr>
            <a:picLocks noChangeAspect="1"/>
          </p:cNvPicPr>
          <p:nvPr/>
        </p:nvPicPr>
        <p:blipFill>
          <a:blip r:embed="rId3"/>
          <a:srcRect l="0" r="0" t="0" b="0"/>
          <a:stretch/>
        </p:blipFill>
        <p:spPr>
          <a:xfrm>
            <a:off x="3073400" y="3497396"/>
            <a:ext cx="406400" cy="203200"/>
          </a:xfrm>
          <a:prstGeom prst="rect">
            <a:avLst/>
          </a:prstGeom>
        </p:spPr>
      </p:pic>
      <p:sp>
        <p:nvSpPr>
          <p:cNvPr id="12" name="Text 7"/>
          <p:cNvSpPr/>
          <p:nvPr/>
        </p:nvSpPr>
        <p:spPr>
          <a:xfrm>
            <a:off x="3689350" y="3323431"/>
            <a:ext cx="2146300" cy="551127"/>
          </a:xfrm>
          <a:prstGeom prst="roundRect">
            <a:avLst>
              <a:gd name="adj" fmla="val 14978"/>
            </a:avLst>
          </a:prstGeom>
          <a:solidFill>
            <a:srgbClr val="FFFFFF"/>
          </a:solidFill>
          <a:ln w="12700">
            <a:solidFill>
              <a:srgbClr val="D5DEE8"/>
            </a:solidFill>
            <a:prstDash val="solid"/>
          </a:ln>
        </p:spPr>
        <p:txBody>
          <a:bodyPr wrap="square" lIns="133302" tIns="109172" rIns="133302" bIns="83772" rtlCol="0" anchor="t">
            <a:normAutofit/>
          </a:bodyPr>
          <a:lstStyle/>
          <a:p>
            <a:pPr algn="ctr" indent="0" marL="0">
              <a:lnSpc>
                <a:spcPts val="2240"/>
              </a:lnSpc>
              <a:buNone/>
            </a:pPr>
            <a:r>
              <a:rPr lang="en-US" sz="1600" dirty="0">
                <a:solidFill>
                  <a:srgbClr val="1F2A37"/>
                </a:solidFill>
                <a:latin typeface="JetBrains Mono" pitchFamily="49" charset="0"/>
                <a:ea typeface="JetBrains Mono" pitchFamily="49" charset="-122"/>
                <a:cs typeface="JetBrains Mono" pitchFamily="49" charset="-120"/>
              </a:rPr>
              <a:t>3.7</a:t>
            </a:r>
            <a:endParaRPr lang="en-US" sz="1600" dirty="0"/>
          </a:p>
        </p:txBody>
      </p:sp>
      <p:sp>
        <p:nvSpPr>
          <p:cNvPr id="13" name="Text 8"/>
          <p:cNvSpPr/>
          <p:nvPr/>
        </p:nvSpPr>
        <p:spPr>
          <a:xfrm>
            <a:off x="780415" y="3982509"/>
            <a:ext cx="2223770" cy="256514"/>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3776AB"/>
                </a:solidFill>
                <a:latin typeface="DM Sans" pitchFamily="34" charset="0"/>
                <a:ea typeface="DM Sans" pitchFamily="34" charset="-122"/>
                <a:cs typeface="DM Sans" pitchFamily="34" charset="-120"/>
              </a:rPr>
              <a:t>key</a:t>
            </a:r>
            <a:endParaRPr lang="en-US" sz="1300" dirty="0"/>
          </a:p>
        </p:txBody>
      </p:sp>
      <p:sp>
        <p:nvSpPr>
          <p:cNvPr id="14" name="Text 9"/>
          <p:cNvSpPr/>
          <p:nvPr/>
        </p:nvSpPr>
        <p:spPr>
          <a:xfrm>
            <a:off x="3650615" y="3982509"/>
            <a:ext cx="2223770" cy="256514"/>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4A5568"/>
                </a:solidFill>
                <a:latin typeface="DM Sans" pitchFamily="34" charset="0"/>
                <a:ea typeface="DM Sans" pitchFamily="34" charset="-122"/>
                <a:cs typeface="DM Sans" pitchFamily="34" charset="-120"/>
              </a:rPr>
              <a:t>value</a:t>
            </a:r>
            <a:endParaRPr lang="en-US" sz="1300" dirty="0"/>
          </a:p>
        </p:txBody>
      </p:sp>
      <p:sp>
        <p:nvSpPr>
          <p:cNvPr id="15" name="Text 10"/>
          <p:cNvSpPr/>
          <p:nvPr/>
        </p:nvSpPr>
        <p:spPr>
          <a:xfrm>
            <a:off x="6350000" y="2207220"/>
            <a:ext cx="5180076" cy="338402"/>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1F2A37"/>
                </a:solidFill>
                <a:latin typeface="DM Sans" pitchFamily="34" charset="0"/>
                <a:ea typeface="DM Sans" pitchFamily="34" charset="-122"/>
                <a:cs typeface="DM Sans" pitchFamily="34" charset="-120"/>
              </a:rPr>
              <a:t>Curly brackets </a:t>
            </a:r>
            <a:r>
              <a:rPr lang="en-US" sz="1700" b="1" dirty="0">
                <a:solidFill>
                  <a:srgbClr val="1F2A37"/>
                </a:solidFill>
                <a:latin typeface="DM Sans" pitchFamily="34" charset="0"/>
                <a:ea typeface="DM Sans" pitchFamily="34" charset="-122"/>
                <a:cs typeface="DM Sans" pitchFamily="34" charset="-120"/>
              </a:rPr>
              <a:t>{ }</a:t>
            </a:r>
            <a:endParaRPr lang="en-US" sz="1700" dirty="0"/>
          </a:p>
        </p:txBody>
      </p:sp>
      <p:sp>
        <p:nvSpPr>
          <p:cNvPr id="16" name="Text 11"/>
          <p:cNvSpPr/>
          <p:nvPr/>
        </p:nvSpPr>
        <p:spPr>
          <a:xfrm>
            <a:off x="6350000" y="2698023"/>
            <a:ext cx="5180076" cy="338402"/>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1F2A37"/>
                </a:solidFill>
                <a:latin typeface="DM Sans" pitchFamily="34" charset="0"/>
                <a:ea typeface="DM Sans" pitchFamily="34" charset="-122"/>
                <a:cs typeface="DM Sans" pitchFamily="34" charset="-120"/>
              </a:rPr>
              <a:t>Each pair is </a:t>
            </a:r>
            <a:r>
              <a:rPr lang="en-US" sz="1700" b="1" dirty="0">
                <a:solidFill>
                  <a:srgbClr val="1F2A37"/>
                </a:solidFill>
                <a:latin typeface="DM Sans" pitchFamily="34" charset="0"/>
                <a:ea typeface="DM Sans" pitchFamily="34" charset="-122"/>
                <a:cs typeface="DM Sans" pitchFamily="34" charset="-120"/>
              </a:rPr>
              <a:t>key: value</a:t>
            </a:r>
            <a:endParaRPr lang="en-US" sz="1700" dirty="0"/>
          </a:p>
        </p:txBody>
      </p:sp>
      <p:sp>
        <p:nvSpPr>
          <p:cNvPr id="17" name="Text 12"/>
          <p:cNvSpPr/>
          <p:nvPr/>
        </p:nvSpPr>
        <p:spPr>
          <a:xfrm>
            <a:off x="6350000" y="3188826"/>
            <a:ext cx="5180076" cy="338402"/>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1F2A37"/>
                </a:solidFill>
                <a:latin typeface="DM Sans" pitchFamily="34" charset="0"/>
                <a:ea typeface="DM Sans" pitchFamily="34" charset="-122"/>
                <a:cs typeface="DM Sans" pitchFamily="34" charset="-120"/>
              </a:rPr>
              <a:t>Keys must be </a:t>
            </a:r>
            <a:r>
              <a:rPr lang="en-US" sz="1700" b="1" dirty="0">
                <a:solidFill>
                  <a:srgbClr val="1F2A37"/>
                </a:solidFill>
                <a:latin typeface="DM Sans" pitchFamily="34" charset="0"/>
                <a:ea typeface="DM Sans" pitchFamily="34" charset="-122"/>
                <a:cs typeface="DM Sans" pitchFamily="34" charset="-120"/>
              </a:rPr>
              <a:t>unique</a:t>
            </a:r>
            <a:endParaRPr lang="en-US" sz="1700" dirty="0"/>
          </a:p>
        </p:txBody>
      </p:sp>
      <p:sp>
        <p:nvSpPr>
          <p:cNvPr id="18" name="Text 13"/>
          <p:cNvSpPr/>
          <p:nvPr/>
        </p:nvSpPr>
        <p:spPr>
          <a:xfrm>
            <a:off x="6350000" y="3679627"/>
            <a:ext cx="5180076" cy="338402"/>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4A5568"/>
                </a:solidFill>
                <a:latin typeface="DM Sans" pitchFamily="34" charset="0"/>
                <a:ea typeface="DM Sans" pitchFamily="34" charset="-122"/>
                <a:cs typeface="DM Sans" pitchFamily="34" charset="-120"/>
              </a:rPr>
              <a:t>Like a real dictionary: </a:t>
            </a:r>
            <a:r>
              <a:rPr lang="en-US" sz="1700" b="1" dirty="0">
                <a:solidFill>
                  <a:srgbClr val="4A5568"/>
                </a:solidFill>
                <a:latin typeface="DM Sans" pitchFamily="34" charset="0"/>
                <a:ea typeface="DM Sans" pitchFamily="34" charset="-122"/>
                <a:cs typeface="DM Sans" pitchFamily="34" charset="-120"/>
              </a:rPr>
              <a:t>word → meaning</a:t>
            </a:r>
            <a:endParaRPr lang="en-US" sz="1700" dirty="0"/>
          </a:p>
        </p:txBody>
      </p:sp>
      <p:sp>
        <p:nvSpPr>
          <p:cNvPr id="19"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9: dictionaries &amp; tuples</a:t>
            </a:r>
            <a:endParaRPr lang="en-US" sz="1200" dirty="0"/>
          </a:p>
        </p:txBody>
      </p:sp>
      <p:sp>
        <p:nvSpPr>
          <p:cNvPr id="20"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READING VALUES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Use the key in square brackets</a:t>
            </a:r>
            <a:endParaRPr lang="en-US" sz="3600" dirty="0"/>
          </a:p>
        </p:txBody>
      </p:sp>
      <p:sp>
        <p:nvSpPr>
          <p:cNvPr id="4" name="Text 2"/>
          <p:cNvSpPr/>
          <p:nvPr/>
        </p:nvSpPr>
        <p:spPr>
          <a:xfrm>
            <a:off x="812800" y="1986229"/>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5"/>
            <a:ext cx="6096000" cy="2387600"/>
          </a:xfrm>
          <a:prstGeom prst="roundRect">
            <a:avLst>
              <a:gd name="adj" fmla="val 5319"/>
            </a:avLst>
          </a:prstGeom>
          <a:solidFill>
            <a:srgbClr val="1F2A37"/>
          </a:solidFill>
          <a:ln/>
        </p:spPr>
        <p:txBody>
          <a:bodyPr wrap="square" lIns="293003" tIns="242203" rIns="129935" bIns="216803" rtlCol="0" anchor="t">
            <a:normAutofit/>
          </a:bodyPr>
          <a:lstStyle/>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s = {</a:t>
            </a:r>
            <a:r>
              <a:rPr lang="en-US" sz="1500" dirty="0">
                <a:solidFill>
                  <a:srgbClr val="F2C94C"/>
                </a:solidFill>
                <a:latin typeface="JetBrains Mono" pitchFamily="49" charset="0"/>
                <a:ea typeface="JetBrains Mono" pitchFamily="49" charset="-122"/>
                <a:cs typeface="JetBrains Mono" pitchFamily="49" charset="-120"/>
              </a:rPr>
              <a:t>"name"</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C94C"/>
                </a:solidFill>
                <a:latin typeface="JetBrains Mono" pitchFamily="49" charset="0"/>
                <a:ea typeface="JetBrains Mono" pitchFamily="49" charset="-122"/>
                <a:cs typeface="JetBrains Mono" pitchFamily="49" charset="-120"/>
              </a:rPr>
              <a:t>"Sara"</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C94C"/>
                </a:solidFill>
                <a:latin typeface="JetBrains Mono" pitchFamily="49" charset="0"/>
                <a:ea typeface="JetBrains Mono" pitchFamily="49" charset="-122"/>
                <a:cs typeface="JetBrains Mono" pitchFamily="49" charset="-120"/>
              </a:rPr>
              <a:t>"age"</a:t>
            </a:r>
            <a:r>
              <a:rPr lang="en-US" sz="1500" dirty="0">
                <a:solidFill>
                  <a:srgbClr val="E8EDF3"/>
                </a:solidFill>
                <a:latin typeface="JetBrains Mono" pitchFamily="49" charset="0"/>
                <a:ea typeface="JetBrains Mono" pitchFamily="49" charset="-122"/>
                <a:cs typeface="JetBrains Mono" pitchFamily="49" charset="-120"/>
              </a:rPr>
              <a:t>: 19}</a:t>
            </a:r>
            <a:endParaRPr lang="en-US" sz="1500" dirty="0"/>
          </a:p>
          <a:p>
            <a:pPr algn="l" indent="0" marL="0">
              <a:lnSpc>
                <a:spcPts val="2400"/>
              </a:lnSpc>
              <a:buNone/>
            </a:pP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print(s[</a:t>
            </a:r>
            <a:r>
              <a:rPr lang="en-US" sz="1500" dirty="0">
                <a:solidFill>
                  <a:srgbClr val="F2C94C"/>
                </a:solidFill>
                <a:latin typeface="JetBrains Mono" pitchFamily="49" charset="0"/>
                <a:ea typeface="JetBrains Mono" pitchFamily="49" charset="-122"/>
                <a:cs typeface="JetBrains Mono" pitchFamily="49" charset="-120"/>
              </a:rPr>
              <a:t>"name"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print(len(s))</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a:t>
            </a:r>
            <a:r>
              <a:rPr lang="en-US" sz="1500" dirty="0">
                <a:solidFill>
                  <a:srgbClr val="F2C94C"/>
                </a:solidFill>
                <a:latin typeface="JetBrains Mono" pitchFamily="49" charset="0"/>
                <a:ea typeface="JetBrains Mono" pitchFamily="49" charset="-122"/>
                <a:cs typeface="JetBrains Mono" pitchFamily="49" charset="-120"/>
              </a:rPr>
              <a:t>"age"</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8EC1F0"/>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s)</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print(s.get(</a:t>
            </a:r>
            <a:r>
              <a:rPr lang="en-US" sz="1500" dirty="0">
                <a:solidFill>
                  <a:srgbClr val="F2C94C"/>
                </a:solidFill>
                <a:latin typeface="JetBrains Mono" pitchFamily="49" charset="0"/>
                <a:ea typeface="JetBrains Mono" pitchFamily="49" charset="-122"/>
                <a:cs typeface="JetBrains Mono" pitchFamily="49" charset="-120"/>
              </a:rPr>
              <a:t>"email"</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C94C"/>
                </a:solidFill>
                <a:latin typeface="JetBrains Mono" pitchFamily="49" charset="0"/>
                <a:ea typeface="JetBrains Mono" pitchFamily="49" charset="-122"/>
                <a:cs typeface="JetBrains Mono" pitchFamily="49" charset="-120"/>
              </a:rPr>
              <a:t>"none"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6" name="Text 4"/>
          <p:cNvSpPr/>
          <p:nvPr/>
        </p:nvSpPr>
        <p:spPr>
          <a:xfrm>
            <a:off x="7315200" y="1986229"/>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7315200" y="2362135"/>
            <a:ext cx="4064000" cy="1778000"/>
          </a:xfrm>
          <a:prstGeom prst="roundRect">
            <a:avLst>
              <a:gd name="adj" fmla="val 7143"/>
            </a:avLst>
          </a:prstGeom>
          <a:solidFill>
            <a:srgbClr val="EEF2F6"/>
          </a:solidFill>
          <a:ln/>
        </p:spPr>
        <p:txBody>
          <a:bodyPr wrap="square" lIns="318403" tIns="242203" rIns="165495" bIns="216803" rtlCol="0" anchor="t">
            <a:normAutofit/>
          </a:bodyPr>
          <a:lstStyle/>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Sara</a:t>
            </a:r>
            <a:endParaRPr lang="en-US" sz="1500" dirty="0"/>
          </a:p>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2</a:t>
            </a:r>
            <a:endParaRPr lang="en-US" sz="1500" dirty="0"/>
          </a:p>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True</a:t>
            </a:r>
            <a:endParaRPr lang="en-US" sz="1500" dirty="0"/>
          </a:p>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none</a:t>
            </a:r>
            <a:endParaRPr lang="en-US" sz="1500" dirty="0"/>
          </a:p>
        </p:txBody>
      </p:sp>
      <p:sp>
        <p:nvSpPr>
          <p:cNvPr id="8" name="Shape 6"/>
          <p:cNvSpPr/>
          <p:nvPr/>
        </p:nvSpPr>
        <p:spPr>
          <a:xfrm>
            <a:off x="7315200" y="2362135"/>
            <a:ext cx="4064000" cy="1778000"/>
          </a:xfrm>
          <a:custGeom>
            <a:avLst/>
            <a:gdLst/>
            <a:ahLst/>
            <a:cxnLst/>
            <a:rect l="l" t="t" r="r" b="b"/>
            <a:pathLst>
              <a:path w="4064000" h="1778000">
                <a:moveTo>
                  <a:pt x="127000" y="1778000"/>
                </a:moveTo>
                <a:lnTo>
                  <a:pt x="127000" y="1778000"/>
                </a:lnTo>
                <a:arcTo hR="127000" wR="127000" stAng="5400000" swAng="5400000"/>
                <a:lnTo>
                  <a:pt x="0" y="127000"/>
                </a:lnTo>
                <a:arcTo hR="127000" wR="127000" stAng="10800000" swAng="5400000"/>
                <a:lnTo>
                  <a:pt x="127000" y="0"/>
                </a:lnTo>
                <a:arcTo hR="127000" wR="76200" stAng="16200000" swAng="-5400000"/>
                <a:lnTo>
                  <a:pt x="50800" y="1651000"/>
                </a:lnTo>
                <a:arcTo hR="127000" wR="76200" stAng="10800000" swAng="-5400000"/>
                <a:close/>
              </a:path>
            </a:pathLst>
          </a:custGeom>
          <a:solidFill>
            <a:srgbClr val="3776AB"/>
          </a:solidFill>
          <a:ln/>
        </p:spPr>
      </p:sp>
      <p:sp>
        <p:nvSpPr>
          <p:cNvPr id="9" name="Text 7"/>
          <p:cNvSpPr/>
          <p:nvPr/>
        </p:nvSpPr>
        <p:spPr>
          <a:xfrm>
            <a:off x="7315200" y="4267135"/>
            <a:ext cx="4185920" cy="30162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4A5568"/>
                </a:solidFill>
                <a:latin typeface="DM Sans" pitchFamily="34" charset="0"/>
                <a:ea typeface="DM Sans" pitchFamily="34" charset="-122"/>
                <a:cs typeface="DM Sans" pitchFamily="34" charset="-120"/>
              </a:rPr>
              <a:t>get()</a:t>
            </a:r>
            <a:r>
              <a:rPr lang="en-US" sz="1500" dirty="0">
                <a:solidFill>
                  <a:srgbClr val="4A5568"/>
                </a:solidFill>
                <a:latin typeface="DM Sans" pitchFamily="34" charset="0"/>
                <a:ea typeface="DM Sans" pitchFamily="34" charset="-122"/>
                <a:cs typeface="DM Sans" pitchFamily="34" charset="-120"/>
              </a:rPr>
              <a:t> gives a default instead of an error.</a:t>
            </a:r>
            <a:endParaRPr lang="en-US" sz="15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9: dictionaries &amp; tuples</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CHANGING A DICTIONARY ✏️</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Add, change and delete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29"/>
          <a:ext cx="10553700" cy="2196703"/>
        </p:xfrm>
        <a:graphic>
          <a:graphicData uri="http://schemas.openxmlformats.org/drawingml/2006/table">
            <a:tbl>
              <a:tblPr/>
              <a:tblGrid>
                <a:gridCol w="4854702"/>
                <a:gridCol w="5698998"/>
              </a:tblGrid>
              <a:tr h="439341">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s = {"name": "Sara", "age": 19}</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What it does</a:t>
                      </a:r>
                      <a:endParaRPr lang="en-US" sz="1600" dirty="0">
                        <a:latin typeface="DM Sans" charset="0"/>
                        <a:ea typeface="DM Sans" charset="0"/>
                        <a:cs typeface="DM Sans" charset="0"/>
                      </a:endParaRPr>
                    </a:p>
                  </a:txBody>
                  <a:tcPr marL="71120" marR="71120" marT="71120" marB="7112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s["email"] = "s@mail.com"</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add a new key</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s["age"] = 20</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change an existing key</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del s["email"]</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delete a key</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s.pop("age")</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delete and give back the value</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bl>
          </a:graphicData>
        </a:graphic>
      </p:graphicFrame>
      <p:sp>
        <p:nvSpPr>
          <p:cNvPr id="5" name="Text 2"/>
          <p:cNvSpPr/>
          <p:nvPr/>
        </p:nvSpPr>
        <p:spPr>
          <a:xfrm>
            <a:off x="812800" y="4449632"/>
            <a:ext cx="10883392" cy="320014"/>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DM Sans" pitchFamily="34" charset="0"/>
                <a:ea typeface="DM Sans" pitchFamily="34" charset="-122"/>
                <a:cs typeface="DM Sans" pitchFamily="34" charset="-120"/>
              </a:rPr>
              <a:t>Same code to add or change: if the key exists it’s </a:t>
            </a:r>
            <a:r>
              <a:rPr lang="en-US" sz="1600" b="1" dirty="0">
                <a:solidFill>
                  <a:srgbClr val="4A5568"/>
                </a:solidFill>
                <a:latin typeface="DM Sans" pitchFamily="34" charset="0"/>
                <a:ea typeface="DM Sans" pitchFamily="34" charset="-122"/>
                <a:cs typeface="DM Sans" pitchFamily="34" charset="-120"/>
              </a:rPr>
              <a:t>changed</a:t>
            </a:r>
            <a:r>
              <a:rPr lang="en-US" sz="1600" dirty="0">
                <a:solidFill>
                  <a:srgbClr val="4A5568"/>
                </a:solidFill>
                <a:latin typeface="DM Sans" pitchFamily="34" charset="0"/>
                <a:ea typeface="DM Sans" pitchFamily="34" charset="-122"/>
                <a:cs typeface="DM Sans" pitchFamily="34" charset="-120"/>
              </a:rPr>
              <a:t>, if not it’s </a:t>
            </a:r>
            <a:r>
              <a:rPr lang="en-US" sz="1600" b="1" dirty="0">
                <a:solidFill>
                  <a:srgbClr val="4A5568"/>
                </a:solidFill>
                <a:latin typeface="DM Sans" pitchFamily="34" charset="0"/>
                <a:ea typeface="DM Sans" pitchFamily="34" charset="-122"/>
                <a:cs typeface="DM Sans" pitchFamily="34" charset="-120"/>
              </a:rPr>
              <a:t>added</a:t>
            </a:r>
            <a:r>
              <a:rPr lang="en-US" sz="1600" dirty="0">
                <a:solidFill>
                  <a:srgbClr val="4A5568"/>
                </a:solidFill>
                <a:latin typeface="DM Sans" pitchFamily="34" charset="0"/>
                <a:ea typeface="DM Sans" pitchFamily="34" charset="-122"/>
                <a:cs typeface="DM Sans" pitchFamily="34" charset="-120"/>
              </a:rPr>
              <a:t>.</a:t>
            </a:r>
            <a:endParaRPr lang="en-US" sz="16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9: dictionaries &amp; tuples</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LOOPING 🔁</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Keys and values together</a:t>
            </a:r>
            <a:endParaRPr lang="en-US" sz="3600" dirty="0"/>
          </a:p>
        </p:txBody>
      </p:sp>
      <p:sp>
        <p:nvSpPr>
          <p:cNvPr id="4" name="Text 2"/>
          <p:cNvSpPr/>
          <p:nvPr/>
        </p:nvSpPr>
        <p:spPr>
          <a:xfrm>
            <a:off x="812800" y="1986229"/>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5"/>
            <a:ext cx="6096000" cy="2387600"/>
          </a:xfrm>
          <a:prstGeom prst="roundRect">
            <a:avLst>
              <a:gd name="adj" fmla="val 5319"/>
            </a:avLst>
          </a:prstGeom>
          <a:solidFill>
            <a:srgbClr val="1F2A37"/>
          </a:solidFill>
          <a:ln/>
        </p:spPr>
        <p:txBody>
          <a:bodyPr wrap="square" lIns="293003" tIns="242203" rIns="129935" bIns="216803" rtlCol="0" anchor="t">
            <a:normAutofit/>
          </a:bodyPr>
          <a:lstStyle/>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prices = {</a:t>
            </a:r>
            <a:r>
              <a:rPr lang="en-US" sz="1500" dirty="0">
                <a:solidFill>
                  <a:srgbClr val="F2C94C"/>
                </a:solidFill>
                <a:latin typeface="JetBrains Mono" pitchFamily="49" charset="0"/>
                <a:ea typeface="JetBrains Mono" pitchFamily="49" charset="-122"/>
                <a:cs typeface="JetBrains Mono" pitchFamily="49" charset="-120"/>
              </a:rPr>
              <a:t>"apple"</a:t>
            </a:r>
            <a:r>
              <a:rPr lang="en-US" sz="1500" dirty="0">
                <a:solidFill>
                  <a:srgbClr val="E8EDF3"/>
                </a:solidFill>
                <a:latin typeface="JetBrains Mono" pitchFamily="49" charset="0"/>
                <a:ea typeface="JetBrains Mono" pitchFamily="49" charset="-122"/>
                <a:cs typeface="JetBrains Mono" pitchFamily="49" charset="-120"/>
              </a:rPr>
              <a:t>: 1.5,</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C94C"/>
                </a:solidFill>
                <a:latin typeface="JetBrains Mono" pitchFamily="49" charset="0"/>
                <a:ea typeface="JetBrains Mono" pitchFamily="49" charset="-122"/>
                <a:cs typeface="JetBrains Mono" pitchFamily="49" charset="-120"/>
              </a:rPr>
              <a:t>"bread"</a:t>
            </a:r>
            <a:r>
              <a:rPr lang="en-US" sz="1500" dirty="0">
                <a:solidFill>
                  <a:srgbClr val="E8EDF3"/>
                </a:solidFill>
                <a:latin typeface="JetBrains Mono" pitchFamily="49" charset="0"/>
                <a:ea typeface="JetBrains Mono" pitchFamily="49" charset="-122"/>
                <a:cs typeface="JetBrains Mono" pitchFamily="49" charset="-120"/>
              </a:rPr>
              <a:t>: 3.25,</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C94C"/>
                </a:solidFill>
                <a:latin typeface="JetBrains Mono" pitchFamily="49" charset="0"/>
                <a:ea typeface="JetBrains Mono" pitchFamily="49" charset="-122"/>
                <a:cs typeface="JetBrains Mono" pitchFamily="49" charset="-120"/>
              </a:rPr>
              <a:t>"milk"</a:t>
            </a:r>
            <a:r>
              <a:rPr lang="en-US" sz="1500" dirty="0">
                <a:solidFill>
                  <a:srgbClr val="E8EDF3"/>
                </a:solidFill>
                <a:latin typeface="JetBrains Mono" pitchFamily="49" charset="0"/>
                <a:ea typeface="JetBrains Mono" pitchFamily="49" charset="-122"/>
                <a:cs typeface="JetBrains Mono" pitchFamily="49" charset="-120"/>
              </a:rPr>
              <a:t>: 4.0}</a:t>
            </a:r>
            <a:endParaRPr lang="en-US" sz="1500" dirty="0"/>
          </a:p>
          <a:p>
            <a:pPr algn="l" indent="0" marL="0">
              <a:lnSpc>
                <a:spcPts val="2400"/>
              </a:lnSpc>
              <a:buNone/>
            </a:pPr>
            <a:endParaRPr lang="en-US" sz="1500" dirty="0"/>
          </a:p>
          <a:p>
            <a:pPr algn="l" indent="0" marL="0">
              <a:lnSpc>
                <a:spcPts val="2400"/>
              </a:lnSpc>
              <a:buNone/>
            </a:pPr>
            <a:r>
              <a:rPr lang="en-US" sz="1500" dirty="0">
                <a:solidFill>
                  <a:srgbClr val="8EC1F0"/>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item, price </a:t>
            </a:r>
            <a:r>
              <a:rPr lang="en-US" sz="1500" dirty="0">
                <a:solidFill>
                  <a:srgbClr val="8EC1F0"/>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prices.items():</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print(</a:t>
            </a:r>
            <a:r>
              <a:rPr lang="en-US" sz="1500" dirty="0">
                <a:solidFill>
                  <a:srgbClr val="F2C94C"/>
                </a:solidFill>
                <a:latin typeface="JetBrains Mono" pitchFamily="49" charset="0"/>
                <a:ea typeface="JetBrains Mono" pitchFamily="49" charset="-122"/>
                <a:cs typeface="JetBrains Mono" pitchFamily="49" charset="-120"/>
              </a:rPr>
              <a:t>f"{item}: RM {price:.2f}"</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6" name="Text 4"/>
          <p:cNvSpPr/>
          <p:nvPr/>
        </p:nvSpPr>
        <p:spPr>
          <a:xfrm>
            <a:off x="7315200" y="1986229"/>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7315200" y="2362135"/>
            <a:ext cx="4064000" cy="1473200"/>
          </a:xfrm>
          <a:prstGeom prst="roundRect">
            <a:avLst>
              <a:gd name="adj" fmla="val 8621"/>
            </a:avLst>
          </a:prstGeom>
          <a:solidFill>
            <a:srgbClr val="EEF2F6"/>
          </a:solidFill>
          <a:ln/>
        </p:spPr>
        <p:txBody>
          <a:bodyPr wrap="square" lIns="318403" tIns="242203" rIns="165495" bIns="216803" rtlCol="0" anchor="t">
            <a:normAutofit/>
          </a:bodyPr>
          <a:lstStyle/>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apple: RM 1.50</a:t>
            </a:r>
            <a:endParaRPr lang="en-US" sz="1500" dirty="0"/>
          </a:p>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bread: RM 3.25</a:t>
            </a:r>
            <a:endParaRPr lang="en-US" sz="1500" dirty="0"/>
          </a:p>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milk: RM 4.00</a:t>
            </a:r>
            <a:endParaRPr lang="en-US" sz="1500" dirty="0"/>
          </a:p>
        </p:txBody>
      </p:sp>
      <p:sp>
        <p:nvSpPr>
          <p:cNvPr id="8" name="Shape 6"/>
          <p:cNvSpPr/>
          <p:nvPr/>
        </p:nvSpPr>
        <p:spPr>
          <a:xfrm>
            <a:off x="7315200" y="2362135"/>
            <a:ext cx="4064000" cy="1473200"/>
          </a:xfrm>
          <a:custGeom>
            <a:avLst/>
            <a:gdLst/>
            <a:ahLst/>
            <a:cxnLst/>
            <a:rect l="l" t="t" r="r" b="b"/>
            <a:pathLst>
              <a:path w="4064000" h="1473200">
                <a:moveTo>
                  <a:pt x="127000" y="1473200"/>
                </a:moveTo>
                <a:lnTo>
                  <a:pt x="127000" y="1473200"/>
                </a:lnTo>
                <a:arcTo hR="127000" wR="127000" stAng="5400000" swAng="5400000"/>
                <a:lnTo>
                  <a:pt x="0" y="127000"/>
                </a:lnTo>
                <a:arcTo hR="127000" wR="127000" stAng="10800000" swAng="5400000"/>
                <a:lnTo>
                  <a:pt x="127000" y="0"/>
                </a:lnTo>
                <a:arcTo hR="127000" wR="76200" stAng="16200000" swAng="-5400000"/>
                <a:lnTo>
                  <a:pt x="50800" y="1346200"/>
                </a:lnTo>
                <a:arcTo hR="127000" wR="76200" stAng="10800000" swAng="-5400000"/>
                <a:close/>
              </a:path>
            </a:pathLst>
          </a:custGeom>
          <a:solidFill>
            <a:srgbClr val="3776AB"/>
          </a:solidFill>
          <a:ln/>
        </p:spPr>
      </p:sp>
      <p:sp>
        <p:nvSpPr>
          <p:cNvPr id="9" name="Text 7"/>
          <p:cNvSpPr/>
          <p:nvPr/>
        </p:nvSpPr>
        <p:spPr>
          <a:xfrm>
            <a:off x="7315200" y="3962335"/>
            <a:ext cx="418592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Also: </a:t>
            </a:r>
            <a:r>
              <a:rPr lang="en-US" sz="1500" b="1" dirty="0">
                <a:solidFill>
                  <a:srgbClr val="4A5568"/>
                </a:solidFill>
                <a:latin typeface="DM Sans" pitchFamily="34" charset="0"/>
                <a:ea typeface="DM Sans" pitchFamily="34" charset="-122"/>
                <a:cs typeface="DM Sans" pitchFamily="34" charset="-120"/>
              </a:rPr>
              <a:t>.keys()</a:t>
            </a:r>
            <a:r>
              <a:rPr lang="en-US" sz="1500" dirty="0">
                <a:solidFill>
                  <a:srgbClr val="4A5568"/>
                </a:solidFill>
                <a:latin typeface="DM Sans" pitchFamily="34" charset="0"/>
                <a:ea typeface="DM Sans" pitchFamily="34" charset="-122"/>
                <a:cs typeface="DM Sans" pitchFamily="34" charset="-120"/>
              </a:rPr>
              <a:t> and </a:t>
            </a:r>
            <a:r>
              <a:rPr lang="en-US" sz="1500" b="1" dirty="0">
                <a:solidFill>
                  <a:srgbClr val="4A5568"/>
                </a:solidFill>
                <a:latin typeface="DM Sans" pitchFamily="34" charset="0"/>
                <a:ea typeface="DM Sans" pitchFamily="34" charset="-122"/>
                <a:cs typeface="DM Sans" pitchFamily="34" charset="-120"/>
              </a:rPr>
              <a:t>.values()</a:t>
            </a:r>
            <a:endParaRPr lang="en-US" sz="15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9: dictionaries &amp; tuples</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F5F8A"/>
        </a:solidFill>
      </p:bgPr>
    </p:bg>
    <p:spTree>
      <p:nvGrpSpPr>
        <p:cNvPr id="1" name=""/>
        <p:cNvGrpSpPr/>
        <p:nvPr/>
      </p:nvGrpSpPr>
      <p:grpSpPr>
        <a:xfrm>
          <a:off x="0" y="0"/>
          <a:ext cx="0" cy="0"/>
          <a:chOff x="0" y="0"/>
          <a:chExt cx="0" cy="0"/>
        </a:xfrm>
      </p:grpSpPr>
      <p:sp>
        <p:nvSpPr>
          <p:cNvPr id="2" name="Text 0"/>
          <p:cNvSpPr/>
          <p:nvPr/>
        </p:nvSpPr>
        <p:spPr>
          <a:xfrm>
            <a:off x="812800" y="2211784"/>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FE0F1"/>
                </a:solidFill>
                <a:latin typeface="DM Sans" pitchFamily="34" charset="0"/>
                <a:ea typeface="DM Sans" pitchFamily="34" charset="-122"/>
                <a:cs typeface="DM Sans" pitchFamily="34" charset="-120"/>
              </a:rPr>
              <a:t>⚠️ WATCH OUT</a:t>
            </a:r>
            <a:endParaRPr lang="en-US" sz="1200" dirty="0"/>
          </a:p>
        </p:txBody>
      </p:sp>
      <p:sp>
        <p:nvSpPr>
          <p:cNvPr id="3" name="Text 1"/>
          <p:cNvSpPr/>
          <p:nvPr>
            <p:ph type="title"/>
          </p:nvPr>
        </p:nvSpPr>
        <p:spPr>
          <a:xfrm>
            <a:off x="812800" y="2628305"/>
            <a:ext cx="5127752" cy="1305454"/>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AF9F6"/>
                </a:solidFill>
                <a:latin typeface="DM Sans" pitchFamily="34" charset="0"/>
                <a:ea typeface="DM Sans" pitchFamily="34" charset="-122"/>
                <a:cs typeface="DM Sans" pitchFamily="34" charset="-120"/>
              </a:rPr>
              <a:t>A missing key = KeyError</a:t>
            </a:r>
            <a:endParaRPr lang="en-US" sz="4800" dirty="0"/>
          </a:p>
        </p:txBody>
      </p:sp>
      <p:sp>
        <p:nvSpPr>
          <p:cNvPr id="4" name="Text 2"/>
          <p:cNvSpPr/>
          <p:nvPr/>
        </p:nvSpPr>
        <p:spPr>
          <a:xfrm>
            <a:off x="812800" y="4111563"/>
            <a:ext cx="5127752" cy="356857"/>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E3ECF6"/>
                </a:solidFill>
                <a:latin typeface="DM Sans" pitchFamily="34" charset="0"/>
                <a:ea typeface="DM Sans" pitchFamily="34" charset="-122"/>
                <a:cs typeface="DM Sans" pitchFamily="34" charset="-120"/>
              </a:rPr>
              <a:t>Check with </a:t>
            </a:r>
            <a:r>
              <a:rPr lang="en-US" sz="1800" b="1" dirty="0">
                <a:solidFill>
                  <a:srgbClr val="E3ECF6"/>
                </a:solidFill>
                <a:latin typeface="DM Sans" pitchFamily="34" charset="0"/>
                <a:ea typeface="DM Sans" pitchFamily="34" charset="-122"/>
                <a:cs typeface="DM Sans" pitchFamily="34" charset="-120"/>
              </a:rPr>
              <a:t>in</a:t>
            </a:r>
            <a:r>
              <a:rPr lang="en-US" sz="1800" dirty="0">
                <a:solidFill>
                  <a:srgbClr val="E3ECF6"/>
                </a:solidFill>
                <a:latin typeface="DM Sans" pitchFamily="34" charset="0"/>
                <a:ea typeface="DM Sans" pitchFamily="34" charset="-122"/>
                <a:cs typeface="DM Sans" pitchFamily="34" charset="-120"/>
              </a:rPr>
              <a:t> first, or use </a:t>
            </a:r>
            <a:r>
              <a:rPr lang="en-US" sz="1800" b="1" dirty="0">
                <a:solidFill>
                  <a:srgbClr val="E3ECF6"/>
                </a:solidFill>
                <a:latin typeface="DM Sans" pitchFamily="34" charset="0"/>
                <a:ea typeface="DM Sans" pitchFamily="34" charset="-122"/>
                <a:cs typeface="DM Sans" pitchFamily="34" charset="-120"/>
              </a:rPr>
              <a:t>get()</a:t>
            </a:r>
            <a:r>
              <a:rPr lang="en-US" sz="1800" dirty="0">
                <a:solidFill>
                  <a:srgbClr val="E3ECF6"/>
                </a:solidFill>
                <a:latin typeface="DM Sans" pitchFamily="34" charset="0"/>
                <a:ea typeface="DM Sans" pitchFamily="34" charset="-122"/>
                <a:cs typeface="DM Sans" pitchFamily="34" charset="-120"/>
              </a:rPr>
              <a:t>.</a:t>
            </a:r>
            <a:endParaRPr lang="en-US" sz="1800" dirty="0"/>
          </a:p>
        </p:txBody>
      </p:sp>
      <p:sp>
        <p:nvSpPr>
          <p:cNvPr id="5" name="Text 3"/>
          <p:cNvSpPr/>
          <p:nvPr/>
        </p:nvSpPr>
        <p:spPr>
          <a:xfrm>
            <a:off x="6400800" y="1833894"/>
            <a:ext cx="4978400" cy="2986948"/>
          </a:xfrm>
          <a:prstGeom prst="roundRect">
            <a:avLst>
              <a:gd name="adj" fmla="val 5102"/>
            </a:avLst>
          </a:prstGeom>
          <a:solidFill>
            <a:srgbClr val="1F2A37"/>
          </a:solidFill>
          <a:ln/>
        </p:spPr>
        <p:txBody>
          <a:bodyPr wrap="square" lIns="361764" tIns="310964" rIns="236796" bIns="285564" rtlCol="0" anchor="t">
            <a:normAutofit/>
          </a:bodyPr>
          <a:lstStyle/>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s = {</a:t>
            </a:r>
            <a:r>
              <a:rPr lang="en-US" sz="1600" dirty="0">
                <a:solidFill>
                  <a:srgbClr val="F2C94C"/>
                </a:solidFill>
                <a:latin typeface="JetBrains Mono" pitchFamily="49" charset="0"/>
                <a:ea typeface="JetBrains Mono" pitchFamily="49" charset="-122"/>
                <a:cs typeface="JetBrains Mono" pitchFamily="49" charset="-120"/>
              </a:rPr>
              <a:t>"name"</a:t>
            </a:r>
            <a:r>
              <a:rPr lang="en-US" sz="1600" dirty="0">
                <a:solidFill>
                  <a:srgbClr val="E8EDF3"/>
                </a:solidFill>
                <a:latin typeface="JetBrains Mono" pitchFamily="49" charset="0"/>
                <a:ea typeface="JetBrains Mono" pitchFamily="49" charset="-122"/>
                <a:cs typeface="JetBrains Mono" pitchFamily="49" charset="-120"/>
              </a:rPr>
              <a:t>: </a:t>
            </a:r>
            <a:r>
              <a:rPr lang="en-US" sz="1600" dirty="0">
                <a:solidFill>
                  <a:srgbClr val="F2C94C"/>
                </a:solidFill>
                <a:latin typeface="JetBrains Mono" pitchFamily="49" charset="0"/>
                <a:ea typeface="JetBrains Mono" pitchFamily="49" charset="-122"/>
                <a:cs typeface="JetBrains Mono" pitchFamily="49" charset="-120"/>
              </a:rPr>
              <a:t>"Sara"</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s[</a:t>
            </a:r>
            <a:r>
              <a:rPr lang="en-US" sz="1600" dirty="0">
                <a:solidFill>
                  <a:srgbClr val="F2C94C"/>
                </a:solidFill>
                <a:latin typeface="JetBrains Mono" pitchFamily="49" charset="0"/>
                <a:ea typeface="JetBrains Mono" pitchFamily="49" charset="-122"/>
                <a:cs typeface="JetBrains Mono" pitchFamily="49" charset="-120"/>
              </a:rPr>
              <a:t>"email"</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93A1B3"/>
                </a:solidFill>
                <a:latin typeface="JetBrains Mono" pitchFamily="49" charset="0"/>
                <a:ea typeface="JetBrains Mono" pitchFamily="49" charset="-122"/>
                <a:cs typeface="JetBrains Mono" pitchFamily="49" charset="-120"/>
              </a:rPr>
              <a:t># ❌ KeyError</a:t>
            </a:r>
            <a:endParaRPr lang="en-US" sz="1600" dirty="0"/>
          </a:p>
          <a:p>
            <a:pPr algn="l" indent="0" marL="0">
              <a:lnSpc>
                <a:spcPts val="2560"/>
              </a:lnSpc>
              <a:buNone/>
            </a:pP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s.get(</a:t>
            </a:r>
            <a:r>
              <a:rPr lang="en-US" sz="1600" dirty="0">
                <a:solidFill>
                  <a:srgbClr val="F2C94C"/>
                </a:solidFill>
                <a:latin typeface="JetBrains Mono" pitchFamily="49" charset="0"/>
                <a:ea typeface="JetBrains Mono" pitchFamily="49" charset="-122"/>
                <a:cs typeface="JetBrains Mono" pitchFamily="49" charset="-120"/>
              </a:rPr>
              <a:t>"email"</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93A1B3"/>
                </a:solidFill>
                <a:latin typeface="JetBrains Mono" pitchFamily="49" charset="0"/>
                <a:ea typeface="JetBrains Mono" pitchFamily="49" charset="-122"/>
                <a:cs typeface="JetBrains Mono" pitchFamily="49" charset="-120"/>
              </a:rPr>
              <a:t># ✅ None</a:t>
            </a:r>
            <a:endParaRPr lang="en-US" sz="1600" dirty="0"/>
          </a:p>
        </p:txBody>
      </p:sp>
      <p:sp>
        <p:nvSpPr>
          <p:cNvPr id="6"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E0F1"/>
                </a:solidFill>
                <a:latin typeface="DM Sans" pitchFamily="34" charset="0"/>
                <a:ea typeface="DM Sans" pitchFamily="34" charset="-122"/>
                <a:cs typeface="DM Sans" pitchFamily="34" charset="-120"/>
              </a:rPr>
              <a:t>Python for Beginners · Day 9: dictionaries &amp; tuples</a:t>
            </a:r>
            <a:endParaRPr lang="en-US" sz="1200" dirty="0"/>
          </a:p>
        </p:txBody>
      </p:sp>
      <p:sp>
        <p:nvSpPr>
          <p:cNvPr id="7"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FE0F1"/>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RECORDS 📇</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A list of dictionaries</a:t>
            </a:r>
            <a:endParaRPr lang="en-US" sz="3600" dirty="0"/>
          </a:p>
        </p:txBody>
      </p:sp>
      <p:sp>
        <p:nvSpPr>
          <p:cNvPr id="4" name="Text 2"/>
          <p:cNvSpPr/>
          <p:nvPr/>
        </p:nvSpPr>
        <p:spPr>
          <a:xfrm>
            <a:off x="812800" y="1986229"/>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8"/>
            <a:ext cx="6096000" cy="2834217"/>
          </a:xfrm>
          <a:prstGeom prst="roundRect">
            <a:avLst>
              <a:gd name="adj" fmla="val 4481"/>
            </a:avLst>
          </a:prstGeom>
          <a:solidFill>
            <a:srgbClr val="1F2A37"/>
          </a:solidFill>
          <a:ln/>
        </p:spPr>
        <p:txBody>
          <a:bodyPr wrap="square" lIns="293003" tIns="242203" rIns="129935" bIns="216803" rtlCol="0" anchor="t">
            <a:normAutofit/>
          </a:bodyPr>
          <a:lstStyle/>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students = [</a:t>
            </a:r>
            <a:endParaRPr lang="en-US" sz="1400" dirty="0"/>
          </a:p>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F2C94C"/>
                </a:solidFill>
                <a:latin typeface="JetBrains Mono" pitchFamily="49" charset="0"/>
                <a:ea typeface="JetBrains Mono" pitchFamily="49" charset="-122"/>
                <a:cs typeface="JetBrains Mono" pitchFamily="49" charset="-120"/>
              </a:rPr>
              <a:t>"name"</a:t>
            </a: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F2C94C"/>
                </a:solidFill>
                <a:latin typeface="JetBrains Mono" pitchFamily="49" charset="0"/>
                <a:ea typeface="JetBrains Mono" pitchFamily="49" charset="-122"/>
                <a:cs typeface="JetBrains Mono" pitchFamily="49" charset="-120"/>
              </a:rPr>
              <a:t>"Ali"</a:t>
            </a: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F2C94C"/>
                </a:solidFill>
                <a:latin typeface="JetBrains Mono" pitchFamily="49" charset="0"/>
                <a:ea typeface="JetBrains Mono" pitchFamily="49" charset="-122"/>
                <a:cs typeface="JetBrains Mono" pitchFamily="49" charset="-120"/>
              </a:rPr>
              <a:t>"score"</a:t>
            </a:r>
            <a:r>
              <a:rPr lang="en-US" sz="1400" dirty="0">
                <a:solidFill>
                  <a:srgbClr val="E8EDF3"/>
                </a:solidFill>
                <a:latin typeface="JetBrains Mono" pitchFamily="49" charset="0"/>
                <a:ea typeface="JetBrains Mono" pitchFamily="49" charset="-122"/>
                <a:cs typeface="JetBrains Mono" pitchFamily="49" charset="-120"/>
              </a:rPr>
              <a:t>: 85},</a:t>
            </a:r>
            <a:endParaRPr lang="en-US" sz="1400" dirty="0"/>
          </a:p>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F2C94C"/>
                </a:solidFill>
                <a:latin typeface="JetBrains Mono" pitchFamily="49" charset="0"/>
                <a:ea typeface="JetBrains Mono" pitchFamily="49" charset="-122"/>
                <a:cs typeface="JetBrains Mono" pitchFamily="49" charset="-120"/>
              </a:rPr>
              <a:t>"name"</a:t>
            </a: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F2C94C"/>
                </a:solidFill>
                <a:latin typeface="JetBrains Mono" pitchFamily="49" charset="0"/>
                <a:ea typeface="JetBrains Mono" pitchFamily="49" charset="-122"/>
                <a:cs typeface="JetBrains Mono" pitchFamily="49" charset="-120"/>
              </a:rPr>
              <a:t>"Sara"</a:t>
            </a: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F2C94C"/>
                </a:solidFill>
                <a:latin typeface="JetBrains Mono" pitchFamily="49" charset="0"/>
                <a:ea typeface="JetBrains Mono" pitchFamily="49" charset="-122"/>
                <a:cs typeface="JetBrains Mono" pitchFamily="49" charset="-120"/>
              </a:rPr>
              <a:t>"score"</a:t>
            </a:r>
            <a:r>
              <a:rPr lang="en-US" sz="1400" dirty="0">
                <a:solidFill>
                  <a:srgbClr val="E8EDF3"/>
                </a:solidFill>
                <a:latin typeface="JetBrains Mono" pitchFamily="49" charset="0"/>
                <a:ea typeface="JetBrains Mono" pitchFamily="49" charset="-122"/>
                <a:cs typeface="JetBrains Mono" pitchFamily="49" charset="-120"/>
              </a:rPr>
              <a:t>: 92},</a:t>
            </a:r>
            <a:endParaRPr lang="en-US" sz="1400" dirty="0"/>
          </a:p>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F2C94C"/>
                </a:solidFill>
                <a:latin typeface="JetBrains Mono" pitchFamily="49" charset="0"/>
                <a:ea typeface="JetBrains Mono" pitchFamily="49" charset="-122"/>
                <a:cs typeface="JetBrains Mono" pitchFamily="49" charset="-120"/>
              </a:rPr>
              <a:t>"name"</a:t>
            </a: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F2C94C"/>
                </a:solidFill>
                <a:latin typeface="JetBrains Mono" pitchFamily="49" charset="0"/>
                <a:ea typeface="JetBrains Mono" pitchFamily="49" charset="-122"/>
                <a:cs typeface="JetBrains Mono" pitchFamily="49" charset="-120"/>
              </a:rPr>
              <a:t>"Omar"</a:t>
            </a: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F2C94C"/>
                </a:solidFill>
                <a:latin typeface="JetBrains Mono" pitchFamily="49" charset="0"/>
                <a:ea typeface="JetBrains Mono" pitchFamily="49" charset="-122"/>
                <a:cs typeface="JetBrains Mono" pitchFamily="49" charset="-120"/>
              </a:rPr>
              <a:t>"score"</a:t>
            </a:r>
            <a:r>
              <a:rPr lang="en-US" sz="1400" dirty="0">
                <a:solidFill>
                  <a:srgbClr val="E8EDF3"/>
                </a:solidFill>
                <a:latin typeface="JetBrains Mono" pitchFamily="49" charset="0"/>
                <a:ea typeface="JetBrains Mono" pitchFamily="49" charset="-122"/>
                <a:cs typeface="JetBrains Mono" pitchFamily="49" charset="-120"/>
              </a:rPr>
              <a:t>: 47},</a:t>
            </a:r>
            <a:endParaRPr lang="en-US" sz="1400" dirty="0"/>
          </a:p>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a:t>
            </a:r>
            <a:endParaRPr lang="en-US" sz="1400" dirty="0"/>
          </a:p>
          <a:p>
            <a:pPr algn="l" indent="0" marL="0">
              <a:lnSpc>
                <a:spcPts val="2240"/>
              </a:lnSpc>
              <a:buNone/>
            </a:pPr>
            <a:r>
              <a:rPr lang="en-US" sz="1400" dirty="0">
                <a:solidFill>
                  <a:srgbClr val="8EC1F0"/>
                </a:solidFill>
                <a:latin typeface="JetBrains Mono" pitchFamily="49" charset="0"/>
                <a:ea typeface="JetBrains Mono" pitchFamily="49" charset="-122"/>
                <a:cs typeface="JetBrains Mono" pitchFamily="49" charset="-120"/>
              </a:rPr>
              <a:t>for</a:t>
            </a:r>
            <a:r>
              <a:rPr lang="en-US" sz="1400" dirty="0">
                <a:solidFill>
                  <a:srgbClr val="E8EDF3"/>
                </a:solidFill>
                <a:latin typeface="JetBrains Mono" pitchFamily="49" charset="0"/>
                <a:ea typeface="JetBrains Mono" pitchFamily="49" charset="-122"/>
                <a:cs typeface="JetBrains Mono" pitchFamily="49" charset="-120"/>
              </a:rPr>
              <a:t> s </a:t>
            </a:r>
            <a:r>
              <a:rPr lang="en-US" sz="1400" dirty="0">
                <a:solidFill>
                  <a:srgbClr val="8EC1F0"/>
                </a:solidFill>
                <a:latin typeface="JetBrains Mono" pitchFamily="49" charset="0"/>
                <a:ea typeface="JetBrains Mono" pitchFamily="49" charset="-122"/>
                <a:cs typeface="JetBrains Mono" pitchFamily="49" charset="-120"/>
              </a:rPr>
              <a:t>in</a:t>
            </a:r>
            <a:r>
              <a:rPr lang="en-US" sz="1400" dirty="0">
                <a:solidFill>
                  <a:srgbClr val="E8EDF3"/>
                </a:solidFill>
                <a:latin typeface="JetBrains Mono" pitchFamily="49" charset="0"/>
                <a:ea typeface="JetBrains Mono" pitchFamily="49" charset="-122"/>
                <a:cs typeface="JetBrains Mono" pitchFamily="49" charset="-120"/>
              </a:rPr>
              <a:t> students:</a:t>
            </a:r>
            <a:endParaRPr lang="en-US" sz="1400" dirty="0"/>
          </a:p>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8EC1F0"/>
                </a:solidFill>
                <a:latin typeface="JetBrains Mono" pitchFamily="49" charset="0"/>
                <a:ea typeface="JetBrains Mono" pitchFamily="49" charset="-122"/>
                <a:cs typeface="JetBrains Mono" pitchFamily="49" charset="-120"/>
              </a:rPr>
              <a:t>if</a:t>
            </a:r>
            <a:r>
              <a:rPr lang="en-US" sz="1400" dirty="0">
                <a:solidFill>
                  <a:srgbClr val="E8EDF3"/>
                </a:solidFill>
                <a:latin typeface="JetBrains Mono" pitchFamily="49" charset="0"/>
                <a:ea typeface="JetBrains Mono" pitchFamily="49" charset="-122"/>
                <a:cs typeface="JetBrains Mono" pitchFamily="49" charset="-120"/>
              </a:rPr>
              <a:t> s[</a:t>
            </a:r>
            <a:r>
              <a:rPr lang="en-US" sz="1400" dirty="0">
                <a:solidFill>
                  <a:srgbClr val="F2C94C"/>
                </a:solidFill>
                <a:latin typeface="JetBrains Mono" pitchFamily="49" charset="0"/>
                <a:ea typeface="JetBrains Mono" pitchFamily="49" charset="-122"/>
                <a:cs typeface="JetBrains Mono" pitchFamily="49" charset="-120"/>
              </a:rPr>
              <a:t>"score"</a:t>
            </a:r>
            <a:r>
              <a:rPr lang="en-US" sz="1400" dirty="0">
                <a:solidFill>
                  <a:srgbClr val="E8EDF3"/>
                </a:solidFill>
                <a:latin typeface="JetBrains Mono" pitchFamily="49" charset="0"/>
                <a:ea typeface="JetBrains Mono" pitchFamily="49" charset="-122"/>
                <a:cs typeface="JetBrains Mono" pitchFamily="49" charset="-120"/>
              </a:rPr>
              <a:t>] &gt;= 50:</a:t>
            </a:r>
            <a:endParaRPr lang="en-US" sz="1400" dirty="0"/>
          </a:p>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        print(s[</a:t>
            </a:r>
            <a:r>
              <a:rPr lang="en-US" sz="1400" dirty="0">
                <a:solidFill>
                  <a:srgbClr val="F2C94C"/>
                </a:solidFill>
                <a:latin typeface="JetBrains Mono" pitchFamily="49" charset="0"/>
                <a:ea typeface="JetBrains Mono" pitchFamily="49" charset="-122"/>
                <a:cs typeface="JetBrains Mono" pitchFamily="49" charset="-120"/>
              </a:rPr>
              <a:t>"name"</a:t>
            </a: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F2C94C"/>
                </a:solidFill>
                <a:latin typeface="JetBrains Mono" pitchFamily="49" charset="0"/>
                <a:ea typeface="JetBrains Mono" pitchFamily="49" charset="-122"/>
                <a:cs typeface="JetBrains Mono" pitchFamily="49" charset="-120"/>
              </a:rPr>
              <a:t>"passed"</a:t>
            </a:r>
            <a:r>
              <a:rPr lang="en-US" sz="1400" dirty="0">
                <a:solidFill>
                  <a:srgbClr val="E8EDF3"/>
                </a:solidFill>
                <a:latin typeface="JetBrains Mono" pitchFamily="49" charset="0"/>
                <a:ea typeface="JetBrains Mono" pitchFamily="49" charset="-122"/>
                <a:cs typeface="JetBrains Mono" pitchFamily="49" charset="-120"/>
              </a:rPr>
              <a:t>)</a:t>
            </a:r>
            <a:endParaRPr lang="en-US" sz="1400" dirty="0"/>
          </a:p>
        </p:txBody>
      </p:sp>
      <p:sp>
        <p:nvSpPr>
          <p:cNvPr id="6" name="Text 4"/>
          <p:cNvSpPr/>
          <p:nvPr/>
        </p:nvSpPr>
        <p:spPr>
          <a:xfrm>
            <a:off x="7315200" y="1986229"/>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7315200" y="2362138"/>
            <a:ext cx="4064000" cy="1168400"/>
          </a:xfrm>
          <a:prstGeom prst="roundRect">
            <a:avLst>
              <a:gd name="adj" fmla="val 10870"/>
            </a:avLst>
          </a:prstGeom>
          <a:solidFill>
            <a:srgbClr val="EEF2F6"/>
          </a:solidFill>
          <a:ln/>
        </p:spPr>
        <p:txBody>
          <a:bodyPr wrap="square" lIns="318403" tIns="242203" rIns="165495" bIns="216803" rtlCol="0" anchor="t">
            <a:normAutofit/>
          </a:bodyPr>
          <a:lstStyle/>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Ali passed</a:t>
            </a:r>
            <a:endParaRPr lang="en-US" sz="1500" dirty="0"/>
          </a:p>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Sara passed</a:t>
            </a:r>
            <a:endParaRPr lang="en-US" sz="1500" dirty="0"/>
          </a:p>
        </p:txBody>
      </p:sp>
      <p:sp>
        <p:nvSpPr>
          <p:cNvPr id="8" name="Shape 6"/>
          <p:cNvSpPr/>
          <p:nvPr/>
        </p:nvSpPr>
        <p:spPr>
          <a:xfrm>
            <a:off x="7315200" y="2362138"/>
            <a:ext cx="4064000" cy="1168400"/>
          </a:xfrm>
          <a:custGeom>
            <a:avLst/>
            <a:gdLst/>
            <a:ahLst/>
            <a:cxnLst/>
            <a:rect l="l" t="t" r="r" b="b"/>
            <a:pathLst>
              <a:path w="4064000" h="1168400">
                <a:moveTo>
                  <a:pt x="127000" y="1168400"/>
                </a:moveTo>
                <a:lnTo>
                  <a:pt x="127000" y="1168400"/>
                </a:lnTo>
                <a:arcTo hR="127000" wR="127000" stAng="5400000" swAng="5400000"/>
                <a:lnTo>
                  <a:pt x="0" y="127000"/>
                </a:lnTo>
                <a:arcTo hR="127000" wR="127000" stAng="10800000" swAng="5400000"/>
                <a:lnTo>
                  <a:pt x="127000" y="0"/>
                </a:lnTo>
                <a:arcTo hR="127000" wR="76200" stAng="16200000" swAng="-5400000"/>
                <a:lnTo>
                  <a:pt x="50800" y="1041400"/>
                </a:lnTo>
                <a:arcTo hR="127000" wR="76200" stAng="10800000" swAng="-5400000"/>
                <a:close/>
              </a:path>
            </a:pathLst>
          </a:custGeom>
          <a:solidFill>
            <a:srgbClr val="3776AB"/>
          </a:solidFill>
          <a:ln/>
        </p:spPr>
      </p:sp>
      <p:sp>
        <p:nvSpPr>
          <p:cNvPr id="9" name="Text 7"/>
          <p:cNvSpPr/>
          <p:nvPr/>
        </p:nvSpPr>
        <p:spPr>
          <a:xfrm>
            <a:off x="7315200" y="3657538"/>
            <a:ext cx="418592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Each dictionary = </a:t>
            </a:r>
            <a:r>
              <a:rPr lang="en-US" sz="1500" b="1" dirty="0">
                <a:solidFill>
                  <a:srgbClr val="4A5568"/>
                </a:solidFill>
                <a:latin typeface="DM Sans" pitchFamily="34" charset="0"/>
                <a:ea typeface="DM Sans" pitchFamily="34" charset="-122"/>
                <a:cs typeface="DM Sans" pitchFamily="34" charset="-120"/>
              </a:rPr>
              <a:t>one student</a:t>
            </a:r>
            <a:r>
              <a:rPr lang="en-US" sz="1500" dirty="0">
                <a:solidFill>
                  <a:srgbClr val="4A5568"/>
                </a:solidFill>
                <a:latin typeface="DM Sans" pitchFamily="34" charset="0"/>
                <a:ea typeface="DM Sans" pitchFamily="34" charset="-122"/>
                <a:cs typeface="DM Sans" pitchFamily="34" charset="-120"/>
              </a:rPr>
              <a:t>.</a:t>
            </a:r>
            <a:endParaRPr lang="en-US" sz="1500" dirty="0"/>
          </a:p>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The list = </a:t>
            </a:r>
            <a:r>
              <a:rPr lang="en-US" sz="1500" b="1" dirty="0">
                <a:solidFill>
                  <a:srgbClr val="4A5568"/>
                </a:solidFill>
                <a:latin typeface="DM Sans" pitchFamily="34" charset="0"/>
                <a:ea typeface="DM Sans" pitchFamily="34" charset="-122"/>
                <a:cs typeface="DM Sans" pitchFamily="34" charset="-120"/>
              </a:rPr>
              <a:t>the whole class</a:t>
            </a:r>
            <a:r>
              <a:rPr lang="en-US" sz="1500" dirty="0">
                <a:solidFill>
                  <a:srgbClr val="4A5568"/>
                </a:solidFill>
                <a:latin typeface="DM Sans" pitchFamily="34" charset="0"/>
                <a:ea typeface="DM Sans" pitchFamily="34" charset="-122"/>
                <a:cs typeface="DM Sans" pitchFamily="34" charset="-120"/>
              </a:rPr>
              <a:t>.</a:t>
            </a:r>
            <a:endParaRPr lang="en-US" sz="15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9: dictionaries &amp; tuples</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TUPLES 🔒</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A list that can’t be changed</a:t>
            </a:r>
            <a:endParaRPr lang="en-US" sz="3600" dirty="0"/>
          </a:p>
        </p:txBody>
      </p:sp>
      <p:sp>
        <p:nvSpPr>
          <p:cNvPr id="4" name="Text 2"/>
          <p:cNvSpPr/>
          <p:nvPr/>
        </p:nvSpPr>
        <p:spPr>
          <a:xfrm>
            <a:off x="812800" y="1986229"/>
            <a:ext cx="5080000" cy="2743200"/>
          </a:xfrm>
          <a:prstGeom prst="roundRect">
            <a:avLst>
              <a:gd name="adj" fmla="val 4630"/>
            </a:avLst>
          </a:prstGeom>
          <a:solidFill>
            <a:srgbClr val="1F2A37"/>
          </a:solidFill>
          <a:ln/>
        </p:spPr>
        <p:txBody>
          <a:bodyPr wrap="square" lIns="318403" tIns="267603" rIns="187339" bIns="242203" rtlCol="0" anchor="t">
            <a:normAutofit/>
          </a:bodyPr>
          <a:lstStyle/>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point = (3, 5)</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days = (</a:t>
            </a:r>
            <a:r>
              <a:rPr lang="en-US" sz="1500" dirty="0">
                <a:solidFill>
                  <a:srgbClr val="F2C94C"/>
                </a:solidFill>
                <a:latin typeface="JetBrains Mono" pitchFamily="49" charset="0"/>
                <a:ea typeface="JetBrains Mono" pitchFamily="49" charset="-122"/>
                <a:cs typeface="JetBrains Mono" pitchFamily="49" charset="-120"/>
              </a:rPr>
              <a:t>"Mon"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C94C"/>
                </a:solidFill>
                <a:latin typeface="JetBrains Mono" pitchFamily="49" charset="0"/>
                <a:ea typeface="JetBrains Mono" pitchFamily="49" charset="-122"/>
                <a:cs typeface="JetBrains Mono" pitchFamily="49" charset="-120"/>
              </a:rPr>
              <a:t>"Tue"</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C94C"/>
                </a:solidFill>
                <a:latin typeface="JetBrains Mono" pitchFamily="49" charset="0"/>
                <a:ea typeface="JetBrains Mono" pitchFamily="49" charset="-122"/>
                <a:cs typeface="JetBrains Mono" pitchFamily="49" charset="-120"/>
              </a:rPr>
              <a:t>"Wed"</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print(days[0])  </a:t>
            </a:r>
            <a:r>
              <a:rPr lang="en-US" sz="1500" dirty="0">
                <a:solidFill>
                  <a:srgbClr val="93A1B3"/>
                </a:solidFill>
                <a:latin typeface="JetBrains Mono" pitchFamily="49" charset="0"/>
                <a:ea typeface="JetBrains Mono" pitchFamily="49" charset="-122"/>
                <a:cs typeface="JetBrains Mono" pitchFamily="49" charset="-120"/>
              </a:rPr>
              <a:t># Mon</a:t>
            </a:r>
            <a:endParaRPr lang="en-US" sz="1500" dirty="0"/>
          </a:p>
          <a:p>
            <a:pPr algn="l" indent="0" marL="0">
              <a:lnSpc>
                <a:spcPts val="2400"/>
              </a:lnSpc>
              <a:buNone/>
            </a:pP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x, y = point   </a:t>
            </a:r>
            <a:r>
              <a:rPr lang="en-US" sz="1500" dirty="0">
                <a:solidFill>
                  <a:srgbClr val="93A1B3"/>
                </a:solidFill>
                <a:latin typeface="JetBrains Mono" pitchFamily="49" charset="0"/>
                <a:ea typeface="JetBrains Mono" pitchFamily="49" charset="-122"/>
                <a:cs typeface="JetBrains Mono" pitchFamily="49" charset="-120"/>
              </a:rPr>
              <a:t># unpacking</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print(x, y)    </a:t>
            </a:r>
            <a:r>
              <a:rPr lang="en-US" sz="1500" dirty="0">
                <a:solidFill>
                  <a:srgbClr val="93A1B3"/>
                </a:solidFill>
                <a:latin typeface="JetBrains Mono" pitchFamily="49" charset="0"/>
                <a:ea typeface="JetBrains Mono" pitchFamily="49" charset="-122"/>
                <a:cs typeface="JetBrains Mono" pitchFamily="49" charset="-120"/>
              </a:rPr>
              <a:t># 3 5</a:t>
            </a:r>
            <a:endParaRPr lang="en-US" sz="1500" dirty="0"/>
          </a:p>
        </p:txBody>
      </p:sp>
      <p:sp>
        <p:nvSpPr>
          <p:cNvPr id="5" name="Text 3"/>
          <p:cNvSpPr/>
          <p:nvPr/>
        </p:nvSpPr>
        <p:spPr>
          <a:xfrm>
            <a:off x="6299200" y="2465127"/>
            <a:ext cx="5232400" cy="338402"/>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1F2A37"/>
                </a:solidFill>
                <a:latin typeface="DM Sans" pitchFamily="34" charset="0"/>
                <a:ea typeface="DM Sans" pitchFamily="34" charset="-122"/>
                <a:cs typeface="DM Sans" pitchFamily="34" charset="-120"/>
              </a:rPr>
              <a:t>Round brackets </a:t>
            </a:r>
            <a:r>
              <a:rPr lang="en-US" sz="1700" b="1" dirty="0">
                <a:solidFill>
                  <a:srgbClr val="1F2A37"/>
                </a:solidFill>
                <a:latin typeface="DM Sans" pitchFamily="34" charset="0"/>
                <a:ea typeface="DM Sans" pitchFamily="34" charset="-122"/>
                <a:cs typeface="DM Sans" pitchFamily="34" charset="-120"/>
              </a:rPr>
              <a:t>( )</a:t>
            </a:r>
            <a:endParaRPr lang="en-US" sz="1700" dirty="0"/>
          </a:p>
        </p:txBody>
      </p:sp>
      <p:sp>
        <p:nvSpPr>
          <p:cNvPr id="6" name="Text 4"/>
          <p:cNvSpPr/>
          <p:nvPr/>
        </p:nvSpPr>
        <p:spPr>
          <a:xfrm>
            <a:off x="6299200" y="2955925"/>
            <a:ext cx="5232400" cy="338402"/>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1F2A37"/>
                </a:solidFill>
                <a:latin typeface="DM Sans" pitchFamily="34" charset="0"/>
                <a:ea typeface="DM Sans" pitchFamily="34" charset="-122"/>
                <a:cs typeface="DM Sans" pitchFamily="34" charset="-120"/>
              </a:rPr>
              <a:t>Indexes work like lists</a:t>
            </a:r>
            <a:endParaRPr lang="en-US" sz="1700" dirty="0"/>
          </a:p>
        </p:txBody>
      </p:sp>
      <p:sp>
        <p:nvSpPr>
          <p:cNvPr id="7" name="Text 5"/>
          <p:cNvSpPr/>
          <p:nvPr/>
        </p:nvSpPr>
        <p:spPr>
          <a:xfrm>
            <a:off x="6299200" y="3446729"/>
            <a:ext cx="5232400" cy="338402"/>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1F2A37"/>
                </a:solidFill>
                <a:latin typeface="DM Sans" pitchFamily="34" charset="0"/>
                <a:ea typeface="DM Sans" pitchFamily="34" charset="-122"/>
                <a:cs typeface="DM Sans" pitchFamily="34" charset="-120"/>
              </a:rPr>
              <a:t>But </a:t>
            </a:r>
            <a:r>
              <a:rPr lang="en-US" sz="1700" b="1" dirty="0">
                <a:solidFill>
                  <a:srgbClr val="1F2A37"/>
                </a:solidFill>
                <a:latin typeface="DM Sans" pitchFamily="34" charset="0"/>
                <a:ea typeface="DM Sans" pitchFamily="34" charset="-122"/>
                <a:cs typeface="DM Sans" pitchFamily="34" charset="-120"/>
              </a:rPr>
              <a:t>no</a:t>
            </a:r>
            <a:r>
              <a:rPr lang="en-US" sz="1700" dirty="0">
                <a:solidFill>
                  <a:srgbClr val="1F2A37"/>
                </a:solidFill>
                <a:latin typeface="DM Sans" pitchFamily="34" charset="0"/>
                <a:ea typeface="DM Sans" pitchFamily="34" charset="-122"/>
                <a:cs typeface="DM Sans" pitchFamily="34" charset="-120"/>
              </a:rPr>
              <a:t> append, remove or change</a:t>
            </a:r>
            <a:endParaRPr lang="en-US" sz="1700" dirty="0"/>
          </a:p>
        </p:txBody>
      </p:sp>
      <p:sp>
        <p:nvSpPr>
          <p:cNvPr id="8" name="Text 6"/>
          <p:cNvSpPr/>
          <p:nvPr/>
        </p:nvSpPr>
        <p:spPr>
          <a:xfrm>
            <a:off x="6299200" y="3937533"/>
            <a:ext cx="5232400" cy="338402"/>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4A5568"/>
                </a:solidFill>
                <a:latin typeface="DM Sans" pitchFamily="34" charset="0"/>
                <a:ea typeface="DM Sans" pitchFamily="34" charset="-122"/>
                <a:cs typeface="DM Sans" pitchFamily="34" charset="-120"/>
              </a:rPr>
              <a:t>Use for fixed data: coordinates, days, colours</a:t>
            </a:r>
            <a:endParaRPr lang="en-US" sz="1700" dirty="0"/>
          </a:p>
        </p:txBody>
      </p:sp>
      <p:sp>
        <p:nvSpPr>
          <p:cNvPr id="9"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9: dictionaries &amp; tuples</a:t>
            </a:r>
            <a:endParaRPr lang="en-US" sz="1200" dirty="0"/>
          </a:p>
        </p:txBody>
      </p:sp>
      <p:sp>
        <p:nvSpPr>
          <p:cNvPr id="10"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WHICH ONE?</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List vs tuple vs dictionary</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29"/>
          <a:ext cx="10553700" cy="2636044"/>
        </p:xfrm>
        <a:graphic>
          <a:graphicData uri="http://schemas.openxmlformats.org/drawingml/2006/table">
            <a:tbl>
              <a:tblPr/>
              <a:tblGrid>
                <a:gridCol w="2321814"/>
                <a:gridCol w="2743962"/>
                <a:gridCol w="2743962"/>
                <a:gridCol w="2743962"/>
              </a:tblGrid>
              <a:tr h="439341">
                <a:tc>
                  <a:txBody>
                    <a:bodyPr/>
                    <a:lstStyle/>
                    <a:p>
                      <a:pPr indent="0" marL="0">
                        <a:lnSpc>
                          <a:spcPts val="2240"/>
                        </a:lnSpc>
                        <a:buNone/>
                      </a:pP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List</a:t>
                      </a:r>
                      <a:endParaRPr lang="en-US" sz="1600" dirty="0">
                        <a:latin typeface="DM Sans" charset="0"/>
                        <a:ea typeface="DM Sans" charset="0"/>
                        <a:cs typeface="DM Sans" charset="0"/>
                      </a:endParaRPr>
                    </a:p>
                  </a:txBody>
                  <a:tcPr marL="71120" marR="71120" marT="71120" marB="7112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Tuple</a:t>
                      </a:r>
                      <a:endParaRPr lang="en-US" sz="1600" dirty="0">
                        <a:latin typeface="DM Sans" charset="0"/>
                        <a:ea typeface="DM Sans" charset="0"/>
                        <a:cs typeface="DM Sans" charset="0"/>
                      </a:endParaRPr>
                    </a:p>
                  </a:txBody>
                  <a:tcPr marL="71120" marR="71120" marT="71120" marB="7112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Dictionary</a:t>
                      </a:r>
                      <a:endParaRPr lang="en-US" sz="1600" dirty="0">
                        <a:latin typeface="DM Sans" charset="0"/>
                        <a:ea typeface="DM Sans" charset="0"/>
                        <a:cs typeface="DM Sans" charset="0"/>
                      </a:endParaRPr>
                    </a:p>
                  </a:txBody>
                  <a:tcPr marL="71120" marR="71120" marT="71120" marB="7112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Brackets</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 ]</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 )</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 }</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Get items by</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position</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position</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key</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Can change?</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Yes</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No</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Yes</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Example</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["Ali", "Sara"]</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(3, 5)</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{"name": "Ali"}</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Use for</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a changing collection</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fixed data</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labelled data</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9: dictionaries &amp; tuples</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QUICK CHECK</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Predict before you run!</a:t>
            </a:r>
            <a:endParaRPr lang="en-US" sz="3600" dirty="0"/>
          </a:p>
        </p:txBody>
      </p:sp>
      <p:sp>
        <p:nvSpPr>
          <p:cNvPr id="4" name="Shape 2"/>
          <p:cNvSpPr/>
          <p:nvPr/>
        </p:nvSpPr>
        <p:spPr>
          <a:xfrm>
            <a:off x="815975" y="1989404"/>
            <a:ext cx="3346450" cy="2348905"/>
          </a:xfrm>
          <a:prstGeom prst="roundRect">
            <a:avLst>
              <a:gd name="adj" fmla="val 5272"/>
            </a:avLst>
          </a:prstGeom>
          <a:solidFill>
            <a:srgbClr val="FFFFFF"/>
          </a:solidFill>
          <a:ln w="6350">
            <a:solidFill>
              <a:srgbClr val="D5DEE8"/>
            </a:solidFill>
            <a:prstDash val="solid"/>
          </a:ln>
        </p:spPr>
      </p:sp>
      <p:sp>
        <p:nvSpPr>
          <p:cNvPr id="5" name="Text 3"/>
          <p:cNvSpPr/>
          <p:nvPr/>
        </p:nvSpPr>
        <p:spPr>
          <a:xfrm>
            <a:off x="1071033"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Q1. What is printed?</a:t>
            </a:r>
            <a:endParaRPr lang="en-US" sz="1800" dirty="0"/>
          </a:p>
        </p:txBody>
      </p:sp>
      <p:sp>
        <p:nvSpPr>
          <p:cNvPr id="6" name="Text 4"/>
          <p:cNvSpPr/>
          <p:nvPr/>
        </p:nvSpPr>
        <p:spPr>
          <a:xfrm>
            <a:off x="1071033" y="2671167"/>
            <a:ext cx="2836333" cy="1412081"/>
          </a:xfrm>
          <a:prstGeom prst="roundRect">
            <a:avLst>
              <a:gd name="adj" fmla="val 6296"/>
            </a:avLst>
          </a:prstGeom>
          <a:solidFill>
            <a:srgbClr val="1F2A37"/>
          </a:solidFill>
          <a:ln/>
        </p:spPr>
        <p:txBody>
          <a:bodyPr wrap="square" lIns="177162" tIns="151762" rIns="104264" bIns="126362" rtlCol="0" anchor="t">
            <a:normAutofit/>
          </a:bodyPr>
          <a:lstStyle/>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d = {</a:t>
            </a:r>
            <a:r>
              <a:rPr lang="en-US" sz="1300" dirty="0">
                <a:solidFill>
                  <a:srgbClr val="F2C94C"/>
                </a:solidFill>
                <a:latin typeface="JetBrains Mono" pitchFamily="49" charset="0"/>
                <a:ea typeface="JetBrains Mono" pitchFamily="49" charset="-122"/>
                <a:cs typeface="JetBrains Mono" pitchFamily="49" charset="-120"/>
              </a:rPr>
              <a:t>"a"</a:t>
            </a:r>
            <a:r>
              <a:rPr lang="en-US" sz="1300" dirty="0">
                <a:solidFill>
                  <a:srgbClr val="E8EDF3"/>
                </a:solidFill>
                <a:latin typeface="JetBrains Mono" pitchFamily="49" charset="0"/>
                <a:ea typeface="JetBrains Mono" pitchFamily="49" charset="-122"/>
                <a:cs typeface="JetBrains Mono" pitchFamily="49" charset="-120"/>
              </a:rPr>
              <a:t>: 1, </a:t>
            </a:r>
            <a:r>
              <a:rPr lang="en-US" sz="1300" dirty="0">
                <a:solidFill>
                  <a:srgbClr val="F2C94C"/>
                </a:solidFill>
                <a:latin typeface="JetBrains Mono" pitchFamily="49" charset="0"/>
                <a:ea typeface="JetBrains Mono" pitchFamily="49" charset="-122"/>
                <a:cs typeface="JetBrains Mono" pitchFamily="49" charset="-120"/>
              </a:rPr>
              <a:t>"b"</a:t>
            </a:r>
            <a:r>
              <a:rPr lang="en-US" sz="1300" dirty="0">
                <a:solidFill>
                  <a:srgbClr val="E8EDF3"/>
                </a:solidFill>
                <a:latin typeface="JetBrains Mono" pitchFamily="49" charset="0"/>
                <a:ea typeface="JetBrains Mono" pitchFamily="49" charset="-122"/>
                <a:cs typeface="JetBrains Mono" pitchFamily="49" charset="-120"/>
              </a:rPr>
              <a:t>: 2}</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d[</a:t>
            </a:r>
            <a:r>
              <a:rPr lang="en-US" sz="1300" dirty="0">
                <a:solidFill>
                  <a:srgbClr val="F2C94C"/>
                </a:solidFill>
                <a:latin typeface="JetBrains Mono" pitchFamily="49" charset="0"/>
                <a:ea typeface="JetBrains Mono" pitchFamily="49" charset="-122"/>
                <a:cs typeface="JetBrains Mono" pitchFamily="49" charset="-120"/>
              </a:rPr>
              <a:t>"c"</a:t>
            </a:r>
            <a:r>
              <a:rPr lang="en-US" sz="1300" dirty="0">
                <a:solidFill>
                  <a:srgbClr val="E8EDF3"/>
                </a:solidFill>
                <a:latin typeface="JetBrains Mono" pitchFamily="49" charset="0"/>
                <a:ea typeface="JetBrains Mono" pitchFamily="49" charset="-122"/>
                <a:cs typeface="JetBrains Mono" pitchFamily="49" charset="-120"/>
              </a:rPr>
              <a:t>] = 3</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d[</a:t>
            </a:r>
            <a:r>
              <a:rPr lang="en-US" sz="1300" dirty="0">
                <a:solidFill>
                  <a:srgbClr val="F2C94C"/>
                </a:solidFill>
                <a:latin typeface="JetBrains Mono" pitchFamily="49" charset="0"/>
                <a:ea typeface="JetBrains Mono" pitchFamily="49" charset="-122"/>
                <a:cs typeface="JetBrains Mono" pitchFamily="49" charset="-120"/>
              </a:rPr>
              <a:t>"a"</a:t>
            </a:r>
            <a:r>
              <a:rPr lang="en-US" sz="1300" dirty="0">
                <a:solidFill>
                  <a:srgbClr val="E8EDF3"/>
                </a:solidFill>
                <a:latin typeface="JetBrains Mono" pitchFamily="49" charset="0"/>
                <a:ea typeface="JetBrains Mono" pitchFamily="49" charset="-122"/>
                <a:cs typeface="JetBrains Mono" pitchFamily="49" charset="-120"/>
              </a:rPr>
              <a:t>] = 10</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print(d)</a:t>
            </a:r>
            <a:endParaRPr lang="en-US" sz="1300" dirty="0"/>
          </a:p>
        </p:txBody>
      </p:sp>
      <p:sp>
        <p:nvSpPr>
          <p:cNvPr id="7" name="Shape 5"/>
          <p:cNvSpPr/>
          <p:nvPr/>
        </p:nvSpPr>
        <p:spPr>
          <a:xfrm>
            <a:off x="4422775" y="1989404"/>
            <a:ext cx="3346450" cy="2348905"/>
          </a:xfrm>
          <a:prstGeom prst="roundRect">
            <a:avLst>
              <a:gd name="adj" fmla="val 5272"/>
            </a:avLst>
          </a:prstGeom>
          <a:solidFill>
            <a:srgbClr val="FFFFFF"/>
          </a:solidFill>
          <a:ln w="6350">
            <a:solidFill>
              <a:srgbClr val="D5DEE8"/>
            </a:solidFill>
            <a:prstDash val="solid"/>
          </a:ln>
        </p:spPr>
      </p:sp>
      <p:sp>
        <p:nvSpPr>
          <p:cNvPr id="8" name="Text 6"/>
          <p:cNvSpPr/>
          <p:nvPr/>
        </p:nvSpPr>
        <p:spPr>
          <a:xfrm>
            <a:off x="4677833"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Q2. Error or not?</a:t>
            </a:r>
            <a:endParaRPr lang="en-US" sz="1800" dirty="0"/>
          </a:p>
        </p:txBody>
      </p:sp>
      <p:sp>
        <p:nvSpPr>
          <p:cNvPr id="9" name="Text 7"/>
          <p:cNvSpPr/>
          <p:nvPr/>
        </p:nvSpPr>
        <p:spPr>
          <a:xfrm>
            <a:off x="4677833" y="2671167"/>
            <a:ext cx="2836333" cy="883841"/>
          </a:xfrm>
          <a:prstGeom prst="roundRect">
            <a:avLst>
              <a:gd name="adj" fmla="val 10058"/>
            </a:avLst>
          </a:prstGeom>
          <a:solidFill>
            <a:srgbClr val="1F2A37"/>
          </a:solidFill>
          <a:ln/>
        </p:spPr>
        <p:txBody>
          <a:bodyPr wrap="square" lIns="177162" tIns="151762" rIns="104264" bIns="126362" rtlCol="0" anchor="t">
            <a:normAutofit/>
          </a:bodyPr>
          <a:lstStyle/>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d = {</a:t>
            </a:r>
            <a:r>
              <a:rPr lang="en-US" sz="1300" dirty="0">
                <a:solidFill>
                  <a:srgbClr val="F2C94C"/>
                </a:solidFill>
                <a:latin typeface="JetBrains Mono" pitchFamily="49" charset="0"/>
                <a:ea typeface="JetBrains Mono" pitchFamily="49" charset="-122"/>
                <a:cs typeface="JetBrains Mono" pitchFamily="49" charset="-120"/>
              </a:rPr>
              <a:t>"a"</a:t>
            </a:r>
            <a:r>
              <a:rPr lang="en-US" sz="1300" dirty="0">
                <a:solidFill>
                  <a:srgbClr val="E8EDF3"/>
                </a:solidFill>
                <a:latin typeface="JetBrains Mono" pitchFamily="49" charset="0"/>
                <a:ea typeface="JetBrains Mono" pitchFamily="49" charset="-122"/>
                <a:cs typeface="JetBrains Mono" pitchFamily="49" charset="-120"/>
              </a:rPr>
              <a:t>: 1}</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print(d.get(</a:t>
            </a:r>
            <a:r>
              <a:rPr lang="en-US" sz="1300" dirty="0">
                <a:solidFill>
                  <a:srgbClr val="F2C94C"/>
                </a:solidFill>
                <a:latin typeface="JetBrains Mono" pitchFamily="49" charset="0"/>
                <a:ea typeface="JetBrains Mono" pitchFamily="49" charset="-122"/>
                <a:cs typeface="JetBrains Mono" pitchFamily="49" charset="-120"/>
              </a:rPr>
              <a:t>"x"</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p:txBody>
      </p:sp>
      <p:sp>
        <p:nvSpPr>
          <p:cNvPr id="10" name="Shape 8"/>
          <p:cNvSpPr/>
          <p:nvPr/>
        </p:nvSpPr>
        <p:spPr>
          <a:xfrm>
            <a:off x="8029575" y="1989404"/>
            <a:ext cx="3346450" cy="2348905"/>
          </a:xfrm>
          <a:prstGeom prst="roundRect">
            <a:avLst>
              <a:gd name="adj" fmla="val 5272"/>
            </a:avLst>
          </a:prstGeom>
          <a:solidFill>
            <a:srgbClr val="FFFFFF"/>
          </a:solidFill>
          <a:ln w="6350">
            <a:solidFill>
              <a:srgbClr val="D5DEE8"/>
            </a:solidFill>
            <a:prstDash val="solid"/>
          </a:ln>
        </p:spPr>
      </p:sp>
      <p:sp>
        <p:nvSpPr>
          <p:cNvPr id="11" name="Text 9"/>
          <p:cNvSpPr/>
          <p:nvPr/>
        </p:nvSpPr>
        <p:spPr>
          <a:xfrm>
            <a:off x="8284634"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Q3. Does it work?</a:t>
            </a:r>
            <a:endParaRPr lang="en-US" sz="1800" dirty="0"/>
          </a:p>
        </p:txBody>
      </p:sp>
      <p:sp>
        <p:nvSpPr>
          <p:cNvPr id="12" name="Text 10"/>
          <p:cNvSpPr/>
          <p:nvPr/>
        </p:nvSpPr>
        <p:spPr>
          <a:xfrm>
            <a:off x="8284634" y="2671167"/>
            <a:ext cx="2836333" cy="883841"/>
          </a:xfrm>
          <a:prstGeom prst="roundRect">
            <a:avLst>
              <a:gd name="adj" fmla="val 10058"/>
            </a:avLst>
          </a:prstGeom>
          <a:solidFill>
            <a:srgbClr val="1F2A37"/>
          </a:solidFill>
          <a:ln/>
        </p:spPr>
        <p:txBody>
          <a:bodyPr wrap="square" lIns="177162" tIns="151762" rIns="104264" bIns="126362" rtlCol="0" anchor="t">
            <a:normAutofit/>
          </a:bodyPr>
          <a:lstStyle/>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t = (1, 2, 3)</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t.append(4)</a:t>
            </a:r>
            <a:endParaRPr lang="en-US" sz="13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9: dictionaries &amp; tuples</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SUMMARY</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What we learned today</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29"/>
          <a:ext cx="10553700" cy="3302000"/>
        </p:xfrm>
        <a:graphic>
          <a:graphicData uri="http://schemas.openxmlformats.org/drawingml/2006/table">
            <a:tbl>
              <a:tblPr/>
              <a:tblGrid>
                <a:gridCol w="4854702"/>
                <a:gridCol w="5698998"/>
              </a:tblGrid>
              <a:tr h="412750">
                <a:tc>
                  <a:txBody>
                    <a:bodyPr/>
                    <a:lstStyle/>
                    <a:p>
                      <a:pPr indent="0" marL="0">
                        <a:lnSpc>
                          <a:spcPts val="2100"/>
                        </a:lnSpc>
                        <a:buNone/>
                      </a:pPr>
                      <a:r>
                        <a:rPr lang="en-US" sz="1500" b="1" dirty="0">
                          <a:solidFill>
                            <a:srgbClr val="1F2A37"/>
                          </a:solidFill>
                          <a:latin typeface="DM Sans" pitchFamily="34" charset="0"/>
                          <a:ea typeface="DM Sans" pitchFamily="34" charset="-122"/>
                          <a:cs typeface="DM Sans" pitchFamily="34" charset="-120"/>
                        </a:rPr>
                        <a:t>Code</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100"/>
                        </a:lnSpc>
                        <a:buNone/>
                      </a:pPr>
                      <a:r>
                        <a:rPr lang="en-US" sz="1500" b="1" dirty="0">
                          <a:solidFill>
                            <a:srgbClr val="1F2A37"/>
                          </a:solidFill>
                          <a:latin typeface="DM Sans" pitchFamily="34" charset="0"/>
                          <a:ea typeface="DM Sans" pitchFamily="34" charset="-122"/>
                          <a:cs typeface="DM Sans" pitchFamily="34" charset="-120"/>
                        </a:rPr>
                        <a:t>Meaning</a:t>
                      </a:r>
                      <a:endParaRPr lang="en-US" sz="1500" dirty="0">
                        <a:latin typeface="DM Sans" charset="0"/>
                        <a:ea typeface="DM Sans" charset="0"/>
                        <a:cs typeface="DM Sans" charset="0"/>
                      </a:endParaRPr>
                    </a:p>
                  </a:txBody>
                  <a:tcPr marL="66675" marR="66675" marT="66675" marB="66675"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d = {"name": "Ali"}</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create a dictionary</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d["name"] · d.get("name")</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read a value</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d["city"] = "Kabul"</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add or change</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del d["city"]</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delete</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"name" in d</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is the key there?</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for k, v in d.items():</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loop through pairs</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point = (3, 5)</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a tuple (can’t change)</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9: dictionaries &amp; tuples</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3776AB"/>
          </a:solidFill>
          <a:ln/>
        </p:spPr>
      </p:sp>
      <p:sp>
        <p:nvSpPr>
          <p:cNvPr id="3" name="Text 1"/>
          <p:cNvSpPr/>
          <p:nvPr/>
        </p:nvSpPr>
        <p:spPr>
          <a:xfrm>
            <a:off x="812800" y="2467639"/>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YOUR TURN</a:t>
            </a:r>
            <a:endParaRPr lang="en-US" sz="1200" dirty="0"/>
          </a:p>
        </p:txBody>
      </p:sp>
      <p:sp>
        <p:nvSpPr>
          <p:cNvPr id="4" name="Text 2"/>
          <p:cNvSpPr/>
          <p:nvPr>
            <p:ph type="title"/>
          </p:nvPr>
        </p:nvSpPr>
        <p:spPr>
          <a:xfrm>
            <a:off x="812800" y="2884159"/>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F2A37"/>
                </a:solidFill>
                <a:latin typeface="DM Sans" pitchFamily="34" charset="0"/>
                <a:ea typeface="DM Sans" pitchFamily="34" charset="-122"/>
                <a:cs typeface="DM Sans" pitchFamily="34" charset="-120"/>
              </a:rPr>
              <a:t>Practice time!</a:t>
            </a:r>
            <a:endParaRPr lang="en-US" sz="4800" dirty="0"/>
          </a:p>
        </p:txBody>
      </p:sp>
      <p:sp>
        <p:nvSpPr>
          <p:cNvPr id="5" name="Text 3"/>
          <p:cNvSpPr/>
          <p:nvPr/>
        </p:nvSpPr>
        <p:spPr>
          <a:xfrm>
            <a:off x="812800" y="3727388"/>
            <a:ext cx="5127752" cy="688314"/>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4A5568"/>
                </a:solidFill>
                <a:latin typeface="DM Sans" pitchFamily="34" charset="0"/>
                <a:ea typeface="DM Sans" pitchFamily="34" charset="-122"/>
                <a:cs typeface="DM Sans" pitchFamily="34" charset="-120"/>
              </a:rPr>
              <a:t>Open </a:t>
            </a:r>
            <a:r>
              <a:rPr lang="en-US" sz="1800" b="1" dirty="0">
                <a:solidFill>
                  <a:srgbClr val="4A5568"/>
                </a:solidFill>
                <a:latin typeface="DM Sans" pitchFamily="34" charset="0"/>
                <a:ea typeface="DM Sans" pitchFamily="34" charset="-122"/>
                <a:cs typeface="DM Sans" pitchFamily="34" charset="-120"/>
              </a:rPr>
              <a:t>exercises.ipynb</a:t>
            </a:r>
            <a:r>
              <a:rPr lang="en-US" sz="1800" dirty="0">
                <a:solidFill>
                  <a:srgbClr val="4A5568"/>
                </a:solidFill>
                <a:latin typeface="DM Sans" pitchFamily="34" charset="0"/>
                <a:ea typeface="DM Sans" pitchFamily="34" charset="-122"/>
                <a:cs typeface="DM Sans" pitchFamily="34" charset="-120"/>
              </a:rPr>
              <a:t> in the Day 9 folder and solve the 9 tasks, from ⭐ to ⭐⭐⭐.</a:t>
            </a:r>
            <a:endParaRPr lang="en-US" sz="1800" dirty="0"/>
          </a:p>
        </p:txBody>
      </p:sp>
      <p:sp>
        <p:nvSpPr>
          <p:cNvPr id="6" name="Text 4"/>
          <p:cNvSpPr/>
          <p:nvPr/>
        </p:nvSpPr>
        <p:spPr>
          <a:xfrm>
            <a:off x="6403975" y="1910823"/>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Capital cities dictionary</a:t>
            </a:r>
            <a:endParaRPr lang="en-US" sz="1600" dirty="0"/>
          </a:p>
        </p:txBody>
      </p:sp>
      <p:sp>
        <p:nvSpPr>
          <p:cNvPr id="7" name="Text 5"/>
          <p:cNvSpPr/>
          <p:nvPr/>
        </p:nvSpPr>
        <p:spPr>
          <a:xfrm>
            <a:off x="6403975" y="2711717"/>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Shopping bill 🛒</a:t>
            </a:r>
            <a:endParaRPr lang="en-US" sz="1600" dirty="0"/>
          </a:p>
        </p:txBody>
      </p:sp>
      <p:sp>
        <p:nvSpPr>
          <p:cNvPr id="8" name="Text 6"/>
          <p:cNvSpPr/>
          <p:nvPr/>
        </p:nvSpPr>
        <p:spPr>
          <a:xfrm>
            <a:off x="6403975" y="3512610"/>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Quiz from a dictionary 🧠</a:t>
            </a:r>
            <a:endParaRPr lang="en-US" sz="1600" dirty="0"/>
          </a:p>
        </p:txBody>
      </p:sp>
      <p:sp>
        <p:nvSpPr>
          <p:cNvPr id="9" name="Text 7"/>
          <p:cNvSpPr/>
          <p:nvPr/>
        </p:nvSpPr>
        <p:spPr>
          <a:xfrm>
            <a:off x="6400800" y="4310329"/>
            <a:ext cx="4978400" cy="640027"/>
          </a:xfrm>
          <a:prstGeom prst="roundRect">
            <a:avLst>
              <a:gd name="adj" fmla="val 15874"/>
            </a:avLst>
          </a:prstGeom>
          <a:solidFill>
            <a:srgbClr val="E3ECF6"/>
          </a:solidFill>
          <a:ln/>
        </p:spPr>
        <p:txBody>
          <a:bodyPr wrap="square" lIns="198842" tIns="148042" rIns="63206" bIns="122642"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Next lesson:</a:t>
            </a:r>
            <a:r>
              <a:rPr lang="en-US" sz="1600" dirty="0">
                <a:solidFill>
                  <a:srgbClr val="1F2A37"/>
                </a:solidFill>
                <a:latin typeface="DM Sans" pitchFamily="34" charset="0"/>
                <a:ea typeface="DM Sans" pitchFamily="34" charset="-122"/>
                <a:cs typeface="DM Sans" pitchFamily="34" charset="-120"/>
              </a:rPr>
              <a:t> Final project 🏆</a:t>
            </a:r>
            <a:endParaRPr lang="en-US" sz="1600" dirty="0"/>
          </a:p>
        </p:txBody>
      </p:sp>
    </p:spTree>
  </p:cSld>
  <p:clrMapOvr>
    <a:masterClrMapping/>
  </p:clrMapOvr>
</p:sld>
</file>

<file path=ppt/theme/theme1.xml><?xml version="1.0" encoding="utf-8"?>
<a:theme xmlns:a="http://schemas.openxmlformats.org/drawingml/2006/main" name="Day 9 — Dictionaries and Tuples">
  <a:themeElements>
    <a:clrScheme name="Day 9 — Dictionaries and Tuples">
      <a:dk1>
        <a:srgbClr val="1F2A37"/>
      </a:dk1>
      <a:lt1>
        <a:srgbClr val="FAF9F6"/>
      </a:lt1>
      <a:dk2>
        <a:srgbClr val="565E67"/>
      </a:dk2>
      <a:lt2>
        <a:srgbClr val="E4E4E3"/>
      </a:lt2>
      <a:accent1>
        <a:srgbClr val="3776AB"/>
      </a:accent1>
      <a:accent2>
        <a:srgbClr val="2F5F8A"/>
      </a:accent2>
      <a:accent3>
        <a:srgbClr val="8A94A3"/>
      </a:accent3>
      <a:accent4>
        <a:srgbClr val="4A5568"/>
      </a:accent4>
      <a:accent5>
        <a:srgbClr val="CFE0F1"/>
      </a:accent5>
      <a:accent6>
        <a:srgbClr val="9AA0A6"/>
      </a:accent6>
      <a:hlink>
        <a:srgbClr val="0563C1"/>
      </a:hlink>
      <a:folHlink>
        <a:srgbClr val="954F72"/>
      </a:folHlink>
    </a:clrScheme>
    <a:fontScheme name="Day 9 — Dictionaries and Tuples">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9 — Dictionaries and Tuples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2026-10-24T05:10:20Z</dcterms:created>
  <dcterms:modified xsi:type="dcterms:W3CDTF">2026-10-24T05:10:20Z</dcterms:modified>
</cp:coreProperties>
</file>