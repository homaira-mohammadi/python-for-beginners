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DM Sans" pitchFamily="34" charset="0"/>
      <p:regular r:id="rId21"/>
      <p:bold r:id="rId22"/>
    </p:embeddedFont>
    <p:embeddedFont>
      <p:font typeface="JetBrains Mono" panose="02000009000000000000" pitchFamily="49"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Text is everywhere: names, messages, passwords, emails. Today we learn how to work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together. Ask students where they see text in apps they use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from Days 2 and 5. Ask what the code prints: Hi Ali, hahaha, then A, l, i on separate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starts counting at 0! Negative numbers count from the end: -1 is always the last letter. Ask: what is word[10]? (IndexError, the index is too big.)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index diagram from the last slide in mind. Students love the [::-1] trick; we will use it for the palindrome 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method is a function that belongs to a value; we use it with a dot. find() returns -1 when the text is not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often type extra spaces or forget capitals. strip() and title() fix that. Python runs chained methods from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gives back a list (square brackets). We learn lists properly on Day 7. "in" answers True or False, so it works perfectly in an 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Strings are immutable: they cannot be changed. You also cannot do word[0] = "J". Instead, build a new string: "J" + word[1:].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met f-strings on Day 2. Now they can format numbers and use methods inside the curly brackets. The notebook also shows how to align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combines input, lower(), slicing and if/else. Let students test with their own names. Which names in the class are palindromes? (e.g. Anna, Bob)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 "y" (indexes start at 0). Q2 = "World". Q3 = "hi", because upper() returns a new string that we did not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row in their own words before you read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20–30 minutes. The password strength checker (exercise 9) is a great one to discuss together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pic>
        <p:nvPicPr>
          <p:cNvPr id="3" name="Image 0" descr="Python logo">    </p:cNvPr>
          <p:cNvPicPr>
            <a:picLocks noChangeAspect="1"/>
          </p:cNvPicPr>
          <p:nvPr/>
        </p:nvPicPr>
        <p:blipFill>
          <a:blip r:embed="rId1"/>
          <a:srcRect l="0" r="0" t="0" b="0"/>
          <a:stretch/>
        </p:blipFill>
        <p:spPr>
          <a:xfrm>
            <a:off x="812800" y="1557073"/>
            <a:ext cx="1270000" cy="1270000"/>
          </a:xfrm>
          <a:prstGeom prst="rect">
            <a:avLst/>
          </a:prstGeom>
        </p:spPr>
      </p:pic>
      <p:sp>
        <p:nvSpPr>
          <p:cNvPr id="4" name="Text 1"/>
          <p:cNvSpPr/>
          <p:nvPr/>
        </p:nvSpPr>
        <p:spPr>
          <a:xfrm>
            <a:off x="812800" y="3030273"/>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PYTHON FOR BEGINNERS · DAY 6</a:t>
            </a:r>
            <a:endParaRPr lang="en-US" sz="1200" dirty="0"/>
          </a:p>
        </p:txBody>
      </p:sp>
      <p:sp>
        <p:nvSpPr>
          <p:cNvPr id="5" name="Text 2"/>
          <p:cNvSpPr/>
          <p:nvPr>
            <p:ph type="title"/>
          </p:nvPr>
        </p:nvSpPr>
        <p:spPr>
          <a:xfrm>
            <a:off x="812800" y="3446793"/>
            <a:ext cx="512775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F2A37"/>
                </a:solidFill>
                <a:latin typeface="DM Sans" pitchFamily="34" charset="0"/>
                <a:ea typeface="DM Sans" pitchFamily="34" charset="-122"/>
                <a:cs typeface="DM Sans" pitchFamily="34" charset="-120"/>
              </a:rPr>
              <a:t>Strings</a:t>
            </a:r>
            <a:endParaRPr lang="en-US" sz="6000" dirty="0"/>
          </a:p>
        </p:txBody>
      </p:sp>
      <p:sp>
        <p:nvSpPr>
          <p:cNvPr id="6" name="Text 3"/>
          <p:cNvSpPr/>
          <p:nvPr/>
        </p:nvSpPr>
        <p:spPr>
          <a:xfrm>
            <a:off x="812800" y="4450093"/>
            <a:ext cx="5127752" cy="388607"/>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A5568"/>
                </a:solidFill>
                <a:latin typeface="DM Sans" pitchFamily="34" charset="0"/>
                <a:ea typeface="DM Sans" pitchFamily="34" charset="-122"/>
                <a:cs typeface="DM Sans" pitchFamily="34" charset="-120"/>
              </a:rPr>
              <a:t>Working with text like a pro</a:t>
            </a:r>
            <a:endParaRPr lang="en-US" sz="2200" dirty="0"/>
          </a:p>
        </p:txBody>
      </p:sp>
      <p:sp>
        <p:nvSpPr>
          <p:cNvPr id="7" name="Text 4"/>
          <p:cNvSpPr/>
          <p:nvPr/>
        </p:nvSpPr>
        <p:spPr>
          <a:xfrm>
            <a:off x="812800" y="5016500"/>
            <a:ext cx="512775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Instructor: Homaira Mohammadi</a:t>
            </a:r>
            <a:endParaRPr lang="en-US" sz="1600" dirty="0"/>
          </a:p>
        </p:txBody>
      </p:sp>
      <p:sp>
        <p:nvSpPr>
          <p:cNvPr id="8" name="Text 5"/>
          <p:cNvSpPr/>
          <p:nvPr/>
        </p:nvSpPr>
        <p:spPr>
          <a:xfrm>
            <a:off x="6400800" y="1976239"/>
            <a:ext cx="4978400" cy="2905522"/>
          </a:xfrm>
          <a:prstGeom prst="roundRect">
            <a:avLst>
              <a:gd name="adj" fmla="val 5245"/>
            </a:avLst>
          </a:prstGeom>
          <a:solidFill>
            <a:srgbClr val="1F2A37"/>
          </a:solidFill>
          <a:ln/>
          <a:effectLst>
            <a:outerShdw sx="100000" sy="100000" kx="0" ky="0" algn="bl" rotWithShape="0" blurRad="406400" dist="152400" dir="5400000">
              <a:srgbClr val="1F2A37">
                <a:alpha val="18000"/>
              </a:srgbClr>
            </a:outerShdw>
          </a:effectLst>
        </p:spPr>
        <p:txBody>
          <a:bodyPr wrap="square" lIns="361764" tIns="310964" rIns="236796" bIns="285564" rtlCol="0" anchor="t">
            <a:normAutofit/>
          </a:bodyPr>
          <a:lstStyle/>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word = </a:t>
            </a:r>
            <a:r>
              <a:rPr lang="en-US" sz="1800" dirty="0">
                <a:solidFill>
                  <a:srgbClr val="F2C94C"/>
                </a:solidFill>
                <a:latin typeface="JetBrains Mono" pitchFamily="49" charset="0"/>
                <a:ea typeface="JetBrains Mono" pitchFamily="49" charset="-122"/>
                <a:cs typeface="JetBrains Mono" pitchFamily="49" charset="-120"/>
              </a:rPr>
              <a:t>"Python"</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print(word[0])</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print(word.upper())</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print(word[::-1])</a:t>
            </a:r>
            <a:endParaRPr lang="en-US" sz="1800" dirty="0"/>
          </a:p>
          <a:p>
            <a:pPr algn="l" indent="0" marL="0">
              <a:lnSpc>
                <a:spcPts val="2880"/>
              </a:lnSpc>
              <a:buNone/>
            </a:pPr>
            <a:endParaRPr lang="en-US" sz="1800" dirty="0"/>
          </a:p>
          <a:p>
            <a:pPr algn="l" indent="0" marL="0">
              <a:lnSpc>
                <a:spcPts val="2880"/>
              </a:lnSpc>
              <a:buNone/>
            </a:pPr>
            <a:r>
              <a:rPr lang="en-US" sz="1800" dirty="0">
                <a:solidFill>
                  <a:srgbClr val="93A1B3"/>
                </a:solidFill>
                <a:latin typeface="JetBrains Mono" pitchFamily="49" charset="0"/>
                <a:ea typeface="JetBrains Mono" pitchFamily="49" charset="-122"/>
                <a:cs typeface="JetBrains Mono" pitchFamily="49" charset="-120"/>
              </a:rPr>
              <a:t># P PYTHON nohtyP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TODAY’S GOALS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By the end of today, you can…</a:t>
            </a:r>
            <a:endParaRPr lang="en-US" sz="3600" dirty="0"/>
          </a:p>
        </p:txBody>
      </p:sp>
      <p:pic>
        <p:nvPicPr>
          <p:cNvPr id="4" name="Image 0" descr="CheckCircle">    </p:cNvPr>
          <p:cNvPicPr>
            <a:picLocks noChangeAspect="1"/>
          </p:cNvPicPr>
          <p:nvPr/>
        </p:nvPicPr>
        <p:blipFill>
          <a:blip r:embed="rId1"/>
          <a:srcRect l="0" r="0" t="0" b="0"/>
          <a:stretch/>
        </p:blipFill>
        <p:spPr>
          <a:xfrm>
            <a:off x="812800" y="1993834"/>
            <a:ext cx="304800" cy="304800"/>
          </a:xfrm>
          <a:prstGeom prst="rect">
            <a:avLst/>
          </a:prstGeom>
        </p:spPr>
      </p:pic>
      <p:sp>
        <p:nvSpPr>
          <p:cNvPr id="5" name="Text 2"/>
          <p:cNvSpPr/>
          <p:nvPr/>
        </p:nvSpPr>
        <p:spPr>
          <a:xfrm>
            <a:off x="1270000" y="1986228"/>
            <a:ext cx="3555127"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Get any letter with its </a:t>
            </a:r>
            <a:r>
              <a:rPr lang="en-US" sz="1800" b="1" dirty="0">
                <a:solidFill>
                  <a:srgbClr val="1F2A37"/>
                </a:solidFill>
                <a:latin typeface="DM Sans" pitchFamily="34" charset="0"/>
                <a:ea typeface="DM Sans" pitchFamily="34" charset="-122"/>
                <a:cs typeface="DM Sans" pitchFamily="34" charset="-120"/>
              </a:rPr>
              <a:t>index</a:t>
            </a:r>
            <a:endParaRPr lang="en-US" sz="1800" dirty="0"/>
          </a:p>
        </p:txBody>
      </p:sp>
      <p:pic>
        <p:nvPicPr>
          <p:cNvPr id="6" name="Image 1" descr="CheckCircle">    </p:cNvPr>
          <p:cNvPicPr>
            <a:picLocks noChangeAspect="1"/>
          </p:cNvPicPr>
          <p:nvPr/>
        </p:nvPicPr>
        <p:blipFill>
          <a:blip r:embed="rId2"/>
          <a:srcRect l="0" r="0" t="0" b="0"/>
          <a:stretch/>
        </p:blipFill>
        <p:spPr>
          <a:xfrm>
            <a:off x="6299200" y="1993834"/>
            <a:ext cx="304800" cy="304800"/>
          </a:xfrm>
          <a:prstGeom prst="rect">
            <a:avLst/>
          </a:prstGeom>
        </p:spPr>
      </p:pic>
      <p:sp>
        <p:nvSpPr>
          <p:cNvPr id="7" name="Text 3"/>
          <p:cNvSpPr/>
          <p:nvPr/>
        </p:nvSpPr>
        <p:spPr>
          <a:xfrm>
            <a:off x="6756400" y="1986228"/>
            <a:ext cx="3257312"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Cut out parts with </a:t>
            </a:r>
            <a:r>
              <a:rPr lang="en-US" sz="1800" b="1" dirty="0">
                <a:solidFill>
                  <a:srgbClr val="1F2A37"/>
                </a:solidFill>
                <a:latin typeface="DM Sans" pitchFamily="34" charset="0"/>
                <a:ea typeface="DM Sans" pitchFamily="34" charset="-122"/>
                <a:cs typeface="DM Sans" pitchFamily="34" charset="-120"/>
              </a:rPr>
              <a:t>slicing</a:t>
            </a:r>
            <a:endParaRPr lang="en-US" sz="1800" dirty="0"/>
          </a:p>
        </p:txBody>
      </p:sp>
      <p:pic>
        <p:nvPicPr>
          <p:cNvPr id="8" name="Image 2" descr="CheckCircle">    </p:cNvPr>
          <p:cNvPicPr>
            <a:picLocks noChangeAspect="1"/>
          </p:cNvPicPr>
          <p:nvPr/>
        </p:nvPicPr>
        <p:blipFill>
          <a:blip r:embed="rId3"/>
          <a:srcRect l="0" r="0" t="0" b="0"/>
          <a:stretch/>
        </p:blipFill>
        <p:spPr>
          <a:xfrm>
            <a:off x="812800" y="2491648"/>
            <a:ext cx="304800" cy="304800"/>
          </a:xfrm>
          <a:prstGeom prst="rect">
            <a:avLst/>
          </a:prstGeom>
        </p:spPr>
      </p:pic>
      <p:sp>
        <p:nvSpPr>
          <p:cNvPr id="9" name="Text 4"/>
          <p:cNvSpPr/>
          <p:nvPr/>
        </p:nvSpPr>
        <p:spPr>
          <a:xfrm>
            <a:off x="1270000" y="2484041"/>
            <a:ext cx="2538651"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Use string </a:t>
            </a:r>
            <a:r>
              <a:rPr lang="en-US" sz="1800" b="1" dirty="0">
                <a:solidFill>
                  <a:srgbClr val="1F2A37"/>
                </a:solidFill>
                <a:latin typeface="DM Sans" pitchFamily="34" charset="0"/>
                <a:ea typeface="DM Sans" pitchFamily="34" charset="-122"/>
                <a:cs typeface="DM Sans" pitchFamily="34" charset="-120"/>
              </a:rPr>
              <a:t>methods</a:t>
            </a:r>
            <a:endParaRPr lang="en-US" sz="1800" dirty="0"/>
          </a:p>
        </p:txBody>
      </p:sp>
      <p:pic>
        <p:nvPicPr>
          <p:cNvPr id="10" name="Image 3" descr="CheckCircle">    </p:cNvPr>
          <p:cNvPicPr>
            <a:picLocks noChangeAspect="1"/>
          </p:cNvPicPr>
          <p:nvPr/>
        </p:nvPicPr>
        <p:blipFill>
          <a:blip r:embed="rId4"/>
          <a:srcRect l="0" r="0" t="0" b="0"/>
          <a:stretch/>
        </p:blipFill>
        <p:spPr>
          <a:xfrm>
            <a:off x="6299200" y="2491648"/>
            <a:ext cx="304800" cy="304800"/>
          </a:xfrm>
          <a:prstGeom prst="rect">
            <a:avLst/>
          </a:prstGeom>
        </p:spPr>
      </p:pic>
      <p:sp>
        <p:nvSpPr>
          <p:cNvPr id="11" name="Text 5"/>
          <p:cNvSpPr/>
          <p:nvPr/>
        </p:nvSpPr>
        <p:spPr>
          <a:xfrm>
            <a:off x="6756400" y="2484041"/>
            <a:ext cx="2306002"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Check text with </a:t>
            </a:r>
            <a:r>
              <a:rPr lang="en-US" sz="1800" b="1" dirty="0">
                <a:solidFill>
                  <a:srgbClr val="1F2A37"/>
                </a:solidFill>
                <a:latin typeface="DM Sans" pitchFamily="34" charset="0"/>
                <a:ea typeface="DM Sans" pitchFamily="34" charset="-122"/>
                <a:cs typeface="DM Sans" pitchFamily="34" charset="-120"/>
              </a:rPr>
              <a:t>in</a:t>
            </a:r>
            <a:endParaRPr lang="en-US" sz="1800" dirty="0"/>
          </a:p>
        </p:txBody>
      </p:sp>
      <p:pic>
        <p:nvPicPr>
          <p:cNvPr id="12" name="Image 4" descr="CheckCircle">    </p:cNvPr>
          <p:cNvPicPr>
            <a:picLocks noChangeAspect="1"/>
          </p:cNvPicPr>
          <p:nvPr/>
        </p:nvPicPr>
        <p:blipFill>
          <a:blip r:embed="rId5"/>
          <a:srcRect l="0" r="0" t="0" b="0"/>
          <a:stretch/>
        </p:blipFill>
        <p:spPr>
          <a:xfrm>
            <a:off x="812800" y="2989461"/>
            <a:ext cx="304800" cy="304800"/>
          </a:xfrm>
          <a:prstGeom prst="rect">
            <a:avLst/>
          </a:prstGeom>
        </p:spPr>
      </p:pic>
      <p:sp>
        <p:nvSpPr>
          <p:cNvPr id="13" name="Text 6"/>
          <p:cNvSpPr/>
          <p:nvPr/>
        </p:nvSpPr>
        <p:spPr>
          <a:xfrm>
            <a:off x="1270000" y="2981854"/>
            <a:ext cx="3711654"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Format output with </a:t>
            </a:r>
            <a:r>
              <a:rPr lang="en-US" sz="1800" b="1" dirty="0">
                <a:solidFill>
                  <a:srgbClr val="1F2A37"/>
                </a:solidFill>
                <a:latin typeface="DM Sans" pitchFamily="34" charset="0"/>
                <a:ea typeface="DM Sans" pitchFamily="34" charset="-122"/>
                <a:cs typeface="DM Sans" pitchFamily="34" charset="-120"/>
              </a:rPr>
              <a:t>f-strings</a:t>
            </a:r>
            <a:endParaRPr lang="en-US" sz="1800" dirty="0"/>
          </a:p>
        </p:txBody>
      </p:sp>
      <p:pic>
        <p:nvPicPr>
          <p:cNvPr id="14" name="Image 5" descr="CheckCircle">    </p:cNvPr>
          <p:cNvPicPr>
            <a:picLocks noChangeAspect="1"/>
          </p:cNvPicPr>
          <p:nvPr/>
        </p:nvPicPr>
        <p:blipFill>
          <a:blip r:embed="rId6"/>
          <a:srcRect l="0" r="0" t="0" b="0"/>
          <a:stretch/>
        </p:blipFill>
        <p:spPr>
          <a:xfrm>
            <a:off x="6299200" y="2989461"/>
            <a:ext cx="304800" cy="304800"/>
          </a:xfrm>
          <a:prstGeom prst="rect">
            <a:avLst/>
          </a:prstGeom>
        </p:spPr>
      </p:pic>
      <p:sp>
        <p:nvSpPr>
          <p:cNvPr id="15" name="Text 7"/>
          <p:cNvSpPr/>
          <p:nvPr/>
        </p:nvSpPr>
        <p:spPr>
          <a:xfrm>
            <a:off x="6756400" y="2981854"/>
            <a:ext cx="3889058"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Build a palindrome checker 🔁</a:t>
            </a:r>
            <a:endParaRPr lang="en-US" sz="1800" dirty="0"/>
          </a:p>
        </p:txBody>
      </p:sp>
      <p:sp>
        <p:nvSpPr>
          <p:cNvPr id="16"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6: strings</a:t>
            </a:r>
            <a:endParaRPr lang="en-US" sz="1200" dirty="0"/>
          </a:p>
        </p:txBody>
      </p:sp>
      <p:sp>
        <p:nvSpPr>
          <p:cNvPr id="17"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WHAT WE ALREADY KNOW</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A string is text in quotes</a:t>
            </a:r>
            <a:endParaRPr lang="en-US" sz="3600" dirty="0"/>
          </a:p>
        </p:txBody>
      </p:sp>
      <p:sp>
        <p:nvSpPr>
          <p:cNvPr id="4" name="Text 2"/>
          <p:cNvSpPr/>
          <p:nvPr/>
        </p:nvSpPr>
        <p:spPr>
          <a:xfrm>
            <a:off x="812800" y="1986228"/>
            <a:ext cx="5080000" cy="2560241"/>
          </a:xfrm>
          <a:prstGeom prst="roundRect">
            <a:avLst>
              <a:gd name="adj" fmla="val 4960"/>
            </a:avLst>
          </a:prstGeom>
          <a:solidFill>
            <a:srgbClr val="1F2A37"/>
          </a:solidFill>
          <a:ln/>
        </p:spPr>
        <p:txBody>
          <a:bodyPr wrap="square" lIns="318403" tIns="267603" rIns="187339" bIns="2422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name = </a:t>
            </a:r>
            <a:r>
              <a:rPr lang="en-US" sz="1600" dirty="0">
                <a:solidFill>
                  <a:srgbClr val="F2C94C"/>
                </a:solidFill>
                <a:latin typeface="JetBrains Mono" pitchFamily="49" charset="0"/>
                <a:ea typeface="JetBrains Mono" pitchFamily="49" charset="-122"/>
                <a:cs typeface="JetBrains Mono" pitchFamily="49" charset="-120"/>
              </a:rPr>
              <a:t>"Ali"</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"Hi "</a:t>
            </a:r>
            <a:r>
              <a:rPr lang="en-US" sz="1600" dirty="0">
                <a:solidFill>
                  <a:srgbClr val="E8EDF3"/>
                </a:solidFill>
                <a:latin typeface="JetBrains Mono" pitchFamily="49" charset="0"/>
                <a:ea typeface="JetBrains Mono" pitchFamily="49" charset="-122"/>
                <a:cs typeface="JetBrains Mono" pitchFamily="49" charset="-120"/>
              </a:rPr>
              <a:t> + name)  </a:t>
            </a:r>
            <a:r>
              <a:rPr lang="en-US" sz="1600" dirty="0">
                <a:solidFill>
                  <a:srgbClr val="93A1B3"/>
                </a:solidFill>
                <a:latin typeface="JetBrains Mono" pitchFamily="49" charset="0"/>
                <a:ea typeface="JetBrains Mono" pitchFamily="49" charset="-122"/>
                <a:cs typeface="JetBrains Mono" pitchFamily="49" charset="-120"/>
              </a:rPr>
              <a:t># join</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"ha"</a:t>
            </a:r>
            <a:r>
              <a:rPr lang="en-US" sz="1600" dirty="0">
                <a:solidFill>
                  <a:srgbClr val="E8EDF3"/>
                </a:solidFill>
                <a:latin typeface="JetBrains Mono" pitchFamily="49" charset="0"/>
                <a:ea typeface="JetBrains Mono" pitchFamily="49" charset="-122"/>
                <a:cs typeface="JetBrains Mono" pitchFamily="49" charset="-120"/>
              </a:rPr>
              <a:t> * 3)      </a:t>
            </a:r>
            <a:r>
              <a:rPr lang="en-US" sz="1600" dirty="0">
                <a:solidFill>
                  <a:srgbClr val="93A1B3"/>
                </a:solidFill>
                <a:latin typeface="JetBrains Mono" pitchFamily="49" charset="0"/>
                <a:ea typeface="JetBrains Mono" pitchFamily="49" charset="-122"/>
                <a:cs typeface="JetBrains Mono" pitchFamily="49" charset="-120"/>
              </a:rPr>
              <a:t># repeat</a:t>
            </a:r>
            <a:endParaRPr lang="en-US" sz="1600" dirty="0"/>
          </a:p>
          <a:p>
            <a:pPr algn="l" indent="0" marL="0">
              <a:lnSpc>
                <a:spcPts val="2560"/>
              </a:lnSpc>
              <a:buNone/>
            </a:pP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for</a:t>
            </a:r>
            <a:r>
              <a:rPr lang="en-US" sz="1600" dirty="0">
                <a:solidFill>
                  <a:srgbClr val="E8EDF3"/>
                </a:solidFill>
                <a:latin typeface="JetBrains Mono" pitchFamily="49" charset="0"/>
                <a:ea typeface="JetBrains Mono" pitchFamily="49" charset="-122"/>
                <a:cs typeface="JetBrains Mono" pitchFamily="49" charset="-120"/>
              </a:rPr>
              <a:t> letter </a:t>
            </a:r>
            <a:r>
              <a:rPr lang="en-US" sz="1600" dirty="0">
                <a:solidFill>
                  <a:srgbClr val="8EC1F0"/>
                </a:solidFill>
                <a:latin typeface="JetBrains Mono" pitchFamily="49" charset="0"/>
                <a:ea typeface="JetBrains Mono" pitchFamily="49" charset="-122"/>
                <a:cs typeface="JetBrains Mono" pitchFamily="49" charset="-120"/>
              </a:rPr>
              <a:t>in</a:t>
            </a:r>
            <a:r>
              <a:rPr lang="en-US" sz="1600" dirty="0">
                <a:solidFill>
                  <a:srgbClr val="E8EDF3"/>
                </a:solidFill>
                <a:latin typeface="JetBrains Mono" pitchFamily="49" charset="0"/>
                <a:ea typeface="JetBrains Mono" pitchFamily="49" charset="-122"/>
                <a:cs typeface="JetBrains Mono" pitchFamily="49" charset="-120"/>
              </a:rPr>
              <a:t> name:</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print(letter)</a:t>
            </a:r>
            <a:endParaRPr lang="en-US" sz="1600" dirty="0"/>
          </a:p>
        </p:txBody>
      </p:sp>
      <p:sp>
        <p:nvSpPr>
          <p:cNvPr id="5" name="Text 3"/>
          <p:cNvSpPr/>
          <p:nvPr/>
        </p:nvSpPr>
        <p:spPr>
          <a:xfrm>
            <a:off x="6299200" y="2359620"/>
            <a:ext cx="5232400"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2A37"/>
                </a:solidFill>
                <a:latin typeface="DM Sans" pitchFamily="34" charset="0"/>
                <a:ea typeface="DM Sans" pitchFamily="34" charset="-122"/>
                <a:cs typeface="DM Sans" pitchFamily="34" charset="-120"/>
              </a:rPr>
              <a:t>+</a:t>
            </a:r>
            <a:r>
              <a:rPr lang="en-US" sz="1800" dirty="0">
                <a:solidFill>
                  <a:srgbClr val="1F2A37"/>
                </a:solidFill>
                <a:latin typeface="DM Sans" pitchFamily="34" charset="0"/>
                <a:ea typeface="DM Sans" pitchFamily="34" charset="-122"/>
                <a:cs typeface="DM Sans" pitchFamily="34" charset="-120"/>
              </a:rPr>
              <a:t> joins strings</a:t>
            </a:r>
            <a:endParaRPr lang="en-US" sz="1800" dirty="0"/>
          </a:p>
        </p:txBody>
      </p:sp>
      <p:sp>
        <p:nvSpPr>
          <p:cNvPr id="6" name="Text 4"/>
          <p:cNvSpPr/>
          <p:nvPr/>
        </p:nvSpPr>
        <p:spPr>
          <a:xfrm>
            <a:off x="6299200" y="2857435"/>
            <a:ext cx="5232400"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2A37"/>
                </a:solidFill>
                <a:latin typeface="DM Sans" pitchFamily="34" charset="0"/>
                <a:ea typeface="DM Sans" pitchFamily="34" charset="-122"/>
                <a:cs typeface="DM Sans" pitchFamily="34" charset="-120"/>
              </a:rPr>
              <a:t>*</a:t>
            </a:r>
            <a:r>
              <a:rPr lang="en-US" sz="1800" dirty="0">
                <a:solidFill>
                  <a:srgbClr val="1F2A37"/>
                </a:solidFill>
                <a:latin typeface="DM Sans" pitchFamily="34" charset="0"/>
                <a:ea typeface="DM Sans" pitchFamily="34" charset="-122"/>
                <a:cs typeface="DM Sans" pitchFamily="34" charset="-120"/>
              </a:rPr>
              <a:t> repeats a string</a:t>
            </a:r>
            <a:endParaRPr lang="en-US" sz="1800" dirty="0"/>
          </a:p>
        </p:txBody>
      </p:sp>
      <p:sp>
        <p:nvSpPr>
          <p:cNvPr id="7" name="Text 5"/>
          <p:cNvSpPr/>
          <p:nvPr/>
        </p:nvSpPr>
        <p:spPr>
          <a:xfrm>
            <a:off x="6299200" y="3355248"/>
            <a:ext cx="523240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A </a:t>
            </a:r>
            <a:r>
              <a:rPr lang="en-US" sz="1800" b="1" dirty="0">
                <a:solidFill>
                  <a:srgbClr val="1F2A37"/>
                </a:solidFill>
                <a:latin typeface="DM Sans" pitchFamily="34" charset="0"/>
                <a:ea typeface="DM Sans" pitchFamily="34" charset="-122"/>
                <a:cs typeface="DM Sans" pitchFamily="34" charset="-120"/>
              </a:rPr>
              <a:t>for</a:t>
            </a:r>
            <a:r>
              <a:rPr lang="en-US" sz="1800" dirty="0">
                <a:solidFill>
                  <a:srgbClr val="1F2A37"/>
                </a:solidFill>
                <a:latin typeface="DM Sans" pitchFamily="34" charset="0"/>
                <a:ea typeface="DM Sans" pitchFamily="34" charset="-122"/>
                <a:cs typeface="DM Sans" pitchFamily="34" charset="-120"/>
              </a:rPr>
              <a:t> loop goes through each letter</a:t>
            </a:r>
            <a:endParaRPr lang="en-US" sz="1800" dirty="0"/>
          </a:p>
        </p:txBody>
      </p:sp>
      <p:sp>
        <p:nvSpPr>
          <p:cNvPr id="8" name="Text 6"/>
          <p:cNvSpPr/>
          <p:nvPr/>
        </p:nvSpPr>
        <p:spPr>
          <a:xfrm>
            <a:off x="6299200" y="3853061"/>
            <a:ext cx="523240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A5568"/>
                </a:solidFill>
                <a:latin typeface="DM Sans" pitchFamily="34" charset="0"/>
                <a:ea typeface="DM Sans" pitchFamily="34" charset="-122"/>
                <a:cs typeface="DM Sans" pitchFamily="34" charset="-120"/>
              </a:rPr>
              <a:t>Today: get </a:t>
            </a:r>
            <a:r>
              <a:rPr lang="en-US" sz="1800" b="1" dirty="0">
                <a:solidFill>
                  <a:srgbClr val="4A5568"/>
                </a:solidFill>
                <a:latin typeface="DM Sans" pitchFamily="34" charset="0"/>
                <a:ea typeface="DM Sans" pitchFamily="34" charset="-122"/>
                <a:cs typeface="DM Sans" pitchFamily="34" charset="-120"/>
              </a:rPr>
              <a:t>one</a:t>
            </a:r>
            <a:r>
              <a:rPr lang="en-US" sz="1800" dirty="0">
                <a:solidFill>
                  <a:srgbClr val="4A5568"/>
                </a:solidFill>
                <a:latin typeface="DM Sans" pitchFamily="34" charset="0"/>
                <a:ea typeface="DM Sans" pitchFamily="34" charset="-122"/>
                <a:cs typeface="DM Sans" pitchFamily="34" charset="-120"/>
              </a:rPr>
              <a:t> letter, or a </a:t>
            </a:r>
            <a:r>
              <a:rPr lang="en-US" sz="1800" b="1" dirty="0">
                <a:solidFill>
                  <a:srgbClr val="4A5568"/>
                </a:solidFill>
                <a:latin typeface="DM Sans" pitchFamily="34" charset="0"/>
                <a:ea typeface="DM Sans" pitchFamily="34" charset="-122"/>
                <a:cs typeface="DM Sans" pitchFamily="34" charset="-120"/>
              </a:rPr>
              <a:t>piece</a:t>
            </a:r>
            <a:r>
              <a:rPr lang="en-US" sz="1800" dirty="0">
                <a:solidFill>
                  <a:srgbClr val="4A5568"/>
                </a:solidFill>
                <a:latin typeface="DM Sans" pitchFamily="34" charset="0"/>
                <a:ea typeface="DM Sans" pitchFamily="34" charset="-122"/>
                <a:cs typeface="DM Sans" pitchFamily="34" charset="-120"/>
              </a:rPr>
              <a:t> of the text.</a:t>
            </a:r>
            <a:endParaRPr lang="en-US" sz="18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6: strings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INDEXING</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Every letter has a position number</a:t>
            </a:r>
            <a:endParaRPr lang="en-US" sz="3600" dirty="0"/>
          </a:p>
        </p:txBody>
      </p:sp>
      <p:sp>
        <p:nvSpPr>
          <p:cNvPr id="4" name="Shape 2"/>
          <p:cNvSpPr/>
          <p:nvPr/>
        </p:nvSpPr>
        <p:spPr>
          <a:xfrm>
            <a:off x="819150" y="1992578"/>
            <a:ext cx="1663700" cy="1678848"/>
          </a:xfrm>
          <a:prstGeom prst="roundRect">
            <a:avLst>
              <a:gd name="adj" fmla="val 5725"/>
            </a:avLst>
          </a:prstGeom>
          <a:solidFill>
            <a:srgbClr val="FFFFFF"/>
          </a:solidFill>
          <a:ln w="12700">
            <a:solidFill>
              <a:srgbClr val="D5DEE8"/>
            </a:solidFill>
            <a:prstDash val="solid"/>
          </a:ln>
        </p:spPr>
      </p:sp>
      <p:sp>
        <p:nvSpPr>
          <p:cNvPr id="5" name="Text 3"/>
          <p:cNvSpPr/>
          <p:nvPr/>
        </p:nvSpPr>
        <p:spPr>
          <a:xfrm>
            <a:off x="1486376" y="2151328"/>
            <a:ext cx="329248" cy="665427"/>
          </a:xfrm>
          <a:prstGeom prst="rect">
            <a:avLst/>
          </a:prstGeom>
          <a:noFill/>
          <a:ln/>
        </p:spPr>
        <p:txBody>
          <a:bodyPr wrap="square" lIns="0" tIns="0" rIns="0" bIns="0" rtlCol="0" anchor="t">
            <a:normAutofit/>
          </a:bodyPr>
          <a:lstStyle/>
          <a:p>
            <a:pPr algn="ctr" indent="0" marL="0">
              <a:lnSpc>
                <a:spcPts val="5040"/>
              </a:lnSpc>
              <a:buNone/>
            </a:pPr>
            <a:r>
              <a:rPr lang="en-US" sz="3600" b="1" dirty="0">
                <a:solidFill>
                  <a:srgbClr val="1F2A37"/>
                </a:solidFill>
                <a:latin typeface="JetBrains Mono" pitchFamily="49" charset="0"/>
                <a:ea typeface="JetBrains Mono" pitchFamily="49" charset="-122"/>
                <a:cs typeface="JetBrains Mono" pitchFamily="49" charset="-120"/>
              </a:rPr>
              <a:t>P</a:t>
            </a:r>
            <a:endParaRPr lang="en-US" sz="3600" dirty="0"/>
          </a:p>
        </p:txBody>
      </p:sp>
      <p:sp>
        <p:nvSpPr>
          <p:cNvPr id="6" name="Text 4"/>
          <p:cNvSpPr/>
          <p:nvPr/>
        </p:nvSpPr>
        <p:spPr>
          <a:xfrm>
            <a:off x="1545101" y="2867555"/>
            <a:ext cx="211799" cy="345414"/>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3776AB"/>
                </a:solidFill>
                <a:latin typeface="DM Sans" pitchFamily="34" charset="0"/>
                <a:ea typeface="DM Sans" pitchFamily="34" charset="-122"/>
                <a:cs typeface="DM Sans" pitchFamily="34" charset="-120"/>
              </a:rPr>
              <a:t>0</a:t>
            </a:r>
            <a:endParaRPr lang="en-US" sz="1800" dirty="0"/>
          </a:p>
        </p:txBody>
      </p:sp>
      <p:sp>
        <p:nvSpPr>
          <p:cNvPr id="7" name="Text 5"/>
          <p:cNvSpPr/>
          <p:nvPr/>
        </p:nvSpPr>
        <p:spPr>
          <a:xfrm>
            <a:off x="1521619" y="3263768"/>
            <a:ext cx="258696" cy="274307"/>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4A5568"/>
                </a:solidFill>
                <a:latin typeface="DM Sans" pitchFamily="34" charset="0"/>
                <a:ea typeface="DM Sans" pitchFamily="34" charset="-122"/>
                <a:cs typeface="DM Sans" pitchFamily="34" charset="-120"/>
              </a:rPr>
              <a:t>-6</a:t>
            </a:r>
            <a:endParaRPr lang="en-US" sz="1400" dirty="0"/>
          </a:p>
        </p:txBody>
      </p:sp>
      <p:sp>
        <p:nvSpPr>
          <p:cNvPr id="8" name="Shape 6"/>
          <p:cNvSpPr/>
          <p:nvPr/>
        </p:nvSpPr>
        <p:spPr>
          <a:xfrm>
            <a:off x="2597150" y="1992578"/>
            <a:ext cx="1663700" cy="1678848"/>
          </a:xfrm>
          <a:prstGeom prst="roundRect">
            <a:avLst>
              <a:gd name="adj" fmla="val 5725"/>
            </a:avLst>
          </a:prstGeom>
          <a:solidFill>
            <a:srgbClr val="FFFFFF"/>
          </a:solidFill>
          <a:ln w="12700">
            <a:solidFill>
              <a:srgbClr val="D5DEE8"/>
            </a:solidFill>
            <a:prstDash val="solid"/>
          </a:ln>
        </p:spPr>
      </p:sp>
      <p:sp>
        <p:nvSpPr>
          <p:cNvPr id="9" name="Text 7"/>
          <p:cNvSpPr/>
          <p:nvPr/>
        </p:nvSpPr>
        <p:spPr>
          <a:xfrm>
            <a:off x="3264377" y="2151328"/>
            <a:ext cx="329248" cy="665427"/>
          </a:xfrm>
          <a:prstGeom prst="rect">
            <a:avLst/>
          </a:prstGeom>
          <a:noFill/>
          <a:ln/>
        </p:spPr>
        <p:txBody>
          <a:bodyPr wrap="square" lIns="0" tIns="0" rIns="0" bIns="0" rtlCol="0" anchor="t">
            <a:normAutofit/>
          </a:bodyPr>
          <a:lstStyle/>
          <a:p>
            <a:pPr algn="ctr" indent="0" marL="0">
              <a:lnSpc>
                <a:spcPts val="5040"/>
              </a:lnSpc>
              <a:buNone/>
            </a:pPr>
            <a:r>
              <a:rPr lang="en-US" sz="3600" b="1" dirty="0">
                <a:solidFill>
                  <a:srgbClr val="1F2A37"/>
                </a:solidFill>
                <a:latin typeface="JetBrains Mono" pitchFamily="49" charset="0"/>
                <a:ea typeface="JetBrains Mono" pitchFamily="49" charset="-122"/>
                <a:cs typeface="JetBrains Mono" pitchFamily="49" charset="-120"/>
              </a:rPr>
              <a:t>y</a:t>
            </a:r>
            <a:endParaRPr lang="en-US" sz="3600" dirty="0"/>
          </a:p>
        </p:txBody>
      </p:sp>
      <p:sp>
        <p:nvSpPr>
          <p:cNvPr id="10" name="Text 8"/>
          <p:cNvSpPr/>
          <p:nvPr/>
        </p:nvSpPr>
        <p:spPr>
          <a:xfrm>
            <a:off x="3361994" y="2867555"/>
            <a:ext cx="134011" cy="345414"/>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3776AB"/>
                </a:solidFill>
                <a:latin typeface="DM Sans" pitchFamily="34" charset="0"/>
                <a:ea typeface="DM Sans" pitchFamily="34" charset="-122"/>
                <a:cs typeface="DM Sans" pitchFamily="34" charset="-120"/>
              </a:rPr>
              <a:t>1</a:t>
            </a:r>
            <a:endParaRPr lang="en-US" sz="1800" dirty="0"/>
          </a:p>
        </p:txBody>
      </p:sp>
      <p:sp>
        <p:nvSpPr>
          <p:cNvPr id="11" name="Text 9"/>
          <p:cNvSpPr/>
          <p:nvPr/>
        </p:nvSpPr>
        <p:spPr>
          <a:xfrm>
            <a:off x="3301273" y="3263768"/>
            <a:ext cx="255455" cy="274307"/>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4A5568"/>
                </a:solidFill>
                <a:latin typeface="DM Sans" pitchFamily="34" charset="0"/>
                <a:ea typeface="DM Sans" pitchFamily="34" charset="-122"/>
                <a:cs typeface="DM Sans" pitchFamily="34" charset="-120"/>
              </a:rPr>
              <a:t>-5</a:t>
            </a:r>
            <a:endParaRPr lang="en-US" sz="1400" dirty="0"/>
          </a:p>
        </p:txBody>
      </p:sp>
      <p:sp>
        <p:nvSpPr>
          <p:cNvPr id="12" name="Shape 10"/>
          <p:cNvSpPr/>
          <p:nvPr/>
        </p:nvSpPr>
        <p:spPr>
          <a:xfrm>
            <a:off x="4375150" y="1992578"/>
            <a:ext cx="1663700" cy="1678848"/>
          </a:xfrm>
          <a:prstGeom prst="roundRect">
            <a:avLst>
              <a:gd name="adj" fmla="val 5725"/>
            </a:avLst>
          </a:prstGeom>
          <a:solidFill>
            <a:srgbClr val="FFFFFF"/>
          </a:solidFill>
          <a:ln w="12700">
            <a:solidFill>
              <a:srgbClr val="D5DEE8"/>
            </a:solidFill>
            <a:prstDash val="solid"/>
          </a:ln>
        </p:spPr>
      </p:sp>
      <p:sp>
        <p:nvSpPr>
          <p:cNvPr id="13" name="Text 11"/>
          <p:cNvSpPr/>
          <p:nvPr/>
        </p:nvSpPr>
        <p:spPr>
          <a:xfrm>
            <a:off x="5042377" y="2151328"/>
            <a:ext cx="329248" cy="665427"/>
          </a:xfrm>
          <a:prstGeom prst="rect">
            <a:avLst/>
          </a:prstGeom>
          <a:noFill/>
          <a:ln/>
        </p:spPr>
        <p:txBody>
          <a:bodyPr wrap="square" lIns="0" tIns="0" rIns="0" bIns="0" rtlCol="0" anchor="t">
            <a:normAutofit/>
          </a:bodyPr>
          <a:lstStyle/>
          <a:p>
            <a:pPr algn="ctr" indent="0" marL="0">
              <a:lnSpc>
                <a:spcPts val="5040"/>
              </a:lnSpc>
              <a:buNone/>
            </a:pPr>
            <a:r>
              <a:rPr lang="en-US" sz="3600" b="1" dirty="0">
                <a:solidFill>
                  <a:srgbClr val="1F2A37"/>
                </a:solidFill>
                <a:latin typeface="JetBrains Mono" pitchFamily="49" charset="0"/>
                <a:ea typeface="JetBrains Mono" pitchFamily="49" charset="-122"/>
                <a:cs typeface="JetBrains Mono" pitchFamily="49" charset="-120"/>
              </a:rPr>
              <a:t>t</a:t>
            </a:r>
            <a:endParaRPr lang="en-US" sz="3600" dirty="0"/>
          </a:p>
        </p:txBody>
      </p:sp>
      <p:sp>
        <p:nvSpPr>
          <p:cNvPr id="14" name="Text 12"/>
          <p:cNvSpPr/>
          <p:nvPr/>
        </p:nvSpPr>
        <p:spPr>
          <a:xfrm>
            <a:off x="5115587" y="2867555"/>
            <a:ext cx="182761" cy="345414"/>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3776AB"/>
                </a:solidFill>
                <a:latin typeface="DM Sans" pitchFamily="34" charset="0"/>
                <a:ea typeface="DM Sans" pitchFamily="34" charset="-122"/>
                <a:cs typeface="DM Sans" pitchFamily="34" charset="-120"/>
              </a:rPr>
              <a:t>2</a:t>
            </a:r>
            <a:endParaRPr lang="en-US" sz="1800" dirty="0"/>
          </a:p>
        </p:txBody>
      </p:sp>
      <p:sp>
        <p:nvSpPr>
          <p:cNvPr id="15" name="Text 13"/>
          <p:cNvSpPr/>
          <p:nvPr/>
        </p:nvSpPr>
        <p:spPr>
          <a:xfrm>
            <a:off x="5079537" y="3263768"/>
            <a:ext cx="254926" cy="274307"/>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4A5568"/>
                </a:solidFill>
                <a:latin typeface="DM Sans" pitchFamily="34" charset="0"/>
                <a:ea typeface="DM Sans" pitchFamily="34" charset="-122"/>
                <a:cs typeface="DM Sans" pitchFamily="34" charset="-120"/>
              </a:rPr>
              <a:t>-4</a:t>
            </a:r>
            <a:endParaRPr lang="en-US" sz="1400" dirty="0"/>
          </a:p>
        </p:txBody>
      </p:sp>
      <p:sp>
        <p:nvSpPr>
          <p:cNvPr id="16" name="Shape 14"/>
          <p:cNvSpPr/>
          <p:nvPr/>
        </p:nvSpPr>
        <p:spPr>
          <a:xfrm>
            <a:off x="6153150" y="1992578"/>
            <a:ext cx="1663700" cy="1678848"/>
          </a:xfrm>
          <a:prstGeom prst="roundRect">
            <a:avLst>
              <a:gd name="adj" fmla="val 5725"/>
            </a:avLst>
          </a:prstGeom>
          <a:solidFill>
            <a:srgbClr val="FFFFFF"/>
          </a:solidFill>
          <a:ln w="12700">
            <a:solidFill>
              <a:srgbClr val="D5DEE8"/>
            </a:solidFill>
            <a:prstDash val="solid"/>
          </a:ln>
        </p:spPr>
      </p:sp>
      <p:sp>
        <p:nvSpPr>
          <p:cNvPr id="17" name="Text 15"/>
          <p:cNvSpPr/>
          <p:nvPr/>
        </p:nvSpPr>
        <p:spPr>
          <a:xfrm>
            <a:off x="6820377" y="2151328"/>
            <a:ext cx="329248" cy="665427"/>
          </a:xfrm>
          <a:prstGeom prst="rect">
            <a:avLst/>
          </a:prstGeom>
          <a:noFill/>
          <a:ln/>
        </p:spPr>
        <p:txBody>
          <a:bodyPr wrap="square" lIns="0" tIns="0" rIns="0" bIns="0" rtlCol="0" anchor="t">
            <a:normAutofit/>
          </a:bodyPr>
          <a:lstStyle/>
          <a:p>
            <a:pPr algn="ctr" indent="0" marL="0">
              <a:lnSpc>
                <a:spcPts val="5040"/>
              </a:lnSpc>
              <a:buNone/>
            </a:pPr>
            <a:r>
              <a:rPr lang="en-US" sz="3600" b="1" dirty="0">
                <a:solidFill>
                  <a:srgbClr val="1F2A37"/>
                </a:solidFill>
                <a:latin typeface="JetBrains Mono" pitchFamily="49" charset="0"/>
                <a:ea typeface="JetBrains Mono" pitchFamily="49" charset="-122"/>
                <a:cs typeface="JetBrains Mono" pitchFamily="49" charset="-120"/>
              </a:rPr>
              <a:t>h</a:t>
            </a:r>
            <a:endParaRPr lang="en-US" sz="3600" dirty="0"/>
          </a:p>
        </p:txBody>
      </p:sp>
      <p:sp>
        <p:nvSpPr>
          <p:cNvPr id="18" name="Text 16"/>
          <p:cNvSpPr/>
          <p:nvPr/>
        </p:nvSpPr>
        <p:spPr>
          <a:xfrm>
            <a:off x="6890676" y="2867555"/>
            <a:ext cx="188648" cy="345414"/>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3776AB"/>
                </a:solidFill>
                <a:latin typeface="DM Sans" pitchFamily="34" charset="0"/>
                <a:ea typeface="DM Sans" pitchFamily="34" charset="-122"/>
                <a:cs typeface="DM Sans" pitchFamily="34" charset="-120"/>
              </a:rPr>
              <a:t>3</a:t>
            </a:r>
            <a:endParaRPr lang="en-US" sz="1800" dirty="0"/>
          </a:p>
        </p:txBody>
      </p:sp>
      <p:sp>
        <p:nvSpPr>
          <p:cNvPr id="19" name="Text 17"/>
          <p:cNvSpPr/>
          <p:nvPr/>
        </p:nvSpPr>
        <p:spPr>
          <a:xfrm>
            <a:off x="6858926" y="3263768"/>
            <a:ext cx="252082" cy="274307"/>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4A5568"/>
                </a:solidFill>
                <a:latin typeface="DM Sans" pitchFamily="34" charset="0"/>
                <a:ea typeface="DM Sans" pitchFamily="34" charset="-122"/>
                <a:cs typeface="DM Sans" pitchFamily="34" charset="-120"/>
              </a:rPr>
              <a:t>-3</a:t>
            </a:r>
            <a:endParaRPr lang="en-US" sz="1400" dirty="0"/>
          </a:p>
        </p:txBody>
      </p:sp>
      <p:sp>
        <p:nvSpPr>
          <p:cNvPr id="20" name="Shape 18"/>
          <p:cNvSpPr/>
          <p:nvPr/>
        </p:nvSpPr>
        <p:spPr>
          <a:xfrm>
            <a:off x="7931150" y="1992578"/>
            <a:ext cx="1663700" cy="1678848"/>
          </a:xfrm>
          <a:prstGeom prst="roundRect">
            <a:avLst>
              <a:gd name="adj" fmla="val 5725"/>
            </a:avLst>
          </a:prstGeom>
          <a:solidFill>
            <a:srgbClr val="FFFFFF"/>
          </a:solidFill>
          <a:ln w="12700">
            <a:solidFill>
              <a:srgbClr val="D5DEE8"/>
            </a:solidFill>
            <a:prstDash val="solid"/>
          </a:ln>
        </p:spPr>
      </p:sp>
      <p:sp>
        <p:nvSpPr>
          <p:cNvPr id="21" name="Text 19"/>
          <p:cNvSpPr/>
          <p:nvPr/>
        </p:nvSpPr>
        <p:spPr>
          <a:xfrm>
            <a:off x="8598377" y="2151328"/>
            <a:ext cx="329248" cy="665427"/>
          </a:xfrm>
          <a:prstGeom prst="rect">
            <a:avLst/>
          </a:prstGeom>
          <a:noFill/>
          <a:ln/>
        </p:spPr>
        <p:txBody>
          <a:bodyPr wrap="square" lIns="0" tIns="0" rIns="0" bIns="0" rtlCol="0" anchor="t">
            <a:normAutofit/>
          </a:bodyPr>
          <a:lstStyle/>
          <a:p>
            <a:pPr algn="ctr" indent="0" marL="0">
              <a:lnSpc>
                <a:spcPts val="5040"/>
              </a:lnSpc>
              <a:buNone/>
            </a:pPr>
            <a:r>
              <a:rPr lang="en-US" sz="3600" b="1" dirty="0">
                <a:solidFill>
                  <a:srgbClr val="1F2A37"/>
                </a:solidFill>
                <a:latin typeface="JetBrains Mono" pitchFamily="49" charset="0"/>
                <a:ea typeface="JetBrains Mono" pitchFamily="49" charset="-122"/>
                <a:cs typeface="JetBrains Mono" pitchFamily="49" charset="-120"/>
              </a:rPr>
              <a:t>o</a:t>
            </a:r>
            <a:endParaRPr lang="en-US" sz="3600" dirty="0"/>
          </a:p>
        </p:txBody>
      </p:sp>
      <p:sp>
        <p:nvSpPr>
          <p:cNvPr id="22" name="Text 20"/>
          <p:cNvSpPr/>
          <p:nvPr/>
        </p:nvSpPr>
        <p:spPr>
          <a:xfrm>
            <a:off x="8663253" y="2867555"/>
            <a:ext cx="199430" cy="345414"/>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3776AB"/>
                </a:solidFill>
                <a:latin typeface="DM Sans" pitchFamily="34" charset="0"/>
                <a:ea typeface="DM Sans" pitchFamily="34" charset="-122"/>
                <a:cs typeface="DM Sans" pitchFamily="34" charset="-120"/>
              </a:rPr>
              <a:t>4</a:t>
            </a:r>
            <a:endParaRPr lang="en-US" sz="1800" dirty="0"/>
          </a:p>
        </p:txBody>
      </p:sp>
      <p:sp>
        <p:nvSpPr>
          <p:cNvPr id="23" name="Text 21"/>
          <p:cNvSpPr/>
          <p:nvPr/>
        </p:nvSpPr>
        <p:spPr>
          <a:xfrm>
            <a:off x="8638249" y="3263768"/>
            <a:ext cx="249436" cy="274307"/>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4A5568"/>
                </a:solidFill>
                <a:latin typeface="DM Sans" pitchFamily="34" charset="0"/>
                <a:ea typeface="DM Sans" pitchFamily="34" charset="-122"/>
                <a:cs typeface="DM Sans" pitchFamily="34" charset="-120"/>
              </a:rPr>
              <a:t>-2</a:t>
            </a:r>
            <a:endParaRPr lang="en-US" sz="1400" dirty="0"/>
          </a:p>
        </p:txBody>
      </p:sp>
      <p:sp>
        <p:nvSpPr>
          <p:cNvPr id="24" name="Shape 22"/>
          <p:cNvSpPr/>
          <p:nvPr/>
        </p:nvSpPr>
        <p:spPr>
          <a:xfrm>
            <a:off x="9709150" y="1992578"/>
            <a:ext cx="1663700" cy="1678848"/>
          </a:xfrm>
          <a:prstGeom prst="roundRect">
            <a:avLst>
              <a:gd name="adj" fmla="val 5725"/>
            </a:avLst>
          </a:prstGeom>
          <a:solidFill>
            <a:srgbClr val="FFFFFF"/>
          </a:solidFill>
          <a:ln w="12700">
            <a:solidFill>
              <a:srgbClr val="D5DEE8"/>
            </a:solidFill>
            <a:prstDash val="solid"/>
          </a:ln>
        </p:spPr>
      </p:sp>
      <p:sp>
        <p:nvSpPr>
          <p:cNvPr id="25" name="Text 23"/>
          <p:cNvSpPr/>
          <p:nvPr/>
        </p:nvSpPr>
        <p:spPr>
          <a:xfrm>
            <a:off x="10376377" y="2151328"/>
            <a:ext cx="329248" cy="665427"/>
          </a:xfrm>
          <a:prstGeom prst="rect">
            <a:avLst/>
          </a:prstGeom>
          <a:noFill/>
          <a:ln/>
        </p:spPr>
        <p:txBody>
          <a:bodyPr wrap="square" lIns="0" tIns="0" rIns="0" bIns="0" rtlCol="0" anchor="t">
            <a:normAutofit/>
          </a:bodyPr>
          <a:lstStyle/>
          <a:p>
            <a:pPr algn="ctr" indent="0" marL="0">
              <a:lnSpc>
                <a:spcPts val="5040"/>
              </a:lnSpc>
              <a:buNone/>
            </a:pPr>
            <a:r>
              <a:rPr lang="en-US" sz="3600" b="1" dirty="0">
                <a:solidFill>
                  <a:srgbClr val="1F2A37"/>
                </a:solidFill>
                <a:latin typeface="JetBrains Mono" pitchFamily="49" charset="0"/>
                <a:ea typeface="JetBrains Mono" pitchFamily="49" charset="-122"/>
                <a:cs typeface="JetBrains Mono" pitchFamily="49" charset="-120"/>
              </a:rPr>
              <a:t>n</a:t>
            </a:r>
            <a:endParaRPr lang="en-US" sz="3600" dirty="0"/>
          </a:p>
        </p:txBody>
      </p:sp>
      <p:sp>
        <p:nvSpPr>
          <p:cNvPr id="26" name="Text 24"/>
          <p:cNvSpPr/>
          <p:nvPr/>
        </p:nvSpPr>
        <p:spPr>
          <a:xfrm>
            <a:off x="10444559" y="2867555"/>
            <a:ext cx="192815" cy="345414"/>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3776AB"/>
                </a:solidFill>
                <a:latin typeface="DM Sans" pitchFamily="34" charset="0"/>
                <a:ea typeface="DM Sans" pitchFamily="34" charset="-122"/>
                <a:cs typeface="DM Sans" pitchFamily="34" charset="-120"/>
              </a:rPr>
              <a:t>5</a:t>
            </a:r>
            <a:endParaRPr lang="en-US" sz="1800" dirty="0"/>
          </a:p>
        </p:txBody>
      </p:sp>
      <p:sp>
        <p:nvSpPr>
          <p:cNvPr id="27" name="Text 25"/>
          <p:cNvSpPr/>
          <p:nvPr/>
        </p:nvSpPr>
        <p:spPr>
          <a:xfrm>
            <a:off x="10439731" y="3263768"/>
            <a:ext cx="202472" cy="274307"/>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4A5568"/>
                </a:solidFill>
                <a:latin typeface="DM Sans" pitchFamily="34" charset="0"/>
                <a:ea typeface="DM Sans" pitchFamily="34" charset="-122"/>
                <a:cs typeface="DM Sans" pitchFamily="34" charset="-120"/>
              </a:rPr>
              <a:t>-1</a:t>
            </a:r>
            <a:endParaRPr lang="en-US" sz="1400" dirty="0"/>
          </a:p>
        </p:txBody>
      </p:sp>
      <p:sp>
        <p:nvSpPr>
          <p:cNvPr id="28" name="Text 26"/>
          <p:cNvSpPr/>
          <p:nvPr/>
        </p:nvSpPr>
        <p:spPr>
          <a:xfrm>
            <a:off x="812800" y="4033376"/>
            <a:ext cx="3386667" cy="589227"/>
          </a:xfrm>
          <a:prstGeom prst="roundRect">
            <a:avLst>
              <a:gd name="adj" fmla="val 15088"/>
            </a:avLst>
          </a:prstGeom>
          <a:solidFill>
            <a:srgbClr val="EEF2F6"/>
          </a:solidFill>
          <a:ln/>
        </p:spPr>
        <p:txBody>
          <a:bodyPr wrap="square" lIns="177162" tIns="126362" rIns="87754" bIns="100962" rtlCol="0" anchor="t">
            <a:normAutofit/>
          </a:bodyPr>
          <a:lstStyle/>
          <a:p>
            <a:pPr algn="l" indent="0" marL="0">
              <a:lnSpc>
                <a:spcPts val="2240"/>
              </a:lnSpc>
              <a:buNone/>
            </a:pPr>
            <a:r>
              <a:rPr lang="en-US" sz="1600" dirty="0">
                <a:solidFill>
                  <a:srgbClr val="1F2A37"/>
                </a:solidFill>
                <a:latin typeface="JetBrains Mono" pitchFamily="49" charset="0"/>
                <a:ea typeface="JetBrains Mono" pitchFamily="49" charset="-122"/>
                <a:cs typeface="JetBrains Mono" pitchFamily="49" charset="-120"/>
              </a:rPr>
              <a:t>word[0] → </a:t>
            </a:r>
            <a:r>
              <a:rPr lang="en-US" sz="1600" b="1" dirty="0">
                <a:solidFill>
                  <a:srgbClr val="1F2A37"/>
                </a:solidFill>
                <a:latin typeface="JetBrains Mono" pitchFamily="49" charset="0"/>
                <a:ea typeface="JetBrains Mono" pitchFamily="49" charset="-122"/>
                <a:cs typeface="JetBrains Mono" pitchFamily="49" charset="-120"/>
              </a:rPr>
              <a:t>P</a:t>
            </a:r>
            <a:endParaRPr lang="en-US" sz="1600" dirty="0"/>
          </a:p>
        </p:txBody>
      </p:sp>
      <p:sp>
        <p:nvSpPr>
          <p:cNvPr id="29" name="Text 27"/>
          <p:cNvSpPr/>
          <p:nvPr/>
        </p:nvSpPr>
        <p:spPr>
          <a:xfrm>
            <a:off x="4402667" y="4033376"/>
            <a:ext cx="3386667" cy="589227"/>
          </a:xfrm>
          <a:prstGeom prst="roundRect">
            <a:avLst>
              <a:gd name="adj" fmla="val 15088"/>
            </a:avLst>
          </a:prstGeom>
          <a:solidFill>
            <a:srgbClr val="EEF2F6"/>
          </a:solidFill>
          <a:ln/>
        </p:spPr>
        <p:txBody>
          <a:bodyPr wrap="square" lIns="177162" tIns="126362" rIns="87754" bIns="100962" rtlCol="0" anchor="t">
            <a:normAutofit/>
          </a:bodyPr>
          <a:lstStyle/>
          <a:p>
            <a:pPr algn="l" indent="0" marL="0">
              <a:lnSpc>
                <a:spcPts val="2240"/>
              </a:lnSpc>
              <a:buNone/>
            </a:pPr>
            <a:r>
              <a:rPr lang="en-US" sz="1600" dirty="0">
                <a:solidFill>
                  <a:srgbClr val="1F2A37"/>
                </a:solidFill>
                <a:latin typeface="JetBrains Mono" pitchFamily="49" charset="0"/>
                <a:ea typeface="JetBrains Mono" pitchFamily="49" charset="-122"/>
                <a:cs typeface="JetBrains Mono" pitchFamily="49" charset="-120"/>
              </a:rPr>
              <a:t>word[-1] → </a:t>
            </a:r>
            <a:r>
              <a:rPr lang="en-US" sz="1600" b="1" dirty="0">
                <a:solidFill>
                  <a:srgbClr val="1F2A37"/>
                </a:solidFill>
                <a:latin typeface="JetBrains Mono" pitchFamily="49" charset="0"/>
                <a:ea typeface="JetBrains Mono" pitchFamily="49" charset="-122"/>
                <a:cs typeface="JetBrains Mono" pitchFamily="49" charset="-120"/>
              </a:rPr>
              <a:t>n</a:t>
            </a:r>
            <a:endParaRPr lang="en-US" sz="1600" dirty="0"/>
          </a:p>
        </p:txBody>
      </p:sp>
      <p:sp>
        <p:nvSpPr>
          <p:cNvPr id="30" name="Text 28"/>
          <p:cNvSpPr/>
          <p:nvPr/>
        </p:nvSpPr>
        <p:spPr>
          <a:xfrm>
            <a:off x="7992534" y="4033376"/>
            <a:ext cx="3386667" cy="589227"/>
          </a:xfrm>
          <a:prstGeom prst="roundRect">
            <a:avLst>
              <a:gd name="adj" fmla="val 15088"/>
            </a:avLst>
          </a:prstGeom>
          <a:solidFill>
            <a:srgbClr val="EEF2F6"/>
          </a:solidFill>
          <a:ln/>
        </p:spPr>
        <p:txBody>
          <a:bodyPr wrap="square" lIns="177162" tIns="126362" rIns="87754" bIns="100962" rtlCol="0" anchor="t">
            <a:normAutofit/>
          </a:bodyPr>
          <a:lstStyle/>
          <a:p>
            <a:pPr algn="l" indent="0" marL="0">
              <a:lnSpc>
                <a:spcPts val="2240"/>
              </a:lnSpc>
              <a:buNone/>
            </a:pPr>
            <a:r>
              <a:rPr lang="en-US" sz="1600" dirty="0">
                <a:solidFill>
                  <a:srgbClr val="1F2A37"/>
                </a:solidFill>
                <a:latin typeface="JetBrains Mono" pitchFamily="49" charset="0"/>
                <a:ea typeface="JetBrains Mono" pitchFamily="49" charset="-122"/>
                <a:cs typeface="JetBrains Mono" pitchFamily="49" charset="-120"/>
              </a:rPr>
              <a:t>len(word) → </a:t>
            </a:r>
            <a:r>
              <a:rPr lang="en-US" sz="1600" b="1" dirty="0">
                <a:solidFill>
                  <a:srgbClr val="1F2A37"/>
                </a:solidFill>
                <a:latin typeface="JetBrains Mono" pitchFamily="49" charset="0"/>
                <a:ea typeface="JetBrains Mono" pitchFamily="49" charset="-122"/>
                <a:cs typeface="JetBrains Mono" pitchFamily="49" charset="-120"/>
              </a:rPr>
              <a:t>6</a:t>
            </a:r>
            <a:endParaRPr lang="en-US" sz="1600" dirty="0"/>
          </a:p>
        </p:txBody>
      </p:sp>
      <p:sp>
        <p:nvSpPr>
          <p:cNvPr id="31" name="Text 2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6: strings</a:t>
            </a:r>
            <a:endParaRPr lang="en-US" sz="1200" dirty="0"/>
          </a:p>
        </p:txBody>
      </p:sp>
      <p:sp>
        <p:nvSpPr>
          <p:cNvPr id="32"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SLICING ✂️</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text[start:stop] — cut out a piece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53700" cy="2636044"/>
        </p:xfrm>
        <a:graphic>
          <a:graphicData uri="http://schemas.openxmlformats.org/drawingml/2006/table">
            <a:tbl>
              <a:tblPr/>
              <a:tblGrid>
                <a:gridCol w="3377184"/>
                <a:gridCol w="2321814"/>
                <a:gridCol w="4854702"/>
              </a:tblGrid>
              <a:tr h="439341">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word = "Python"</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Result</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Meaning</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word[0:3]</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Pyt</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index 0 up to (not incl.) 3</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word[:4]</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Pyth</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from the start</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word[2:]</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thon</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to the end</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word[-3:]</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hon</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the last 3</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word[::-1]</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nohtyP</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reversed!</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5" name="Text 2"/>
          <p:cNvSpPr/>
          <p:nvPr/>
        </p:nvSpPr>
        <p:spPr>
          <a:xfrm>
            <a:off x="812800" y="4888973"/>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Just like range(), the stop position is not included.</a:t>
            </a:r>
            <a:endParaRPr lang="en-US" sz="16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6: strings</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STRING METHODS 🛠️</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Ready-made tools for text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53700" cy="2889250"/>
        </p:xfrm>
        <a:graphic>
          <a:graphicData uri="http://schemas.openxmlformats.org/drawingml/2006/table">
            <a:tbl>
              <a:tblPr/>
              <a:tblGrid>
                <a:gridCol w="4010406"/>
                <a:gridCol w="3166110"/>
                <a:gridCol w="3377184"/>
              </a:tblGrid>
              <a:tr h="412750">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s = "hello World"</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Result</a:t>
                      </a:r>
                      <a:endParaRPr lang="en-US" sz="1500" dirty="0">
                        <a:latin typeface="DM Sans" charset="0"/>
                        <a:ea typeface="DM Sans" charset="0"/>
                        <a:cs typeface="DM Sans" charset="0"/>
                      </a:endParaRPr>
                    </a:p>
                  </a:txBody>
                  <a:tcPr marL="66675" marR="66675" marT="66675" marB="6667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Job</a:t>
                      </a:r>
                      <a:endParaRPr lang="en-US" sz="1500" dirty="0">
                        <a:latin typeface="DM Sans" charset="0"/>
                        <a:ea typeface="DM Sans" charset="0"/>
                        <a:cs typeface="DM Sans" charset="0"/>
                      </a:endParaRPr>
                    </a:p>
                  </a:txBody>
                  <a:tcPr marL="66675" marR="66675" marT="66675" marB="6667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s.upper()</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HELLO WORLD</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all capitals</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s.lower()</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hello world</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all small letters</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s.title()</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Hello World</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capital first letters</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s.replace("World", "Ali")</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hello Ali</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swap text</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s.count("o")</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2</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how many times</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s.find("W")</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6</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where it starts</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6: strings</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EXAMPLE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Tidy up what the user types</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5"/>
            <a:ext cx="6096000" cy="1473200"/>
          </a:xfrm>
          <a:prstGeom prst="roundRect">
            <a:avLst>
              <a:gd name="adj" fmla="val 8621"/>
            </a:avLst>
          </a:prstGeom>
          <a:solidFill>
            <a:srgbClr val="1F2A37"/>
          </a:solidFill>
          <a:ln/>
        </p:spPr>
        <p:txBody>
          <a:bodyPr wrap="square" lIns="293003" tIns="242203" rIns="129935" bIns="216803" rtlCol="0" anchor="t">
            <a:normAutofit/>
          </a:bodyPr>
          <a:lstStyle/>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raw = </a:t>
            </a:r>
            <a:r>
              <a:rPr lang="en-US" sz="1500" dirty="0">
                <a:solidFill>
                  <a:srgbClr val="F2C94C"/>
                </a:solidFill>
                <a:latin typeface="JetBrains Mono" pitchFamily="49" charset="0"/>
                <a:ea typeface="JetBrains Mono" pitchFamily="49" charset="-122"/>
                <a:cs typeface="JetBrains Mono" pitchFamily="49" charset="-120"/>
              </a:rPr>
              <a:t>"  homaira mohammadi  "</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name = raw.strip().title()</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a:t>
            </a:r>
            <a:r>
              <a:rPr lang="en-US" sz="1500" dirty="0">
                <a:solidFill>
                  <a:srgbClr val="F2C94C"/>
                </a:solidFill>
                <a:latin typeface="JetBrains Mono" pitchFamily="49" charset="0"/>
                <a:ea typeface="JetBrains Mono" pitchFamily="49" charset="-122"/>
                <a:cs typeface="JetBrains Mono" pitchFamily="49" charset="-120"/>
              </a:rPr>
              <a:t>"Hello,"</a:t>
            </a:r>
            <a:r>
              <a:rPr lang="en-US" sz="1500" dirty="0">
                <a:solidFill>
                  <a:srgbClr val="E8EDF3"/>
                </a:solidFill>
                <a:latin typeface="JetBrains Mono" pitchFamily="49" charset="0"/>
                <a:ea typeface="JetBrains Mono" pitchFamily="49" charset="-122"/>
                <a:cs typeface="JetBrains Mono" pitchFamily="49" charset="-120"/>
              </a:rPr>
              <a:t>, name)</a:t>
            </a:r>
            <a:endParaRPr lang="en-US" sz="15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5"/>
            <a:ext cx="4064000" cy="843227"/>
          </a:xfrm>
          <a:prstGeom prst="roundRect">
            <a:avLst>
              <a:gd name="adj" fmla="val 15061"/>
            </a:avLst>
          </a:prstGeom>
          <a:solidFill>
            <a:srgbClr val="EEF2F6"/>
          </a:solidFill>
          <a:ln/>
        </p:spPr>
        <p:txBody>
          <a:bodyPr wrap="square" lIns="318403" tIns="242203" rIns="165495" bIns="216803" rtlCol="0" anchor="t">
            <a:normAutofit/>
          </a:bodyPr>
          <a:lstStyle/>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Hello, Homaira Mohammadi</a:t>
            </a:r>
            <a:endParaRPr lang="en-US" sz="1400" dirty="0"/>
          </a:p>
        </p:txBody>
      </p:sp>
      <p:sp>
        <p:nvSpPr>
          <p:cNvPr id="8" name="Shape 6"/>
          <p:cNvSpPr/>
          <p:nvPr/>
        </p:nvSpPr>
        <p:spPr>
          <a:xfrm>
            <a:off x="7315200" y="2362135"/>
            <a:ext cx="4064000" cy="843227"/>
          </a:xfrm>
          <a:custGeom>
            <a:avLst/>
            <a:gdLst/>
            <a:ahLst/>
            <a:cxnLst/>
            <a:rect l="l" t="t" r="r" b="b"/>
            <a:pathLst>
              <a:path w="4064000" h="843227">
                <a:moveTo>
                  <a:pt x="127000" y="843227"/>
                </a:moveTo>
                <a:lnTo>
                  <a:pt x="127000" y="843227"/>
                </a:lnTo>
                <a:arcTo hR="127000" wR="127000" stAng="5400000" swAng="5400000"/>
                <a:lnTo>
                  <a:pt x="0" y="127000"/>
                </a:lnTo>
                <a:arcTo hR="127000" wR="127000" stAng="10800000" swAng="5400000"/>
                <a:lnTo>
                  <a:pt x="127000" y="0"/>
                </a:lnTo>
                <a:arcTo hR="127000" wR="76200" stAng="16200000" swAng="-5400000"/>
                <a:lnTo>
                  <a:pt x="50800" y="716227"/>
                </a:lnTo>
                <a:arcTo hR="127000" wR="76200" stAng="10800000" swAng="-5400000"/>
                <a:close/>
              </a:path>
            </a:pathLst>
          </a:custGeom>
          <a:solidFill>
            <a:srgbClr val="3776AB"/>
          </a:solidFill>
          <a:ln/>
        </p:spPr>
      </p:sp>
      <p:sp>
        <p:nvSpPr>
          <p:cNvPr id="9" name="Text 7"/>
          <p:cNvSpPr/>
          <p:nvPr/>
        </p:nvSpPr>
        <p:spPr>
          <a:xfrm>
            <a:off x="812800" y="4190935"/>
            <a:ext cx="5181600" cy="650214"/>
          </a:xfrm>
          <a:prstGeom prst="roundRect">
            <a:avLst>
              <a:gd name="adj" fmla="val 15626"/>
            </a:avLst>
          </a:prstGeom>
          <a:solidFill>
            <a:srgbClr val="EEF2F6"/>
          </a:solidFill>
          <a:ln/>
        </p:spPr>
        <p:txBody>
          <a:bodyPr wrap="square" lIns="198842" tIns="148042" rIns="57110" bIns="122642" rtlCol="0" anchor="t">
            <a:normAutofit/>
          </a:bodyPr>
          <a:lstStyle/>
          <a:p>
            <a:pPr algn="l" indent="0" marL="0">
              <a:lnSpc>
                <a:spcPts val="2320"/>
              </a:lnSpc>
              <a:buNone/>
            </a:pPr>
            <a:r>
              <a:rPr lang="en-US" sz="1600" b="1" dirty="0">
                <a:solidFill>
                  <a:srgbClr val="1F2A37"/>
                </a:solidFill>
                <a:latin typeface="DM Sans" pitchFamily="34" charset="0"/>
                <a:ea typeface="DM Sans" pitchFamily="34" charset="-122"/>
                <a:cs typeface="DM Sans" pitchFamily="34" charset="-120"/>
              </a:rPr>
              <a:t>strip()</a:t>
            </a:r>
            <a:r>
              <a:rPr lang="en-US" sz="1600" dirty="0">
                <a:solidFill>
                  <a:srgbClr val="1F2A37"/>
                </a:solidFill>
                <a:latin typeface="DM Sans" pitchFamily="34" charset="0"/>
                <a:ea typeface="DM Sans" pitchFamily="34" charset="-122"/>
                <a:cs typeface="DM Sans" pitchFamily="34" charset="-120"/>
              </a:rPr>
              <a:t> removes spaces at the start and end</a:t>
            </a:r>
            <a:endParaRPr lang="en-US" sz="1600" dirty="0"/>
          </a:p>
        </p:txBody>
      </p:sp>
      <p:sp>
        <p:nvSpPr>
          <p:cNvPr id="10" name="Text 8"/>
          <p:cNvSpPr/>
          <p:nvPr/>
        </p:nvSpPr>
        <p:spPr>
          <a:xfrm>
            <a:off x="6197600" y="4190935"/>
            <a:ext cx="5181600" cy="650214"/>
          </a:xfrm>
          <a:prstGeom prst="roundRect">
            <a:avLst>
              <a:gd name="adj" fmla="val 15626"/>
            </a:avLst>
          </a:prstGeom>
          <a:solidFill>
            <a:srgbClr val="EEF2F6"/>
          </a:solidFill>
          <a:ln/>
        </p:spPr>
        <p:txBody>
          <a:bodyPr wrap="square" lIns="198842" tIns="148042" rIns="57110" bIns="122642" rtlCol="0" anchor="t">
            <a:normAutofit/>
          </a:bodyPr>
          <a:lstStyle/>
          <a:p>
            <a:pPr algn="l" indent="0" marL="0">
              <a:lnSpc>
                <a:spcPts val="2320"/>
              </a:lnSpc>
              <a:buNone/>
            </a:pPr>
            <a:r>
              <a:rPr lang="en-US" sz="1600" dirty="0">
                <a:solidFill>
                  <a:srgbClr val="1F2A37"/>
                </a:solidFill>
                <a:latin typeface="DM Sans" pitchFamily="34" charset="0"/>
                <a:ea typeface="DM Sans" pitchFamily="34" charset="-122"/>
                <a:cs typeface="DM Sans" pitchFamily="34" charset="-120"/>
              </a:rPr>
              <a:t>Methods can be </a:t>
            </a:r>
            <a:r>
              <a:rPr lang="en-US" sz="1600" b="1" dirty="0">
                <a:solidFill>
                  <a:srgbClr val="1F2A37"/>
                </a:solidFill>
                <a:latin typeface="DM Sans" pitchFamily="34" charset="0"/>
                <a:ea typeface="DM Sans" pitchFamily="34" charset="-122"/>
                <a:cs typeface="DM Sans" pitchFamily="34" charset="-120"/>
              </a:rPr>
              <a:t>chained</a:t>
            </a:r>
            <a:r>
              <a:rPr lang="en-US" sz="1600" dirty="0">
                <a:solidFill>
                  <a:srgbClr val="1F2A37"/>
                </a:solidFill>
                <a:latin typeface="DM Sans" pitchFamily="34" charset="0"/>
                <a:ea typeface="DM Sans" pitchFamily="34" charset="-122"/>
                <a:cs typeface="DM Sans" pitchFamily="34" charset="-120"/>
              </a:rPr>
              <a:t>: strip, then title</a:t>
            </a:r>
            <a:endParaRPr lang="en-US" sz="16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6: strings</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TWO MORE TOOLS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split() and in</a:t>
            </a:r>
            <a:endParaRPr lang="en-US" sz="3600" dirty="0"/>
          </a:p>
        </p:txBody>
      </p:sp>
      <p:sp>
        <p:nvSpPr>
          <p:cNvPr id="4" name="Shape 2"/>
          <p:cNvSpPr/>
          <p:nvPr/>
        </p:nvSpPr>
        <p:spPr>
          <a:xfrm>
            <a:off x="815975" y="1989404"/>
            <a:ext cx="5124450" cy="3496866"/>
          </a:xfrm>
          <a:prstGeom prst="roundRect">
            <a:avLst>
              <a:gd name="adj" fmla="val 3541"/>
            </a:avLst>
          </a:prstGeom>
          <a:solidFill>
            <a:srgbClr val="FFFFFF"/>
          </a:solidFill>
          <a:ln w="6350">
            <a:solidFill>
              <a:srgbClr val="D5DEE8"/>
            </a:solidFill>
            <a:prstDash val="solid"/>
          </a:ln>
        </p:spPr>
      </p:sp>
      <p:sp>
        <p:nvSpPr>
          <p:cNvPr id="5" name="Text 3"/>
          <p:cNvSpPr/>
          <p:nvPr/>
        </p:nvSpPr>
        <p:spPr>
          <a:xfrm>
            <a:off x="1121833" y="2295261"/>
            <a:ext cx="464811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3776AB"/>
                </a:solidFill>
                <a:latin typeface="DM Sans" pitchFamily="34" charset="0"/>
                <a:ea typeface="DM Sans" pitchFamily="34" charset="-122"/>
                <a:cs typeface="DM Sans" pitchFamily="34" charset="-120"/>
              </a:rPr>
              <a:t>split() — break apart</a:t>
            </a:r>
            <a:endParaRPr lang="en-US" sz="2200" dirty="0"/>
          </a:p>
        </p:txBody>
      </p:sp>
      <p:sp>
        <p:nvSpPr>
          <p:cNvPr id="6" name="Text 4"/>
          <p:cNvSpPr/>
          <p:nvPr/>
        </p:nvSpPr>
        <p:spPr>
          <a:xfrm>
            <a:off x="1121833" y="2782888"/>
            <a:ext cx="4512733" cy="1462881"/>
          </a:xfrm>
          <a:prstGeom prst="roundRect">
            <a:avLst>
              <a:gd name="adj" fmla="val 6945"/>
            </a:avLst>
          </a:prstGeom>
          <a:solidFill>
            <a:srgbClr val="1F2A37"/>
          </a:solidFill>
          <a:ln/>
        </p:spPr>
        <p:txBody>
          <a:bodyPr wrap="square" lIns="224242" tIns="173442" rIns="104100" bIns="14804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s = </a:t>
            </a:r>
            <a:r>
              <a:rPr lang="en-US" sz="1300" dirty="0">
                <a:solidFill>
                  <a:srgbClr val="F2C94C"/>
                </a:solidFill>
                <a:latin typeface="JetBrains Mono" pitchFamily="49" charset="0"/>
                <a:ea typeface="JetBrains Mono" pitchFamily="49" charset="-122"/>
                <a:cs typeface="JetBrains Mono" pitchFamily="49" charset="-120"/>
              </a:rPr>
              <a:t>"Python is fun"</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words = s.split()</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print(words)</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print(len(words))</a:t>
            </a:r>
            <a:endParaRPr lang="en-US" sz="1300" dirty="0"/>
          </a:p>
        </p:txBody>
      </p:sp>
      <p:sp>
        <p:nvSpPr>
          <p:cNvPr id="7" name="Text 5"/>
          <p:cNvSpPr/>
          <p:nvPr/>
        </p:nvSpPr>
        <p:spPr>
          <a:xfrm>
            <a:off x="1121833" y="4398169"/>
            <a:ext cx="4512733" cy="782241"/>
          </a:xfrm>
          <a:prstGeom prst="roundRect">
            <a:avLst>
              <a:gd name="adj" fmla="val 9741"/>
            </a:avLst>
          </a:prstGeom>
          <a:solidFill>
            <a:srgbClr val="EEF2F6"/>
          </a:solidFill>
          <a:ln/>
        </p:spPr>
        <p:txBody>
          <a:bodyPr wrap="square" lIns="155482" tIns="104682" rIns="30768" bIns="79282" rtlCol="0" anchor="t">
            <a:normAutofit/>
          </a:bodyPr>
          <a:lstStyle/>
          <a:p>
            <a:pPr algn="l" indent="0" marL="0">
              <a:lnSpc>
                <a:spcPts val="2080"/>
              </a:lnSpc>
              <a:buNone/>
            </a:pPr>
            <a:r>
              <a:rPr lang="en-US" sz="1300" dirty="0">
                <a:solidFill>
                  <a:srgbClr val="1F2A37"/>
                </a:solidFill>
                <a:latin typeface="JetBrains Mono" pitchFamily="49" charset="0"/>
                <a:ea typeface="JetBrains Mono" pitchFamily="49" charset="-122"/>
                <a:cs typeface="JetBrains Mono" pitchFamily="49" charset="-120"/>
              </a:rPr>
              <a:t>['Python', 'is', 'fun']</a:t>
            </a:r>
            <a:endParaRPr lang="en-US" sz="1300" dirty="0"/>
          </a:p>
          <a:p>
            <a:pPr algn="l" indent="0" marL="0">
              <a:lnSpc>
                <a:spcPts val="2080"/>
              </a:lnSpc>
              <a:buNone/>
            </a:pPr>
            <a:r>
              <a:rPr lang="en-US" sz="1300" dirty="0">
                <a:solidFill>
                  <a:srgbClr val="1F2A37"/>
                </a:solidFill>
                <a:latin typeface="JetBrains Mono" pitchFamily="49" charset="0"/>
                <a:ea typeface="JetBrains Mono" pitchFamily="49" charset="-122"/>
                <a:cs typeface="JetBrains Mono" pitchFamily="49" charset="-120"/>
              </a:rPr>
              <a:t>3</a:t>
            </a:r>
            <a:endParaRPr lang="en-US" sz="1300" dirty="0"/>
          </a:p>
        </p:txBody>
      </p:sp>
      <p:sp>
        <p:nvSpPr>
          <p:cNvPr id="8" name="Shape 6"/>
          <p:cNvSpPr/>
          <p:nvPr/>
        </p:nvSpPr>
        <p:spPr>
          <a:xfrm>
            <a:off x="6251575" y="1989404"/>
            <a:ext cx="5124450" cy="3496866"/>
          </a:xfrm>
          <a:prstGeom prst="roundRect">
            <a:avLst>
              <a:gd name="adj" fmla="val 3541"/>
            </a:avLst>
          </a:prstGeom>
          <a:solidFill>
            <a:srgbClr val="FFFFFF"/>
          </a:solidFill>
          <a:ln w="6350">
            <a:solidFill>
              <a:srgbClr val="D5DEE8"/>
            </a:solidFill>
            <a:prstDash val="solid"/>
          </a:ln>
        </p:spPr>
      </p:sp>
      <p:sp>
        <p:nvSpPr>
          <p:cNvPr id="9" name="Text 7"/>
          <p:cNvSpPr/>
          <p:nvPr/>
        </p:nvSpPr>
        <p:spPr>
          <a:xfrm>
            <a:off x="6557434" y="2295261"/>
            <a:ext cx="464811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3776AB"/>
                </a:solidFill>
                <a:latin typeface="DM Sans" pitchFamily="34" charset="0"/>
                <a:ea typeface="DM Sans" pitchFamily="34" charset="-122"/>
                <a:cs typeface="DM Sans" pitchFamily="34" charset="-120"/>
              </a:rPr>
              <a:t>in — is it inside?</a:t>
            </a:r>
            <a:endParaRPr lang="en-US" sz="2200" dirty="0"/>
          </a:p>
        </p:txBody>
      </p:sp>
      <p:sp>
        <p:nvSpPr>
          <p:cNvPr id="10" name="Text 8"/>
          <p:cNvSpPr/>
          <p:nvPr/>
        </p:nvSpPr>
        <p:spPr>
          <a:xfrm>
            <a:off x="6557434" y="2782888"/>
            <a:ext cx="4512733" cy="1198761"/>
          </a:xfrm>
          <a:prstGeom prst="roundRect">
            <a:avLst>
              <a:gd name="adj" fmla="val 8475"/>
            </a:avLst>
          </a:prstGeom>
          <a:solidFill>
            <a:srgbClr val="1F2A37"/>
          </a:solidFill>
          <a:ln/>
        </p:spPr>
        <p:txBody>
          <a:bodyPr wrap="square" lIns="224242" tIns="173442" rIns="104100" bIns="14804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email = </a:t>
            </a:r>
            <a:r>
              <a:rPr lang="en-US" sz="1300" dirty="0">
                <a:solidFill>
                  <a:srgbClr val="F2C94C"/>
                </a:solidFill>
                <a:latin typeface="JetBrains Mono" pitchFamily="49" charset="0"/>
                <a:ea typeface="JetBrains Mono" pitchFamily="49" charset="-122"/>
                <a:cs typeface="JetBrains Mono" pitchFamily="49" charset="-120"/>
              </a:rPr>
              <a:t>"ali@mail.com"</a:t>
            </a:r>
            <a:endParaRPr lang="en-US" sz="1300" dirty="0"/>
          </a:p>
          <a:p>
            <a:pPr algn="l" indent="0" marL="0">
              <a:lnSpc>
                <a:spcPts val="2080"/>
              </a:lnSpc>
              <a:buNone/>
            </a:pPr>
            <a:r>
              <a:rPr lang="en-US" sz="1300" dirty="0">
                <a:solidFill>
                  <a:srgbClr val="8EC1F0"/>
                </a:solidFill>
                <a:latin typeface="JetBrains Mono" pitchFamily="49" charset="0"/>
                <a:ea typeface="JetBrains Mono" pitchFamily="49" charset="-122"/>
                <a:cs typeface="JetBrains Mono" pitchFamily="49" charset="-120"/>
              </a:rPr>
              <a:t>if</a:t>
            </a: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F2C94C"/>
                </a:solidFill>
                <a:latin typeface="JetBrains Mono" pitchFamily="49" charset="0"/>
                <a:ea typeface="JetBrains Mono" pitchFamily="49" charset="-122"/>
                <a:cs typeface="JetBrains Mono" pitchFamily="49" charset="-120"/>
              </a:rPr>
              <a:t>"@"</a:t>
            </a: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in</a:t>
            </a:r>
            <a:r>
              <a:rPr lang="en-US" sz="1300" dirty="0">
                <a:solidFill>
                  <a:srgbClr val="E8EDF3"/>
                </a:solidFill>
                <a:latin typeface="JetBrains Mono" pitchFamily="49" charset="0"/>
                <a:ea typeface="JetBrains Mono" pitchFamily="49" charset="-122"/>
                <a:cs typeface="JetBrains Mono" pitchFamily="49" charset="-120"/>
              </a:rPr>
              <a:t> email:</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print(</a:t>
            </a:r>
            <a:r>
              <a:rPr lang="en-US" sz="1300" dirty="0">
                <a:solidFill>
                  <a:srgbClr val="F2C94C"/>
                </a:solidFill>
                <a:latin typeface="JetBrains Mono" pitchFamily="49" charset="0"/>
                <a:ea typeface="JetBrains Mono" pitchFamily="49" charset="-122"/>
                <a:cs typeface="JetBrains Mono" pitchFamily="49" charset="-120"/>
              </a:rPr>
              <a:t>"Valid ✅"</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p:txBody>
      </p:sp>
      <p:sp>
        <p:nvSpPr>
          <p:cNvPr id="11" name="Text 9"/>
          <p:cNvSpPr/>
          <p:nvPr/>
        </p:nvSpPr>
        <p:spPr>
          <a:xfrm>
            <a:off x="6557434" y="4134048"/>
            <a:ext cx="4512733" cy="518120"/>
          </a:xfrm>
          <a:prstGeom prst="roundRect">
            <a:avLst>
              <a:gd name="adj" fmla="val 14707"/>
            </a:avLst>
          </a:prstGeom>
          <a:solidFill>
            <a:srgbClr val="EEF2F6"/>
          </a:solidFill>
          <a:ln/>
        </p:spPr>
        <p:txBody>
          <a:bodyPr wrap="square" lIns="155482" tIns="104682" rIns="30768" bIns="79282" rtlCol="0" anchor="t">
            <a:normAutofit/>
          </a:bodyPr>
          <a:lstStyle/>
          <a:p>
            <a:pPr algn="l" indent="0" marL="0">
              <a:lnSpc>
                <a:spcPts val="2080"/>
              </a:lnSpc>
              <a:buNone/>
            </a:pPr>
            <a:r>
              <a:rPr lang="en-US" sz="1300" dirty="0">
                <a:solidFill>
                  <a:srgbClr val="1F2A37"/>
                </a:solidFill>
                <a:latin typeface="JetBrains Mono" pitchFamily="49" charset="0"/>
                <a:ea typeface="JetBrains Mono" pitchFamily="49" charset="-122"/>
                <a:cs typeface="JetBrains Mono" pitchFamily="49" charset="-120"/>
              </a:rPr>
              <a:t>Valid ✅</a:t>
            </a:r>
            <a:endParaRPr lang="en-US" sz="13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6: strings</a:t>
            </a:r>
            <a:endParaRPr lang="en-US" sz="1200" dirty="0"/>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F5F8A"/>
        </a:solidFill>
      </p:bgPr>
    </p:bg>
    <p:spTree>
      <p:nvGrpSpPr>
        <p:cNvPr id="1" name=""/>
        <p:cNvGrpSpPr/>
        <p:nvPr/>
      </p:nvGrpSpPr>
      <p:grpSpPr>
        <a:xfrm>
          <a:off x="0" y="0"/>
          <a:ext cx="0" cy="0"/>
          <a:chOff x="0" y="0"/>
          <a:chExt cx="0" cy="0"/>
        </a:xfrm>
      </p:grpSpPr>
      <p:sp>
        <p:nvSpPr>
          <p:cNvPr id="2" name="Text 0"/>
          <p:cNvSpPr/>
          <p:nvPr/>
        </p:nvSpPr>
        <p:spPr>
          <a:xfrm>
            <a:off x="812800" y="1891773"/>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FE0F1"/>
                </a:solidFill>
                <a:latin typeface="DM Sans" pitchFamily="34" charset="0"/>
                <a:ea typeface="DM Sans" pitchFamily="34" charset="-122"/>
                <a:cs typeface="DM Sans" pitchFamily="34" charset="-120"/>
              </a:rPr>
              <a:t>⚠️ REMEMBER</a:t>
            </a:r>
            <a:endParaRPr lang="en-US" sz="1200" dirty="0"/>
          </a:p>
        </p:txBody>
      </p:sp>
      <p:sp>
        <p:nvSpPr>
          <p:cNvPr id="3" name="Text 1"/>
          <p:cNvSpPr/>
          <p:nvPr>
            <p:ph type="title"/>
          </p:nvPr>
        </p:nvSpPr>
        <p:spPr>
          <a:xfrm>
            <a:off x="812800" y="2308293"/>
            <a:ext cx="5127752" cy="1945481"/>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AF9F6"/>
                </a:solidFill>
                <a:latin typeface="DM Sans" pitchFamily="34" charset="0"/>
                <a:ea typeface="DM Sans" pitchFamily="34" charset="-122"/>
                <a:cs typeface="DM Sans" pitchFamily="34" charset="-120"/>
              </a:rPr>
              <a:t>Methods don’t change the original</a:t>
            </a:r>
            <a:endParaRPr lang="en-US" sz="4800" dirty="0"/>
          </a:p>
        </p:txBody>
      </p:sp>
      <p:sp>
        <p:nvSpPr>
          <p:cNvPr id="4" name="Text 2"/>
          <p:cNvSpPr/>
          <p:nvPr/>
        </p:nvSpPr>
        <p:spPr>
          <a:xfrm>
            <a:off x="812800" y="4431574"/>
            <a:ext cx="5588000" cy="356857"/>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E3ECF6"/>
                </a:solidFill>
                <a:latin typeface="DM Sans" pitchFamily="34" charset="0"/>
                <a:ea typeface="DM Sans" pitchFamily="34" charset="-122"/>
                <a:cs typeface="DM Sans" pitchFamily="34" charset="-120"/>
              </a:rPr>
              <a:t>They give back a </a:t>
            </a:r>
            <a:r>
              <a:rPr lang="en-US" sz="1800" b="1" dirty="0">
                <a:solidFill>
                  <a:srgbClr val="E3ECF6"/>
                </a:solidFill>
                <a:latin typeface="DM Sans" pitchFamily="34" charset="0"/>
                <a:ea typeface="DM Sans" pitchFamily="34" charset="-122"/>
                <a:cs typeface="DM Sans" pitchFamily="34" charset="-120"/>
              </a:rPr>
              <a:t>new</a:t>
            </a:r>
            <a:r>
              <a:rPr lang="en-US" sz="1800" dirty="0">
                <a:solidFill>
                  <a:srgbClr val="E3ECF6"/>
                </a:solidFill>
                <a:latin typeface="DM Sans" pitchFamily="34" charset="0"/>
                <a:ea typeface="DM Sans" pitchFamily="34" charset="-122"/>
                <a:cs typeface="DM Sans" pitchFamily="34" charset="-120"/>
              </a:rPr>
              <a:t> string. Store it to keep it.</a:t>
            </a:r>
            <a:endParaRPr lang="en-US" sz="1800" dirty="0"/>
          </a:p>
        </p:txBody>
      </p:sp>
      <p:sp>
        <p:nvSpPr>
          <p:cNvPr id="5" name="Text 3"/>
          <p:cNvSpPr/>
          <p:nvPr/>
        </p:nvSpPr>
        <p:spPr>
          <a:xfrm>
            <a:off x="6400800" y="1935559"/>
            <a:ext cx="4978400" cy="2783681"/>
          </a:xfrm>
          <a:prstGeom prst="roundRect">
            <a:avLst>
              <a:gd name="adj" fmla="val 5475"/>
            </a:avLst>
          </a:prstGeom>
          <a:solidFill>
            <a:srgbClr val="1F2A37"/>
          </a:solidFill>
          <a:ln/>
        </p:spPr>
        <p:txBody>
          <a:bodyPr wrap="square" lIns="361764" tIns="310964" rIns="236796" bIns="285564" rtlCol="0" anchor="t">
            <a:normAutofit/>
          </a:bodyPr>
          <a:lstStyle/>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text = </a:t>
            </a:r>
            <a:r>
              <a:rPr lang="en-US" sz="1700" dirty="0">
                <a:solidFill>
                  <a:srgbClr val="F2C94C"/>
                </a:solidFill>
                <a:latin typeface="JetBrains Mono" pitchFamily="49" charset="0"/>
                <a:ea typeface="JetBrains Mono" pitchFamily="49" charset="-122"/>
                <a:cs typeface="JetBrains Mono" pitchFamily="49" charset="-120"/>
              </a:rPr>
              <a:t>"hello"</a:t>
            </a: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text.upper()</a:t>
            </a: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print(text)  </a:t>
            </a:r>
            <a:r>
              <a:rPr lang="en-US" sz="1700" dirty="0">
                <a:solidFill>
                  <a:srgbClr val="93A1B3"/>
                </a:solidFill>
                <a:latin typeface="JetBrains Mono" pitchFamily="49" charset="0"/>
                <a:ea typeface="JetBrains Mono" pitchFamily="49" charset="-122"/>
                <a:cs typeface="JetBrains Mono" pitchFamily="49" charset="-120"/>
              </a:rPr>
              <a:t># hello ❌</a:t>
            </a:r>
            <a:endParaRPr lang="en-US" sz="1700" dirty="0"/>
          </a:p>
          <a:p>
            <a:pPr algn="l" indent="0" marL="0">
              <a:lnSpc>
                <a:spcPts val="2720"/>
              </a:lnSpc>
              <a:buNone/>
            </a:pP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text = text.upper()</a:t>
            </a: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print(text)  </a:t>
            </a:r>
            <a:r>
              <a:rPr lang="en-US" sz="1700" dirty="0">
                <a:solidFill>
                  <a:srgbClr val="93A1B3"/>
                </a:solidFill>
                <a:latin typeface="JetBrains Mono" pitchFamily="49" charset="0"/>
                <a:ea typeface="JetBrains Mono" pitchFamily="49" charset="-122"/>
                <a:cs typeface="JetBrains Mono" pitchFamily="49" charset="-120"/>
              </a:rPr>
              <a:t># HELLO ✅</a:t>
            </a:r>
            <a:endParaRPr lang="en-US" sz="17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0F1"/>
                </a:solidFill>
                <a:latin typeface="DM Sans" pitchFamily="34" charset="0"/>
                <a:ea typeface="DM Sans" pitchFamily="34" charset="-122"/>
                <a:cs typeface="DM Sans" pitchFamily="34" charset="-120"/>
              </a:rPr>
              <a:t>Python for Beginners · Day 6: strings</a:t>
            </a:r>
            <a:endParaRPr lang="en-US" sz="1200" dirty="0"/>
          </a:p>
        </p:txBody>
      </p:sp>
      <p:sp>
        <p:nvSpPr>
          <p:cNvPr id="7"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FE0F1"/>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F-STRINGS ✨</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Neat, formatted output</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8"/>
            <a:ext cx="6096000" cy="2387600"/>
          </a:xfrm>
          <a:prstGeom prst="roundRect">
            <a:avLst>
              <a:gd name="adj" fmla="val 5319"/>
            </a:avLst>
          </a:prstGeom>
          <a:solidFill>
            <a:srgbClr val="1F2A37"/>
          </a:solidFill>
          <a:ln/>
        </p:spPr>
        <p:txBody>
          <a:bodyPr wrap="square" lIns="293003" tIns="242203" rIns="129935" bIns="216803" rtlCol="0" anchor="t">
            <a:normAutofit/>
          </a:bodyPr>
          <a:lstStyle/>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name = </a:t>
            </a:r>
            <a:r>
              <a:rPr lang="en-US" sz="1500" dirty="0">
                <a:solidFill>
                  <a:srgbClr val="F2C94C"/>
                </a:solidFill>
                <a:latin typeface="JetBrains Mono" pitchFamily="49" charset="0"/>
                <a:ea typeface="JetBrains Mono" pitchFamily="49" charset="-122"/>
                <a:cs typeface="JetBrains Mono" pitchFamily="49" charset="-120"/>
              </a:rPr>
              <a:t>"Sara"</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price = 4.5</a:t>
            </a:r>
            <a:endParaRPr lang="en-US" sz="1500" dirty="0"/>
          </a:p>
          <a:p>
            <a:pPr algn="l" indent="0" marL="0">
              <a:lnSpc>
                <a:spcPts val="2400"/>
              </a:lnSpc>
              <a:buNone/>
            </a:pP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a:t>
            </a:r>
            <a:r>
              <a:rPr lang="en-US" sz="1500" dirty="0">
                <a:solidFill>
                  <a:srgbClr val="F2C94C"/>
                </a:solidFill>
                <a:latin typeface="JetBrains Mono" pitchFamily="49" charset="0"/>
                <a:ea typeface="JetBrains Mono" pitchFamily="49" charset="-122"/>
                <a:cs typeface="JetBrains Mono" pitchFamily="49" charset="-120"/>
              </a:rPr>
              <a:t>f"Hi {name}!"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a:t>
            </a:r>
            <a:r>
              <a:rPr lang="en-US" sz="1500" dirty="0">
                <a:solidFill>
                  <a:srgbClr val="F2C94C"/>
                </a:solidFill>
                <a:latin typeface="JetBrains Mono" pitchFamily="49" charset="0"/>
                <a:ea typeface="JetBrains Mono" pitchFamily="49" charset="-122"/>
                <a:cs typeface="JetBrains Mono" pitchFamily="49" charset="-120"/>
              </a:rPr>
              <a:t>f"RM {price:.2f}"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a:t>
            </a:r>
            <a:r>
              <a:rPr lang="en-US" sz="1500" dirty="0">
                <a:solidFill>
                  <a:srgbClr val="F2C94C"/>
                </a:solidFill>
                <a:latin typeface="JetBrains Mono" pitchFamily="49" charset="0"/>
                <a:ea typeface="JetBrains Mono" pitchFamily="49" charset="-122"/>
                <a:cs typeface="JetBrains Mono" pitchFamily="49" charset="-120"/>
              </a:rPr>
              <a:t>f"{name.upper()}"</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8"/>
            <a:ext cx="4064000" cy="1473200"/>
          </a:xfrm>
          <a:prstGeom prst="roundRect">
            <a:avLst>
              <a:gd name="adj" fmla="val 8621"/>
            </a:avLst>
          </a:prstGeom>
          <a:solidFill>
            <a:srgbClr val="EEF2F6"/>
          </a:solidFill>
          <a:ln/>
        </p:spPr>
        <p:txBody>
          <a:bodyPr wrap="square" lIns="318403" tIns="242203" rIns="165495" bIns="216803" rtlCol="0" anchor="t">
            <a:normAutofit/>
          </a:bodyPr>
          <a:lstStyle/>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Hi Sara!</a:t>
            </a:r>
            <a:endParaRPr lang="en-US" sz="1500" dirty="0"/>
          </a:p>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RM 4.50</a:t>
            </a:r>
            <a:endParaRPr lang="en-US" sz="1500" dirty="0"/>
          </a:p>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SARA</a:t>
            </a:r>
            <a:endParaRPr lang="en-US" sz="1500" dirty="0"/>
          </a:p>
        </p:txBody>
      </p:sp>
      <p:sp>
        <p:nvSpPr>
          <p:cNvPr id="8" name="Shape 6"/>
          <p:cNvSpPr/>
          <p:nvPr/>
        </p:nvSpPr>
        <p:spPr>
          <a:xfrm>
            <a:off x="7315200" y="2362138"/>
            <a:ext cx="4064000" cy="1473200"/>
          </a:xfrm>
          <a:custGeom>
            <a:avLst/>
            <a:gdLst/>
            <a:ahLst/>
            <a:cxnLst/>
            <a:rect l="l" t="t" r="r" b="b"/>
            <a:pathLst>
              <a:path w="4064000" h="1473200">
                <a:moveTo>
                  <a:pt x="127000" y="1473200"/>
                </a:moveTo>
                <a:lnTo>
                  <a:pt x="127000" y="1473200"/>
                </a:lnTo>
                <a:arcTo hR="127000" wR="127000" stAng="5400000" swAng="5400000"/>
                <a:lnTo>
                  <a:pt x="0" y="127000"/>
                </a:lnTo>
                <a:arcTo hR="127000" wR="127000" stAng="10800000" swAng="5400000"/>
                <a:lnTo>
                  <a:pt x="127000" y="0"/>
                </a:lnTo>
                <a:arcTo hR="127000" wR="76200" stAng="16200000" swAng="-5400000"/>
                <a:lnTo>
                  <a:pt x="50800" y="1346200"/>
                </a:lnTo>
                <a:arcTo hR="127000" wR="76200" stAng="10800000" swAng="-5400000"/>
                <a:close/>
              </a:path>
            </a:pathLst>
          </a:custGeom>
          <a:solidFill>
            <a:srgbClr val="3776AB"/>
          </a:solidFill>
          <a:ln/>
        </p:spPr>
      </p:sp>
      <p:sp>
        <p:nvSpPr>
          <p:cNvPr id="9" name="Text 7"/>
          <p:cNvSpPr/>
          <p:nvPr/>
        </p:nvSpPr>
        <p:spPr>
          <a:xfrm>
            <a:off x="7315200" y="3962338"/>
            <a:ext cx="4185920"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4A5568"/>
                </a:solidFill>
                <a:latin typeface="DM Sans" pitchFamily="34" charset="0"/>
                <a:ea typeface="DM Sans" pitchFamily="34" charset="-122"/>
                <a:cs typeface="DM Sans" pitchFamily="34" charset="-120"/>
              </a:rPr>
              <a:t>:.2f</a:t>
            </a:r>
            <a:r>
              <a:rPr lang="en-US" sz="1500" dirty="0">
                <a:solidFill>
                  <a:srgbClr val="4A5568"/>
                </a:solidFill>
                <a:latin typeface="DM Sans" pitchFamily="34" charset="0"/>
                <a:ea typeface="DM Sans" pitchFamily="34" charset="-122"/>
                <a:cs typeface="DM Sans" pitchFamily="34" charset="-120"/>
              </a:rPr>
              <a:t> means “2 decimal places”.</a:t>
            </a:r>
            <a:endParaRPr lang="en-US" sz="15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6: strings</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PUT IT TOGETHER</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Palindrome checker</a:t>
            </a:r>
            <a:endParaRPr lang="en-US" sz="3600" dirty="0"/>
          </a:p>
        </p:txBody>
      </p:sp>
      <p:sp>
        <p:nvSpPr>
          <p:cNvPr id="4" name="Text 2"/>
          <p:cNvSpPr/>
          <p:nvPr/>
        </p:nvSpPr>
        <p:spPr>
          <a:xfrm>
            <a:off x="812800" y="1986229"/>
            <a:ext cx="6096000" cy="2692400"/>
          </a:xfrm>
          <a:prstGeom prst="roundRect">
            <a:avLst>
              <a:gd name="adj" fmla="val 4717"/>
            </a:avLst>
          </a:prstGeom>
          <a:solidFill>
            <a:srgbClr val="1F2A37"/>
          </a:solidFill>
          <a:ln/>
        </p:spPr>
        <p:txBody>
          <a:bodyPr wrap="square" lIns="293003" tIns="242203" rIns="129935" bIns="216803" rtlCol="0" anchor="t">
            <a:normAutofit/>
          </a:bodyPr>
          <a:lstStyle/>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word = input(</a:t>
            </a:r>
            <a:r>
              <a:rPr lang="en-US" sz="1500" dirty="0">
                <a:solidFill>
                  <a:srgbClr val="F2C94C"/>
                </a:solidFill>
                <a:latin typeface="JetBrains Mono" pitchFamily="49" charset="0"/>
                <a:ea typeface="JetBrains Mono" pitchFamily="49" charset="-122"/>
                <a:cs typeface="JetBrains Mono" pitchFamily="49" charset="-120"/>
              </a:rPr>
              <a:t>"Enter a word: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clean = word.lower()</a:t>
            </a:r>
            <a:endParaRPr lang="en-US" sz="1500" dirty="0"/>
          </a:p>
          <a:p>
            <a:pPr algn="l" indent="0" marL="0">
              <a:lnSpc>
                <a:spcPts val="2400"/>
              </a:lnSpc>
              <a:buNone/>
            </a:pPr>
            <a:endParaRPr lang="en-US" sz="1500" dirty="0"/>
          </a:p>
          <a:p>
            <a:pPr algn="l" indent="0" marL="0">
              <a:lnSpc>
                <a:spcPts val="2400"/>
              </a:lnSpc>
              <a:buNone/>
            </a:pPr>
            <a:r>
              <a:rPr lang="en-US" sz="1500" dirty="0">
                <a:solidFill>
                  <a:srgbClr val="8EC1F0"/>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clean == clean[::-1]:</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print(</a:t>
            </a:r>
            <a:r>
              <a:rPr lang="en-US" sz="1500" dirty="0">
                <a:solidFill>
                  <a:srgbClr val="F2C94C"/>
                </a:solidFill>
                <a:latin typeface="JetBrains Mono" pitchFamily="49" charset="0"/>
                <a:ea typeface="JetBrains Mono" pitchFamily="49" charset="-122"/>
                <a:cs typeface="JetBrains Mono" pitchFamily="49" charset="-120"/>
              </a:rPr>
              <a:t>"Palindrome!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8EC1F0"/>
                </a:solidFill>
                <a:latin typeface="JetBrains Mono" pitchFamily="49" charset="0"/>
                <a:ea typeface="JetBrains Mono" pitchFamily="49" charset="-122"/>
                <a:cs typeface="JetBrains Mono" pitchFamily="49" charset="-120"/>
              </a:rPr>
              <a:t>else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print(</a:t>
            </a:r>
            <a:r>
              <a:rPr lang="en-US" sz="1500" dirty="0">
                <a:solidFill>
                  <a:srgbClr val="F2C94C"/>
                </a:solidFill>
                <a:latin typeface="JetBrains Mono" pitchFamily="49" charset="0"/>
                <a:ea typeface="JetBrains Mono" pitchFamily="49" charset="-122"/>
                <a:cs typeface="JetBrains Mono" pitchFamily="49" charset="-120"/>
              </a:rPr>
              <a:t>"Not a palindrome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5" name="Text 3"/>
          <p:cNvSpPr/>
          <p:nvPr/>
        </p:nvSpPr>
        <p:spPr>
          <a:xfrm>
            <a:off x="7315200" y="1986229"/>
            <a:ext cx="4185920" cy="614627"/>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F2A37"/>
                </a:solidFill>
                <a:latin typeface="DM Sans" pitchFamily="34" charset="0"/>
                <a:ea typeface="DM Sans" pitchFamily="34" charset="-122"/>
                <a:cs typeface="DM Sans" pitchFamily="34" charset="-120"/>
              </a:rPr>
              <a:t>A </a:t>
            </a:r>
            <a:r>
              <a:rPr lang="en-US" sz="1600" b="1" dirty="0">
                <a:solidFill>
                  <a:srgbClr val="1F2A37"/>
                </a:solidFill>
                <a:latin typeface="DM Sans" pitchFamily="34" charset="0"/>
                <a:ea typeface="DM Sans" pitchFamily="34" charset="-122"/>
                <a:cs typeface="DM Sans" pitchFamily="34" charset="-120"/>
              </a:rPr>
              <a:t>palindrome</a:t>
            </a:r>
            <a:r>
              <a:rPr lang="en-US" sz="1600" dirty="0">
                <a:solidFill>
                  <a:srgbClr val="1F2A37"/>
                </a:solidFill>
                <a:latin typeface="DM Sans" pitchFamily="34" charset="0"/>
                <a:ea typeface="DM Sans" pitchFamily="34" charset="-122"/>
                <a:cs typeface="DM Sans" pitchFamily="34" charset="-120"/>
              </a:rPr>
              <a:t> reads the same forwards and backwards.</a:t>
            </a:r>
            <a:endParaRPr lang="en-US" sz="1600" dirty="0"/>
          </a:p>
        </p:txBody>
      </p:sp>
      <p:sp>
        <p:nvSpPr>
          <p:cNvPr id="6" name="Text 4"/>
          <p:cNvSpPr/>
          <p:nvPr/>
        </p:nvSpPr>
        <p:spPr>
          <a:xfrm>
            <a:off x="7315200" y="2753258"/>
            <a:ext cx="4064000" cy="599414"/>
          </a:xfrm>
          <a:prstGeom prst="roundRect">
            <a:avLst>
              <a:gd name="adj" fmla="val 16950"/>
            </a:avLst>
          </a:prstGeom>
          <a:solidFill>
            <a:srgbClr val="EEF2F6"/>
          </a:solidFill>
          <a:ln/>
        </p:spPr>
        <p:txBody>
          <a:bodyPr wrap="square" lIns="173442" tIns="122642" rIns="63714" bIns="97242" rtlCol="0" anchor="t">
            <a:normAutofit/>
          </a:bodyPr>
          <a:lstStyle/>
          <a:p>
            <a:pPr algn="l" indent="0" marL="0">
              <a:lnSpc>
                <a:spcPts val="2320"/>
              </a:lnSpc>
              <a:buNone/>
            </a:pPr>
            <a:r>
              <a:rPr lang="en-US" sz="1600" dirty="0">
                <a:solidFill>
                  <a:srgbClr val="1F2A37"/>
                </a:solidFill>
                <a:latin typeface="DM Sans" pitchFamily="34" charset="0"/>
                <a:ea typeface="DM Sans" pitchFamily="34" charset="-122"/>
                <a:cs typeface="DM Sans" pitchFamily="34" charset="-120"/>
              </a:rPr>
              <a:t>level · racecar · madam</a:t>
            </a:r>
            <a:endParaRPr lang="en-US" sz="1600" dirty="0"/>
          </a:p>
        </p:txBody>
      </p:sp>
      <p:sp>
        <p:nvSpPr>
          <p:cNvPr id="7" name="Text 5"/>
          <p:cNvSpPr/>
          <p:nvPr/>
        </p:nvSpPr>
        <p:spPr>
          <a:xfrm>
            <a:off x="7315200" y="3530470"/>
            <a:ext cx="4185920" cy="320014"/>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4A5568"/>
                </a:solidFill>
                <a:latin typeface="DM Sans" pitchFamily="34" charset="0"/>
                <a:ea typeface="DM Sans" pitchFamily="34" charset="-122"/>
                <a:cs typeface="DM Sans" pitchFamily="34" charset="-120"/>
              </a:rPr>
              <a:t>lower()</a:t>
            </a:r>
            <a:r>
              <a:rPr lang="en-US" sz="1600" dirty="0">
                <a:solidFill>
                  <a:srgbClr val="4A5568"/>
                </a:solidFill>
                <a:latin typeface="DM Sans" pitchFamily="34" charset="0"/>
                <a:ea typeface="DM Sans" pitchFamily="34" charset="-122"/>
                <a:cs typeface="DM Sans" pitchFamily="34" charset="-120"/>
              </a:rPr>
              <a:t> makes “Level” work too.</a:t>
            </a:r>
            <a:endParaRPr lang="en-US" sz="16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6: strings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QUICK CHECK</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Predict before you run!</a:t>
            </a:r>
            <a:endParaRPr lang="en-US" sz="3600" dirty="0"/>
          </a:p>
        </p:txBody>
      </p:sp>
      <p:sp>
        <p:nvSpPr>
          <p:cNvPr id="4" name="Shape 2"/>
          <p:cNvSpPr/>
          <p:nvPr/>
        </p:nvSpPr>
        <p:spPr>
          <a:xfrm>
            <a:off x="815975" y="1989404"/>
            <a:ext cx="3346450" cy="2145705"/>
          </a:xfrm>
          <a:prstGeom prst="roundRect">
            <a:avLst>
              <a:gd name="adj" fmla="val 5771"/>
            </a:avLst>
          </a:prstGeom>
          <a:solidFill>
            <a:srgbClr val="FFFFFF"/>
          </a:solidFill>
          <a:ln w="6350">
            <a:solidFill>
              <a:srgbClr val="D5DEE8"/>
            </a:solidFill>
            <a:prstDash val="solid"/>
          </a:ln>
        </p:spPr>
      </p:sp>
      <p:sp>
        <p:nvSpPr>
          <p:cNvPr id="5" name="Text 3"/>
          <p:cNvSpPr/>
          <p:nvPr/>
        </p:nvSpPr>
        <p:spPr>
          <a:xfrm>
            <a:off x="1071033"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Q1. Which letter?</a:t>
            </a:r>
            <a:endParaRPr lang="en-US" sz="1800" dirty="0"/>
          </a:p>
        </p:txBody>
      </p:sp>
      <p:sp>
        <p:nvSpPr>
          <p:cNvPr id="6" name="Text 4"/>
          <p:cNvSpPr/>
          <p:nvPr/>
        </p:nvSpPr>
        <p:spPr>
          <a:xfrm>
            <a:off x="1071033" y="2671167"/>
            <a:ext cx="2836333" cy="640027"/>
          </a:xfrm>
          <a:prstGeom prst="roundRect">
            <a:avLst>
              <a:gd name="adj" fmla="val 13890"/>
            </a:avLst>
          </a:prstGeom>
          <a:solidFill>
            <a:srgbClr val="1F2A37"/>
          </a:solidFill>
          <a:ln/>
        </p:spPr>
        <p:txBody>
          <a:bodyPr wrap="square" lIns="177162" tIns="151762" rIns="104264" bIns="126362" rtlCol="0" anchor="t">
            <a:normAutofit/>
          </a:bodyPr>
          <a:lstStyle/>
          <a:p>
            <a:pPr algn="l" indent="0" marL="0">
              <a:lnSpc>
                <a:spcPts val="2240"/>
              </a:lnSpc>
              <a:buNone/>
            </a:pPr>
            <a:r>
              <a:rPr lang="en-US" sz="1400" dirty="0">
                <a:solidFill>
                  <a:srgbClr val="F2C94C"/>
                </a:solidFill>
                <a:latin typeface="JetBrains Mono" pitchFamily="49" charset="0"/>
                <a:ea typeface="JetBrains Mono" pitchFamily="49" charset="-122"/>
                <a:cs typeface="JetBrains Mono" pitchFamily="49" charset="-120"/>
              </a:rPr>
              <a:t>"Python"</a:t>
            </a:r>
            <a:r>
              <a:rPr lang="en-US" sz="1400" dirty="0">
                <a:solidFill>
                  <a:srgbClr val="E8EDF3"/>
                </a:solidFill>
                <a:latin typeface="JetBrains Mono" pitchFamily="49" charset="0"/>
                <a:ea typeface="JetBrains Mono" pitchFamily="49" charset="-122"/>
                <a:cs typeface="JetBrains Mono" pitchFamily="49" charset="-120"/>
              </a:rPr>
              <a:t>[1]</a:t>
            </a:r>
            <a:endParaRPr lang="en-US" sz="1400" dirty="0"/>
          </a:p>
        </p:txBody>
      </p:sp>
      <p:sp>
        <p:nvSpPr>
          <p:cNvPr id="7" name="Shape 5"/>
          <p:cNvSpPr/>
          <p:nvPr/>
        </p:nvSpPr>
        <p:spPr>
          <a:xfrm>
            <a:off x="4422775" y="1989404"/>
            <a:ext cx="3346450" cy="2145705"/>
          </a:xfrm>
          <a:prstGeom prst="roundRect">
            <a:avLst>
              <a:gd name="adj" fmla="val 5771"/>
            </a:avLst>
          </a:prstGeom>
          <a:solidFill>
            <a:srgbClr val="FFFFFF"/>
          </a:solidFill>
          <a:ln w="6350">
            <a:solidFill>
              <a:srgbClr val="D5DEE8"/>
            </a:solidFill>
            <a:prstDash val="solid"/>
          </a:ln>
        </p:spPr>
      </p:sp>
      <p:sp>
        <p:nvSpPr>
          <p:cNvPr id="8" name="Text 6"/>
          <p:cNvSpPr/>
          <p:nvPr/>
        </p:nvSpPr>
        <p:spPr>
          <a:xfrm>
            <a:off x="4677833"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Q2. What piece?</a:t>
            </a:r>
            <a:endParaRPr lang="en-US" sz="1800" dirty="0"/>
          </a:p>
        </p:txBody>
      </p:sp>
      <p:sp>
        <p:nvSpPr>
          <p:cNvPr id="9" name="Text 7"/>
          <p:cNvSpPr/>
          <p:nvPr/>
        </p:nvSpPr>
        <p:spPr>
          <a:xfrm>
            <a:off x="4677833" y="2671167"/>
            <a:ext cx="2836333" cy="924454"/>
          </a:xfrm>
          <a:prstGeom prst="roundRect">
            <a:avLst>
              <a:gd name="adj" fmla="val 9616"/>
            </a:avLst>
          </a:prstGeom>
          <a:solidFill>
            <a:srgbClr val="1F2A37"/>
          </a:solidFill>
          <a:ln/>
        </p:spPr>
        <p:txBody>
          <a:bodyPr wrap="square" lIns="177162" tIns="151762" rIns="104264" bIns="126362" rtlCol="0" anchor="t">
            <a:normAutofit/>
          </a:bodyPr>
          <a:lstStyle/>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s = </a:t>
            </a:r>
            <a:r>
              <a:rPr lang="en-US" sz="1400" dirty="0">
                <a:solidFill>
                  <a:srgbClr val="F2C94C"/>
                </a:solidFill>
                <a:latin typeface="JetBrains Mono" pitchFamily="49" charset="0"/>
                <a:ea typeface="JetBrains Mono" pitchFamily="49" charset="-122"/>
                <a:cs typeface="JetBrains Mono" pitchFamily="49" charset="-120"/>
              </a:rPr>
              <a:t>"Hello World"</a:t>
            </a:r>
            <a:endParaRPr lang="en-US" sz="1400" dirty="0"/>
          </a:p>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s[6:]</a:t>
            </a:r>
            <a:endParaRPr lang="en-US" sz="1400" dirty="0"/>
          </a:p>
        </p:txBody>
      </p:sp>
      <p:sp>
        <p:nvSpPr>
          <p:cNvPr id="10" name="Shape 8"/>
          <p:cNvSpPr/>
          <p:nvPr/>
        </p:nvSpPr>
        <p:spPr>
          <a:xfrm>
            <a:off x="8029575" y="1989404"/>
            <a:ext cx="3346450" cy="2145705"/>
          </a:xfrm>
          <a:prstGeom prst="roundRect">
            <a:avLst>
              <a:gd name="adj" fmla="val 5771"/>
            </a:avLst>
          </a:prstGeom>
          <a:solidFill>
            <a:srgbClr val="FFFFFF"/>
          </a:solidFill>
          <a:ln w="6350">
            <a:solidFill>
              <a:srgbClr val="D5DEE8"/>
            </a:solidFill>
            <a:prstDash val="solid"/>
          </a:ln>
        </p:spPr>
      </p:sp>
      <p:sp>
        <p:nvSpPr>
          <p:cNvPr id="11" name="Text 9"/>
          <p:cNvSpPr/>
          <p:nvPr/>
        </p:nvSpPr>
        <p:spPr>
          <a:xfrm>
            <a:off x="8284634"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Q3. What is printed?</a:t>
            </a:r>
            <a:endParaRPr lang="en-US" sz="1800" dirty="0"/>
          </a:p>
        </p:txBody>
      </p:sp>
      <p:sp>
        <p:nvSpPr>
          <p:cNvPr id="12" name="Text 10"/>
          <p:cNvSpPr/>
          <p:nvPr/>
        </p:nvSpPr>
        <p:spPr>
          <a:xfrm>
            <a:off x="8284634" y="2671167"/>
            <a:ext cx="2836333" cy="1208881"/>
          </a:xfrm>
          <a:prstGeom prst="roundRect">
            <a:avLst>
              <a:gd name="adj" fmla="val 7354"/>
            </a:avLst>
          </a:prstGeom>
          <a:solidFill>
            <a:srgbClr val="1F2A37"/>
          </a:solidFill>
          <a:ln/>
        </p:spPr>
        <p:txBody>
          <a:bodyPr wrap="square" lIns="177162" tIns="151762" rIns="104264" bIns="126362" rtlCol="0" anchor="t">
            <a:normAutofit/>
          </a:bodyPr>
          <a:lstStyle/>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t = </a:t>
            </a:r>
            <a:r>
              <a:rPr lang="en-US" sz="1400" dirty="0">
                <a:solidFill>
                  <a:srgbClr val="F2C94C"/>
                </a:solidFill>
                <a:latin typeface="JetBrains Mono" pitchFamily="49" charset="0"/>
                <a:ea typeface="JetBrains Mono" pitchFamily="49" charset="-122"/>
                <a:cs typeface="JetBrains Mono" pitchFamily="49" charset="-120"/>
              </a:rPr>
              <a:t>"hi"</a:t>
            </a:r>
            <a:endParaRPr lang="en-US" sz="1400" dirty="0"/>
          </a:p>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t.upper()</a:t>
            </a:r>
            <a:endParaRPr lang="en-US" sz="1400" dirty="0"/>
          </a:p>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print(t)</a:t>
            </a:r>
            <a:endParaRPr lang="en-US" sz="14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6: strings</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SUMMARY</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What we learned today</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53700" cy="3302000"/>
        </p:xfrm>
        <a:graphic>
          <a:graphicData uri="http://schemas.openxmlformats.org/drawingml/2006/table">
            <a:tbl>
              <a:tblPr/>
              <a:tblGrid>
                <a:gridCol w="4221480"/>
                <a:gridCol w="6332220"/>
              </a:tblGrid>
              <a:tr h="412750">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Code (s = "Hello")</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Result</a:t>
                      </a:r>
                      <a:endParaRPr lang="en-US" sz="1500" dirty="0">
                        <a:latin typeface="DM Sans" charset="0"/>
                        <a:ea typeface="DM Sans" charset="0"/>
                        <a:cs typeface="DM Sans" charset="0"/>
                      </a:endParaRPr>
                    </a:p>
                  </a:txBody>
                  <a:tcPr marL="66675" marR="66675" marT="66675" marB="6667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s[0] · s[-1]</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H · o</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s[1:4]</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ell</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s[::-1]</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olleH</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s.upper() · s.lower()</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HELLO · hello</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s.replace("l", "L")</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HeLLo</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"ell" in s</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True</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f"{3.14159:.2f}"</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3.14</a:t>
                      </a:r>
                      <a:endParaRPr lang="en-US" sz="1500" dirty="0">
                        <a:latin typeface="DM Sans" charset="0"/>
                        <a:ea typeface="DM Sans" charset="0"/>
                        <a:cs typeface="DM Sans" charset="0"/>
                      </a:endParaRPr>
                    </a:p>
                  </a:txBody>
                  <a:tcPr marL="66675" marR="66675" marT="66675" marB="6667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6: strings</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sp>
        <p:nvSpPr>
          <p:cNvPr id="3" name="Text 1"/>
          <p:cNvSpPr/>
          <p:nvPr/>
        </p:nvSpPr>
        <p:spPr>
          <a:xfrm>
            <a:off x="812800" y="2467639"/>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YOUR TURN</a:t>
            </a:r>
            <a:endParaRPr lang="en-US" sz="1200" dirty="0"/>
          </a:p>
        </p:txBody>
      </p:sp>
      <p:sp>
        <p:nvSpPr>
          <p:cNvPr id="4" name="Text 2"/>
          <p:cNvSpPr/>
          <p:nvPr>
            <p:ph type="title"/>
          </p:nvPr>
        </p:nvSpPr>
        <p:spPr>
          <a:xfrm>
            <a:off x="812800" y="2884159"/>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F2A37"/>
                </a:solidFill>
                <a:latin typeface="DM Sans" pitchFamily="34" charset="0"/>
                <a:ea typeface="DM Sans" pitchFamily="34" charset="-122"/>
                <a:cs typeface="DM Sans" pitchFamily="34" charset="-120"/>
              </a:rPr>
              <a:t>Practice time!</a:t>
            </a:r>
            <a:endParaRPr lang="en-US" sz="4800" dirty="0"/>
          </a:p>
        </p:txBody>
      </p:sp>
      <p:sp>
        <p:nvSpPr>
          <p:cNvPr id="5" name="Text 3"/>
          <p:cNvSpPr/>
          <p:nvPr/>
        </p:nvSpPr>
        <p:spPr>
          <a:xfrm>
            <a:off x="812800" y="3727388"/>
            <a:ext cx="5127752" cy="688314"/>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4A5568"/>
                </a:solidFill>
                <a:latin typeface="DM Sans" pitchFamily="34" charset="0"/>
                <a:ea typeface="DM Sans" pitchFamily="34" charset="-122"/>
                <a:cs typeface="DM Sans" pitchFamily="34" charset="-120"/>
              </a:rPr>
              <a:t>Open </a:t>
            </a:r>
            <a:r>
              <a:rPr lang="en-US" sz="1800" b="1" dirty="0">
                <a:solidFill>
                  <a:srgbClr val="4A5568"/>
                </a:solidFill>
                <a:latin typeface="DM Sans" pitchFamily="34" charset="0"/>
                <a:ea typeface="DM Sans" pitchFamily="34" charset="-122"/>
                <a:cs typeface="DM Sans" pitchFamily="34" charset="-120"/>
              </a:rPr>
              <a:t>exercises.ipynb</a:t>
            </a:r>
            <a:r>
              <a:rPr lang="en-US" sz="1800" dirty="0">
                <a:solidFill>
                  <a:srgbClr val="4A5568"/>
                </a:solidFill>
                <a:latin typeface="DM Sans" pitchFamily="34" charset="0"/>
                <a:ea typeface="DM Sans" pitchFamily="34" charset="-122"/>
                <a:cs typeface="DM Sans" pitchFamily="34" charset="-120"/>
              </a:rPr>
              <a:t> in the Day 6 folder and solve the 10 tasks, from ⭐ to ⭐⭐⭐.</a:t>
            </a:r>
            <a:endParaRPr lang="en-US" sz="1800" dirty="0"/>
          </a:p>
        </p:txBody>
      </p:sp>
      <p:sp>
        <p:nvSpPr>
          <p:cNvPr id="6" name="Text 4"/>
          <p:cNvSpPr/>
          <p:nvPr/>
        </p:nvSpPr>
        <p:spPr>
          <a:xfrm>
            <a:off x="6403975" y="1910823"/>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First, last and length of a word</a:t>
            </a:r>
            <a:endParaRPr lang="en-US" sz="1600" dirty="0"/>
          </a:p>
        </p:txBody>
      </p:sp>
      <p:sp>
        <p:nvSpPr>
          <p:cNvPr id="7" name="Text 5"/>
          <p:cNvSpPr/>
          <p:nvPr/>
        </p:nvSpPr>
        <p:spPr>
          <a:xfrm>
            <a:off x="6403975" y="2711717"/>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Email checker and username maker</a:t>
            </a:r>
            <a:endParaRPr lang="en-US" sz="1600" dirty="0"/>
          </a:p>
        </p:txBody>
      </p:sp>
      <p:sp>
        <p:nvSpPr>
          <p:cNvPr id="8" name="Text 6"/>
          <p:cNvSpPr/>
          <p:nvPr/>
        </p:nvSpPr>
        <p:spPr>
          <a:xfrm>
            <a:off x="6403975" y="3512610"/>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Secret message cipher 🕵️</a:t>
            </a:r>
            <a:endParaRPr lang="en-US" sz="1600" dirty="0"/>
          </a:p>
        </p:txBody>
      </p:sp>
      <p:sp>
        <p:nvSpPr>
          <p:cNvPr id="9" name="Text 7"/>
          <p:cNvSpPr/>
          <p:nvPr/>
        </p:nvSpPr>
        <p:spPr>
          <a:xfrm>
            <a:off x="6400800" y="4310329"/>
            <a:ext cx="4978400" cy="640027"/>
          </a:xfrm>
          <a:prstGeom prst="roundRect">
            <a:avLst>
              <a:gd name="adj" fmla="val 15874"/>
            </a:avLst>
          </a:prstGeom>
          <a:solidFill>
            <a:srgbClr val="E3ECF6"/>
          </a:solidFill>
          <a:ln/>
        </p:spPr>
        <p:txBody>
          <a:bodyPr wrap="square" lIns="198842" tIns="148042" rIns="63206" bIns="122642"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Next lesson:</a:t>
            </a:r>
            <a:r>
              <a:rPr lang="en-US" sz="1600" dirty="0">
                <a:solidFill>
                  <a:srgbClr val="1F2A37"/>
                </a:solidFill>
                <a:latin typeface="DM Sans" pitchFamily="34" charset="0"/>
                <a:ea typeface="DM Sans" pitchFamily="34" charset="-122"/>
                <a:cs typeface="DM Sans" pitchFamily="34" charset="-120"/>
              </a:rPr>
              <a:t> Lists 📋</a:t>
            </a:r>
            <a:endParaRPr lang="en-US" sz="1600" dirty="0"/>
          </a:p>
        </p:txBody>
      </p:sp>
    </p:spTree>
  </p:cSld>
  <p:clrMapOvr>
    <a:masterClrMapping/>
  </p:clrMapOvr>
</p:sld>
</file>

<file path=ppt/theme/theme1.xml><?xml version="1.0" encoding="utf-8"?>
<a:theme xmlns:a="http://schemas.openxmlformats.org/drawingml/2006/main" name="Day 6 — Strings">
  <a:themeElements>
    <a:clrScheme name="Day 6 — Strings">
      <a:dk1>
        <a:srgbClr val="1F2A37"/>
      </a:dk1>
      <a:lt1>
        <a:srgbClr val="FAF9F6"/>
      </a:lt1>
      <a:dk2>
        <a:srgbClr val="565E67"/>
      </a:dk2>
      <a:lt2>
        <a:srgbClr val="E4E4E3"/>
      </a:lt2>
      <a:accent1>
        <a:srgbClr val="3776AB"/>
      </a:accent1>
      <a:accent2>
        <a:srgbClr val="2F5F8A"/>
      </a:accent2>
      <a:accent3>
        <a:srgbClr val="8A94A3"/>
      </a:accent3>
      <a:accent4>
        <a:srgbClr val="4A5568"/>
      </a:accent4>
      <a:accent5>
        <a:srgbClr val="CFE0F1"/>
      </a:accent5>
      <a:accent6>
        <a:srgbClr val="9AA0A6"/>
      </a:accent6>
      <a:hlink>
        <a:srgbClr val="0563C1"/>
      </a:hlink>
      <a:folHlink>
        <a:srgbClr val="954F72"/>
      </a:folHlink>
    </a:clrScheme>
    <a:fontScheme name="Day 6 — String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6 — Strings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2026-10-24T05:09:38Z</dcterms:created>
  <dcterms:modified xsi:type="dcterms:W3CDTF">2026-10-24T05:09:38Z</dcterms:modified>
</cp:coreProperties>
</file>