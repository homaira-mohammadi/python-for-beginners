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embeddedFontLst>
    <p:embeddedFont>
      <p:font typeface="DM Sans" pitchFamily="34" charset="0"/>
      <p:regular r:id="rId24"/>
      <p:bold r:id="rId25"/>
      <p:italic r:id="rId26"/>
      <p:boldItalic r:id="rId27"/>
    </p:embeddedFont>
    <p:embeddedFont>
      <p:font typeface="JetBrains Mono" panose="02000009000000000000" pitchFamily="49" charset="0"/>
      <p:regular r:id="rId28"/>
      <p:bold r:id="rId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font" Target="fonts/font1.fntdata"/><Relationship Id="rId25" Type="http://schemas.openxmlformats.org/officeDocument/2006/relationships/font" Target="fonts/font2.fntdata"/><Relationship Id="rId26" Type="http://schemas.openxmlformats.org/officeDocument/2006/relationships/font" Target="fonts/font3.fntdata"/><Relationship Id="rId27" Type="http://schemas.openxmlformats.org/officeDocument/2006/relationships/font" Target="fonts/font4.fntdata"/><Relationship Id="rId28" Type="http://schemas.openxmlformats.org/officeDocument/2006/relationships/font" Target="fonts/font5.fntdata"/><Relationship Id="rId29"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Introduction to Python! By the end of today, everyone will have written and run their first Python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together. Reassure students: no experience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what happens if we serve before heating the water? The order matters. Programming is giving a computer precise steps in a language it understands.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 fact: Python is named after the comedy group Monty Python, not the snake!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which area interests them most. This keeps them motivated through the basics.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languages share the same ideas: variables, decisions, loops. Once you learn Python, other languages become much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class, have everyone open Google Colab so nobody gets stuck on installation. The step-by-step setup guide is in resources/setup-guide.md on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types this and runs it with Shift + Enter. Celebrate: you are now a programmer!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don't need to remember every step. The key idea: Python reads line by line, top to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 is called a string and needs quotes (single or double). Numbers don't. Each print() starts a new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to predict each line before running. The last line surprises many: quotes turn it into text, so Python prints it exactly as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Comments help your teacher, your classmates, and you next week. Good programmers write comments.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Indentation is a sneak peek: students will use it a lot from Day 3 with if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each broken line live so students see real error messages: NameError, NameError, SyntaxError. Every programmer sees errors every day; the skill is reading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around and help. Ask a few volunteers to share their program on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 Python and Programming on two lines. Q2 = 15. Q3 = A and C (B is a comment, so Python ignores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Congratulate everyone on their first day of programming. The challenge can be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9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907"/>
          </a:xfrm>
          <a:prstGeom prst="rect">
            <a:avLst/>
          </a:prstGeom>
          <a:noFill/>
          <a:ln/>
        </p:spPr>
        <p:txBody>
          <a:bodyPr wrap="square" lIns="0" tIns="0" rIns="0" bIns="0" rtlCol="0" anchor="t"/>
          <a:lstStyle>
            <a:lvl1pPr algn="l" indent="0" marL="0">
              <a:lnSpc>
                <a:spcPct val="115000"/>
              </a:lnSpc>
              <a:buNone/>
              <a:defRPr lang="en-US" sz="3600" dirty="0">
                <a:solidFill>
                  <a:srgbClr val="1F2A37"/>
                </a:solidFill>
                <a:latin typeface="DM Sans" pitchFamily="34" charset="0"/>
                <a:ea typeface="DM Sans" pitchFamily="34" charset="-122"/>
                <a:cs typeface="DM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27"/>
            <a:ext cx="10566400" cy="4109773"/>
          </a:xfrm>
          <a:prstGeom prst="rect">
            <a:avLst/>
          </a:prstGeom>
          <a:noFill/>
          <a:ln/>
        </p:spPr>
        <p:txBody>
          <a:bodyPr wrap="square" lIns="0" tIns="0" rIns="0" bIns="0" rtlCol="0" anchor="t"/>
          <a:lstStyle>
            <a:lvl1pPr algn="l" indent="0" marL="0">
              <a:lnSpc>
                <a:spcPct val="140000"/>
              </a:lnSpc>
              <a:buNone/>
              <a:defRPr lang="en-US" sz="1600" dirty="0">
                <a:solidFill>
                  <a:srgbClr val="1F2A3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pic>
        <p:nvPicPr>
          <p:cNvPr id="3" name="Image 0" descr="Python logo">    </p:cNvPr>
          <p:cNvPicPr>
            <a:picLocks noChangeAspect="1"/>
          </p:cNvPicPr>
          <p:nvPr/>
        </p:nvPicPr>
        <p:blipFill>
          <a:blip r:embed="rId1"/>
          <a:srcRect l="0" r="0" t="0" b="0"/>
          <a:stretch/>
        </p:blipFill>
        <p:spPr>
          <a:xfrm>
            <a:off x="812800" y="1317096"/>
            <a:ext cx="1270000" cy="1270000"/>
          </a:xfrm>
          <a:prstGeom prst="rect">
            <a:avLst/>
          </a:prstGeom>
        </p:spPr>
      </p:pic>
      <p:sp>
        <p:nvSpPr>
          <p:cNvPr id="4" name="Text 1"/>
          <p:cNvSpPr/>
          <p:nvPr/>
        </p:nvSpPr>
        <p:spPr>
          <a:xfrm>
            <a:off x="812800" y="2790296"/>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PYTHON FOR BEGINNERS · DAY 1</a:t>
            </a:r>
            <a:endParaRPr lang="en-US" sz="1200" dirty="0"/>
          </a:p>
        </p:txBody>
      </p:sp>
      <p:sp>
        <p:nvSpPr>
          <p:cNvPr id="5" name="Text 2"/>
          <p:cNvSpPr/>
          <p:nvPr>
            <p:ph type="title"/>
          </p:nvPr>
        </p:nvSpPr>
        <p:spPr>
          <a:xfrm>
            <a:off x="812800" y="3206816"/>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F2A37"/>
                </a:solidFill>
                <a:latin typeface="DM Sans" pitchFamily="34" charset="0"/>
                <a:ea typeface="DM Sans" pitchFamily="34" charset="-122"/>
                <a:cs typeface="DM Sans" pitchFamily="34" charset="-120"/>
              </a:rPr>
              <a:t>Introduction to Python</a:t>
            </a:r>
            <a:endParaRPr lang="en-US" sz="4800" dirty="0"/>
          </a:p>
        </p:txBody>
      </p:sp>
      <p:sp>
        <p:nvSpPr>
          <p:cNvPr id="6" name="Text 3"/>
          <p:cNvSpPr/>
          <p:nvPr/>
        </p:nvSpPr>
        <p:spPr>
          <a:xfrm>
            <a:off x="812800" y="4690070"/>
            <a:ext cx="5127752" cy="388607"/>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4A5568"/>
                </a:solidFill>
                <a:latin typeface="DM Sans" pitchFamily="34" charset="0"/>
                <a:ea typeface="DM Sans" pitchFamily="34" charset="-122"/>
                <a:cs typeface="DM Sans" pitchFamily="34" charset="-120"/>
              </a:rPr>
              <a:t>Your first steps in programming</a:t>
            </a:r>
            <a:endParaRPr lang="en-US" sz="2200" dirty="0"/>
          </a:p>
        </p:txBody>
      </p:sp>
      <p:sp>
        <p:nvSpPr>
          <p:cNvPr id="7" name="Text 4"/>
          <p:cNvSpPr/>
          <p:nvPr/>
        </p:nvSpPr>
        <p:spPr>
          <a:xfrm>
            <a:off x="812800" y="5256477"/>
            <a:ext cx="512775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Instructor: Homaira Mohammadi</a:t>
            </a:r>
            <a:endParaRPr lang="en-US" sz="1600" dirty="0"/>
          </a:p>
        </p:txBody>
      </p:sp>
      <p:sp>
        <p:nvSpPr>
          <p:cNvPr id="8" name="Text 5"/>
          <p:cNvSpPr/>
          <p:nvPr/>
        </p:nvSpPr>
        <p:spPr>
          <a:xfrm>
            <a:off x="6400800" y="2260600"/>
            <a:ext cx="4978400" cy="2336800"/>
          </a:xfrm>
          <a:prstGeom prst="roundRect">
            <a:avLst>
              <a:gd name="adj" fmla="val 6522"/>
            </a:avLst>
          </a:prstGeom>
          <a:solidFill>
            <a:srgbClr val="1F2A37"/>
          </a:solidFill>
          <a:ln/>
          <a:effectLst>
            <a:outerShdw sx="100000" sy="100000" kx="0" ky="0" algn="bl" rotWithShape="0" blurRad="406400" dist="152400" dir="5400000">
              <a:srgbClr val="1F2A37">
                <a:alpha val="18000"/>
              </a:srgbClr>
            </a:outerShdw>
          </a:effectLst>
        </p:spPr>
        <p:txBody>
          <a:bodyPr wrap="square" lIns="361764" tIns="310964" rIns="236796" bIns="285564" rtlCol="0" anchor="t">
            <a:normAutofit/>
          </a:bodyPr>
          <a:lstStyle/>
          <a:p>
            <a:pPr algn="l" indent="0" marL="0">
              <a:lnSpc>
                <a:spcPts val="3200"/>
              </a:lnSpc>
              <a:buNone/>
            </a:pPr>
            <a:r>
              <a:rPr lang="en-US" sz="2000" dirty="0">
                <a:solidFill>
                  <a:srgbClr val="93A1B3"/>
                </a:solidFill>
                <a:latin typeface="JetBrains Mono" pitchFamily="49" charset="0"/>
                <a:ea typeface="JetBrains Mono" pitchFamily="49" charset="-122"/>
                <a:cs typeface="JetBrains Mono" pitchFamily="49" charset="-120"/>
              </a:rPr>
              <a:t># my first program</a:t>
            </a:r>
            <a:endParaRPr lang="en-US" sz="2000" dirty="0"/>
          </a:p>
          <a:p>
            <a:pPr algn="l" indent="0" marL="0">
              <a:lnSpc>
                <a:spcPts val="3200"/>
              </a:lnSpc>
              <a:buNone/>
            </a:pPr>
            <a:r>
              <a:rPr lang="en-US" sz="2000" dirty="0">
                <a:solidFill>
                  <a:srgbClr val="E8EDF3"/>
                </a:solidFill>
                <a:latin typeface="JetBrains Mono" pitchFamily="49" charset="0"/>
                <a:ea typeface="JetBrains Mono" pitchFamily="49" charset="-122"/>
                <a:cs typeface="JetBrains Mono" pitchFamily="49" charset="-120"/>
              </a:rPr>
              <a:t>print(</a:t>
            </a:r>
            <a:r>
              <a:rPr lang="en-US" sz="2000" dirty="0">
                <a:solidFill>
                  <a:srgbClr val="F2C94C"/>
                </a:solidFill>
                <a:latin typeface="JetBrains Mono" pitchFamily="49" charset="0"/>
                <a:ea typeface="JetBrains Mono" pitchFamily="49" charset="-122"/>
                <a:cs typeface="JetBrains Mono" pitchFamily="49" charset="-120"/>
              </a:rPr>
              <a:t>"Hello World"</a:t>
            </a:r>
            <a:r>
              <a:rPr lang="en-US" sz="2000" dirty="0">
                <a:solidFill>
                  <a:srgbClr val="E8EDF3"/>
                </a:solidFill>
                <a:latin typeface="JetBrains Mono" pitchFamily="49" charset="0"/>
                <a:ea typeface="JetBrains Mono" pitchFamily="49" charset="-122"/>
                <a:cs typeface="JetBrains Mono" pitchFamily="49" charset="-120"/>
              </a:rPr>
              <a:t>)</a:t>
            </a:r>
            <a:endParaRPr lang="en-US" sz="2000" dirty="0"/>
          </a:p>
          <a:p>
            <a:pPr algn="l" indent="0" marL="0">
              <a:lnSpc>
                <a:spcPts val="3200"/>
              </a:lnSpc>
              <a:buNone/>
            </a:pPr>
            <a:endParaRPr lang="en-US" sz="2000" dirty="0"/>
          </a:p>
          <a:p>
            <a:pPr algn="l" indent="0" marL="0">
              <a:lnSpc>
                <a:spcPts val="3200"/>
              </a:lnSpc>
              <a:buNone/>
            </a:pPr>
            <a:r>
              <a:rPr lang="en-US" sz="2000" dirty="0">
                <a:solidFill>
                  <a:srgbClr val="93A1B3"/>
                </a:solidFill>
                <a:latin typeface="JetBrains Mono" pitchFamily="49" charset="0"/>
                <a:ea typeface="JetBrains Mono" pitchFamily="49" charset="-122"/>
                <a:cs typeface="JetBrains Mono" pitchFamily="49" charset="-120"/>
              </a:rPr>
              <a:t># Hello World</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SESSION GOALS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By the end of today, you can…</a:t>
            </a:r>
            <a:endParaRPr lang="en-US" sz="3600" dirty="0"/>
          </a:p>
        </p:txBody>
      </p:sp>
      <p:pic>
        <p:nvPicPr>
          <p:cNvPr id="4" name="Image 0" descr="CheckCircle">    </p:cNvPr>
          <p:cNvPicPr>
            <a:picLocks noChangeAspect="1"/>
          </p:cNvPicPr>
          <p:nvPr/>
        </p:nvPicPr>
        <p:blipFill>
          <a:blip r:embed="rId1"/>
          <a:srcRect l="0" r="0" t="0" b="0"/>
          <a:stretch/>
        </p:blipFill>
        <p:spPr>
          <a:xfrm>
            <a:off x="812800" y="1986228"/>
            <a:ext cx="304800" cy="304800"/>
          </a:xfrm>
          <a:prstGeom prst="rect">
            <a:avLst/>
          </a:prstGeom>
        </p:spPr>
      </p:pic>
      <p:sp>
        <p:nvSpPr>
          <p:cNvPr id="5" name="Text 2"/>
          <p:cNvSpPr/>
          <p:nvPr/>
        </p:nvSpPr>
        <p:spPr>
          <a:xfrm>
            <a:off x="1270000" y="1987484"/>
            <a:ext cx="267843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Explain what Python is</a:t>
            </a:r>
            <a:endParaRPr lang="en-US" sz="1700" dirty="0"/>
          </a:p>
        </p:txBody>
      </p:sp>
      <p:pic>
        <p:nvPicPr>
          <p:cNvPr id="6" name="Image 1" descr="CheckCircle">    </p:cNvPr>
          <p:cNvPicPr>
            <a:picLocks noChangeAspect="1"/>
          </p:cNvPicPr>
          <p:nvPr/>
        </p:nvPicPr>
        <p:blipFill>
          <a:blip r:embed="rId2"/>
          <a:srcRect l="0" r="0" t="0" b="0"/>
          <a:stretch/>
        </p:blipFill>
        <p:spPr>
          <a:xfrm>
            <a:off x="6299200" y="1986228"/>
            <a:ext cx="304800" cy="304800"/>
          </a:xfrm>
          <a:prstGeom prst="rect">
            <a:avLst/>
          </a:prstGeom>
        </p:spPr>
      </p:pic>
      <p:sp>
        <p:nvSpPr>
          <p:cNvPr id="7" name="Text 3"/>
          <p:cNvSpPr/>
          <p:nvPr/>
        </p:nvSpPr>
        <p:spPr>
          <a:xfrm>
            <a:off x="6756400" y="1987484"/>
            <a:ext cx="306649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Say where Python is used</a:t>
            </a:r>
            <a:endParaRPr lang="en-US" sz="1700" dirty="0"/>
          </a:p>
        </p:txBody>
      </p:sp>
      <p:pic>
        <p:nvPicPr>
          <p:cNvPr id="8" name="Image 2" descr="CheckCircle">    </p:cNvPr>
          <p:cNvPicPr>
            <a:picLocks noChangeAspect="1"/>
          </p:cNvPicPr>
          <p:nvPr/>
        </p:nvPicPr>
        <p:blipFill>
          <a:blip r:embed="rId3"/>
          <a:srcRect l="0" r="0" t="0" b="0"/>
          <a:stretch/>
        </p:blipFill>
        <p:spPr>
          <a:xfrm>
            <a:off x="812800" y="2468828"/>
            <a:ext cx="304800" cy="304800"/>
          </a:xfrm>
          <a:prstGeom prst="rect">
            <a:avLst/>
          </a:prstGeom>
        </p:spPr>
      </p:pic>
      <p:sp>
        <p:nvSpPr>
          <p:cNvPr id="9" name="Text 4"/>
          <p:cNvSpPr/>
          <p:nvPr/>
        </p:nvSpPr>
        <p:spPr>
          <a:xfrm>
            <a:off x="1270000" y="2470084"/>
            <a:ext cx="25908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Install and run Python</a:t>
            </a:r>
            <a:endParaRPr lang="en-US" sz="1700" dirty="0"/>
          </a:p>
        </p:txBody>
      </p:sp>
      <p:pic>
        <p:nvPicPr>
          <p:cNvPr id="10" name="Image 3" descr="CheckCircle">    </p:cNvPr>
          <p:cNvPicPr>
            <a:picLocks noChangeAspect="1"/>
          </p:cNvPicPr>
          <p:nvPr/>
        </p:nvPicPr>
        <p:blipFill>
          <a:blip r:embed="rId4"/>
          <a:srcRect l="0" r="0" t="0" b="0"/>
          <a:stretch/>
        </p:blipFill>
        <p:spPr>
          <a:xfrm>
            <a:off x="6299200" y="2468828"/>
            <a:ext cx="304800" cy="304800"/>
          </a:xfrm>
          <a:prstGeom prst="rect">
            <a:avLst/>
          </a:prstGeom>
        </p:spPr>
      </p:pic>
      <p:sp>
        <p:nvSpPr>
          <p:cNvPr id="11" name="Text 5"/>
          <p:cNvSpPr/>
          <p:nvPr/>
        </p:nvSpPr>
        <p:spPr>
          <a:xfrm>
            <a:off x="6756400" y="2470084"/>
            <a:ext cx="2997359"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Write your first programs</a:t>
            </a:r>
            <a:endParaRPr lang="en-US" sz="1700" dirty="0"/>
          </a:p>
        </p:txBody>
      </p:sp>
      <p:pic>
        <p:nvPicPr>
          <p:cNvPr id="12" name="Image 4" descr="CheckCircle">    </p:cNvPr>
          <p:cNvPicPr>
            <a:picLocks noChangeAspect="1"/>
          </p:cNvPicPr>
          <p:nvPr/>
        </p:nvPicPr>
        <p:blipFill>
          <a:blip r:embed="rId5"/>
          <a:srcRect l="0" r="0" t="0" b="0"/>
          <a:stretch/>
        </p:blipFill>
        <p:spPr>
          <a:xfrm>
            <a:off x="812800" y="2951428"/>
            <a:ext cx="304800" cy="304800"/>
          </a:xfrm>
          <a:prstGeom prst="rect">
            <a:avLst/>
          </a:prstGeom>
        </p:spPr>
      </p:pic>
      <p:sp>
        <p:nvSpPr>
          <p:cNvPr id="13" name="Text 6"/>
          <p:cNvSpPr/>
          <p:nvPr/>
        </p:nvSpPr>
        <p:spPr>
          <a:xfrm>
            <a:off x="1270000" y="2952684"/>
            <a:ext cx="2779792"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Use </a:t>
            </a:r>
            <a:r>
              <a:rPr lang="en-US" sz="1700" b="1" dirty="0">
                <a:solidFill>
                  <a:srgbClr val="1F2A37"/>
                </a:solidFill>
                <a:latin typeface="DM Sans" pitchFamily="34" charset="0"/>
                <a:ea typeface="DM Sans" pitchFamily="34" charset="-122"/>
                <a:cs typeface="DM Sans" pitchFamily="34" charset="-120"/>
              </a:rPr>
              <a:t>print()</a:t>
            </a:r>
            <a:r>
              <a:rPr lang="en-US" sz="1700" dirty="0">
                <a:solidFill>
                  <a:srgbClr val="1F2A37"/>
                </a:solidFill>
                <a:latin typeface="DM Sans" pitchFamily="34" charset="0"/>
                <a:ea typeface="DM Sans" pitchFamily="34" charset="-122"/>
                <a:cs typeface="DM Sans" pitchFamily="34" charset="-120"/>
              </a:rPr>
              <a:t> statements</a:t>
            </a:r>
            <a:endParaRPr lang="en-US" sz="1700" dirty="0"/>
          </a:p>
        </p:txBody>
      </p:sp>
      <p:pic>
        <p:nvPicPr>
          <p:cNvPr id="14" name="Image 5" descr="CheckCircle">    </p:cNvPr>
          <p:cNvPicPr>
            <a:picLocks noChangeAspect="1"/>
          </p:cNvPicPr>
          <p:nvPr/>
        </p:nvPicPr>
        <p:blipFill>
          <a:blip r:embed="rId6"/>
          <a:srcRect l="0" r="0" t="0" b="0"/>
          <a:stretch/>
        </p:blipFill>
        <p:spPr>
          <a:xfrm>
            <a:off x="6299200" y="2951428"/>
            <a:ext cx="304800" cy="304800"/>
          </a:xfrm>
          <a:prstGeom prst="rect">
            <a:avLst/>
          </a:prstGeom>
        </p:spPr>
      </p:pic>
      <p:sp>
        <p:nvSpPr>
          <p:cNvPr id="15" name="Text 7"/>
          <p:cNvSpPr/>
          <p:nvPr/>
        </p:nvSpPr>
        <p:spPr>
          <a:xfrm>
            <a:off x="6756400" y="2952684"/>
            <a:ext cx="3045778"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Add comments in Python</a:t>
            </a:r>
            <a:endParaRPr lang="en-US" sz="1700" dirty="0"/>
          </a:p>
        </p:txBody>
      </p:sp>
      <p:pic>
        <p:nvPicPr>
          <p:cNvPr id="16" name="Image 6" descr="CheckCircle">    </p:cNvPr>
          <p:cNvPicPr>
            <a:picLocks noChangeAspect="1"/>
          </p:cNvPicPr>
          <p:nvPr/>
        </p:nvPicPr>
        <p:blipFill>
          <a:blip r:embed="rId7"/>
          <a:srcRect l="0" r="0" t="0" b="0"/>
          <a:stretch/>
        </p:blipFill>
        <p:spPr>
          <a:xfrm>
            <a:off x="812800" y="3434028"/>
            <a:ext cx="304800" cy="304800"/>
          </a:xfrm>
          <a:prstGeom prst="rect">
            <a:avLst/>
          </a:prstGeom>
        </p:spPr>
      </p:pic>
      <p:sp>
        <p:nvSpPr>
          <p:cNvPr id="17" name="Text 8"/>
          <p:cNvSpPr/>
          <p:nvPr/>
        </p:nvSpPr>
        <p:spPr>
          <a:xfrm>
            <a:off x="1270000" y="3435284"/>
            <a:ext cx="2966799"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Follow basic syntax rules</a:t>
            </a:r>
            <a:endParaRPr lang="en-US" sz="1700" dirty="0"/>
          </a:p>
        </p:txBody>
      </p:sp>
      <p:pic>
        <p:nvPicPr>
          <p:cNvPr id="18" name="Image 7" descr="CheckCircle">    </p:cNvPr>
          <p:cNvPicPr>
            <a:picLocks noChangeAspect="1"/>
          </p:cNvPicPr>
          <p:nvPr/>
        </p:nvPicPr>
        <p:blipFill>
          <a:blip r:embed="rId8"/>
          <a:srcRect l="0" r="0" t="0" b="0"/>
          <a:stretch/>
        </p:blipFill>
        <p:spPr>
          <a:xfrm>
            <a:off x="6299200" y="3434028"/>
            <a:ext cx="304800" cy="304800"/>
          </a:xfrm>
          <a:prstGeom prst="rect">
            <a:avLst/>
          </a:prstGeom>
        </p:spPr>
      </p:pic>
      <p:sp>
        <p:nvSpPr>
          <p:cNvPr id="19" name="Text 9"/>
          <p:cNvSpPr/>
          <p:nvPr/>
        </p:nvSpPr>
        <p:spPr>
          <a:xfrm>
            <a:off x="6756400" y="3435284"/>
            <a:ext cx="291290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1F2A37"/>
                </a:solidFill>
                <a:latin typeface="DM Sans" pitchFamily="34" charset="0"/>
                <a:ea typeface="DM Sans" pitchFamily="34" charset="-122"/>
                <a:cs typeface="DM Sans" pitchFamily="34" charset="-120"/>
              </a:rPr>
              <a:t>Solve a simple challenge</a:t>
            </a:r>
            <a:endParaRPr lang="en-US" sz="1700" dirty="0"/>
          </a:p>
        </p:txBody>
      </p:sp>
      <p:sp>
        <p:nvSpPr>
          <p:cNvPr id="20"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21"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WHAT IS PROGRAMMING?</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Clear, step-by-step instructions</a:t>
            </a:r>
            <a:endParaRPr lang="en-US" sz="3600" dirty="0"/>
          </a:p>
        </p:txBody>
      </p:sp>
      <p:sp>
        <p:nvSpPr>
          <p:cNvPr id="4" name="Shape 2"/>
          <p:cNvSpPr/>
          <p:nvPr/>
        </p:nvSpPr>
        <p:spPr>
          <a:xfrm>
            <a:off x="815975" y="1989403"/>
            <a:ext cx="2178050" cy="1371137"/>
          </a:xfrm>
          <a:prstGeom prst="roundRect">
            <a:avLst>
              <a:gd name="adj" fmla="val 9031"/>
            </a:avLst>
          </a:prstGeom>
          <a:solidFill>
            <a:srgbClr val="FFFFFF"/>
          </a:solidFill>
          <a:ln w="6350">
            <a:solidFill>
              <a:srgbClr val="D5DEE8"/>
            </a:solidFill>
            <a:prstDash val="solid"/>
          </a:ln>
        </p:spPr>
      </p:sp>
      <p:sp>
        <p:nvSpPr>
          <p:cNvPr id="5" name="Text 3"/>
          <p:cNvSpPr/>
          <p:nvPr/>
        </p:nvSpPr>
        <p:spPr>
          <a:xfrm>
            <a:off x="1570196" y="2219061"/>
            <a:ext cx="669607" cy="594320"/>
          </a:xfrm>
          <a:prstGeom prst="rect">
            <a:avLst/>
          </a:prstGeom>
          <a:noFill/>
          <a:ln/>
        </p:spPr>
        <p:txBody>
          <a:bodyPr wrap="square" lIns="0" tIns="0" rIns="0" bIns="0" rtlCol="0" anchor="t">
            <a:normAutofit/>
          </a:bodyPr>
          <a:lstStyle/>
          <a:p>
            <a:pPr algn="ctr" indent="0" marL="0">
              <a:lnSpc>
                <a:spcPts val="4480"/>
              </a:lnSpc>
              <a:buNone/>
            </a:pPr>
            <a:r>
              <a:rPr lang="en-US" sz="3200" dirty="0">
                <a:solidFill>
                  <a:srgbClr val="1F2A37"/>
                </a:solidFill>
                <a:latin typeface="DM Sans" pitchFamily="34" charset="0"/>
                <a:ea typeface="DM Sans" pitchFamily="34" charset="-122"/>
                <a:cs typeface="DM Sans" pitchFamily="34" charset="-120"/>
              </a:rPr>
              <a:t>💧</a:t>
            </a:r>
            <a:endParaRPr lang="en-US" sz="3200" dirty="0"/>
          </a:p>
        </p:txBody>
      </p:sp>
      <p:sp>
        <p:nvSpPr>
          <p:cNvPr id="6" name="Text 4"/>
          <p:cNvSpPr/>
          <p:nvPr/>
        </p:nvSpPr>
        <p:spPr>
          <a:xfrm>
            <a:off x="1193727" y="2864182"/>
            <a:ext cx="1422479"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F2A37"/>
                </a:solidFill>
                <a:latin typeface="DM Sans" pitchFamily="34" charset="0"/>
                <a:ea typeface="DM Sans" pitchFamily="34" charset="-122"/>
                <a:cs typeface="DM Sans" pitchFamily="34" charset="-120"/>
              </a:rPr>
              <a:t>1. Heat water</a:t>
            </a:r>
            <a:endParaRPr lang="en-US" sz="1500" dirty="0"/>
          </a:p>
        </p:txBody>
      </p:sp>
      <p:pic>
        <p:nvPicPr>
          <p:cNvPr id="7" name="Image 0" descr="arrow-right">    </p:cNvPr>
          <p:cNvPicPr>
            <a:picLocks noChangeAspect="1"/>
          </p:cNvPicPr>
          <p:nvPr/>
        </p:nvPicPr>
        <p:blipFill>
          <a:blip r:embed="rId1"/>
          <a:srcRect l="0" r="0" t="0" b="0"/>
          <a:stretch/>
        </p:blipFill>
        <p:spPr>
          <a:xfrm>
            <a:off x="3098800" y="2586038"/>
            <a:ext cx="355600" cy="177800"/>
          </a:xfrm>
          <a:prstGeom prst="rect">
            <a:avLst/>
          </a:prstGeom>
        </p:spPr>
      </p:pic>
      <p:sp>
        <p:nvSpPr>
          <p:cNvPr id="8" name="Shape 5"/>
          <p:cNvSpPr/>
          <p:nvPr/>
        </p:nvSpPr>
        <p:spPr>
          <a:xfrm>
            <a:off x="3609975" y="1989403"/>
            <a:ext cx="2178050" cy="1371137"/>
          </a:xfrm>
          <a:prstGeom prst="roundRect">
            <a:avLst>
              <a:gd name="adj" fmla="val 9031"/>
            </a:avLst>
          </a:prstGeom>
          <a:solidFill>
            <a:srgbClr val="FFFFFF"/>
          </a:solidFill>
          <a:ln w="6350">
            <a:solidFill>
              <a:srgbClr val="D5DEE8"/>
            </a:solidFill>
            <a:prstDash val="solid"/>
          </a:ln>
        </p:spPr>
      </p:sp>
      <p:sp>
        <p:nvSpPr>
          <p:cNvPr id="9" name="Text 6"/>
          <p:cNvSpPr/>
          <p:nvPr/>
        </p:nvSpPr>
        <p:spPr>
          <a:xfrm>
            <a:off x="4364196" y="2219061"/>
            <a:ext cx="669607" cy="594320"/>
          </a:xfrm>
          <a:prstGeom prst="rect">
            <a:avLst/>
          </a:prstGeom>
          <a:noFill/>
          <a:ln/>
        </p:spPr>
        <p:txBody>
          <a:bodyPr wrap="square" lIns="0" tIns="0" rIns="0" bIns="0" rtlCol="0" anchor="t">
            <a:normAutofit/>
          </a:bodyPr>
          <a:lstStyle/>
          <a:p>
            <a:pPr algn="ctr" indent="0" marL="0">
              <a:lnSpc>
                <a:spcPts val="4480"/>
              </a:lnSpc>
              <a:buNone/>
            </a:pPr>
            <a:r>
              <a:rPr lang="en-US" sz="3200" dirty="0">
                <a:solidFill>
                  <a:srgbClr val="1F2A37"/>
                </a:solidFill>
                <a:latin typeface="DM Sans" pitchFamily="34" charset="0"/>
                <a:ea typeface="DM Sans" pitchFamily="34" charset="-122"/>
                <a:cs typeface="DM Sans" pitchFamily="34" charset="-120"/>
              </a:rPr>
              <a:t>☕</a:t>
            </a:r>
            <a:endParaRPr lang="en-US" sz="3200" dirty="0"/>
          </a:p>
        </p:txBody>
      </p:sp>
      <p:sp>
        <p:nvSpPr>
          <p:cNvPr id="10" name="Text 7"/>
          <p:cNvSpPr/>
          <p:nvPr/>
        </p:nvSpPr>
        <p:spPr>
          <a:xfrm>
            <a:off x="3962877" y="2864182"/>
            <a:ext cx="1472248"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F2A37"/>
                </a:solidFill>
                <a:latin typeface="DM Sans" pitchFamily="34" charset="0"/>
                <a:ea typeface="DM Sans" pitchFamily="34" charset="-122"/>
                <a:cs typeface="DM Sans" pitchFamily="34" charset="-120"/>
              </a:rPr>
              <a:t>2. Add coffee</a:t>
            </a:r>
            <a:endParaRPr lang="en-US" sz="1500" dirty="0"/>
          </a:p>
        </p:txBody>
      </p:sp>
      <p:pic>
        <p:nvPicPr>
          <p:cNvPr id="11" name="Image 1" descr="arrow-right">    </p:cNvPr>
          <p:cNvPicPr>
            <a:picLocks noChangeAspect="1"/>
          </p:cNvPicPr>
          <p:nvPr/>
        </p:nvPicPr>
        <p:blipFill>
          <a:blip r:embed="rId2"/>
          <a:srcRect l="0" r="0" t="0" b="0"/>
          <a:stretch/>
        </p:blipFill>
        <p:spPr>
          <a:xfrm>
            <a:off x="5892800" y="2586038"/>
            <a:ext cx="355600" cy="177800"/>
          </a:xfrm>
          <a:prstGeom prst="rect">
            <a:avLst/>
          </a:prstGeom>
        </p:spPr>
      </p:pic>
      <p:sp>
        <p:nvSpPr>
          <p:cNvPr id="12" name="Shape 8"/>
          <p:cNvSpPr/>
          <p:nvPr/>
        </p:nvSpPr>
        <p:spPr>
          <a:xfrm>
            <a:off x="6403975" y="1989403"/>
            <a:ext cx="2178050" cy="1371137"/>
          </a:xfrm>
          <a:prstGeom prst="roundRect">
            <a:avLst>
              <a:gd name="adj" fmla="val 9031"/>
            </a:avLst>
          </a:prstGeom>
          <a:solidFill>
            <a:srgbClr val="FFFFFF"/>
          </a:solidFill>
          <a:ln w="6350">
            <a:solidFill>
              <a:srgbClr val="D5DEE8"/>
            </a:solidFill>
            <a:prstDash val="solid"/>
          </a:ln>
        </p:spPr>
      </p:sp>
      <p:sp>
        <p:nvSpPr>
          <p:cNvPr id="13" name="Text 9"/>
          <p:cNvSpPr/>
          <p:nvPr/>
        </p:nvSpPr>
        <p:spPr>
          <a:xfrm>
            <a:off x="7158196" y="2219061"/>
            <a:ext cx="669607" cy="594320"/>
          </a:xfrm>
          <a:prstGeom prst="rect">
            <a:avLst/>
          </a:prstGeom>
          <a:noFill/>
          <a:ln/>
        </p:spPr>
        <p:txBody>
          <a:bodyPr wrap="square" lIns="0" tIns="0" rIns="0" bIns="0" rtlCol="0" anchor="t">
            <a:normAutofit/>
          </a:bodyPr>
          <a:lstStyle/>
          <a:p>
            <a:pPr algn="ctr" indent="0" marL="0">
              <a:lnSpc>
                <a:spcPts val="4480"/>
              </a:lnSpc>
              <a:buNone/>
            </a:pPr>
            <a:r>
              <a:rPr lang="en-US" sz="3200" dirty="0">
                <a:solidFill>
                  <a:srgbClr val="1F2A37"/>
                </a:solidFill>
                <a:latin typeface="DM Sans" pitchFamily="34" charset="0"/>
                <a:ea typeface="DM Sans" pitchFamily="34" charset="-122"/>
                <a:cs typeface="DM Sans" pitchFamily="34" charset="-120"/>
              </a:rPr>
              <a:t>🥛</a:t>
            </a:r>
            <a:endParaRPr lang="en-US" sz="3200" dirty="0"/>
          </a:p>
        </p:txBody>
      </p:sp>
      <p:sp>
        <p:nvSpPr>
          <p:cNvPr id="14" name="Text 10"/>
          <p:cNvSpPr/>
          <p:nvPr/>
        </p:nvSpPr>
        <p:spPr>
          <a:xfrm>
            <a:off x="6877685" y="2864182"/>
            <a:ext cx="1230630"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F2A37"/>
                </a:solidFill>
                <a:latin typeface="DM Sans" pitchFamily="34" charset="0"/>
                <a:ea typeface="DM Sans" pitchFamily="34" charset="-122"/>
                <a:cs typeface="DM Sans" pitchFamily="34" charset="-120"/>
              </a:rPr>
              <a:t>3. Add milk</a:t>
            </a:r>
            <a:endParaRPr lang="en-US" sz="1500" dirty="0"/>
          </a:p>
        </p:txBody>
      </p:sp>
      <p:pic>
        <p:nvPicPr>
          <p:cNvPr id="15" name="Image 2" descr="arrow-right">    </p:cNvPr>
          <p:cNvPicPr>
            <a:picLocks noChangeAspect="1"/>
          </p:cNvPicPr>
          <p:nvPr/>
        </p:nvPicPr>
        <p:blipFill>
          <a:blip r:embed="rId3"/>
          <a:srcRect l="0" r="0" t="0" b="0"/>
          <a:stretch/>
        </p:blipFill>
        <p:spPr>
          <a:xfrm>
            <a:off x="8686800" y="2586038"/>
            <a:ext cx="355600" cy="177800"/>
          </a:xfrm>
          <a:prstGeom prst="rect">
            <a:avLst/>
          </a:prstGeom>
        </p:spPr>
      </p:pic>
      <p:sp>
        <p:nvSpPr>
          <p:cNvPr id="16" name="Shape 11"/>
          <p:cNvSpPr/>
          <p:nvPr/>
        </p:nvSpPr>
        <p:spPr>
          <a:xfrm>
            <a:off x="9197975" y="1989403"/>
            <a:ext cx="2178050" cy="1371137"/>
          </a:xfrm>
          <a:prstGeom prst="roundRect">
            <a:avLst>
              <a:gd name="adj" fmla="val 9031"/>
            </a:avLst>
          </a:prstGeom>
          <a:solidFill>
            <a:srgbClr val="FFFFFF"/>
          </a:solidFill>
          <a:ln w="6350">
            <a:solidFill>
              <a:srgbClr val="D5DEE8"/>
            </a:solidFill>
            <a:prstDash val="solid"/>
          </a:ln>
        </p:spPr>
      </p:sp>
      <p:sp>
        <p:nvSpPr>
          <p:cNvPr id="17" name="Text 12"/>
          <p:cNvSpPr/>
          <p:nvPr/>
        </p:nvSpPr>
        <p:spPr>
          <a:xfrm>
            <a:off x="9952196" y="2219061"/>
            <a:ext cx="669607" cy="594320"/>
          </a:xfrm>
          <a:prstGeom prst="rect">
            <a:avLst/>
          </a:prstGeom>
          <a:noFill/>
          <a:ln/>
        </p:spPr>
        <p:txBody>
          <a:bodyPr wrap="square" lIns="0" tIns="0" rIns="0" bIns="0" rtlCol="0" anchor="t">
            <a:normAutofit/>
          </a:bodyPr>
          <a:lstStyle/>
          <a:p>
            <a:pPr algn="ctr" indent="0" marL="0">
              <a:lnSpc>
                <a:spcPts val="4480"/>
              </a:lnSpc>
              <a:buNone/>
            </a:pPr>
            <a:r>
              <a:rPr lang="en-US" sz="3200" dirty="0">
                <a:solidFill>
                  <a:srgbClr val="1F2A37"/>
                </a:solidFill>
                <a:latin typeface="DM Sans" pitchFamily="34" charset="0"/>
                <a:ea typeface="DM Sans" pitchFamily="34" charset="-122"/>
                <a:cs typeface="DM Sans" pitchFamily="34" charset="-120"/>
              </a:rPr>
              <a:t>🍽️</a:t>
            </a:r>
            <a:endParaRPr lang="en-US" sz="3200" dirty="0"/>
          </a:p>
        </p:txBody>
      </p:sp>
      <p:sp>
        <p:nvSpPr>
          <p:cNvPr id="18" name="Text 13"/>
          <p:cNvSpPr/>
          <p:nvPr/>
        </p:nvSpPr>
        <p:spPr>
          <a:xfrm>
            <a:off x="9841468" y="2864182"/>
            <a:ext cx="891064" cy="292100"/>
          </a:xfrm>
          <a:prstGeom prst="rect">
            <a:avLst/>
          </a:prstGeom>
          <a:noFill/>
          <a:ln/>
        </p:spPr>
        <p:txBody>
          <a:bodyPr wrap="square" lIns="0" tIns="0" rIns="0" bIns="0" rtlCol="0" anchor="t">
            <a:normAutofit/>
          </a:bodyPr>
          <a:lstStyle/>
          <a:p>
            <a:pPr algn="ctr" indent="0" marL="0">
              <a:lnSpc>
                <a:spcPts val="2100"/>
              </a:lnSpc>
              <a:buNone/>
            </a:pPr>
            <a:r>
              <a:rPr lang="en-US" sz="1500" b="1" dirty="0">
                <a:solidFill>
                  <a:srgbClr val="1F2A37"/>
                </a:solidFill>
                <a:latin typeface="DM Sans" pitchFamily="34" charset="0"/>
                <a:ea typeface="DM Sans" pitchFamily="34" charset="-122"/>
                <a:cs typeface="DM Sans" pitchFamily="34" charset="-120"/>
              </a:rPr>
              <a:t>4. Serve</a:t>
            </a:r>
            <a:endParaRPr lang="en-US" sz="1500" dirty="0"/>
          </a:p>
        </p:txBody>
      </p:sp>
      <p:sp>
        <p:nvSpPr>
          <p:cNvPr id="19" name="Text 14"/>
          <p:cNvSpPr/>
          <p:nvPr/>
        </p:nvSpPr>
        <p:spPr>
          <a:xfrm>
            <a:off x="812800" y="3719314"/>
            <a:ext cx="10883392" cy="651404"/>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4A5568"/>
                </a:solidFill>
                <a:latin typeface="DM Sans" pitchFamily="34" charset="0"/>
                <a:ea typeface="DM Sans" pitchFamily="34" charset="-122"/>
                <a:cs typeface="DM Sans" pitchFamily="34" charset="-120"/>
              </a:rPr>
              <a:t>A coffee machine needs every step, </a:t>
            </a:r>
            <a:r>
              <a:rPr lang="en-US" sz="1700" b="1" dirty="0">
                <a:solidFill>
                  <a:srgbClr val="4A5568"/>
                </a:solidFill>
                <a:latin typeface="DM Sans" pitchFamily="34" charset="0"/>
                <a:ea typeface="DM Sans" pitchFamily="34" charset="-122"/>
                <a:cs typeface="DM Sans" pitchFamily="34" charset="-120"/>
              </a:rPr>
              <a:t>in the right order</a:t>
            </a:r>
            <a:r>
              <a:rPr lang="en-US" sz="1700" dirty="0">
                <a:solidFill>
                  <a:srgbClr val="4A5568"/>
                </a:solidFill>
                <a:latin typeface="DM Sans" pitchFamily="34" charset="0"/>
                <a:ea typeface="DM Sans" pitchFamily="34" charset="-122"/>
                <a:cs typeface="DM Sans" pitchFamily="34" charset="-120"/>
              </a:rPr>
              <a:t>. Computers are the same: they do </a:t>
            </a:r>
            <a:r>
              <a:rPr lang="en-US" sz="1700" b="1" dirty="0">
                <a:solidFill>
                  <a:srgbClr val="4A5568"/>
                </a:solidFill>
                <a:latin typeface="DM Sans" pitchFamily="34" charset="0"/>
                <a:ea typeface="DM Sans" pitchFamily="34" charset="-122"/>
                <a:cs typeface="DM Sans" pitchFamily="34" charset="-120"/>
              </a:rPr>
              <a:t>exactly</a:t>
            </a:r>
            <a:r>
              <a:rPr lang="en-US" sz="1700" dirty="0">
                <a:solidFill>
                  <a:srgbClr val="4A5568"/>
                </a:solidFill>
                <a:latin typeface="DM Sans" pitchFamily="34" charset="0"/>
                <a:ea typeface="DM Sans" pitchFamily="34" charset="-122"/>
                <a:cs typeface="DM Sans" pitchFamily="34" charset="-120"/>
              </a:rPr>
              <a:t> what we tell them.</a:t>
            </a:r>
            <a:endParaRPr lang="en-US" sz="1700" dirty="0"/>
          </a:p>
        </p:txBody>
      </p:sp>
      <p:sp>
        <p:nvSpPr>
          <p:cNvPr id="20" name="Text 15"/>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21"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WHAT IS PYTHON?</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 language that’s easy to read</a:t>
            </a:r>
            <a:endParaRPr lang="en-US" sz="3600" dirty="0"/>
          </a:p>
        </p:txBody>
      </p:sp>
      <p:sp>
        <p:nvSpPr>
          <p:cNvPr id="4" name="Shape 2"/>
          <p:cNvSpPr/>
          <p:nvPr/>
        </p:nvSpPr>
        <p:spPr>
          <a:xfrm>
            <a:off x="815975" y="1989403"/>
            <a:ext cx="5124450" cy="2663825"/>
          </a:xfrm>
          <a:prstGeom prst="roundRect">
            <a:avLst>
              <a:gd name="adj" fmla="val 4648"/>
            </a:avLst>
          </a:prstGeom>
          <a:solidFill>
            <a:srgbClr val="FFFFFF"/>
          </a:solidFill>
          <a:ln w="6350">
            <a:solidFill>
              <a:srgbClr val="D5DEE8"/>
            </a:solidFill>
            <a:prstDash val="solid"/>
          </a:ln>
        </p:spPr>
      </p:sp>
      <p:sp>
        <p:nvSpPr>
          <p:cNvPr id="5" name="Text 3"/>
          <p:cNvSpPr/>
          <p:nvPr/>
        </p:nvSpPr>
        <p:spPr>
          <a:xfrm>
            <a:off x="1121833" y="2295261"/>
            <a:ext cx="46481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3776AB"/>
                </a:solidFill>
                <a:latin typeface="DM Sans" pitchFamily="34" charset="0"/>
                <a:ea typeface="DM Sans" pitchFamily="34" charset="-122"/>
                <a:cs typeface="DM Sans" pitchFamily="34" charset="-120"/>
              </a:rPr>
              <a:t>Key facts</a:t>
            </a:r>
            <a:endParaRPr lang="en-US" sz="2000" dirty="0"/>
          </a:p>
        </p:txBody>
      </p:sp>
      <p:sp>
        <p:nvSpPr>
          <p:cNvPr id="6" name="Text 4"/>
          <p:cNvSpPr/>
          <p:nvPr/>
        </p:nvSpPr>
        <p:spPr>
          <a:xfrm>
            <a:off x="1121833" y="2752461"/>
            <a:ext cx="464811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A </a:t>
            </a:r>
            <a:r>
              <a:rPr lang="en-US" sz="1600" b="1" dirty="0">
                <a:solidFill>
                  <a:srgbClr val="1F2A37"/>
                </a:solidFill>
                <a:latin typeface="DM Sans" pitchFamily="34" charset="0"/>
                <a:ea typeface="DM Sans" pitchFamily="34" charset="-122"/>
                <a:cs typeface="DM Sans" pitchFamily="34" charset="-120"/>
              </a:rPr>
              <a:t>high-level</a:t>
            </a:r>
            <a:r>
              <a:rPr lang="en-US" sz="1600" dirty="0">
                <a:solidFill>
                  <a:srgbClr val="1F2A37"/>
                </a:solidFill>
                <a:latin typeface="DM Sans" pitchFamily="34" charset="0"/>
                <a:ea typeface="DM Sans" pitchFamily="34" charset="-122"/>
                <a:cs typeface="DM Sans" pitchFamily="34" charset="-120"/>
              </a:rPr>
              <a:t> language (close to English)</a:t>
            </a:r>
            <a:endParaRPr lang="en-US" sz="1600" dirty="0"/>
          </a:p>
        </p:txBody>
      </p:sp>
      <p:sp>
        <p:nvSpPr>
          <p:cNvPr id="7" name="Text 5"/>
          <p:cNvSpPr/>
          <p:nvPr/>
        </p:nvSpPr>
        <p:spPr>
          <a:xfrm>
            <a:off x="1121833" y="3189288"/>
            <a:ext cx="464811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Created by </a:t>
            </a:r>
            <a:r>
              <a:rPr lang="en-US" sz="1600" b="1" dirty="0">
                <a:solidFill>
                  <a:srgbClr val="1F2A37"/>
                </a:solidFill>
                <a:latin typeface="DM Sans" pitchFamily="34" charset="0"/>
                <a:ea typeface="DM Sans" pitchFamily="34" charset="-122"/>
                <a:cs typeface="DM Sans" pitchFamily="34" charset="-120"/>
              </a:rPr>
              <a:t>Guido van Rossum</a:t>
            </a:r>
            <a:r>
              <a:rPr lang="en-US" sz="1600" dirty="0">
                <a:solidFill>
                  <a:srgbClr val="1F2A37"/>
                </a:solidFill>
                <a:latin typeface="DM Sans" pitchFamily="34" charset="0"/>
                <a:ea typeface="DM Sans" pitchFamily="34" charset="-122"/>
                <a:cs typeface="DM Sans" pitchFamily="34" charset="-120"/>
              </a:rPr>
              <a:t> in </a:t>
            </a:r>
            <a:r>
              <a:rPr lang="en-US" sz="1600" b="1" dirty="0">
                <a:solidFill>
                  <a:srgbClr val="1F2A37"/>
                </a:solidFill>
                <a:latin typeface="DM Sans" pitchFamily="34" charset="0"/>
                <a:ea typeface="DM Sans" pitchFamily="34" charset="-122"/>
                <a:cs typeface="DM Sans" pitchFamily="34" charset="-120"/>
              </a:rPr>
              <a:t>1991</a:t>
            </a:r>
            <a:endParaRPr lang="en-US" sz="1600" dirty="0"/>
          </a:p>
        </p:txBody>
      </p:sp>
      <p:sp>
        <p:nvSpPr>
          <p:cNvPr id="8" name="Text 6"/>
          <p:cNvSpPr/>
          <p:nvPr/>
        </p:nvSpPr>
        <p:spPr>
          <a:xfrm>
            <a:off x="1121833" y="3626115"/>
            <a:ext cx="464811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Easy to read and write</a:t>
            </a:r>
            <a:endParaRPr lang="en-US" sz="1600" dirty="0"/>
          </a:p>
        </p:txBody>
      </p:sp>
      <p:sp>
        <p:nvSpPr>
          <p:cNvPr id="9" name="Text 7"/>
          <p:cNvSpPr/>
          <p:nvPr/>
        </p:nvSpPr>
        <p:spPr>
          <a:xfrm>
            <a:off x="1121833" y="4062943"/>
            <a:ext cx="464811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Used by beginners </a:t>
            </a:r>
            <a:r>
              <a:rPr lang="en-US" sz="1600" b="1" dirty="0">
                <a:solidFill>
                  <a:srgbClr val="1F2A37"/>
                </a:solidFill>
                <a:latin typeface="DM Sans" pitchFamily="34" charset="0"/>
                <a:ea typeface="DM Sans" pitchFamily="34" charset="-122"/>
                <a:cs typeface="DM Sans" pitchFamily="34" charset="-120"/>
              </a:rPr>
              <a:t>and</a:t>
            </a:r>
            <a:r>
              <a:rPr lang="en-US" sz="1600" dirty="0">
                <a:solidFill>
                  <a:srgbClr val="1F2A37"/>
                </a:solidFill>
                <a:latin typeface="DM Sans" pitchFamily="34" charset="0"/>
                <a:ea typeface="DM Sans" pitchFamily="34" charset="-122"/>
                <a:cs typeface="DM Sans" pitchFamily="34" charset="-120"/>
              </a:rPr>
              <a:t> professionals</a:t>
            </a:r>
            <a:endParaRPr lang="en-US" sz="1600" dirty="0"/>
          </a:p>
        </p:txBody>
      </p:sp>
      <p:sp>
        <p:nvSpPr>
          <p:cNvPr id="10" name="Shape 8"/>
          <p:cNvSpPr/>
          <p:nvPr/>
        </p:nvSpPr>
        <p:spPr>
          <a:xfrm>
            <a:off x="6251575" y="1989403"/>
            <a:ext cx="5124450" cy="2663825"/>
          </a:xfrm>
          <a:prstGeom prst="roundRect">
            <a:avLst>
              <a:gd name="adj" fmla="val 4648"/>
            </a:avLst>
          </a:prstGeom>
          <a:solidFill>
            <a:srgbClr val="FFFFFF"/>
          </a:solidFill>
          <a:ln w="6350">
            <a:solidFill>
              <a:srgbClr val="D5DEE8"/>
            </a:solidFill>
            <a:prstDash val="solid"/>
          </a:ln>
        </p:spPr>
      </p:sp>
      <p:sp>
        <p:nvSpPr>
          <p:cNvPr id="11" name="Text 9"/>
          <p:cNvSpPr/>
          <p:nvPr/>
        </p:nvSpPr>
        <p:spPr>
          <a:xfrm>
            <a:off x="6557434" y="2295261"/>
            <a:ext cx="46481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3776AB"/>
                </a:solidFill>
                <a:latin typeface="DM Sans" pitchFamily="34" charset="0"/>
                <a:ea typeface="DM Sans" pitchFamily="34" charset="-122"/>
                <a:cs typeface="DM Sans" pitchFamily="34" charset="-120"/>
              </a:rPr>
              <a:t>Why it’s popular</a:t>
            </a:r>
            <a:endParaRPr lang="en-US" sz="2000" dirty="0"/>
          </a:p>
        </p:txBody>
      </p:sp>
      <p:sp>
        <p:nvSpPr>
          <p:cNvPr id="12" name="Text 10"/>
          <p:cNvSpPr/>
          <p:nvPr/>
        </p:nvSpPr>
        <p:spPr>
          <a:xfrm>
            <a:off x="6557434" y="2752461"/>
            <a:ext cx="464811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Simple syntax</a:t>
            </a:r>
            <a:endParaRPr lang="en-US" sz="1600" dirty="0"/>
          </a:p>
        </p:txBody>
      </p:sp>
      <p:sp>
        <p:nvSpPr>
          <p:cNvPr id="13" name="Text 11"/>
          <p:cNvSpPr/>
          <p:nvPr/>
        </p:nvSpPr>
        <p:spPr>
          <a:xfrm>
            <a:off x="6557434" y="3189288"/>
            <a:ext cx="464811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A large, friendly community</a:t>
            </a:r>
            <a:endParaRPr lang="en-US" sz="1600" dirty="0"/>
          </a:p>
        </p:txBody>
      </p:sp>
      <p:sp>
        <p:nvSpPr>
          <p:cNvPr id="14" name="Text 12"/>
          <p:cNvSpPr/>
          <p:nvPr/>
        </p:nvSpPr>
        <p:spPr>
          <a:xfrm>
            <a:off x="6557434" y="3626115"/>
            <a:ext cx="464811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Many free libraries (ready-made tools)</a:t>
            </a:r>
            <a:endParaRPr lang="en-US" sz="1600" dirty="0"/>
          </a:p>
        </p:txBody>
      </p:sp>
      <p:sp>
        <p:nvSpPr>
          <p:cNvPr id="15" name="Text 13"/>
          <p:cNvSpPr/>
          <p:nvPr/>
        </p:nvSpPr>
        <p:spPr>
          <a:xfrm>
            <a:off x="6557434" y="4062943"/>
            <a:ext cx="4648115"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Used in AI and data science</a:t>
            </a:r>
            <a:endParaRPr lang="en-US" sz="16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WHERE IS PYTHON USED?</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Almost everywhere!</a:t>
            </a:r>
            <a:endParaRPr lang="en-US" sz="3600" dirty="0"/>
          </a:p>
        </p:txBody>
      </p:sp>
      <p:sp>
        <p:nvSpPr>
          <p:cNvPr id="4" name="Shape 2"/>
          <p:cNvSpPr/>
          <p:nvPr/>
        </p:nvSpPr>
        <p:spPr>
          <a:xfrm>
            <a:off x="815975" y="1989404"/>
            <a:ext cx="1984970" cy="2097484"/>
          </a:xfrm>
          <a:prstGeom prst="roundRect">
            <a:avLst>
              <a:gd name="adj" fmla="val 6238"/>
            </a:avLst>
          </a:prstGeom>
          <a:solidFill>
            <a:srgbClr val="FFFFFF"/>
          </a:solidFill>
          <a:ln w="6350">
            <a:solidFill>
              <a:srgbClr val="D5DEE8"/>
            </a:solidFill>
            <a:prstDash val="solid"/>
          </a:ln>
        </p:spPr>
      </p:sp>
      <p:sp>
        <p:nvSpPr>
          <p:cNvPr id="5" name="Text 3"/>
          <p:cNvSpPr/>
          <p:nvPr/>
        </p:nvSpPr>
        <p:spPr>
          <a:xfrm>
            <a:off x="994833" y="2219061"/>
            <a:ext cx="1678054"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6" name="Text 4"/>
          <p:cNvSpPr/>
          <p:nvPr/>
        </p:nvSpPr>
        <p:spPr>
          <a:xfrm>
            <a:off x="994833" y="2818476"/>
            <a:ext cx="167805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DM Sans" pitchFamily="34" charset="0"/>
                <a:ea typeface="DM Sans" pitchFamily="34" charset="-122"/>
                <a:cs typeface="DM Sans" pitchFamily="34" charset="-120"/>
              </a:rPr>
              <a:t>AI</a:t>
            </a:r>
            <a:endParaRPr lang="en-US" sz="1600" dirty="0"/>
          </a:p>
        </p:txBody>
      </p:sp>
      <p:sp>
        <p:nvSpPr>
          <p:cNvPr id="7" name="Text 5"/>
          <p:cNvSpPr/>
          <p:nvPr/>
        </p:nvSpPr>
        <p:spPr>
          <a:xfrm>
            <a:off x="994833" y="3163888"/>
            <a:ext cx="1678054"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Chatbots, machine learning, computer vision</a:t>
            </a:r>
            <a:endParaRPr lang="en-US" sz="1300" dirty="0"/>
          </a:p>
        </p:txBody>
      </p:sp>
      <p:sp>
        <p:nvSpPr>
          <p:cNvPr id="8" name="Shape 6"/>
          <p:cNvSpPr/>
          <p:nvPr/>
        </p:nvSpPr>
        <p:spPr>
          <a:xfrm>
            <a:off x="2959695" y="1989404"/>
            <a:ext cx="1985037" cy="2097484"/>
          </a:xfrm>
          <a:prstGeom prst="roundRect">
            <a:avLst>
              <a:gd name="adj" fmla="val 6238"/>
            </a:avLst>
          </a:prstGeom>
          <a:solidFill>
            <a:srgbClr val="FFFFFF"/>
          </a:solidFill>
          <a:ln w="6350">
            <a:solidFill>
              <a:srgbClr val="D5DEE8"/>
            </a:solidFill>
            <a:prstDash val="solid"/>
          </a:ln>
        </p:spPr>
      </p:sp>
      <p:sp>
        <p:nvSpPr>
          <p:cNvPr id="9" name="Text 7"/>
          <p:cNvSpPr/>
          <p:nvPr/>
        </p:nvSpPr>
        <p:spPr>
          <a:xfrm>
            <a:off x="3138554" y="2219061"/>
            <a:ext cx="1678120"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10" name="Text 8"/>
          <p:cNvSpPr/>
          <p:nvPr/>
        </p:nvSpPr>
        <p:spPr>
          <a:xfrm>
            <a:off x="3138554" y="2818476"/>
            <a:ext cx="16781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DM Sans" pitchFamily="34" charset="0"/>
                <a:ea typeface="DM Sans" pitchFamily="34" charset="-122"/>
                <a:cs typeface="DM Sans" pitchFamily="34" charset="-120"/>
              </a:rPr>
              <a:t>Data</a:t>
            </a:r>
            <a:endParaRPr lang="en-US" sz="1600" dirty="0"/>
          </a:p>
        </p:txBody>
      </p:sp>
      <p:sp>
        <p:nvSpPr>
          <p:cNvPr id="11" name="Text 9"/>
          <p:cNvSpPr/>
          <p:nvPr/>
        </p:nvSpPr>
        <p:spPr>
          <a:xfrm>
            <a:off x="3138554" y="3163888"/>
            <a:ext cx="167812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Data analysis and charts</a:t>
            </a:r>
            <a:endParaRPr lang="en-US" sz="1300" dirty="0"/>
          </a:p>
        </p:txBody>
      </p:sp>
      <p:sp>
        <p:nvSpPr>
          <p:cNvPr id="12" name="Shape 10"/>
          <p:cNvSpPr/>
          <p:nvPr/>
        </p:nvSpPr>
        <p:spPr>
          <a:xfrm>
            <a:off x="5103482" y="1989404"/>
            <a:ext cx="1984970" cy="2097484"/>
          </a:xfrm>
          <a:prstGeom prst="roundRect">
            <a:avLst>
              <a:gd name="adj" fmla="val 6238"/>
            </a:avLst>
          </a:prstGeom>
          <a:solidFill>
            <a:srgbClr val="FFFFFF"/>
          </a:solidFill>
          <a:ln w="6350">
            <a:solidFill>
              <a:srgbClr val="D5DEE8"/>
            </a:solidFill>
            <a:prstDash val="solid"/>
          </a:ln>
        </p:spPr>
      </p:sp>
      <p:sp>
        <p:nvSpPr>
          <p:cNvPr id="13" name="Text 11"/>
          <p:cNvSpPr/>
          <p:nvPr/>
        </p:nvSpPr>
        <p:spPr>
          <a:xfrm>
            <a:off x="5282340" y="2219061"/>
            <a:ext cx="1678054"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14" name="Text 12"/>
          <p:cNvSpPr/>
          <p:nvPr/>
        </p:nvSpPr>
        <p:spPr>
          <a:xfrm>
            <a:off x="5282340" y="2818476"/>
            <a:ext cx="167805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DM Sans" pitchFamily="34" charset="0"/>
                <a:ea typeface="DM Sans" pitchFamily="34" charset="-122"/>
                <a:cs typeface="DM Sans" pitchFamily="34" charset="-120"/>
              </a:rPr>
              <a:t>Web</a:t>
            </a:r>
            <a:endParaRPr lang="en-US" sz="1600" dirty="0"/>
          </a:p>
        </p:txBody>
      </p:sp>
      <p:sp>
        <p:nvSpPr>
          <p:cNvPr id="15" name="Text 13"/>
          <p:cNvSpPr/>
          <p:nvPr/>
        </p:nvSpPr>
        <p:spPr>
          <a:xfrm>
            <a:off x="5282340" y="3163888"/>
            <a:ext cx="167805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Websites and APIs</a:t>
            </a:r>
            <a:endParaRPr lang="en-US" sz="1300" dirty="0"/>
          </a:p>
        </p:txBody>
      </p:sp>
      <p:sp>
        <p:nvSpPr>
          <p:cNvPr id="16" name="Shape 14"/>
          <p:cNvSpPr/>
          <p:nvPr/>
        </p:nvSpPr>
        <p:spPr>
          <a:xfrm>
            <a:off x="7247203" y="1989404"/>
            <a:ext cx="1985037" cy="2097484"/>
          </a:xfrm>
          <a:prstGeom prst="roundRect">
            <a:avLst>
              <a:gd name="adj" fmla="val 6238"/>
            </a:avLst>
          </a:prstGeom>
          <a:solidFill>
            <a:srgbClr val="FFFFFF"/>
          </a:solidFill>
          <a:ln w="6350">
            <a:solidFill>
              <a:srgbClr val="D5DEE8"/>
            </a:solidFill>
            <a:prstDash val="solid"/>
          </a:ln>
        </p:spPr>
      </p:sp>
      <p:sp>
        <p:nvSpPr>
          <p:cNvPr id="17" name="Text 15"/>
          <p:cNvSpPr/>
          <p:nvPr/>
        </p:nvSpPr>
        <p:spPr>
          <a:xfrm>
            <a:off x="7426061" y="2219061"/>
            <a:ext cx="1678120"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18" name="Text 16"/>
          <p:cNvSpPr/>
          <p:nvPr/>
        </p:nvSpPr>
        <p:spPr>
          <a:xfrm>
            <a:off x="7426061" y="2818476"/>
            <a:ext cx="16781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DM Sans" pitchFamily="34" charset="0"/>
                <a:ea typeface="DM Sans" pitchFamily="34" charset="-122"/>
                <a:cs typeface="DM Sans" pitchFamily="34" charset="-120"/>
              </a:rPr>
              <a:t>Automation</a:t>
            </a:r>
            <a:endParaRPr lang="en-US" sz="1600" dirty="0"/>
          </a:p>
        </p:txBody>
      </p:sp>
      <p:sp>
        <p:nvSpPr>
          <p:cNvPr id="19" name="Text 17"/>
          <p:cNvSpPr/>
          <p:nvPr/>
        </p:nvSpPr>
        <p:spPr>
          <a:xfrm>
            <a:off x="7426061" y="3163888"/>
            <a:ext cx="167812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Files and repetitive tasks</a:t>
            </a:r>
            <a:endParaRPr lang="en-US" sz="1300" dirty="0"/>
          </a:p>
        </p:txBody>
      </p:sp>
      <p:sp>
        <p:nvSpPr>
          <p:cNvPr id="20" name="Shape 18"/>
          <p:cNvSpPr/>
          <p:nvPr/>
        </p:nvSpPr>
        <p:spPr>
          <a:xfrm>
            <a:off x="9390989" y="1989404"/>
            <a:ext cx="1984970" cy="2097484"/>
          </a:xfrm>
          <a:prstGeom prst="roundRect">
            <a:avLst>
              <a:gd name="adj" fmla="val 6238"/>
            </a:avLst>
          </a:prstGeom>
          <a:solidFill>
            <a:srgbClr val="FFFFFF"/>
          </a:solidFill>
          <a:ln w="6350">
            <a:solidFill>
              <a:srgbClr val="D5DEE8"/>
            </a:solidFill>
            <a:prstDash val="solid"/>
          </a:ln>
        </p:spPr>
      </p:sp>
      <p:sp>
        <p:nvSpPr>
          <p:cNvPr id="21" name="Text 19"/>
          <p:cNvSpPr/>
          <p:nvPr/>
        </p:nvSpPr>
        <p:spPr>
          <a:xfrm>
            <a:off x="9569847" y="2219061"/>
            <a:ext cx="1678054" cy="523214"/>
          </a:xfrm>
          <a:prstGeom prst="rect">
            <a:avLst/>
          </a:prstGeom>
          <a:noFill/>
          <a:ln/>
        </p:spPr>
        <p:txBody>
          <a:bodyPr wrap="square" lIns="0" tIns="0" rIns="0" bIns="0" rtlCol="0" anchor="t">
            <a:normAutofit/>
          </a:bodyPr>
          <a:lstStyle/>
          <a:p>
            <a:pPr algn="l" indent="0" marL="0">
              <a:lnSpc>
                <a:spcPts val="3920"/>
              </a:lnSpc>
              <a:buNone/>
            </a:pPr>
            <a:r>
              <a:rPr lang="en-US" sz="2800" dirty="0">
                <a:solidFill>
                  <a:srgbClr val="1F2A37"/>
                </a:solidFill>
                <a:latin typeface="DM Sans" pitchFamily="34" charset="0"/>
                <a:ea typeface="DM Sans" pitchFamily="34" charset="-122"/>
                <a:cs typeface="DM Sans" pitchFamily="34" charset="-120"/>
              </a:rPr>
              <a:t>🔐</a:t>
            </a:r>
            <a:endParaRPr lang="en-US" sz="2800" dirty="0"/>
          </a:p>
        </p:txBody>
      </p:sp>
      <p:sp>
        <p:nvSpPr>
          <p:cNvPr id="22" name="Text 20"/>
          <p:cNvSpPr/>
          <p:nvPr/>
        </p:nvSpPr>
        <p:spPr>
          <a:xfrm>
            <a:off x="9569847" y="2818476"/>
            <a:ext cx="167805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F2A37"/>
                </a:solidFill>
                <a:latin typeface="DM Sans" pitchFamily="34" charset="0"/>
                <a:ea typeface="DM Sans" pitchFamily="34" charset="-122"/>
                <a:cs typeface="DM Sans" pitchFamily="34" charset="-120"/>
              </a:rPr>
              <a:t>Security</a:t>
            </a:r>
            <a:endParaRPr lang="en-US" sz="1600" dirty="0"/>
          </a:p>
        </p:txBody>
      </p:sp>
      <p:sp>
        <p:nvSpPr>
          <p:cNvPr id="23" name="Text 21"/>
          <p:cNvSpPr/>
          <p:nvPr/>
        </p:nvSpPr>
        <p:spPr>
          <a:xfrm>
            <a:off x="9569847" y="3163888"/>
            <a:ext cx="167805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Security tools and network analysis</a:t>
            </a:r>
            <a:endParaRPr lang="en-US" sz="1300" dirty="0"/>
          </a:p>
        </p:txBody>
      </p:sp>
      <p:sp>
        <p:nvSpPr>
          <p:cNvPr id="24" name="Text 2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25" name="Text 2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PYTHON VS OTHER LANGUAGES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Easy to learn, quick to build</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129"/>
          <a:ext cx="10553700" cy="2196703"/>
        </p:xfrm>
        <a:graphic>
          <a:graphicData uri="http://schemas.openxmlformats.org/drawingml/2006/table">
            <a:tbl>
              <a:tblPr/>
              <a:tblGrid>
                <a:gridCol w="3166110"/>
                <a:gridCol w="2638425"/>
                <a:gridCol w="4749165"/>
              </a:tblGrid>
              <a:tr h="439341">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Language</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Difficulty</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c>
                  <a:txBody>
                    <a:bodyPr/>
                    <a:lstStyle/>
                    <a:p>
                      <a:pPr indent="0" marL="0">
                        <a:lnSpc>
                          <a:spcPts val="2240"/>
                        </a:lnSpc>
                        <a:buNone/>
                      </a:pPr>
                      <a:r>
                        <a:rPr lang="en-US" sz="1600" b="1" dirty="0">
                          <a:solidFill>
                            <a:srgbClr val="1F2A37"/>
                          </a:solidFill>
                          <a:latin typeface="DM Sans" pitchFamily="34" charset="0"/>
                          <a:ea typeface="DM Sans" pitchFamily="34" charset="-122"/>
                          <a:cs typeface="DM Sans" pitchFamily="34" charset="-120"/>
                        </a:rPr>
                        <a:t>Common use</a:t>
                      </a:r>
                      <a:endParaRPr lang="en-US" sz="1600" dirty="0">
                        <a:latin typeface="DM Sans" charset="0"/>
                        <a:ea typeface="DM Sans" charset="0"/>
                        <a:cs typeface="DM Sans" charset="0"/>
                      </a:endParaRPr>
                    </a:p>
                  </a:txBody>
                  <a:tcPr marL="71120" marR="71120" marT="71120" marB="71120" anchor="t">
                    <a:lnL w="12700" cap="flat" cmpd="sng" algn="ctr">
                      <a:solidFill>
                        <a:srgbClr val="B5BCC4"/>
                      </a:solidFill>
                      <a:prstDash val="solid"/>
                      <a:round/>
                      <a:headEnd type="none" w="med" len="med"/>
                      <a:tailEnd type="none" w="med" len="med"/>
                    </a:lnL>
                    <a:lnR w="12700" cap="flat" cmpd="sng" algn="ctr">
                      <a:solidFill>
                        <a:srgbClr val="B5BCC4"/>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B5BCC4"/>
                      </a:solidFill>
                      <a:prstDash val="solid"/>
                      <a:round/>
                      <a:headEnd type="none" w="med" len="med"/>
                      <a:tailEnd type="none" w="med" len="med"/>
                    </a:lnB>
                    <a:solidFill>
                      <a:srgbClr val="E3ECF6"/>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Python</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Easy</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AI, data, automation</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B5BCC4"/>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Java</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Medium</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Applications</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C</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Hard</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Systems</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7C7C4"/>
                      </a:solidFill>
                      <a:prstDash val="solid"/>
                      <a:round/>
                      <a:headEnd type="none" w="med" len="med"/>
                      <a:tailEnd type="none" w="med" len="med"/>
                    </a:lnR>
                    <a:lnT w="12700" cap="flat" cmpd="sng" algn="ctr">
                      <a:solidFill>
                        <a:srgbClr val="C4C5C7"/>
                      </a:solidFill>
                      <a:prstDash val="solid"/>
                      <a:round/>
                      <a:headEnd type="none" w="med" len="med"/>
                      <a:tailEnd type="none" w="med" len="med"/>
                    </a:lnT>
                    <a:lnB w="12700" cap="flat" cmpd="sng" algn="ctr">
                      <a:solidFill>
                        <a:srgbClr val="C7C7C4"/>
                      </a:solidFill>
                      <a:prstDash val="solid"/>
                      <a:round/>
                      <a:headEnd type="none" w="med" len="med"/>
                      <a:tailEnd type="none" w="med" len="med"/>
                    </a:lnB>
                  </a:tcPr>
                </a:tc>
              </a:tr>
              <a:tr h="439341">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JavaScript</a:t>
                      </a:r>
                      <a:endParaRPr lang="en-US" sz="1600" dirty="0">
                        <a:latin typeface="DM Sans" charset="0"/>
                        <a:ea typeface="DM Sans" charset="0"/>
                        <a:cs typeface="DM Sans" charset="0"/>
                      </a:endParaRPr>
                    </a:p>
                  </a:txBody>
                  <a:tcPr marL="71120" marR="71120" marT="71120" marB="71120" anchor="t">
                    <a:lnL w="12700" cap="flat" cmpd="sng" algn="ctr">
                      <a:solidFill>
                        <a:srgbClr val="C7C7C4"/>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Medium</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c>
                  <a:txBody>
                    <a:bodyPr/>
                    <a:lstStyle/>
                    <a:p>
                      <a:pPr indent="0" marL="0">
                        <a:lnSpc>
                          <a:spcPts val="2240"/>
                        </a:lnSpc>
                        <a:buNone/>
                      </a:pPr>
                      <a:r>
                        <a:rPr lang="en-US" sz="1600" dirty="0">
                          <a:solidFill>
                            <a:srgbClr val="1F2A37"/>
                          </a:solidFill>
                          <a:latin typeface="DM Sans" pitchFamily="34" charset="0"/>
                          <a:ea typeface="DM Sans" pitchFamily="34" charset="-122"/>
                          <a:cs typeface="DM Sans" pitchFamily="34" charset="-120"/>
                        </a:rPr>
                        <a:t>Web</a:t>
                      </a:r>
                      <a:endParaRPr lang="en-US" sz="1600" dirty="0">
                        <a:latin typeface="DM Sans" charset="0"/>
                        <a:ea typeface="DM Sans" charset="0"/>
                        <a:cs typeface="DM Sans" charset="0"/>
                      </a:endParaRPr>
                    </a:p>
                  </a:txBody>
                  <a:tcPr marL="71120" marR="71120" marT="71120" marB="71120" anchor="t">
                    <a:lnL w="12700" cap="flat" cmpd="sng" algn="ctr">
                      <a:solidFill>
                        <a:srgbClr val="C4C5C7"/>
                      </a:solidFill>
                      <a:prstDash val="solid"/>
                      <a:round/>
                      <a:headEnd type="none" w="med" len="med"/>
                      <a:tailEnd type="none" w="med" len="med"/>
                    </a:lnL>
                    <a:lnR w="12700" cap="flat" cmpd="sng" algn="ctr">
                      <a:solidFill>
                        <a:srgbClr val="C4C5C7"/>
                      </a:solidFill>
                      <a:prstDash val="solid"/>
                      <a:round/>
                      <a:headEnd type="none" w="med" len="med"/>
                      <a:tailEnd type="none" w="med" len="med"/>
                    </a:lnR>
                    <a:lnT w="12700" cap="flat" cmpd="sng" algn="ctr">
                      <a:solidFill>
                        <a:srgbClr val="C7C7C4"/>
                      </a:solidFill>
                      <a:prstDash val="solid"/>
                      <a:round/>
                      <a:headEnd type="none" w="med" len="med"/>
                      <a:tailEnd type="none" w="med" len="med"/>
                    </a:lnT>
                    <a:lnB w="12700" cap="flat" cmpd="sng" algn="ctr">
                      <a:solidFill>
                        <a:srgbClr val="C4C5C7"/>
                      </a:solidFill>
                      <a:prstDash val="solid"/>
                      <a:round/>
                      <a:headEnd type="none" w="med" len="med"/>
                      <a:tailEnd type="none" w="med" len="med"/>
                    </a:lnB>
                    <a:solidFill>
                      <a:srgbClr val="F5F7FA"/>
                    </a:solidFill>
                  </a:tcPr>
                </a:tc>
              </a:tr>
            </a:tbl>
          </a:graphicData>
        </a:graphic>
      </p:graphicFrame>
      <p:sp>
        <p:nvSpPr>
          <p:cNvPr id="5" name="Text 2"/>
          <p:cNvSpPr/>
          <p:nvPr/>
        </p:nvSpPr>
        <p:spPr>
          <a:xfrm>
            <a:off x="812800" y="4449632"/>
            <a:ext cx="10883392"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4A5568"/>
                </a:solidFill>
                <a:latin typeface="DM Sans" pitchFamily="34" charset="0"/>
                <a:ea typeface="DM Sans" pitchFamily="34" charset="-122"/>
                <a:cs typeface="DM Sans" pitchFamily="34" charset="-120"/>
              </a:rPr>
              <a:t>Python is not the </a:t>
            </a:r>
            <a:r>
              <a:rPr lang="en-US" sz="1600" i="1" dirty="0">
                <a:solidFill>
                  <a:srgbClr val="4A5568"/>
                </a:solidFill>
                <a:latin typeface="DM Sans" pitchFamily="34" charset="0"/>
                <a:ea typeface="DM Sans" pitchFamily="34" charset="-122"/>
                <a:cs typeface="DM Sans" pitchFamily="34" charset="-120"/>
              </a:rPr>
              <a:t>fastest</a:t>
            </a:r>
            <a:r>
              <a:rPr lang="en-US" sz="1600" dirty="0">
                <a:solidFill>
                  <a:srgbClr val="4A5568"/>
                </a:solidFill>
                <a:latin typeface="DM Sans" pitchFamily="34" charset="0"/>
                <a:ea typeface="DM Sans" pitchFamily="34" charset="-122"/>
                <a:cs typeface="DM Sans" pitchFamily="34" charset="-120"/>
              </a:rPr>
              <a:t> language, but it lets you </a:t>
            </a:r>
            <a:r>
              <a:rPr lang="en-US" sz="1600" b="1" dirty="0">
                <a:solidFill>
                  <a:srgbClr val="4A5568"/>
                </a:solidFill>
                <a:latin typeface="DM Sans" pitchFamily="34" charset="0"/>
                <a:ea typeface="DM Sans" pitchFamily="34" charset="-122"/>
                <a:cs typeface="DM Sans" pitchFamily="34" charset="-120"/>
              </a:rPr>
              <a:t>solve problems quickly</a:t>
            </a:r>
            <a:r>
              <a:rPr lang="en-US" sz="1600" dirty="0">
                <a:solidFill>
                  <a:srgbClr val="4A5568"/>
                </a:solidFill>
                <a:latin typeface="DM Sans" pitchFamily="34" charset="0"/>
                <a:ea typeface="DM Sans" pitchFamily="34" charset="-122"/>
                <a:cs typeface="DM Sans" pitchFamily="34" charset="-120"/>
              </a:rPr>
              <a:t>.</a:t>
            </a:r>
            <a:endParaRPr lang="en-US" sz="1600" dirty="0"/>
          </a:p>
        </p:txBody>
      </p:sp>
      <p:sp>
        <p:nvSpPr>
          <p:cNvPr id="6" name="Text 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7" name="Text 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SETTING UP PYTHON</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Pick one way to write code</a:t>
            </a:r>
            <a:endParaRPr lang="en-US" sz="3600" dirty="0"/>
          </a:p>
        </p:txBody>
      </p:sp>
      <p:sp>
        <p:nvSpPr>
          <p:cNvPr id="4" name="Shape 2"/>
          <p:cNvSpPr/>
          <p:nvPr/>
        </p:nvSpPr>
        <p:spPr>
          <a:xfrm>
            <a:off x="812800" y="1986229"/>
            <a:ext cx="3352800" cy="2159595"/>
          </a:xfrm>
          <a:prstGeom prst="roundRect">
            <a:avLst>
              <a:gd name="adj" fmla="val 5881"/>
            </a:avLst>
          </a:prstGeom>
          <a:solidFill>
            <a:srgbClr val="E3ECF6"/>
          </a:solidFill>
          <a:ln/>
        </p:spPr>
      </p:sp>
      <p:sp>
        <p:nvSpPr>
          <p:cNvPr id="5" name="Text 3"/>
          <p:cNvSpPr/>
          <p:nvPr/>
        </p:nvSpPr>
        <p:spPr>
          <a:xfrm>
            <a:off x="1092200" y="2265629"/>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F5F8A"/>
                </a:solidFill>
                <a:latin typeface="DM Sans" pitchFamily="34" charset="0"/>
                <a:ea typeface="DM Sans" pitchFamily="34" charset="-122"/>
                <a:cs typeface="DM Sans" pitchFamily="34" charset="-120"/>
              </a:rPr>
              <a:t>⭐ EASIEST</a:t>
            </a:r>
            <a:endParaRPr lang="en-US" sz="1200" dirty="0"/>
          </a:p>
        </p:txBody>
      </p:sp>
      <p:sp>
        <p:nvSpPr>
          <p:cNvPr id="6" name="Text 4"/>
          <p:cNvSpPr/>
          <p:nvPr/>
        </p:nvSpPr>
        <p:spPr>
          <a:xfrm>
            <a:off x="1092200" y="2605949"/>
            <a:ext cx="287782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A37"/>
                </a:solidFill>
                <a:latin typeface="DM Sans" pitchFamily="34" charset="0"/>
                <a:ea typeface="DM Sans" pitchFamily="34" charset="-122"/>
                <a:cs typeface="DM Sans" pitchFamily="34" charset="-120"/>
              </a:rPr>
              <a:t>Google Colab</a:t>
            </a:r>
            <a:endParaRPr lang="en-US" sz="2000" dirty="0"/>
          </a:p>
        </p:txBody>
      </p:sp>
      <p:sp>
        <p:nvSpPr>
          <p:cNvPr id="7" name="Text 5"/>
          <p:cNvSpPr/>
          <p:nvPr/>
        </p:nvSpPr>
        <p:spPr>
          <a:xfrm>
            <a:off x="1092200" y="3037749"/>
            <a:ext cx="2877820" cy="85407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F2A37"/>
                </a:solidFill>
                <a:latin typeface="DM Sans" pitchFamily="34" charset="0"/>
                <a:ea typeface="DM Sans" pitchFamily="34" charset="-122"/>
                <a:cs typeface="DM Sans" pitchFamily="34" charset="-120"/>
              </a:rPr>
              <a:t>Runs in your browser. Nothing to install — just a Google account.</a:t>
            </a:r>
            <a:endParaRPr lang="en-US" sz="1500" dirty="0"/>
          </a:p>
        </p:txBody>
      </p:sp>
      <p:sp>
        <p:nvSpPr>
          <p:cNvPr id="8" name="Shape 6"/>
          <p:cNvSpPr/>
          <p:nvPr/>
        </p:nvSpPr>
        <p:spPr>
          <a:xfrm>
            <a:off x="4422775" y="1989404"/>
            <a:ext cx="3346450" cy="2153245"/>
          </a:xfrm>
          <a:prstGeom prst="roundRect">
            <a:avLst>
              <a:gd name="adj" fmla="val 5751"/>
            </a:avLst>
          </a:prstGeom>
          <a:solidFill>
            <a:srgbClr val="FFFFFF"/>
          </a:solidFill>
          <a:ln w="6350">
            <a:solidFill>
              <a:srgbClr val="D5DEE8"/>
            </a:solidFill>
            <a:prstDash val="solid"/>
          </a:ln>
        </p:spPr>
      </p:sp>
      <p:sp>
        <p:nvSpPr>
          <p:cNvPr id="9" name="Text 7"/>
          <p:cNvSpPr/>
          <p:nvPr/>
        </p:nvSpPr>
        <p:spPr>
          <a:xfrm>
            <a:off x="4703233" y="2269861"/>
            <a:ext cx="28690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DM Sans" pitchFamily="34" charset="0"/>
                <a:ea typeface="DM Sans" pitchFamily="34" charset="-122"/>
                <a:cs typeface="DM Sans" pitchFamily="34" charset="-120"/>
              </a:rPr>
              <a:t>ON YOUR COMPUTER</a:t>
            </a:r>
            <a:endParaRPr lang="en-US" sz="1200" dirty="0"/>
          </a:p>
        </p:txBody>
      </p:sp>
      <p:sp>
        <p:nvSpPr>
          <p:cNvPr id="10" name="Text 8"/>
          <p:cNvSpPr/>
          <p:nvPr/>
        </p:nvSpPr>
        <p:spPr>
          <a:xfrm>
            <a:off x="4703233" y="2610182"/>
            <a:ext cx="28690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A37"/>
                </a:solidFill>
                <a:latin typeface="DM Sans" pitchFamily="34" charset="0"/>
                <a:ea typeface="DM Sans" pitchFamily="34" charset="-122"/>
                <a:cs typeface="DM Sans" pitchFamily="34" charset="-120"/>
              </a:rPr>
              <a:t>VS Code</a:t>
            </a:r>
            <a:endParaRPr lang="en-US" sz="2000" dirty="0"/>
          </a:p>
        </p:txBody>
      </p:sp>
      <p:sp>
        <p:nvSpPr>
          <p:cNvPr id="11" name="Text 9"/>
          <p:cNvSpPr/>
          <p:nvPr/>
        </p:nvSpPr>
        <p:spPr>
          <a:xfrm>
            <a:off x="4703233" y="3041982"/>
            <a:ext cx="2869099"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Install Python, then the </a:t>
            </a:r>
            <a:r>
              <a:rPr lang="en-US" sz="1500" b="1" dirty="0">
                <a:solidFill>
                  <a:srgbClr val="4A5568"/>
                </a:solidFill>
                <a:latin typeface="DM Sans" pitchFamily="34" charset="0"/>
                <a:ea typeface="DM Sans" pitchFamily="34" charset="-122"/>
                <a:cs typeface="DM Sans" pitchFamily="34" charset="-120"/>
              </a:rPr>
              <a:t>Python</a:t>
            </a:r>
            <a:r>
              <a:rPr lang="en-US" sz="1500" dirty="0">
                <a:solidFill>
                  <a:srgbClr val="4A5568"/>
                </a:solidFill>
                <a:latin typeface="DM Sans" pitchFamily="34" charset="0"/>
                <a:ea typeface="DM Sans" pitchFamily="34" charset="-122"/>
                <a:cs typeface="DM Sans" pitchFamily="34" charset="-120"/>
              </a:rPr>
              <a:t> and </a:t>
            </a:r>
            <a:r>
              <a:rPr lang="en-US" sz="1500" b="1" dirty="0">
                <a:solidFill>
                  <a:srgbClr val="4A5568"/>
                </a:solidFill>
                <a:latin typeface="DM Sans" pitchFamily="34" charset="0"/>
                <a:ea typeface="DM Sans" pitchFamily="34" charset="-122"/>
                <a:cs typeface="DM Sans" pitchFamily="34" charset="-120"/>
              </a:rPr>
              <a:t>Jupyter</a:t>
            </a:r>
            <a:r>
              <a:rPr lang="en-US" sz="1500" dirty="0">
                <a:solidFill>
                  <a:srgbClr val="4A5568"/>
                </a:solidFill>
                <a:latin typeface="DM Sans" pitchFamily="34" charset="0"/>
                <a:ea typeface="DM Sans" pitchFamily="34" charset="-122"/>
                <a:cs typeface="DM Sans" pitchFamily="34" charset="-120"/>
              </a:rPr>
              <a:t> extensions.</a:t>
            </a:r>
            <a:endParaRPr lang="en-US" sz="1500" dirty="0"/>
          </a:p>
        </p:txBody>
      </p:sp>
      <p:sp>
        <p:nvSpPr>
          <p:cNvPr id="12" name="Shape 10"/>
          <p:cNvSpPr/>
          <p:nvPr/>
        </p:nvSpPr>
        <p:spPr>
          <a:xfrm>
            <a:off x="8029575" y="1989404"/>
            <a:ext cx="3346450" cy="2153245"/>
          </a:xfrm>
          <a:prstGeom prst="roundRect">
            <a:avLst>
              <a:gd name="adj" fmla="val 5751"/>
            </a:avLst>
          </a:prstGeom>
          <a:solidFill>
            <a:srgbClr val="FFFFFF"/>
          </a:solidFill>
          <a:ln w="6350">
            <a:solidFill>
              <a:srgbClr val="D5DEE8"/>
            </a:solidFill>
            <a:prstDash val="solid"/>
          </a:ln>
        </p:spPr>
      </p:sp>
      <p:sp>
        <p:nvSpPr>
          <p:cNvPr id="13" name="Text 11"/>
          <p:cNvSpPr/>
          <p:nvPr/>
        </p:nvSpPr>
        <p:spPr>
          <a:xfrm>
            <a:off x="8310034" y="2269861"/>
            <a:ext cx="286909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4A5568"/>
                </a:solidFill>
                <a:latin typeface="DM Sans" pitchFamily="34" charset="0"/>
                <a:ea typeface="DM Sans" pitchFamily="34" charset="-122"/>
                <a:cs typeface="DM Sans" pitchFamily="34" charset="-120"/>
              </a:rPr>
              <a:t>VERY SIMPLE</a:t>
            </a:r>
            <a:endParaRPr lang="en-US" sz="1200" dirty="0"/>
          </a:p>
        </p:txBody>
      </p:sp>
      <p:sp>
        <p:nvSpPr>
          <p:cNvPr id="14" name="Text 12"/>
          <p:cNvSpPr/>
          <p:nvPr/>
        </p:nvSpPr>
        <p:spPr>
          <a:xfrm>
            <a:off x="8310034" y="2610182"/>
            <a:ext cx="286909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F2A37"/>
                </a:solidFill>
                <a:latin typeface="DM Sans" pitchFamily="34" charset="0"/>
                <a:ea typeface="DM Sans" pitchFamily="34" charset="-122"/>
                <a:cs typeface="DM Sans" pitchFamily="34" charset="-120"/>
              </a:rPr>
              <a:t>Python IDLE</a:t>
            </a:r>
            <a:endParaRPr lang="en-US" sz="2000" dirty="0"/>
          </a:p>
        </p:txBody>
      </p:sp>
      <p:sp>
        <p:nvSpPr>
          <p:cNvPr id="15" name="Text 13"/>
          <p:cNvSpPr/>
          <p:nvPr/>
        </p:nvSpPr>
        <p:spPr>
          <a:xfrm>
            <a:off x="8310034" y="3041982"/>
            <a:ext cx="2869099"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A5568"/>
                </a:solidFill>
                <a:latin typeface="DM Sans" pitchFamily="34" charset="0"/>
                <a:ea typeface="DM Sans" pitchFamily="34" charset="-122"/>
                <a:cs typeface="DM Sans" pitchFamily="34" charset="-120"/>
              </a:rPr>
              <a:t>Comes with Python from python.org.</a:t>
            </a:r>
            <a:endParaRPr lang="en-US" sz="1500" dirty="0"/>
          </a:p>
        </p:txBody>
      </p:sp>
      <p:sp>
        <p:nvSpPr>
          <p:cNvPr id="16" name="Text 14"/>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YOUR FIRST PROGRAM 🎉</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Hello World</a:t>
            </a:r>
            <a:endParaRPr lang="en-US" sz="3600" dirty="0"/>
          </a:p>
        </p:txBody>
      </p:sp>
      <p:sp>
        <p:nvSpPr>
          <p:cNvPr id="4" name="Text 2"/>
          <p:cNvSpPr/>
          <p:nvPr/>
        </p:nvSpPr>
        <p:spPr>
          <a:xfrm>
            <a:off x="812800" y="1986229"/>
            <a:ext cx="5232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5"/>
            <a:ext cx="5080000" cy="1117600"/>
          </a:xfrm>
          <a:prstGeom prst="roundRect">
            <a:avLst>
              <a:gd name="adj" fmla="val 11364"/>
            </a:avLst>
          </a:prstGeom>
          <a:solidFill>
            <a:srgbClr val="1F2A37"/>
          </a:solidFill>
          <a:ln/>
        </p:spPr>
        <p:txBody>
          <a:bodyPr wrap="square" lIns="369203" tIns="318403" rIns="241187" bIns="293003" rtlCol="0" anchor="t">
            <a:normAutofit/>
          </a:bodyPr>
          <a:lstStyle/>
          <a:p>
            <a:pPr algn="l" indent="0" marL="0">
              <a:lnSpc>
                <a:spcPts val="3200"/>
              </a:lnSpc>
              <a:buNone/>
            </a:pPr>
            <a:r>
              <a:rPr lang="en-US" sz="2000" dirty="0">
                <a:solidFill>
                  <a:srgbClr val="E8EDF3"/>
                </a:solidFill>
                <a:latin typeface="JetBrains Mono" pitchFamily="49" charset="0"/>
                <a:ea typeface="JetBrains Mono" pitchFamily="49" charset="-122"/>
                <a:cs typeface="JetBrains Mono" pitchFamily="49" charset="-120"/>
              </a:rPr>
              <a:t>print(</a:t>
            </a:r>
            <a:r>
              <a:rPr lang="en-US" sz="2000" dirty="0">
                <a:solidFill>
                  <a:srgbClr val="F2C94C"/>
                </a:solidFill>
                <a:latin typeface="JetBrains Mono" pitchFamily="49" charset="0"/>
                <a:ea typeface="JetBrains Mono" pitchFamily="49" charset="-122"/>
                <a:cs typeface="JetBrains Mono" pitchFamily="49" charset="-120"/>
              </a:rPr>
              <a:t>"Hello World"</a:t>
            </a:r>
            <a:r>
              <a:rPr lang="en-US" sz="2000" dirty="0">
                <a:solidFill>
                  <a:srgbClr val="E8EDF3"/>
                </a:solidFill>
                <a:latin typeface="JetBrains Mono" pitchFamily="49" charset="0"/>
                <a:ea typeface="JetBrains Mono" pitchFamily="49" charset="-122"/>
                <a:cs typeface="JetBrains Mono" pitchFamily="49" charset="-120"/>
              </a:rPr>
              <a:t>)</a:t>
            </a:r>
            <a:endParaRPr lang="en-US" sz="2000" dirty="0"/>
          </a:p>
        </p:txBody>
      </p:sp>
      <p:sp>
        <p:nvSpPr>
          <p:cNvPr id="6" name="Text 4"/>
          <p:cNvSpPr/>
          <p:nvPr/>
        </p:nvSpPr>
        <p:spPr>
          <a:xfrm>
            <a:off x="6299200" y="1986229"/>
            <a:ext cx="52324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6299200" y="2362135"/>
            <a:ext cx="5080000" cy="1117600"/>
          </a:xfrm>
          <a:prstGeom prst="roundRect">
            <a:avLst>
              <a:gd name="adj" fmla="val 11364"/>
            </a:avLst>
          </a:prstGeom>
          <a:solidFill>
            <a:srgbClr val="EEF2F6"/>
          </a:solidFill>
          <a:ln/>
        </p:spPr>
        <p:txBody>
          <a:bodyPr wrap="square" lIns="420003" tIns="318403" rIns="242711" bIns="293003" rtlCol="0" anchor="t">
            <a:normAutofit/>
          </a:bodyPr>
          <a:lstStyle/>
          <a:p>
            <a:pPr algn="l" indent="0" marL="0">
              <a:lnSpc>
                <a:spcPts val="3200"/>
              </a:lnSpc>
              <a:buNone/>
            </a:pPr>
            <a:r>
              <a:rPr lang="en-US" sz="2000" dirty="0">
                <a:solidFill>
                  <a:srgbClr val="1F2A37"/>
                </a:solidFill>
                <a:latin typeface="JetBrains Mono" pitchFamily="49" charset="0"/>
                <a:ea typeface="JetBrains Mono" pitchFamily="49" charset="-122"/>
                <a:cs typeface="JetBrains Mono" pitchFamily="49" charset="-120"/>
              </a:rPr>
              <a:t>Hello World</a:t>
            </a:r>
            <a:endParaRPr lang="en-US" sz="2000" dirty="0"/>
          </a:p>
        </p:txBody>
      </p:sp>
      <p:sp>
        <p:nvSpPr>
          <p:cNvPr id="8" name="Shape 6"/>
          <p:cNvSpPr/>
          <p:nvPr/>
        </p:nvSpPr>
        <p:spPr>
          <a:xfrm>
            <a:off x="6299200" y="2362135"/>
            <a:ext cx="5080000" cy="1117600"/>
          </a:xfrm>
          <a:custGeom>
            <a:avLst/>
            <a:gdLst/>
            <a:ahLst/>
            <a:cxnLst/>
            <a:rect l="l" t="t" r="r" b="b"/>
            <a:pathLst>
              <a:path w="5080000" h="1117600">
                <a:moveTo>
                  <a:pt x="127000" y="1117600"/>
                </a:moveTo>
                <a:lnTo>
                  <a:pt x="127000" y="1117600"/>
                </a:lnTo>
                <a:arcTo hR="127000" wR="127000" stAng="5400000" swAng="5400000"/>
                <a:lnTo>
                  <a:pt x="0" y="127000"/>
                </a:lnTo>
                <a:arcTo hR="127000" wR="127000" stAng="10800000" swAng="5400000"/>
                <a:lnTo>
                  <a:pt x="127000" y="0"/>
                </a:lnTo>
                <a:arcTo hR="127000" wR="76200" stAng="16200000" swAng="-5400000"/>
                <a:lnTo>
                  <a:pt x="50800" y="990600"/>
                </a:lnTo>
                <a:arcTo hR="127000" wR="76200" stAng="10800000" swAng="-5400000"/>
                <a:close/>
              </a:path>
            </a:pathLst>
          </a:custGeom>
          <a:solidFill>
            <a:srgbClr val="3776AB"/>
          </a:solidFill>
          <a:ln/>
        </p:spPr>
      </p:sp>
      <p:sp>
        <p:nvSpPr>
          <p:cNvPr id="9" name="Text 7"/>
          <p:cNvSpPr/>
          <p:nvPr/>
        </p:nvSpPr>
        <p:spPr>
          <a:xfrm>
            <a:off x="812800" y="3835335"/>
            <a:ext cx="10883392" cy="651404"/>
          </a:xfrm>
          <a:prstGeom prst="rect">
            <a:avLst/>
          </a:prstGeom>
          <a:noFill/>
          <a:ln/>
        </p:spPr>
        <p:txBody>
          <a:bodyPr wrap="square" lIns="0" tIns="0" rIns="0" bIns="0" rtlCol="0" anchor="t">
            <a:normAutofit/>
          </a:bodyPr>
          <a:lstStyle/>
          <a:p>
            <a:pPr algn="l" indent="0" marL="0">
              <a:lnSpc>
                <a:spcPts val="2465"/>
              </a:lnSpc>
              <a:buNone/>
            </a:pPr>
            <a:r>
              <a:rPr lang="en-US" sz="1700" b="1" dirty="0">
                <a:solidFill>
                  <a:srgbClr val="4A5568"/>
                </a:solidFill>
                <a:latin typeface="DM Sans" pitchFamily="34" charset="0"/>
                <a:ea typeface="DM Sans" pitchFamily="34" charset="-122"/>
                <a:cs typeface="DM Sans" pitchFamily="34" charset="-120"/>
              </a:rPr>
              <a:t>print()</a:t>
            </a:r>
            <a:r>
              <a:rPr lang="en-US" sz="1700" dirty="0">
                <a:solidFill>
                  <a:srgbClr val="4A5568"/>
                </a:solidFill>
                <a:latin typeface="DM Sans" pitchFamily="34" charset="0"/>
                <a:ea typeface="DM Sans" pitchFamily="34" charset="-122"/>
                <a:cs typeface="DM Sans" pitchFamily="34" charset="-120"/>
              </a:rPr>
              <a:t> is a </a:t>
            </a:r>
            <a:r>
              <a:rPr lang="en-US" sz="1700" b="1" dirty="0">
                <a:solidFill>
                  <a:srgbClr val="4A5568"/>
                </a:solidFill>
                <a:latin typeface="DM Sans" pitchFamily="34" charset="0"/>
                <a:ea typeface="DM Sans" pitchFamily="34" charset="-122"/>
                <a:cs typeface="DM Sans" pitchFamily="34" charset="-120"/>
              </a:rPr>
              <a:t>function</a:t>
            </a:r>
            <a:r>
              <a:rPr lang="en-US" sz="1700" dirty="0">
                <a:solidFill>
                  <a:srgbClr val="4A5568"/>
                </a:solidFill>
                <a:latin typeface="DM Sans" pitchFamily="34" charset="0"/>
                <a:ea typeface="DM Sans" pitchFamily="34" charset="-122"/>
                <a:cs typeface="DM Sans" pitchFamily="34" charset="-120"/>
              </a:rPr>
              <a:t>: a built-in command that shows information on the screen. Whatever is inside the brackets is shown.</a:t>
            </a:r>
            <a:endParaRPr lang="en-US" sz="17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BEHIND THE SCENES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How Python runs your code</a:t>
            </a:r>
            <a:endParaRPr lang="en-US" sz="3600" dirty="0"/>
          </a:p>
        </p:txBody>
      </p:sp>
      <p:sp>
        <p:nvSpPr>
          <p:cNvPr id="4" name="Shape 2"/>
          <p:cNvSpPr/>
          <p:nvPr/>
        </p:nvSpPr>
        <p:spPr>
          <a:xfrm>
            <a:off x="815975" y="1989404"/>
            <a:ext cx="1984970" cy="1757164"/>
          </a:xfrm>
          <a:prstGeom prst="roundRect">
            <a:avLst>
              <a:gd name="adj" fmla="val 7047"/>
            </a:avLst>
          </a:prstGeom>
          <a:solidFill>
            <a:srgbClr val="FFFFFF"/>
          </a:solidFill>
          <a:ln w="6350">
            <a:solidFill>
              <a:srgbClr val="D5DEE8"/>
            </a:solidFill>
            <a:prstDash val="solid"/>
          </a:ln>
        </p:spPr>
      </p:sp>
      <p:sp>
        <p:nvSpPr>
          <p:cNvPr id="5" name="Text 3"/>
          <p:cNvSpPr/>
          <p:nvPr/>
        </p:nvSpPr>
        <p:spPr>
          <a:xfrm>
            <a:off x="994833" y="2219065"/>
            <a:ext cx="167805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DM Sans" pitchFamily="34" charset="0"/>
                <a:ea typeface="DM Sans" pitchFamily="34" charset="-122"/>
                <a:cs typeface="DM Sans" pitchFamily="34" charset="-120"/>
              </a:rPr>
              <a:t>1</a:t>
            </a:r>
            <a:endParaRPr lang="en-US" sz="2200" dirty="0"/>
          </a:p>
        </p:txBody>
      </p:sp>
      <p:sp>
        <p:nvSpPr>
          <p:cNvPr id="6" name="Text 4"/>
          <p:cNvSpPr/>
          <p:nvPr/>
        </p:nvSpPr>
        <p:spPr>
          <a:xfrm>
            <a:off x="994833" y="2699085"/>
            <a:ext cx="167805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DM Sans" pitchFamily="34" charset="0"/>
                <a:ea typeface="DM Sans" pitchFamily="34" charset="-122"/>
                <a:cs typeface="DM Sans" pitchFamily="34" charset="-120"/>
              </a:rPr>
              <a:t>Write</a:t>
            </a:r>
            <a:endParaRPr lang="en-US" sz="1500" dirty="0"/>
          </a:p>
        </p:txBody>
      </p:sp>
      <p:sp>
        <p:nvSpPr>
          <p:cNvPr id="7" name="Text 5"/>
          <p:cNvSpPr/>
          <p:nvPr/>
        </p:nvSpPr>
        <p:spPr>
          <a:xfrm>
            <a:off x="994833" y="3054685"/>
            <a:ext cx="167805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You type code in an editor</a:t>
            </a:r>
            <a:endParaRPr lang="en-US" sz="1300" dirty="0"/>
          </a:p>
        </p:txBody>
      </p:sp>
      <p:sp>
        <p:nvSpPr>
          <p:cNvPr id="8" name="Shape 6"/>
          <p:cNvSpPr/>
          <p:nvPr/>
        </p:nvSpPr>
        <p:spPr>
          <a:xfrm>
            <a:off x="2959695" y="1989404"/>
            <a:ext cx="1985037" cy="1757164"/>
          </a:xfrm>
          <a:prstGeom prst="roundRect">
            <a:avLst>
              <a:gd name="adj" fmla="val 7047"/>
            </a:avLst>
          </a:prstGeom>
          <a:solidFill>
            <a:srgbClr val="FFFFFF"/>
          </a:solidFill>
          <a:ln w="6350">
            <a:solidFill>
              <a:srgbClr val="D5DEE8"/>
            </a:solidFill>
            <a:prstDash val="solid"/>
          </a:ln>
        </p:spPr>
      </p:sp>
      <p:sp>
        <p:nvSpPr>
          <p:cNvPr id="9" name="Text 7"/>
          <p:cNvSpPr/>
          <p:nvPr/>
        </p:nvSpPr>
        <p:spPr>
          <a:xfrm>
            <a:off x="3138554" y="2219065"/>
            <a:ext cx="167812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DM Sans" pitchFamily="34" charset="0"/>
                <a:ea typeface="DM Sans" pitchFamily="34" charset="-122"/>
                <a:cs typeface="DM Sans" pitchFamily="34" charset="-120"/>
              </a:rPr>
              <a:t>2</a:t>
            </a:r>
            <a:endParaRPr lang="en-US" sz="2200" dirty="0"/>
          </a:p>
        </p:txBody>
      </p:sp>
      <p:sp>
        <p:nvSpPr>
          <p:cNvPr id="10" name="Text 8"/>
          <p:cNvSpPr/>
          <p:nvPr/>
        </p:nvSpPr>
        <p:spPr>
          <a:xfrm>
            <a:off x="3138554" y="2699085"/>
            <a:ext cx="16781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DM Sans" pitchFamily="34" charset="0"/>
                <a:ea typeface="DM Sans" pitchFamily="34" charset="-122"/>
                <a:cs typeface="DM Sans" pitchFamily="34" charset="-120"/>
              </a:rPr>
              <a:t>Read</a:t>
            </a:r>
            <a:endParaRPr lang="en-US" sz="1500" dirty="0"/>
          </a:p>
        </p:txBody>
      </p:sp>
      <p:sp>
        <p:nvSpPr>
          <p:cNvPr id="11" name="Text 9"/>
          <p:cNvSpPr/>
          <p:nvPr/>
        </p:nvSpPr>
        <p:spPr>
          <a:xfrm>
            <a:off x="3138554" y="3054685"/>
            <a:ext cx="167812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The interpreter checks for mistakes</a:t>
            </a:r>
            <a:endParaRPr lang="en-US" sz="1300" dirty="0"/>
          </a:p>
        </p:txBody>
      </p:sp>
      <p:sp>
        <p:nvSpPr>
          <p:cNvPr id="12" name="Shape 10"/>
          <p:cNvSpPr/>
          <p:nvPr/>
        </p:nvSpPr>
        <p:spPr>
          <a:xfrm>
            <a:off x="5103482" y="1989404"/>
            <a:ext cx="1984970" cy="1757164"/>
          </a:xfrm>
          <a:prstGeom prst="roundRect">
            <a:avLst>
              <a:gd name="adj" fmla="val 7047"/>
            </a:avLst>
          </a:prstGeom>
          <a:solidFill>
            <a:srgbClr val="FFFFFF"/>
          </a:solidFill>
          <a:ln w="6350">
            <a:solidFill>
              <a:srgbClr val="D5DEE8"/>
            </a:solidFill>
            <a:prstDash val="solid"/>
          </a:ln>
        </p:spPr>
      </p:sp>
      <p:sp>
        <p:nvSpPr>
          <p:cNvPr id="13" name="Text 11"/>
          <p:cNvSpPr/>
          <p:nvPr/>
        </p:nvSpPr>
        <p:spPr>
          <a:xfrm>
            <a:off x="5282340" y="2219065"/>
            <a:ext cx="1678054"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DM Sans" pitchFamily="34" charset="0"/>
                <a:ea typeface="DM Sans" pitchFamily="34" charset="-122"/>
                <a:cs typeface="DM Sans" pitchFamily="34" charset="-120"/>
              </a:rPr>
              <a:t>3</a:t>
            </a:r>
            <a:endParaRPr lang="en-US" sz="2200" dirty="0"/>
          </a:p>
        </p:txBody>
      </p:sp>
      <p:sp>
        <p:nvSpPr>
          <p:cNvPr id="14" name="Text 12"/>
          <p:cNvSpPr/>
          <p:nvPr/>
        </p:nvSpPr>
        <p:spPr>
          <a:xfrm>
            <a:off x="5282340" y="2699085"/>
            <a:ext cx="167805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DM Sans" pitchFamily="34" charset="0"/>
                <a:ea typeface="DM Sans" pitchFamily="34" charset="-122"/>
                <a:cs typeface="DM Sans" pitchFamily="34" charset="-120"/>
              </a:rPr>
              <a:t>Compile</a:t>
            </a:r>
            <a:endParaRPr lang="en-US" sz="1500" dirty="0"/>
          </a:p>
        </p:txBody>
      </p:sp>
      <p:sp>
        <p:nvSpPr>
          <p:cNvPr id="15" name="Text 13"/>
          <p:cNvSpPr/>
          <p:nvPr/>
        </p:nvSpPr>
        <p:spPr>
          <a:xfrm>
            <a:off x="5282340" y="3054685"/>
            <a:ext cx="1678054"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Code becomes bytecode</a:t>
            </a:r>
            <a:endParaRPr lang="en-US" sz="1300" dirty="0"/>
          </a:p>
        </p:txBody>
      </p:sp>
      <p:sp>
        <p:nvSpPr>
          <p:cNvPr id="16" name="Shape 14"/>
          <p:cNvSpPr/>
          <p:nvPr/>
        </p:nvSpPr>
        <p:spPr>
          <a:xfrm>
            <a:off x="7247203" y="1989404"/>
            <a:ext cx="1985037" cy="1757164"/>
          </a:xfrm>
          <a:prstGeom prst="roundRect">
            <a:avLst>
              <a:gd name="adj" fmla="val 7047"/>
            </a:avLst>
          </a:prstGeom>
          <a:solidFill>
            <a:srgbClr val="FFFFFF"/>
          </a:solidFill>
          <a:ln w="6350">
            <a:solidFill>
              <a:srgbClr val="D5DEE8"/>
            </a:solidFill>
            <a:prstDash val="solid"/>
          </a:ln>
        </p:spPr>
      </p:sp>
      <p:sp>
        <p:nvSpPr>
          <p:cNvPr id="17" name="Text 15"/>
          <p:cNvSpPr/>
          <p:nvPr/>
        </p:nvSpPr>
        <p:spPr>
          <a:xfrm>
            <a:off x="7426061" y="2219065"/>
            <a:ext cx="167812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776AB"/>
                </a:solidFill>
                <a:latin typeface="DM Sans" pitchFamily="34" charset="0"/>
                <a:ea typeface="DM Sans" pitchFamily="34" charset="-122"/>
                <a:cs typeface="DM Sans" pitchFamily="34" charset="-120"/>
              </a:rPr>
              <a:t>4</a:t>
            </a:r>
            <a:endParaRPr lang="en-US" sz="2200" dirty="0"/>
          </a:p>
        </p:txBody>
      </p:sp>
      <p:sp>
        <p:nvSpPr>
          <p:cNvPr id="18" name="Text 16"/>
          <p:cNvSpPr/>
          <p:nvPr/>
        </p:nvSpPr>
        <p:spPr>
          <a:xfrm>
            <a:off x="7426061" y="2699085"/>
            <a:ext cx="16781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DM Sans" pitchFamily="34" charset="0"/>
                <a:ea typeface="DM Sans" pitchFamily="34" charset="-122"/>
                <a:cs typeface="DM Sans" pitchFamily="34" charset="-120"/>
              </a:rPr>
              <a:t>Execute</a:t>
            </a:r>
            <a:endParaRPr lang="en-US" sz="1500" dirty="0"/>
          </a:p>
        </p:txBody>
      </p:sp>
      <p:sp>
        <p:nvSpPr>
          <p:cNvPr id="19" name="Text 17"/>
          <p:cNvSpPr/>
          <p:nvPr/>
        </p:nvSpPr>
        <p:spPr>
          <a:xfrm>
            <a:off x="7426061" y="3054685"/>
            <a:ext cx="167812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The Python Virtual Machine runs it</a:t>
            </a:r>
            <a:endParaRPr lang="en-US" sz="1300" dirty="0"/>
          </a:p>
        </p:txBody>
      </p:sp>
      <p:sp>
        <p:nvSpPr>
          <p:cNvPr id="20" name="Shape 18"/>
          <p:cNvSpPr/>
          <p:nvPr/>
        </p:nvSpPr>
        <p:spPr>
          <a:xfrm>
            <a:off x="9387814" y="1986229"/>
            <a:ext cx="1991320" cy="1763514"/>
          </a:xfrm>
          <a:prstGeom prst="roundRect">
            <a:avLst>
              <a:gd name="adj" fmla="val 7202"/>
            </a:avLst>
          </a:prstGeom>
          <a:solidFill>
            <a:srgbClr val="E3ECF6"/>
          </a:solidFill>
          <a:ln/>
        </p:spPr>
      </p:sp>
      <p:sp>
        <p:nvSpPr>
          <p:cNvPr id="21" name="Text 19"/>
          <p:cNvSpPr/>
          <p:nvPr/>
        </p:nvSpPr>
        <p:spPr>
          <a:xfrm>
            <a:off x="9565614" y="2214829"/>
            <a:ext cx="168652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F5F8A"/>
                </a:solidFill>
                <a:latin typeface="DM Sans" pitchFamily="34" charset="0"/>
                <a:ea typeface="DM Sans" pitchFamily="34" charset="-122"/>
                <a:cs typeface="DM Sans" pitchFamily="34" charset="-120"/>
              </a:rPr>
              <a:t>5</a:t>
            </a:r>
            <a:endParaRPr lang="en-US" sz="2200" dirty="0"/>
          </a:p>
        </p:txBody>
      </p:sp>
      <p:sp>
        <p:nvSpPr>
          <p:cNvPr id="22" name="Text 20"/>
          <p:cNvSpPr/>
          <p:nvPr/>
        </p:nvSpPr>
        <p:spPr>
          <a:xfrm>
            <a:off x="9565614" y="2694849"/>
            <a:ext cx="168652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2A37"/>
                </a:solidFill>
                <a:latin typeface="DM Sans" pitchFamily="34" charset="0"/>
                <a:ea typeface="DM Sans" pitchFamily="34" charset="-122"/>
                <a:cs typeface="DM Sans" pitchFamily="34" charset="-120"/>
              </a:rPr>
              <a:t>Output</a:t>
            </a:r>
            <a:endParaRPr lang="en-US" sz="1500" dirty="0"/>
          </a:p>
        </p:txBody>
      </p:sp>
      <p:sp>
        <p:nvSpPr>
          <p:cNvPr id="23" name="Text 21"/>
          <p:cNvSpPr/>
          <p:nvPr/>
        </p:nvSpPr>
        <p:spPr>
          <a:xfrm>
            <a:off x="9565614" y="3050449"/>
            <a:ext cx="168652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F2A37"/>
                </a:solidFill>
                <a:latin typeface="DM Sans" pitchFamily="34" charset="0"/>
                <a:ea typeface="DM Sans" pitchFamily="34" charset="-122"/>
                <a:cs typeface="DM Sans" pitchFamily="34" charset="-120"/>
              </a:rPr>
              <a:t>You see the result: Hello World</a:t>
            </a:r>
            <a:endParaRPr lang="en-US" sz="1300" dirty="0"/>
          </a:p>
        </p:txBody>
      </p:sp>
      <p:sp>
        <p:nvSpPr>
          <p:cNvPr id="24" name="Text 22"/>
          <p:cNvSpPr/>
          <p:nvPr/>
        </p:nvSpPr>
        <p:spPr>
          <a:xfrm>
            <a:off x="812800" y="4105343"/>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Python reads your code </a:t>
            </a:r>
            <a:r>
              <a:rPr lang="en-US" sz="1600" b="1" dirty="0">
                <a:solidFill>
                  <a:srgbClr val="4A5568"/>
                </a:solidFill>
                <a:latin typeface="DM Sans" pitchFamily="34" charset="0"/>
                <a:ea typeface="DM Sans" pitchFamily="34" charset="-122"/>
                <a:cs typeface="DM Sans" pitchFamily="34" charset="-120"/>
              </a:rPr>
              <a:t>from top to bottom</a:t>
            </a:r>
            <a:r>
              <a:rPr lang="en-US" sz="1600" dirty="0">
                <a:solidFill>
                  <a:srgbClr val="4A5568"/>
                </a:solidFill>
                <a:latin typeface="DM Sans" pitchFamily="34" charset="0"/>
                <a:ea typeface="DM Sans" pitchFamily="34" charset="-122"/>
                <a:cs typeface="DM Sans" pitchFamily="34" charset="-120"/>
              </a:rPr>
              <a:t> and stops if it finds a mistake.</a:t>
            </a:r>
            <a:endParaRPr lang="en-US" sz="1600" dirty="0"/>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UNDERSTANDING PRINT()</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Text needs quotes, numbers don’t</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8"/>
            <a:ext cx="6096000" cy="1910027"/>
          </a:xfrm>
          <a:prstGeom prst="roundRect">
            <a:avLst>
              <a:gd name="adj" fmla="val 6649"/>
            </a:avLst>
          </a:prstGeom>
          <a:solidFill>
            <a:srgbClr val="1F2A37"/>
          </a:solidFill>
          <a:ln/>
        </p:spPr>
        <p:txBody>
          <a:bodyPr wrap="square" lIns="318403" tIns="267603" rIns="156859" bIns="2422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"Welcome to Python"</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"My name is Homaira"</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print(2026)</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"I am"</a:t>
            </a:r>
            <a:r>
              <a:rPr lang="en-US" sz="1600" dirty="0">
                <a:solidFill>
                  <a:srgbClr val="E8EDF3"/>
                </a:solidFill>
                <a:latin typeface="JetBrains Mono" pitchFamily="49" charset="0"/>
                <a:ea typeface="JetBrains Mono" pitchFamily="49" charset="-122"/>
                <a:cs typeface="JetBrains Mono" pitchFamily="49" charset="-120"/>
              </a:rPr>
              <a:t>, 20, </a:t>
            </a:r>
            <a:r>
              <a:rPr lang="en-US" sz="1600" dirty="0">
                <a:solidFill>
                  <a:srgbClr val="F2C94C"/>
                </a:solidFill>
                <a:latin typeface="JetBrains Mono" pitchFamily="49" charset="0"/>
                <a:ea typeface="JetBrains Mono" pitchFamily="49" charset="-122"/>
                <a:cs typeface="JetBrains Mono" pitchFamily="49" charset="-120"/>
              </a:rPr>
              <a:t>"years old"</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8"/>
            <a:ext cx="4064000" cy="1905000"/>
          </a:xfrm>
          <a:prstGeom prst="roundRect">
            <a:avLst>
              <a:gd name="adj" fmla="val 6667"/>
            </a:avLst>
          </a:prstGeom>
          <a:solidFill>
            <a:srgbClr val="EEF2F6"/>
          </a:solidFill>
          <a:ln/>
        </p:spPr>
        <p:txBody>
          <a:bodyPr wrap="square" lIns="318403" tIns="267603" rIns="165495" bIns="242203" rtlCol="0" anchor="t">
            <a:normAutofit/>
          </a:bodyPr>
          <a:lstStyle/>
          <a:p>
            <a:pPr algn="l" indent="0" marL="0">
              <a:lnSpc>
                <a:spcPts val="2550"/>
              </a:lnSpc>
              <a:buNone/>
            </a:pPr>
            <a:r>
              <a:rPr lang="en-US" sz="1500" dirty="0">
                <a:solidFill>
                  <a:srgbClr val="1F2A37"/>
                </a:solidFill>
                <a:latin typeface="JetBrains Mono" pitchFamily="49" charset="0"/>
                <a:ea typeface="JetBrains Mono" pitchFamily="49" charset="-122"/>
                <a:cs typeface="JetBrains Mono" pitchFamily="49" charset="-120"/>
              </a:rPr>
              <a:t>Welcome to Python</a:t>
            </a:r>
            <a:endParaRPr lang="en-US" sz="1500" dirty="0"/>
          </a:p>
          <a:p>
            <a:pPr algn="l" indent="0" marL="0">
              <a:lnSpc>
                <a:spcPts val="2550"/>
              </a:lnSpc>
              <a:buNone/>
            </a:pPr>
            <a:r>
              <a:rPr lang="en-US" sz="1500" dirty="0">
                <a:solidFill>
                  <a:srgbClr val="1F2A37"/>
                </a:solidFill>
                <a:latin typeface="JetBrains Mono" pitchFamily="49" charset="0"/>
                <a:ea typeface="JetBrains Mono" pitchFamily="49" charset="-122"/>
                <a:cs typeface="JetBrains Mono" pitchFamily="49" charset="-120"/>
              </a:rPr>
              <a:t>My name is Homaira</a:t>
            </a:r>
            <a:endParaRPr lang="en-US" sz="1500" dirty="0"/>
          </a:p>
          <a:p>
            <a:pPr algn="l" indent="0" marL="0">
              <a:lnSpc>
                <a:spcPts val="2550"/>
              </a:lnSpc>
              <a:buNone/>
            </a:pPr>
            <a:r>
              <a:rPr lang="en-US" sz="1500" dirty="0">
                <a:solidFill>
                  <a:srgbClr val="1F2A37"/>
                </a:solidFill>
                <a:latin typeface="JetBrains Mono" pitchFamily="49" charset="0"/>
                <a:ea typeface="JetBrains Mono" pitchFamily="49" charset="-122"/>
                <a:cs typeface="JetBrains Mono" pitchFamily="49" charset="-120"/>
              </a:rPr>
              <a:t>2026</a:t>
            </a:r>
            <a:endParaRPr lang="en-US" sz="1500" dirty="0"/>
          </a:p>
          <a:p>
            <a:pPr algn="l" indent="0" marL="0">
              <a:lnSpc>
                <a:spcPts val="2550"/>
              </a:lnSpc>
              <a:buNone/>
            </a:pPr>
            <a:r>
              <a:rPr lang="en-US" sz="1500" dirty="0">
                <a:solidFill>
                  <a:srgbClr val="1F2A37"/>
                </a:solidFill>
                <a:latin typeface="JetBrains Mono" pitchFamily="49" charset="0"/>
                <a:ea typeface="JetBrains Mono" pitchFamily="49" charset="-122"/>
                <a:cs typeface="JetBrains Mono" pitchFamily="49" charset="-120"/>
              </a:rPr>
              <a:t>I am 20 years old</a:t>
            </a:r>
            <a:endParaRPr lang="en-US" sz="1500" dirty="0"/>
          </a:p>
        </p:txBody>
      </p:sp>
      <p:sp>
        <p:nvSpPr>
          <p:cNvPr id="8" name="Shape 6"/>
          <p:cNvSpPr/>
          <p:nvPr/>
        </p:nvSpPr>
        <p:spPr>
          <a:xfrm>
            <a:off x="7315200" y="2362138"/>
            <a:ext cx="4064000" cy="1905000"/>
          </a:xfrm>
          <a:custGeom>
            <a:avLst/>
            <a:gdLst/>
            <a:ahLst/>
            <a:cxnLst/>
            <a:rect l="l" t="t" r="r" b="b"/>
            <a:pathLst>
              <a:path w="4064000" h="1905000">
                <a:moveTo>
                  <a:pt x="127000" y="1905000"/>
                </a:moveTo>
                <a:lnTo>
                  <a:pt x="127000" y="1905000"/>
                </a:lnTo>
                <a:arcTo hR="127000" wR="127000" stAng="5400000" swAng="5400000"/>
                <a:lnTo>
                  <a:pt x="0" y="127000"/>
                </a:lnTo>
                <a:arcTo hR="127000" wR="127000" stAng="10800000" swAng="5400000"/>
                <a:lnTo>
                  <a:pt x="127000" y="0"/>
                </a:lnTo>
                <a:arcTo hR="127000" wR="76200" stAng="16200000" swAng="-5400000"/>
                <a:lnTo>
                  <a:pt x="50800" y="1778000"/>
                </a:lnTo>
                <a:arcTo hR="127000" wR="76200" stAng="10800000" swAng="-5400000"/>
                <a:close/>
              </a:path>
            </a:pathLst>
          </a:custGeom>
          <a:solidFill>
            <a:srgbClr val="3776AB"/>
          </a:solidFill>
          <a:ln/>
        </p:spPr>
      </p:sp>
      <p:sp>
        <p:nvSpPr>
          <p:cNvPr id="9" name="Text 7"/>
          <p:cNvSpPr/>
          <p:nvPr/>
        </p:nvSpPr>
        <p:spPr>
          <a:xfrm>
            <a:off x="812800" y="4627761"/>
            <a:ext cx="10883392"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DM Sans" pitchFamily="34" charset="0"/>
                <a:ea typeface="DM Sans" pitchFamily="34" charset="-122"/>
                <a:cs typeface="DM Sans" pitchFamily="34" charset="-120"/>
              </a:rPr>
              <a:t>Use </a:t>
            </a:r>
            <a:r>
              <a:rPr lang="en-US" sz="1600" b="1" dirty="0">
                <a:solidFill>
                  <a:srgbClr val="4A5568"/>
                </a:solidFill>
                <a:latin typeface="DM Sans" pitchFamily="34" charset="0"/>
                <a:ea typeface="DM Sans" pitchFamily="34" charset="-122"/>
                <a:cs typeface="DM Sans" pitchFamily="34" charset="-120"/>
              </a:rPr>
              <a:t>commas</a:t>
            </a:r>
            <a:r>
              <a:rPr lang="en-US" sz="1600" dirty="0">
                <a:solidFill>
                  <a:srgbClr val="4A5568"/>
                </a:solidFill>
                <a:latin typeface="DM Sans" pitchFamily="34" charset="0"/>
                <a:ea typeface="DM Sans" pitchFamily="34" charset="-122"/>
                <a:cs typeface="DM Sans" pitchFamily="34" charset="-120"/>
              </a:rPr>
              <a:t> to print several things on one line — Python adds the spaces.</a:t>
            </a:r>
            <a:endParaRPr lang="en-US" sz="16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PRINTING CALCULATIONS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Python is a calculator</a:t>
            </a:r>
            <a:endParaRPr lang="en-US" sz="3600" dirty="0"/>
          </a:p>
        </p:txBody>
      </p:sp>
      <p:sp>
        <p:nvSpPr>
          <p:cNvPr id="4" name="Text 2"/>
          <p:cNvSpPr/>
          <p:nvPr/>
        </p:nvSpPr>
        <p:spPr>
          <a:xfrm>
            <a:off x="812800" y="1986229"/>
            <a:ext cx="627888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Code</a:t>
            </a:r>
            <a:endParaRPr lang="en-US" sz="1400" dirty="0"/>
          </a:p>
        </p:txBody>
      </p:sp>
      <p:sp>
        <p:nvSpPr>
          <p:cNvPr id="5" name="Text 3"/>
          <p:cNvSpPr/>
          <p:nvPr/>
        </p:nvSpPr>
        <p:spPr>
          <a:xfrm>
            <a:off x="812800" y="2362138"/>
            <a:ext cx="6096000" cy="1910027"/>
          </a:xfrm>
          <a:prstGeom prst="roundRect">
            <a:avLst>
              <a:gd name="adj" fmla="val 6649"/>
            </a:avLst>
          </a:prstGeom>
          <a:solidFill>
            <a:srgbClr val="1F2A37"/>
          </a:solidFill>
          <a:ln/>
        </p:spPr>
        <p:txBody>
          <a:bodyPr wrap="square" lIns="318403" tIns="267603" rIns="156859" bIns="2422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print(5 + 3)</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print(10 * 2)</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print(20 / 4)</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"5 + 3"</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sp>
        <p:nvSpPr>
          <p:cNvPr id="6" name="Text 4"/>
          <p:cNvSpPr/>
          <p:nvPr/>
        </p:nvSpPr>
        <p:spPr>
          <a:xfrm>
            <a:off x="7315200" y="1986229"/>
            <a:ext cx="418592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4A5568"/>
                </a:solidFill>
                <a:latin typeface="DM Sans" pitchFamily="34" charset="0"/>
                <a:ea typeface="DM Sans" pitchFamily="34" charset="-122"/>
                <a:cs typeface="DM Sans" pitchFamily="34" charset="-120"/>
              </a:rPr>
              <a:t>Output</a:t>
            </a:r>
            <a:endParaRPr lang="en-US" sz="1400" dirty="0"/>
          </a:p>
        </p:txBody>
      </p:sp>
      <p:sp>
        <p:nvSpPr>
          <p:cNvPr id="7" name="Text 5"/>
          <p:cNvSpPr/>
          <p:nvPr/>
        </p:nvSpPr>
        <p:spPr>
          <a:xfrm>
            <a:off x="7315200" y="2362138"/>
            <a:ext cx="4064000" cy="1910027"/>
          </a:xfrm>
          <a:prstGeom prst="roundRect">
            <a:avLst>
              <a:gd name="adj" fmla="val 6649"/>
            </a:avLst>
          </a:prstGeom>
          <a:solidFill>
            <a:srgbClr val="EEF2F6"/>
          </a:solidFill>
          <a:ln/>
        </p:spPr>
        <p:txBody>
          <a:bodyPr wrap="square" lIns="318403" tIns="267603" rIns="165495" bIns="242203" rtlCol="0" anchor="t">
            <a:normAutofit/>
          </a:bodyPr>
          <a:lstStyle/>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8</a:t>
            </a:r>
            <a:endParaRPr lang="en-US" sz="1600" dirty="0"/>
          </a:p>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20</a:t>
            </a:r>
            <a:endParaRPr lang="en-US" sz="1600" dirty="0"/>
          </a:p>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5.0</a:t>
            </a:r>
            <a:endParaRPr lang="en-US" sz="1600" dirty="0"/>
          </a:p>
          <a:p>
            <a:pPr algn="l" indent="0" marL="0">
              <a:lnSpc>
                <a:spcPts val="2560"/>
              </a:lnSpc>
              <a:buNone/>
            </a:pPr>
            <a:r>
              <a:rPr lang="en-US" sz="1600" dirty="0">
                <a:solidFill>
                  <a:srgbClr val="1F2A37"/>
                </a:solidFill>
                <a:latin typeface="JetBrains Mono" pitchFamily="49" charset="0"/>
                <a:ea typeface="JetBrains Mono" pitchFamily="49" charset="-122"/>
                <a:cs typeface="JetBrains Mono" pitchFamily="49" charset="-120"/>
              </a:rPr>
              <a:t>5 + 3</a:t>
            </a:r>
            <a:endParaRPr lang="en-US" sz="1600" dirty="0"/>
          </a:p>
        </p:txBody>
      </p:sp>
      <p:sp>
        <p:nvSpPr>
          <p:cNvPr id="8" name="Shape 6"/>
          <p:cNvSpPr/>
          <p:nvPr/>
        </p:nvSpPr>
        <p:spPr>
          <a:xfrm>
            <a:off x="7315200" y="2362138"/>
            <a:ext cx="4064000" cy="1910027"/>
          </a:xfrm>
          <a:custGeom>
            <a:avLst/>
            <a:gdLst/>
            <a:ahLst/>
            <a:cxnLst/>
            <a:rect l="l" t="t" r="r" b="b"/>
            <a:pathLst>
              <a:path w="4064000" h="1910027">
                <a:moveTo>
                  <a:pt x="127000" y="1910027"/>
                </a:moveTo>
                <a:lnTo>
                  <a:pt x="127000" y="1910027"/>
                </a:lnTo>
                <a:arcTo hR="127000" wR="127000" stAng="5400000" swAng="5400000"/>
                <a:lnTo>
                  <a:pt x="0" y="127000"/>
                </a:lnTo>
                <a:arcTo hR="127000" wR="127000" stAng="10800000" swAng="5400000"/>
                <a:lnTo>
                  <a:pt x="127000" y="0"/>
                </a:lnTo>
                <a:arcTo hR="127000" wR="76200" stAng="16200000" swAng="-5400000"/>
                <a:lnTo>
                  <a:pt x="50800" y="1783027"/>
                </a:lnTo>
                <a:arcTo hR="127000" wR="76200" stAng="10800000" swAng="-5400000"/>
                <a:close/>
              </a:path>
            </a:pathLst>
          </a:custGeom>
          <a:solidFill>
            <a:srgbClr val="3776AB"/>
          </a:solidFill>
          <a:ln/>
        </p:spPr>
      </p:sp>
      <p:sp>
        <p:nvSpPr>
          <p:cNvPr id="9" name="Text 7"/>
          <p:cNvSpPr/>
          <p:nvPr/>
        </p:nvSpPr>
        <p:spPr>
          <a:xfrm>
            <a:off x="812800" y="4627761"/>
            <a:ext cx="5181600" cy="581025"/>
          </a:xfrm>
          <a:prstGeom prst="roundRect">
            <a:avLst>
              <a:gd name="adj" fmla="val 17486"/>
            </a:avLst>
          </a:prstGeom>
          <a:solidFill>
            <a:srgbClr val="EEF2F6"/>
          </a:solidFill>
          <a:ln/>
        </p:spPr>
        <p:txBody>
          <a:bodyPr wrap="square" lIns="173442" tIns="122642" rIns="30186" bIns="97242" rtlCol="0" anchor="t">
            <a:normAutofit/>
          </a:bodyPr>
          <a:lstStyle/>
          <a:p>
            <a:pPr algn="l" indent="0" marL="0">
              <a:lnSpc>
                <a:spcPts val="2175"/>
              </a:lnSpc>
              <a:buNone/>
            </a:pPr>
            <a:r>
              <a:rPr lang="en-US" sz="1500" b="1" dirty="0">
                <a:solidFill>
                  <a:srgbClr val="1F2A37"/>
                </a:solidFill>
                <a:latin typeface="DM Sans" pitchFamily="34" charset="0"/>
                <a:ea typeface="DM Sans" pitchFamily="34" charset="-122"/>
                <a:cs typeface="DM Sans" pitchFamily="34" charset="-120"/>
              </a:rPr>
              <a:t>/</a:t>
            </a:r>
            <a:r>
              <a:rPr lang="en-US" sz="1500" dirty="0">
                <a:solidFill>
                  <a:srgbClr val="1F2A37"/>
                </a:solidFill>
                <a:latin typeface="DM Sans" pitchFamily="34" charset="0"/>
                <a:ea typeface="DM Sans" pitchFamily="34" charset="-122"/>
                <a:cs typeface="DM Sans" pitchFamily="34" charset="-120"/>
              </a:rPr>
              <a:t> always gives a decimal: </a:t>
            </a:r>
            <a:r>
              <a:rPr lang="en-US" sz="1500" b="1" dirty="0">
                <a:solidFill>
                  <a:srgbClr val="1F2A37"/>
                </a:solidFill>
                <a:latin typeface="DM Sans" pitchFamily="34" charset="0"/>
                <a:ea typeface="DM Sans" pitchFamily="34" charset="-122"/>
                <a:cs typeface="DM Sans" pitchFamily="34" charset="-120"/>
              </a:rPr>
              <a:t>5.0</a:t>
            </a:r>
            <a:endParaRPr lang="en-US" sz="1500" dirty="0"/>
          </a:p>
        </p:txBody>
      </p:sp>
      <p:sp>
        <p:nvSpPr>
          <p:cNvPr id="10" name="Text 8"/>
          <p:cNvSpPr/>
          <p:nvPr/>
        </p:nvSpPr>
        <p:spPr>
          <a:xfrm>
            <a:off x="6197600" y="4627761"/>
            <a:ext cx="5181600" cy="581025"/>
          </a:xfrm>
          <a:prstGeom prst="roundRect">
            <a:avLst>
              <a:gd name="adj" fmla="val 17486"/>
            </a:avLst>
          </a:prstGeom>
          <a:solidFill>
            <a:srgbClr val="EEF2F6"/>
          </a:solidFill>
          <a:ln/>
        </p:spPr>
        <p:txBody>
          <a:bodyPr wrap="square" lIns="173442" tIns="122642" rIns="30186" bIns="97242" rtlCol="0" anchor="t">
            <a:normAutofit/>
          </a:bodyPr>
          <a:lstStyle/>
          <a:p>
            <a:pPr algn="l" indent="0" marL="0">
              <a:lnSpc>
                <a:spcPts val="2175"/>
              </a:lnSpc>
              <a:buNone/>
            </a:pPr>
            <a:r>
              <a:rPr lang="en-US" sz="1500" dirty="0">
                <a:solidFill>
                  <a:srgbClr val="1F2A37"/>
                </a:solidFill>
                <a:latin typeface="DM Sans" pitchFamily="34" charset="0"/>
                <a:ea typeface="DM Sans" pitchFamily="34" charset="-122"/>
                <a:cs typeface="DM Sans" pitchFamily="34" charset="-120"/>
              </a:rPr>
              <a:t>With quotes it’s </a:t>
            </a:r>
            <a:r>
              <a:rPr lang="en-US" sz="1500" b="1" dirty="0">
                <a:solidFill>
                  <a:srgbClr val="1F2A37"/>
                </a:solidFill>
                <a:latin typeface="DM Sans" pitchFamily="34" charset="0"/>
                <a:ea typeface="DM Sans" pitchFamily="34" charset="-122"/>
                <a:cs typeface="DM Sans" pitchFamily="34" charset="-120"/>
              </a:rPr>
              <a:t>text</a:t>
            </a:r>
            <a:r>
              <a:rPr lang="en-US" sz="1500" dirty="0">
                <a:solidFill>
                  <a:srgbClr val="1F2A37"/>
                </a:solidFill>
                <a:latin typeface="DM Sans" pitchFamily="34" charset="0"/>
                <a:ea typeface="DM Sans" pitchFamily="34" charset="-122"/>
                <a:cs typeface="DM Sans" pitchFamily="34" charset="-120"/>
              </a:rPr>
              <a:t>, not maths</a:t>
            </a:r>
            <a:endParaRPr lang="en-US" sz="1500" dirty="0"/>
          </a:p>
        </p:txBody>
      </p:sp>
      <p:sp>
        <p:nvSpPr>
          <p:cNvPr id="11" name="Text 9"/>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12" name="Text 1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COMMENTS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Notes for humans</a:t>
            </a:r>
            <a:endParaRPr lang="en-US" sz="3600" dirty="0"/>
          </a:p>
        </p:txBody>
      </p:sp>
      <p:sp>
        <p:nvSpPr>
          <p:cNvPr id="4" name="Text 2"/>
          <p:cNvSpPr/>
          <p:nvPr/>
        </p:nvSpPr>
        <p:spPr>
          <a:xfrm>
            <a:off x="812800" y="1986229"/>
            <a:ext cx="5080000" cy="1910027"/>
          </a:xfrm>
          <a:prstGeom prst="roundRect">
            <a:avLst>
              <a:gd name="adj" fmla="val 6649"/>
            </a:avLst>
          </a:prstGeom>
          <a:solidFill>
            <a:srgbClr val="1F2A37"/>
          </a:solidFill>
          <a:ln/>
        </p:spPr>
        <p:txBody>
          <a:bodyPr wrap="square" lIns="318403" tIns="267603" rIns="187339" bIns="242203" rtlCol="0" anchor="t">
            <a:normAutofit/>
          </a:bodyPr>
          <a:lstStyle/>
          <a:p>
            <a:pPr algn="l" indent="0" marL="0">
              <a:lnSpc>
                <a:spcPts val="2560"/>
              </a:lnSpc>
              <a:buNone/>
            </a:pPr>
            <a:r>
              <a:rPr lang="en-US" sz="1600" dirty="0">
                <a:solidFill>
                  <a:srgbClr val="93A1B3"/>
                </a:solidFill>
                <a:latin typeface="JetBrains Mono" pitchFamily="49" charset="0"/>
                <a:ea typeface="JetBrains Mono" pitchFamily="49" charset="-122"/>
                <a:cs typeface="JetBrains Mono" pitchFamily="49" charset="-120"/>
              </a:rPr>
              <a:t># This program prints my name</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"Ali"</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endParaRPr lang="en-US" sz="1600" dirty="0"/>
          </a:p>
          <a:p>
            <a:pPr algn="l" indent="0" marL="0">
              <a:lnSpc>
                <a:spcPts val="2560"/>
              </a:lnSpc>
              <a:buNone/>
            </a:pPr>
            <a:r>
              <a:rPr lang="en-US" sz="1600" dirty="0">
                <a:solidFill>
                  <a:srgbClr val="93A1B3"/>
                </a:solidFill>
                <a:latin typeface="JetBrains Mono" pitchFamily="49" charset="0"/>
                <a:ea typeface="JetBrains Mono" pitchFamily="49" charset="-122"/>
                <a:cs typeface="JetBrains Mono" pitchFamily="49" charset="-120"/>
              </a:rPr>
              <a:t># print("switched off")</a:t>
            </a:r>
            <a:endParaRPr lang="en-US" sz="1600" dirty="0"/>
          </a:p>
        </p:txBody>
      </p:sp>
      <p:sp>
        <p:nvSpPr>
          <p:cNvPr id="5" name="Text 3"/>
          <p:cNvSpPr/>
          <p:nvPr/>
        </p:nvSpPr>
        <p:spPr>
          <a:xfrm>
            <a:off x="6299200" y="2048539"/>
            <a:ext cx="5232400"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A comment starts with </a:t>
            </a:r>
            <a:r>
              <a:rPr lang="en-US" sz="1700" b="1" dirty="0">
                <a:solidFill>
                  <a:srgbClr val="1F2A37"/>
                </a:solidFill>
                <a:latin typeface="DM Sans" pitchFamily="34" charset="0"/>
                <a:ea typeface="DM Sans" pitchFamily="34" charset="-122"/>
                <a:cs typeface="DM Sans" pitchFamily="34" charset="-120"/>
              </a:rPr>
              <a:t>#</a:t>
            </a:r>
            <a:endParaRPr lang="en-US" sz="1700" dirty="0"/>
          </a:p>
        </p:txBody>
      </p:sp>
      <p:sp>
        <p:nvSpPr>
          <p:cNvPr id="6" name="Text 4"/>
          <p:cNvSpPr/>
          <p:nvPr/>
        </p:nvSpPr>
        <p:spPr>
          <a:xfrm>
            <a:off x="6299200" y="2539343"/>
            <a:ext cx="5232400"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Python </a:t>
            </a:r>
            <a:r>
              <a:rPr lang="en-US" sz="1700" b="1" dirty="0">
                <a:solidFill>
                  <a:srgbClr val="1F2A37"/>
                </a:solidFill>
                <a:latin typeface="DM Sans" pitchFamily="34" charset="0"/>
                <a:ea typeface="DM Sans" pitchFamily="34" charset="-122"/>
                <a:cs typeface="DM Sans" pitchFamily="34" charset="-120"/>
              </a:rPr>
              <a:t>ignores</a:t>
            </a:r>
            <a:r>
              <a:rPr lang="en-US" sz="1700" dirty="0">
                <a:solidFill>
                  <a:srgbClr val="1F2A37"/>
                </a:solidFill>
                <a:latin typeface="DM Sans" pitchFamily="34" charset="0"/>
                <a:ea typeface="DM Sans" pitchFamily="34" charset="-122"/>
                <a:cs typeface="DM Sans" pitchFamily="34" charset="-120"/>
              </a:rPr>
              <a:t> it</a:t>
            </a:r>
            <a:endParaRPr lang="en-US" sz="1700" dirty="0"/>
          </a:p>
        </p:txBody>
      </p:sp>
      <p:sp>
        <p:nvSpPr>
          <p:cNvPr id="7" name="Text 5"/>
          <p:cNvSpPr/>
          <p:nvPr/>
        </p:nvSpPr>
        <p:spPr>
          <a:xfrm>
            <a:off x="6299200" y="3030141"/>
            <a:ext cx="5232400"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Explain </a:t>
            </a:r>
            <a:r>
              <a:rPr lang="en-US" sz="1700" b="1" dirty="0">
                <a:solidFill>
                  <a:srgbClr val="1F2A37"/>
                </a:solidFill>
                <a:latin typeface="DM Sans" pitchFamily="34" charset="0"/>
                <a:ea typeface="DM Sans" pitchFamily="34" charset="-122"/>
                <a:cs typeface="DM Sans" pitchFamily="34" charset="-120"/>
              </a:rPr>
              <a:t>what</a:t>
            </a:r>
            <a:r>
              <a:rPr lang="en-US" sz="1700" dirty="0">
                <a:solidFill>
                  <a:srgbClr val="1F2A37"/>
                </a:solidFill>
                <a:latin typeface="DM Sans" pitchFamily="34" charset="0"/>
                <a:ea typeface="DM Sans" pitchFamily="34" charset="-122"/>
                <a:cs typeface="DM Sans" pitchFamily="34" charset="-120"/>
              </a:rPr>
              <a:t> your code does and </a:t>
            </a:r>
            <a:r>
              <a:rPr lang="en-US" sz="1700" b="1" dirty="0">
                <a:solidFill>
                  <a:srgbClr val="1F2A37"/>
                </a:solidFill>
                <a:latin typeface="DM Sans" pitchFamily="34" charset="0"/>
                <a:ea typeface="DM Sans" pitchFamily="34" charset="-122"/>
                <a:cs typeface="DM Sans" pitchFamily="34" charset="-120"/>
              </a:rPr>
              <a:t>why</a:t>
            </a:r>
            <a:endParaRPr lang="en-US" sz="1700" dirty="0"/>
          </a:p>
        </p:txBody>
      </p:sp>
      <p:sp>
        <p:nvSpPr>
          <p:cNvPr id="8" name="Text 6"/>
          <p:cNvSpPr/>
          <p:nvPr/>
        </p:nvSpPr>
        <p:spPr>
          <a:xfrm>
            <a:off x="6299200" y="3520945"/>
            <a:ext cx="5232400"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4A5568"/>
                </a:solidFill>
                <a:latin typeface="DM Sans" pitchFamily="34" charset="0"/>
                <a:ea typeface="DM Sans" pitchFamily="34" charset="-122"/>
                <a:cs typeface="DM Sans" pitchFamily="34" charset="-120"/>
              </a:rPr>
              <a:t>Tip: put # in front of a line to switch it off</a:t>
            </a:r>
            <a:endParaRPr lang="en-US" sz="1700" dirty="0"/>
          </a:p>
        </p:txBody>
      </p:sp>
      <p:sp>
        <p:nvSpPr>
          <p:cNvPr id="9" name="Text 7"/>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10" name="Text 8"/>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SYNTAX = GRAMMAR RULES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Two rules to remember</a:t>
            </a:r>
            <a:endParaRPr lang="en-US" sz="3600" dirty="0"/>
          </a:p>
        </p:txBody>
      </p:sp>
      <p:sp>
        <p:nvSpPr>
          <p:cNvPr id="4" name="Shape 2"/>
          <p:cNvSpPr/>
          <p:nvPr/>
        </p:nvSpPr>
        <p:spPr>
          <a:xfrm>
            <a:off x="815975" y="1989404"/>
            <a:ext cx="5124450" cy="2430330"/>
          </a:xfrm>
          <a:prstGeom prst="roundRect">
            <a:avLst>
              <a:gd name="adj" fmla="val 5095"/>
            </a:avLst>
          </a:prstGeom>
          <a:solidFill>
            <a:srgbClr val="FFFFFF"/>
          </a:solidFill>
          <a:ln w="6350">
            <a:solidFill>
              <a:srgbClr val="D5DEE8"/>
            </a:solidFill>
            <a:prstDash val="solid"/>
          </a:ln>
        </p:spPr>
      </p:sp>
      <p:sp>
        <p:nvSpPr>
          <p:cNvPr id="5" name="Text 3"/>
          <p:cNvSpPr/>
          <p:nvPr/>
        </p:nvSpPr>
        <p:spPr>
          <a:xfrm>
            <a:off x="1121833" y="2295265"/>
            <a:ext cx="46481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3776AB"/>
                </a:solidFill>
                <a:latin typeface="DM Sans" pitchFamily="34" charset="0"/>
                <a:ea typeface="DM Sans" pitchFamily="34" charset="-122"/>
                <a:cs typeface="DM Sans" pitchFamily="34" charset="-120"/>
              </a:rPr>
              <a:t>Rule 1</a:t>
            </a:r>
            <a:r>
              <a:rPr lang="en-US" sz="2000" b="1" dirty="0">
                <a:solidFill>
                  <a:srgbClr val="1F2A37"/>
                </a:solidFill>
                <a:latin typeface="DM Sans" pitchFamily="34" charset="0"/>
                <a:ea typeface="DM Sans" pitchFamily="34" charset="-122"/>
                <a:cs typeface="DM Sans" pitchFamily="34" charset="-120"/>
              </a:rPr>
              <a:t> · Case-sensitive</a:t>
            </a:r>
            <a:endParaRPr lang="en-US" sz="2000" dirty="0"/>
          </a:p>
        </p:txBody>
      </p:sp>
      <p:sp>
        <p:nvSpPr>
          <p:cNvPr id="6" name="Text 4"/>
          <p:cNvSpPr/>
          <p:nvPr/>
        </p:nvSpPr>
        <p:spPr>
          <a:xfrm>
            <a:off x="1121833" y="2752465"/>
            <a:ext cx="4648115"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Capital and small letters are </a:t>
            </a:r>
            <a:r>
              <a:rPr lang="en-US" sz="1600" b="1" dirty="0">
                <a:solidFill>
                  <a:srgbClr val="1F2A37"/>
                </a:solidFill>
                <a:latin typeface="DM Sans" pitchFamily="34" charset="0"/>
                <a:ea typeface="DM Sans" pitchFamily="34" charset="-122"/>
                <a:cs typeface="DM Sans" pitchFamily="34" charset="-120"/>
              </a:rPr>
              <a:t>different</a:t>
            </a:r>
            <a:r>
              <a:rPr lang="en-US" sz="1600" dirty="0">
                <a:solidFill>
                  <a:srgbClr val="1F2A37"/>
                </a:solidFill>
                <a:latin typeface="DM Sans" pitchFamily="34" charset="0"/>
                <a:ea typeface="DM Sans" pitchFamily="34" charset="-122"/>
                <a:cs typeface="DM Sans" pitchFamily="34" charset="-120"/>
              </a:rPr>
              <a:t>.</a:t>
            </a:r>
            <a:endParaRPr lang="en-US" sz="1600" dirty="0"/>
          </a:p>
        </p:txBody>
      </p:sp>
      <p:sp>
        <p:nvSpPr>
          <p:cNvPr id="7" name="Text 5"/>
          <p:cNvSpPr/>
          <p:nvPr/>
        </p:nvSpPr>
        <p:spPr>
          <a:xfrm>
            <a:off x="1121833" y="3199476"/>
            <a:ext cx="4512733" cy="787400"/>
          </a:xfrm>
          <a:prstGeom prst="roundRect">
            <a:avLst>
              <a:gd name="adj" fmla="val 9677"/>
            </a:avLst>
          </a:prstGeom>
          <a:solidFill>
            <a:srgbClr val="EEF2F6"/>
          </a:solidFill>
          <a:ln/>
        </p:spPr>
        <p:txBody>
          <a:bodyPr wrap="square" lIns="155482" tIns="104682" rIns="30768" bIns="79282" rtlCol="0" anchor="t">
            <a:normAutofit/>
          </a:bodyPr>
          <a:lstStyle/>
          <a:p>
            <a:pPr algn="l" indent="0" marL="0">
              <a:lnSpc>
                <a:spcPts val="2100"/>
              </a:lnSpc>
              <a:buNone/>
            </a:pPr>
            <a:r>
              <a:rPr lang="en-US" sz="1500" dirty="0">
                <a:solidFill>
                  <a:srgbClr val="1F2A37"/>
                </a:solidFill>
                <a:latin typeface="JetBrains Mono" pitchFamily="49" charset="0"/>
                <a:ea typeface="JetBrains Mono" pitchFamily="49" charset="-122"/>
                <a:cs typeface="JetBrains Mono" pitchFamily="49" charset="-120"/>
              </a:rPr>
              <a:t>name ≠ Name ≠ NAME</a:t>
            </a:r>
            <a:endParaRPr lang="en-US" sz="1500" dirty="0"/>
          </a:p>
          <a:p>
            <a:pPr algn="l" indent="0" marL="0">
              <a:lnSpc>
                <a:spcPts val="2100"/>
              </a:lnSpc>
              <a:buNone/>
            </a:pPr>
            <a:r>
              <a:rPr lang="en-US" sz="1500" dirty="0">
                <a:solidFill>
                  <a:srgbClr val="1F2A37"/>
                </a:solidFill>
                <a:latin typeface="JetBrains Mono" pitchFamily="49" charset="0"/>
                <a:ea typeface="JetBrains Mono" pitchFamily="49" charset="-122"/>
                <a:cs typeface="JetBrains Mono" pitchFamily="49" charset="-120"/>
              </a:rPr>
              <a:t>print ✅  Print ❌</a:t>
            </a:r>
            <a:endParaRPr lang="en-US" sz="1500" dirty="0"/>
          </a:p>
        </p:txBody>
      </p:sp>
      <p:sp>
        <p:nvSpPr>
          <p:cNvPr id="8" name="Shape 6"/>
          <p:cNvSpPr/>
          <p:nvPr/>
        </p:nvSpPr>
        <p:spPr>
          <a:xfrm>
            <a:off x="6251575" y="1989404"/>
            <a:ext cx="5124450" cy="2430330"/>
          </a:xfrm>
          <a:prstGeom prst="roundRect">
            <a:avLst>
              <a:gd name="adj" fmla="val 5095"/>
            </a:avLst>
          </a:prstGeom>
          <a:solidFill>
            <a:srgbClr val="FFFFFF"/>
          </a:solidFill>
          <a:ln w="6350">
            <a:solidFill>
              <a:srgbClr val="D5DEE8"/>
            </a:solidFill>
            <a:prstDash val="solid"/>
          </a:ln>
        </p:spPr>
      </p:sp>
      <p:sp>
        <p:nvSpPr>
          <p:cNvPr id="9" name="Text 7"/>
          <p:cNvSpPr/>
          <p:nvPr/>
        </p:nvSpPr>
        <p:spPr>
          <a:xfrm>
            <a:off x="6557434" y="2295265"/>
            <a:ext cx="46481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3776AB"/>
                </a:solidFill>
                <a:latin typeface="DM Sans" pitchFamily="34" charset="0"/>
                <a:ea typeface="DM Sans" pitchFamily="34" charset="-122"/>
                <a:cs typeface="DM Sans" pitchFamily="34" charset="-120"/>
              </a:rPr>
              <a:t>Rule 2</a:t>
            </a:r>
            <a:r>
              <a:rPr lang="en-US" sz="2000" b="1" dirty="0">
                <a:solidFill>
                  <a:srgbClr val="1F2A37"/>
                </a:solidFill>
                <a:latin typeface="DM Sans" pitchFamily="34" charset="0"/>
                <a:ea typeface="DM Sans" pitchFamily="34" charset="-122"/>
                <a:cs typeface="DM Sans" pitchFamily="34" charset="-120"/>
              </a:rPr>
              <a:t> · Indentation</a:t>
            </a:r>
            <a:endParaRPr lang="en-US" sz="2000" dirty="0"/>
          </a:p>
        </p:txBody>
      </p:sp>
      <p:sp>
        <p:nvSpPr>
          <p:cNvPr id="10" name="Text 8"/>
          <p:cNvSpPr/>
          <p:nvPr/>
        </p:nvSpPr>
        <p:spPr>
          <a:xfrm>
            <a:off x="6557434" y="2752465"/>
            <a:ext cx="4648115"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F2A37"/>
                </a:solidFill>
                <a:latin typeface="DM Sans" pitchFamily="34" charset="0"/>
                <a:ea typeface="DM Sans" pitchFamily="34" charset="-122"/>
                <a:cs typeface="DM Sans" pitchFamily="34" charset="-120"/>
              </a:rPr>
              <a:t>Spaces at the start of a line </a:t>
            </a:r>
            <a:r>
              <a:rPr lang="en-US" sz="1600" b="1" dirty="0">
                <a:solidFill>
                  <a:srgbClr val="1F2A37"/>
                </a:solidFill>
                <a:latin typeface="DM Sans" pitchFamily="34" charset="0"/>
                <a:ea typeface="DM Sans" pitchFamily="34" charset="-122"/>
                <a:cs typeface="DM Sans" pitchFamily="34" charset="-120"/>
              </a:rPr>
              <a:t>group</a:t>
            </a:r>
            <a:r>
              <a:rPr lang="en-US" sz="1600" dirty="0">
                <a:solidFill>
                  <a:srgbClr val="1F2A37"/>
                </a:solidFill>
                <a:latin typeface="DM Sans" pitchFamily="34" charset="0"/>
                <a:ea typeface="DM Sans" pitchFamily="34" charset="-122"/>
                <a:cs typeface="DM Sans" pitchFamily="34" charset="-120"/>
              </a:rPr>
              <a:t> code.</a:t>
            </a:r>
            <a:endParaRPr lang="en-US" sz="1600" dirty="0"/>
          </a:p>
        </p:txBody>
      </p:sp>
      <p:sp>
        <p:nvSpPr>
          <p:cNvPr id="11" name="Text 9"/>
          <p:cNvSpPr/>
          <p:nvPr/>
        </p:nvSpPr>
        <p:spPr>
          <a:xfrm>
            <a:off x="6557434" y="3199476"/>
            <a:ext cx="4512733" cy="914400"/>
          </a:xfrm>
          <a:prstGeom prst="roundRect">
            <a:avLst>
              <a:gd name="adj" fmla="val 8333"/>
            </a:avLst>
          </a:prstGeom>
          <a:solidFill>
            <a:srgbClr val="1F2A37"/>
          </a:solidFill>
          <a:ln/>
        </p:spPr>
        <p:txBody>
          <a:bodyPr wrap="square" lIns="180882" tIns="130082" rIns="57692" bIns="104682" rtlCol="0" anchor="t">
            <a:normAutofit/>
          </a:bodyPr>
          <a:lstStyle/>
          <a:p>
            <a:pPr algn="l" indent="0" marL="0">
              <a:lnSpc>
                <a:spcPts val="2400"/>
              </a:lnSpc>
              <a:buNone/>
            </a:pPr>
            <a:r>
              <a:rPr lang="en-US" sz="1500" dirty="0">
                <a:solidFill>
                  <a:srgbClr val="8EC1F0"/>
                </a:solidFill>
                <a:latin typeface="JetBrains Mono" pitchFamily="49" charset="0"/>
                <a:ea typeface="JetBrains Mono" pitchFamily="49" charset="-122"/>
                <a:cs typeface="JetBrains Mono" pitchFamily="49" charset="-120"/>
              </a:rPr>
              <a:t>if</a:t>
            </a:r>
            <a:r>
              <a:rPr lang="en-US" sz="1500" dirty="0">
                <a:solidFill>
                  <a:srgbClr val="E8EDF3"/>
                </a:solidFill>
                <a:latin typeface="JetBrains Mono" pitchFamily="49" charset="0"/>
                <a:ea typeface="JetBrains Mono" pitchFamily="49" charset="-122"/>
                <a:cs typeface="JetBrains Mono" pitchFamily="49" charset="-120"/>
              </a:rPr>
              <a:t> True:</a:t>
            </a:r>
            <a:endParaRPr lang="en-US" sz="1500" dirty="0"/>
          </a:p>
          <a:p>
            <a:pPr algn="l" indent="0" marL="0">
              <a:lnSpc>
                <a:spcPts val="2400"/>
              </a:lnSpc>
              <a:buNone/>
            </a:pPr>
            <a:r>
              <a:rPr lang="en-US" sz="1500" dirty="0">
                <a:solidFill>
                  <a:srgbClr val="E8EDF3"/>
                </a:solidFill>
                <a:latin typeface="JetBrains Mono" pitchFamily="49" charset="0"/>
                <a:ea typeface="JetBrains Mono" pitchFamily="49" charset="-122"/>
                <a:cs typeface="JetBrains Mono" pitchFamily="49" charset="-120"/>
              </a:rPr>
              <a:t>    print(</a:t>
            </a:r>
            <a:r>
              <a:rPr lang="en-US" sz="1500" dirty="0">
                <a:solidFill>
                  <a:srgbClr val="F2C94C"/>
                </a:solidFill>
                <a:latin typeface="JetBrains Mono" pitchFamily="49" charset="0"/>
                <a:ea typeface="JetBrains Mono" pitchFamily="49" charset="-122"/>
                <a:cs typeface="JetBrains Mono" pitchFamily="49" charset="-120"/>
              </a:rPr>
              <a:t>"Hello"</a:t>
            </a:r>
            <a:r>
              <a:rPr lang="en-US" sz="1500" dirty="0">
                <a:solidFill>
                  <a:srgbClr val="E8EDF3"/>
                </a:solidFill>
                <a:latin typeface="JetBrains Mono" pitchFamily="49" charset="0"/>
                <a:ea typeface="JetBrains Mono" pitchFamily="49" charset="-122"/>
                <a:cs typeface="JetBrains Mono" pitchFamily="49" charset="-120"/>
              </a:rPr>
              <a:t>)</a:t>
            </a:r>
            <a:endParaRPr lang="en-US" sz="1500" dirty="0"/>
          </a:p>
        </p:txBody>
      </p:sp>
      <p:sp>
        <p:nvSpPr>
          <p:cNvPr id="12" name="Text 10"/>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13"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F5F8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E0F1"/>
                </a:solidFill>
                <a:latin typeface="DM Sans" pitchFamily="34" charset="0"/>
                <a:ea typeface="DM Sans" pitchFamily="34" charset="-122"/>
                <a:cs typeface="DM Sans" pitchFamily="34" charset="-120"/>
              </a:rPr>
              <a:t>🐛 ERRORS ARE NORMAL!</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AF9F6"/>
                </a:solidFill>
                <a:latin typeface="DM Sans" pitchFamily="34" charset="0"/>
                <a:ea typeface="DM Sans" pitchFamily="34" charset="-122"/>
                <a:cs typeface="DM Sans" pitchFamily="34" charset="-120"/>
              </a:rPr>
              <a:t>Common beginner errors</a:t>
            </a:r>
            <a:endParaRPr lang="en-US" sz="3600" dirty="0"/>
          </a:p>
        </p:txBody>
      </p:sp>
      <p:sp>
        <p:nvSpPr>
          <p:cNvPr id="4" name="Shape 2"/>
          <p:cNvSpPr/>
          <p:nvPr/>
        </p:nvSpPr>
        <p:spPr>
          <a:xfrm>
            <a:off x="812800" y="1935429"/>
            <a:ext cx="3386667" cy="1447668"/>
          </a:xfrm>
          <a:prstGeom prst="roundRect">
            <a:avLst>
              <a:gd name="adj" fmla="val 8773"/>
            </a:avLst>
          </a:prstGeom>
          <a:solidFill>
            <a:srgbClr val="1F2A37"/>
          </a:solidFill>
          <a:ln/>
        </p:spPr>
      </p:sp>
      <p:sp>
        <p:nvSpPr>
          <p:cNvPr id="5" name="Text 3"/>
          <p:cNvSpPr/>
          <p:nvPr/>
        </p:nvSpPr>
        <p:spPr>
          <a:xfrm>
            <a:off x="1066800" y="2189429"/>
            <a:ext cx="29650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9F6"/>
                </a:solidFill>
                <a:latin typeface="DM Sans" pitchFamily="34" charset="0"/>
                <a:ea typeface="DM Sans" pitchFamily="34" charset="-122"/>
                <a:cs typeface="DM Sans" pitchFamily="34" charset="-120"/>
              </a:rPr>
              <a:t>Wrong capital</a:t>
            </a:r>
            <a:endParaRPr lang="en-US" sz="1600" dirty="0"/>
          </a:p>
        </p:txBody>
      </p:sp>
      <p:sp>
        <p:nvSpPr>
          <p:cNvPr id="6" name="Text 4"/>
          <p:cNvSpPr/>
          <p:nvPr/>
        </p:nvSpPr>
        <p:spPr>
          <a:xfrm>
            <a:off x="1066800" y="2560241"/>
            <a:ext cx="2965027" cy="594254"/>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Print("Hello")</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print("Hello")</a:t>
            </a:r>
            <a:endParaRPr lang="en-US" sz="1400" dirty="0"/>
          </a:p>
        </p:txBody>
      </p:sp>
      <p:sp>
        <p:nvSpPr>
          <p:cNvPr id="7" name="Shape 5"/>
          <p:cNvSpPr/>
          <p:nvPr/>
        </p:nvSpPr>
        <p:spPr>
          <a:xfrm>
            <a:off x="4402667" y="1935429"/>
            <a:ext cx="3386667" cy="1447668"/>
          </a:xfrm>
          <a:prstGeom prst="roundRect">
            <a:avLst>
              <a:gd name="adj" fmla="val 8773"/>
            </a:avLst>
          </a:prstGeom>
          <a:solidFill>
            <a:srgbClr val="1F2A37"/>
          </a:solidFill>
          <a:ln/>
        </p:spPr>
      </p:sp>
      <p:sp>
        <p:nvSpPr>
          <p:cNvPr id="8" name="Text 6"/>
          <p:cNvSpPr/>
          <p:nvPr/>
        </p:nvSpPr>
        <p:spPr>
          <a:xfrm>
            <a:off x="4656667" y="2189429"/>
            <a:ext cx="29650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9F6"/>
                </a:solidFill>
                <a:latin typeface="DM Sans" pitchFamily="34" charset="0"/>
                <a:ea typeface="DM Sans" pitchFamily="34" charset="-122"/>
                <a:cs typeface="DM Sans" pitchFamily="34" charset="-120"/>
              </a:rPr>
              <a:t>Missing quotes</a:t>
            </a:r>
            <a:endParaRPr lang="en-US" sz="1600" dirty="0"/>
          </a:p>
        </p:txBody>
      </p:sp>
      <p:sp>
        <p:nvSpPr>
          <p:cNvPr id="9" name="Text 7"/>
          <p:cNvSpPr/>
          <p:nvPr/>
        </p:nvSpPr>
        <p:spPr>
          <a:xfrm>
            <a:off x="4656667" y="2560241"/>
            <a:ext cx="2965027" cy="594254"/>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print(Hello)</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print("Hello")</a:t>
            </a:r>
            <a:endParaRPr lang="en-US" sz="1400" dirty="0"/>
          </a:p>
        </p:txBody>
      </p:sp>
      <p:sp>
        <p:nvSpPr>
          <p:cNvPr id="10" name="Shape 8"/>
          <p:cNvSpPr/>
          <p:nvPr/>
        </p:nvSpPr>
        <p:spPr>
          <a:xfrm>
            <a:off x="7992534" y="1935429"/>
            <a:ext cx="3386667" cy="1447668"/>
          </a:xfrm>
          <a:prstGeom prst="roundRect">
            <a:avLst>
              <a:gd name="adj" fmla="val 8773"/>
            </a:avLst>
          </a:prstGeom>
          <a:solidFill>
            <a:srgbClr val="1F2A37"/>
          </a:solidFill>
          <a:ln/>
        </p:spPr>
      </p:sp>
      <p:sp>
        <p:nvSpPr>
          <p:cNvPr id="11" name="Text 9"/>
          <p:cNvSpPr/>
          <p:nvPr/>
        </p:nvSpPr>
        <p:spPr>
          <a:xfrm>
            <a:off x="8246534" y="2189429"/>
            <a:ext cx="2965027"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AF9F6"/>
                </a:solidFill>
                <a:latin typeface="DM Sans" pitchFamily="34" charset="0"/>
                <a:ea typeface="DM Sans" pitchFamily="34" charset="-122"/>
                <a:cs typeface="DM Sans" pitchFamily="34" charset="-120"/>
              </a:rPr>
              <a:t>Unclosed quote</a:t>
            </a:r>
            <a:endParaRPr lang="en-US" sz="1600" dirty="0"/>
          </a:p>
        </p:txBody>
      </p:sp>
      <p:sp>
        <p:nvSpPr>
          <p:cNvPr id="12" name="Text 10"/>
          <p:cNvSpPr/>
          <p:nvPr/>
        </p:nvSpPr>
        <p:spPr>
          <a:xfrm>
            <a:off x="8246534" y="2560241"/>
            <a:ext cx="2965027" cy="594254"/>
          </a:xfrm>
          <a:prstGeom prst="rect">
            <a:avLst/>
          </a:prstGeom>
          <a:noFill/>
          <a:ln/>
        </p:spPr>
        <p:txBody>
          <a:bodyPr wrap="square" lIns="0" tIns="0" rIns="0" bIns="0" rtlCol="0" anchor="t">
            <a:normAutofit/>
          </a:bodyPr>
          <a:lstStyle/>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print("Hello)</a:t>
            </a:r>
            <a:endParaRPr lang="en-US" sz="1400" dirty="0"/>
          </a:p>
          <a:p>
            <a:pPr algn="l" indent="0" marL="0">
              <a:lnSpc>
                <a:spcPts val="2240"/>
              </a:lnSpc>
              <a:buNone/>
            </a:pPr>
            <a:r>
              <a:rPr lang="en-US" sz="1400" dirty="0">
                <a:solidFill>
                  <a:srgbClr val="E8EDF3"/>
                </a:solidFill>
                <a:latin typeface="JetBrains Mono" pitchFamily="49" charset="0"/>
                <a:ea typeface="JetBrains Mono" pitchFamily="49" charset="-122"/>
                <a:cs typeface="JetBrains Mono" pitchFamily="49" charset="-120"/>
              </a:rPr>
              <a:t>✅ print("Hello")</a:t>
            </a:r>
            <a:endParaRPr lang="en-US" sz="1400" dirty="0"/>
          </a:p>
        </p:txBody>
      </p:sp>
      <p:sp>
        <p:nvSpPr>
          <p:cNvPr id="13" name="Text 11"/>
          <p:cNvSpPr/>
          <p:nvPr/>
        </p:nvSpPr>
        <p:spPr>
          <a:xfrm>
            <a:off x="812800" y="3687899"/>
            <a:ext cx="10883392" cy="320014"/>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E3ECF6"/>
                </a:solidFill>
                <a:latin typeface="DM Sans" pitchFamily="34" charset="0"/>
                <a:ea typeface="DM Sans" pitchFamily="34" charset="-122"/>
                <a:cs typeface="DM Sans" pitchFamily="34" charset="-120"/>
              </a:rPr>
              <a:t>Read the </a:t>
            </a:r>
            <a:r>
              <a:rPr lang="en-US" sz="1600" b="1" dirty="0">
                <a:solidFill>
                  <a:srgbClr val="E3ECF6"/>
                </a:solidFill>
                <a:latin typeface="DM Sans" pitchFamily="34" charset="0"/>
                <a:ea typeface="DM Sans" pitchFamily="34" charset="-122"/>
                <a:cs typeface="DM Sans" pitchFamily="34" charset="-120"/>
              </a:rPr>
              <a:t>last line</a:t>
            </a:r>
            <a:r>
              <a:rPr lang="en-US" sz="1600" dirty="0">
                <a:solidFill>
                  <a:srgbClr val="E3ECF6"/>
                </a:solidFill>
                <a:latin typeface="DM Sans" pitchFamily="34" charset="0"/>
                <a:ea typeface="DM Sans" pitchFamily="34" charset="-122"/>
                <a:cs typeface="DM Sans" pitchFamily="34" charset="-120"/>
              </a:rPr>
              <a:t> of the error message, then check spelling, capitals, quotes and brackets.</a:t>
            </a:r>
            <a:endParaRPr lang="en-US" sz="1600" dirty="0"/>
          </a:p>
        </p:txBody>
      </p:sp>
      <p:sp>
        <p:nvSpPr>
          <p:cNvPr id="14" name="Text 12"/>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E0F1"/>
                </a:solidFill>
                <a:latin typeface="DM Sans" pitchFamily="34" charset="0"/>
                <a:ea typeface="DM Sans" pitchFamily="34" charset="-122"/>
                <a:cs typeface="DM Sans" pitchFamily="34" charset="-120"/>
              </a:rPr>
              <a:t>Python for Beginners · Day 1: introduction</a:t>
            </a:r>
            <a:endParaRPr lang="en-US" sz="1200" dirty="0"/>
          </a:p>
        </p:txBody>
      </p:sp>
      <p:sp>
        <p:nvSpPr>
          <p:cNvPr id="15"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CFE0F1"/>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LIVE CODING · 15 MINUTES</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Program 1: introduce yourself</a:t>
            </a:r>
            <a:endParaRPr lang="en-US" sz="3600" dirty="0"/>
          </a:p>
        </p:txBody>
      </p:sp>
      <p:sp>
        <p:nvSpPr>
          <p:cNvPr id="4" name="Text 2"/>
          <p:cNvSpPr/>
          <p:nvPr/>
        </p:nvSpPr>
        <p:spPr>
          <a:xfrm>
            <a:off x="812800" y="1986229"/>
            <a:ext cx="6096000" cy="1584920"/>
          </a:xfrm>
          <a:prstGeom prst="roundRect">
            <a:avLst>
              <a:gd name="adj" fmla="val 8013"/>
            </a:avLst>
          </a:prstGeom>
          <a:solidFill>
            <a:srgbClr val="1F2A37"/>
          </a:solidFill>
          <a:ln/>
        </p:spPr>
        <p:txBody>
          <a:bodyPr wrap="square" lIns="318403" tIns="267603" rIns="156859" bIns="242203" rtlCol="0" anchor="t">
            <a:normAutofit/>
          </a:bodyPr>
          <a:lstStyle/>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"My name is Ahmed"</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"I am studying Computer Science"</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a:p>
            <a:pPr algn="l" indent="0" marL="0">
              <a:lnSpc>
                <a:spcPts val="2560"/>
              </a:lnSpc>
              <a:buNone/>
            </a:pPr>
            <a:r>
              <a:rPr lang="en-US" sz="1600" dirty="0">
                <a:solidFill>
                  <a:srgbClr val="E8EDF3"/>
                </a:solidFill>
                <a:latin typeface="JetBrains Mono" pitchFamily="49" charset="0"/>
                <a:ea typeface="JetBrains Mono" pitchFamily="49" charset="-122"/>
                <a:cs typeface="JetBrains Mono" pitchFamily="49" charset="-120"/>
              </a:rPr>
              <a:t>print(</a:t>
            </a:r>
            <a:r>
              <a:rPr lang="en-US" sz="1600" dirty="0">
                <a:solidFill>
                  <a:srgbClr val="F2C94C"/>
                </a:solidFill>
                <a:latin typeface="JetBrains Mono" pitchFamily="49" charset="0"/>
                <a:ea typeface="JetBrains Mono" pitchFamily="49" charset="-122"/>
                <a:cs typeface="JetBrains Mono" pitchFamily="49" charset="-120"/>
              </a:rPr>
              <a:t>"I want to become a programmer"</a:t>
            </a:r>
            <a:r>
              <a:rPr lang="en-US" sz="1600" dirty="0">
                <a:solidFill>
                  <a:srgbClr val="E8EDF3"/>
                </a:solidFill>
                <a:latin typeface="JetBrains Mono" pitchFamily="49" charset="0"/>
                <a:ea typeface="JetBrains Mono" pitchFamily="49" charset="-122"/>
                <a:cs typeface="JetBrains Mono" pitchFamily="49" charset="-120"/>
              </a:rPr>
              <a:t>)</a:t>
            </a:r>
            <a:endParaRPr lang="en-US" sz="1600" dirty="0"/>
          </a:p>
        </p:txBody>
      </p:sp>
      <p:sp>
        <p:nvSpPr>
          <p:cNvPr id="5" name="Text 3"/>
          <p:cNvSpPr/>
          <p:nvPr/>
        </p:nvSpPr>
        <p:spPr>
          <a:xfrm>
            <a:off x="7315200" y="2131355"/>
            <a:ext cx="4185920"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Change the text to </a:t>
            </a:r>
            <a:r>
              <a:rPr lang="en-US" sz="1700" b="1" dirty="0">
                <a:solidFill>
                  <a:srgbClr val="1F2A37"/>
                </a:solidFill>
                <a:latin typeface="DM Sans" pitchFamily="34" charset="0"/>
                <a:ea typeface="DM Sans" pitchFamily="34" charset="-122"/>
                <a:cs typeface="DM Sans" pitchFamily="34" charset="-120"/>
              </a:rPr>
              <a:t>your own</a:t>
            </a:r>
            <a:r>
              <a:rPr lang="en-US" sz="1700" dirty="0">
                <a:solidFill>
                  <a:srgbClr val="1F2A37"/>
                </a:solidFill>
                <a:latin typeface="DM Sans" pitchFamily="34" charset="0"/>
                <a:ea typeface="DM Sans" pitchFamily="34" charset="-122"/>
                <a:cs typeface="DM Sans" pitchFamily="34" charset="-120"/>
              </a:rPr>
              <a:t> details.</a:t>
            </a:r>
            <a:endParaRPr lang="en-US" sz="1700" dirty="0"/>
          </a:p>
        </p:txBody>
      </p:sp>
      <p:sp>
        <p:nvSpPr>
          <p:cNvPr id="6" name="Text 4"/>
          <p:cNvSpPr/>
          <p:nvPr/>
        </p:nvSpPr>
        <p:spPr>
          <a:xfrm>
            <a:off x="7315200" y="2622153"/>
            <a:ext cx="4876800"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1F2A37"/>
                </a:solidFill>
                <a:latin typeface="DM Sans" pitchFamily="34" charset="0"/>
                <a:ea typeface="DM Sans" pitchFamily="34" charset="-122"/>
                <a:cs typeface="DM Sans" pitchFamily="34" charset="-120"/>
              </a:rPr>
              <a:t>Add at least </a:t>
            </a:r>
            <a:r>
              <a:rPr lang="en-US" sz="1700" b="1" dirty="0">
                <a:solidFill>
                  <a:srgbClr val="1F2A37"/>
                </a:solidFill>
                <a:latin typeface="DM Sans" pitchFamily="34" charset="0"/>
                <a:ea typeface="DM Sans" pitchFamily="34" charset="-122"/>
                <a:cs typeface="DM Sans" pitchFamily="34" charset="-120"/>
              </a:rPr>
              <a:t>4 lines</a:t>
            </a:r>
            <a:r>
              <a:rPr lang="en-US" sz="1700" dirty="0">
                <a:solidFill>
                  <a:srgbClr val="1F2A37"/>
                </a:solidFill>
                <a:latin typeface="DM Sans" pitchFamily="34" charset="0"/>
                <a:ea typeface="DM Sans" pitchFamily="34" charset="-122"/>
                <a:cs typeface="DM Sans" pitchFamily="34" charset="-120"/>
              </a:rPr>
              <a:t> and </a:t>
            </a:r>
            <a:r>
              <a:rPr lang="en-US" sz="1700" b="1" dirty="0">
                <a:solidFill>
                  <a:srgbClr val="1F2A37"/>
                </a:solidFill>
                <a:latin typeface="DM Sans" pitchFamily="34" charset="0"/>
                <a:ea typeface="DM Sans" pitchFamily="34" charset="-122"/>
                <a:cs typeface="DM Sans" pitchFamily="34" charset="-120"/>
              </a:rPr>
              <a:t>one comment</a:t>
            </a:r>
            <a:r>
              <a:rPr lang="en-US" sz="1700" dirty="0">
                <a:solidFill>
                  <a:srgbClr val="1F2A37"/>
                </a:solidFill>
                <a:latin typeface="DM Sans" pitchFamily="34" charset="0"/>
                <a:ea typeface="DM Sans" pitchFamily="34" charset="-122"/>
                <a:cs typeface="DM Sans" pitchFamily="34" charset="-120"/>
              </a:rPr>
              <a:t>.</a:t>
            </a:r>
            <a:endParaRPr lang="en-US" sz="1700" dirty="0"/>
          </a:p>
        </p:txBody>
      </p:sp>
      <p:sp>
        <p:nvSpPr>
          <p:cNvPr id="7" name="Text 5"/>
          <p:cNvSpPr/>
          <p:nvPr/>
        </p:nvSpPr>
        <p:spPr>
          <a:xfrm>
            <a:off x="7315200" y="3112957"/>
            <a:ext cx="4185920" cy="338402"/>
          </a:xfrm>
          <a:prstGeom prst="rect">
            <a:avLst/>
          </a:prstGeom>
          <a:noFill/>
          <a:ln/>
        </p:spPr>
        <p:txBody>
          <a:bodyPr wrap="square" lIns="0" tIns="0" rIns="0" bIns="0" rtlCol="0" anchor="t">
            <a:normAutofit/>
          </a:bodyPr>
          <a:lstStyle/>
          <a:p>
            <a:pPr algn="l" indent="0" marL="0">
              <a:lnSpc>
                <a:spcPts val="2465"/>
              </a:lnSpc>
              <a:buNone/>
            </a:pPr>
            <a:r>
              <a:rPr lang="en-US" sz="1700" dirty="0">
                <a:solidFill>
                  <a:srgbClr val="4A5568"/>
                </a:solidFill>
                <a:latin typeface="DM Sans" pitchFamily="34" charset="0"/>
                <a:ea typeface="DM Sans" pitchFamily="34" charset="-122"/>
                <a:cs typeface="DM Sans" pitchFamily="34" charset="-120"/>
              </a:rPr>
              <a:t>Run it with </a:t>
            </a:r>
            <a:r>
              <a:rPr lang="en-US" sz="1700" b="1" dirty="0">
                <a:solidFill>
                  <a:srgbClr val="4A5568"/>
                </a:solidFill>
                <a:latin typeface="DM Sans" pitchFamily="34" charset="0"/>
                <a:ea typeface="DM Sans" pitchFamily="34" charset="-122"/>
                <a:cs typeface="DM Sans" pitchFamily="34" charset="-120"/>
              </a:rPr>
              <a:t>Shift + Enter</a:t>
            </a:r>
            <a:r>
              <a:rPr lang="en-US" sz="1700" dirty="0">
                <a:solidFill>
                  <a:srgbClr val="4A5568"/>
                </a:solidFill>
                <a:latin typeface="DM Sans" pitchFamily="34" charset="0"/>
                <a:ea typeface="DM Sans" pitchFamily="34" charset="-122"/>
                <a:cs typeface="DM Sans" pitchFamily="34" charset="-120"/>
              </a:rPr>
              <a:t>.</a:t>
            </a:r>
            <a:endParaRPr lang="en-US" sz="1700" dirty="0"/>
          </a:p>
        </p:txBody>
      </p:sp>
      <p:sp>
        <p:nvSpPr>
          <p:cNvPr id="8" name="Text 6"/>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9" name="Text 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1F4F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MINI PRACTICE</a:t>
            </a:r>
            <a:endParaRPr lang="en-US" sz="1200" dirty="0"/>
          </a:p>
        </p:txBody>
      </p:sp>
      <p:sp>
        <p:nvSpPr>
          <p:cNvPr id="3" name="Text 1"/>
          <p:cNvSpPr/>
          <p:nvPr>
            <p:ph type="title"/>
          </p:nvPr>
        </p:nvSpPr>
        <p:spPr>
          <a:xfrm>
            <a:off x="812800" y="1127720"/>
            <a:ext cx="10883392" cy="5283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F2A37"/>
                </a:solidFill>
                <a:latin typeface="DM Sans" pitchFamily="34" charset="0"/>
                <a:ea typeface="DM Sans" pitchFamily="34" charset="-122"/>
                <a:cs typeface="DM Sans" pitchFamily="34" charset="-120"/>
              </a:rPr>
              <a:t>What is the output?</a:t>
            </a:r>
            <a:endParaRPr lang="en-US" sz="3600" dirty="0"/>
          </a:p>
        </p:txBody>
      </p:sp>
      <p:sp>
        <p:nvSpPr>
          <p:cNvPr id="4" name="Shape 2"/>
          <p:cNvSpPr/>
          <p:nvPr/>
        </p:nvSpPr>
        <p:spPr>
          <a:xfrm>
            <a:off x="815975" y="1989410"/>
            <a:ext cx="3346450" cy="2084784"/>
          </a:xfrm>
          <a:prstGeom prst="roundRect">
            <a:avLst>
              <a:gd name="adj" fmla="val 5939"/>
            </a:avLst>
          </a:prstGeom>
          <a:solidFill>
            <a:srgbClr val="FFFFFF"/>
          </a:solidFill>
          <a:ln w="6350">
            <a:solidFill>
              <a:srgbClr val="D5DEE8"/>
            </a:solidFill>
            <a:prstDash val="solid"/>
          </a:ln>
        </p:spPr>
      </p:sp>
      <p:sp>
        <p:nvSpPr>
          <p:cNvPr id="5" name="Text 3"/>
          <p:cNvSpPr/>
          <p:nvPr/>
        </p:nvSpPr>
        <p:spPr>
          <a:xfrm>
            <a:off x="10710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Question 1</a:t>
            </a:r>
            <a:endParaRPr lang="en-US" sz="1800" dirty="0"/>
          </a:p>
        </p:txBody>
      </p:sp>
      <p:sp>
        <p:nvSpPr>
          <p:cNvPr id="6" name="Text 4"/>
          <p:cNvSpPr/>
          <p:nvPr/>
        </p:nvSpPr>
        <p:spPr>
          <a:xfrm>
            <a:off x="1071033" y="2671167"/>
            <a:ext cx="2836333" cy="883841"/>
          </a:xfrm>
          <a:prstGeom prst="roundRect">
            <a:avLst>
              <a:gd name="adj" fmla="val 10058"/>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a:t>
            </a:r>
            <a:r>
              <a:rPr lang="en-US" sz="1300" dirty="0">
                <a:solidFill>
                  <a:srgbClr val="F2C94C"/>
                </a:solidFill>
                <a:latin typeface="JetBrains Mono" pitchFamily="49" charset="0"/>
                <a:ea typeface="JetBrains Mono" pitchFamily="49" charset="-122"/>
                <a:cs typeface="JetBrains Mono" pitchFamily="49" charset="-120"/>
              </a:rPr>
              <a:t>"Python"</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a:t>
            </a:r>
            <a:r>
              <a:rPr lang="en-US" sz="1300" dirty="0">
                <a:solidFill>
                  <a:srgbClr val="F2C94C"/>
                </a:solidFill>
                <a:latin typeface="JetBrains Mono" pitchFamily="49" charset="0"/>
                <a:ea typeface="JetBrains Mono" pitchFamily="49" charset="-122"/>
                <a:cs typeface="JetBrains Mono" pitchFamily="49" charset="-120"/>
              </a:rPr>
              <a:t>"Programming"</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p:txBody>
      </p:sp>
      <p:sp>
        <p:nvSpPr>
          <p:cNvPr id="7" name="Shape 5"/>
          <p:cNvSpPr/>
          <p:nvPr/>
        </p:nvSpPr>
        <p:spPr>
          <a:xfrm>
            <a:off x="4422775" y="1989410"/>
            <a:ext cx="3346450" cy="2084784"/>
          </a:xfrm>
          <a:prstGeom prst="roundRect">
            <a:avLst>
              <a:gd name="adj" fmla="val 5939"/>
            </a:avLst>
          </a:prstGeom>
          <a:solidFill>
            <a:srgbClr val="FFFFFF"/>
          </a:solidFill>
          <a:ln w="6350">
            <a:solidFill>
              <a:srgbClr val="D5DEE8"/>
            </a:solidFill>
            <a:prstDash val="solid"/>
          </a:ln>
        </p:spPr>
      </p:sp>
      <p:sp>
        <p:nvSpPr>
          <p:cNvPr id="8" name="Text 6"/>
          <p:cNvSpPr/>
          <p:nvPr/>
        </p:nvSpPr>
        <p:spPr>
          <a:xfrm>
            <a:off x="4677833"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Question 2</a:t>
            </a:r>
            <a:endParaRPr lang="en-US" sz="1800" dirty="0"/>
          </a:p>
        </p:txBody>
      </p:sp>
      <p:sp>
        <p:nvSpPr>
          <p:cNvPr id="9" name="Text 7"/>
          <p:cNvSpPr/>
          <p:nvPr/>
        </p:nvSpPr>
        <p:spPr>
          <a:xfrm>
            <a:off x="4677833" y="2671167"/>
            <a:ext cx="2836333" cy="619720"/>
          </a:xfrm>
          <a:prstGeom prst="roundRect">
            <a:avLst>
              <a:gd name="adj" fmla="val 14345"/>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print(10+5)</a:t>
            </a:r>
            <a:endParaRPr lang="en-US" sz="1300" dirty="0"/>
          </a:p>
        </p:txBody>
      </p:sp>
      <p:sp>
        <p:nvSpPr>
          <p:cNvPr id="10" name="Shape 8"/>
          <p:cNvSpPr/>
          <p:nvPr/>
        </p:nvSpPr>
        <p:spPr>
          <a:xfrm>
            <a:off x="8029575" y="1989410"/>
            <a:ext cx="3346450" cy="2084784"/>
          </a:xfrm>
          <a:prstGeom prst="roundRect">
            <a:avLst>
              <a:gd name="adj" fmla="val 5939"/>
            </a:avLst>
          </a:prstGeom>
          <a:solidFill>
            <a:srgbClr val="FFFFFF"/>
          </a:solidFill>
          <a:ln w="6350">
            <a:solidFill>
              <a:srgbClr val="D5DEE8"/>
            </a:solidFill>
            <a:prstDash val="solid"/>
          </a:ln>
        </p:spPr>
      </p:sp>
      <p:sp>
        <p:nvSpPr>
          <p:cNvPr id="11" name="Text 9"/>
          <p:cNvSpPr/>
          <p:nvPr/>
        </p:nvSpPr>
        <p:spPr>
          <a:xfrm>
            <a:off x="8284634" y="2244465"/>
            <a:ext cx="2921423"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F2A37"/>
                </a:solidFill>
                <a:latin typeface="DM Sans" pitchFamily="34" charset="0"/>
                <a:ea typeface="DM Sans" pitchFamily="34" charset="-122"/>
                <a:cs typeface="DM Sans" pitchFamily="34" charset="-120"/>
              </a:rPr>
              <a:t>Question 3</a:t>
            </a:r>
            <a:endParaRPr lang="en-US" sz="1800" dirty="0"/>
          </a:p>
        </p:txBody>
      </p:sp>
      <p:sp>
        <p:nvSpPr>
          <p:cNvPr id="12" name="Text 10"/>
          <p:cNvSpPr/>
          <p:nvPr/>
        </p:nvSpPr>
        <p:spPr>
          <a:xfrm>
            <a:off x="8284634" y="2671167"/>
            <a:ext cx="2836333" cy="1147961"/>
          </a:xfrm>
          <a:prstGeom prst="roundRect">
            <a:avLst>
              <a:gd name="adj" fmla="val 7744"/>
            </a:avLst>
          </a:prstGeom>
          <a:solidFill>
            <a:srgbClr val="1F2A37"/>
          </a:solidFill>
          <a:ln/>
        </p:spPr>
        <p:txBody>
          <a:bodyPr wrap="square" lIns="177162" tIns="151762" rIns="104264" bIns="126362" rtlCol="0" anchor="t">
            <a:normAutofit/>
          </a:bodyPr>
          <a:lstStyle/>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a:t>
            </a:r>
            <a:r>
              <a:rPr lang="en-US" sz="1300" dirty="0">
                <a:solidFill>
                  <a:srgbClr val="F2C94C"/>
                </a:solidFill>
                <a:latin typeface="JetBrains Mono" pitchFamily="49" charset="0"/>
                <a:ea typeface="JetBrains Mono" pitchFamily="49" charset="-122"/>
                <a:cs typeface="JetBrains Mono" pitchFamily="49" charset="-120"/>
              </a:rPr>
              <a:t>"A"</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a:p>
            <a:pPr algn="l" indent="0" marL="0">
              <a:lnSpc>
                <a:spcPts val="2080"/>
              </a:lnSpc>
              <a:buNone/>
            </a:pPr>
            <a:r>
              <a:rPr lang="en-US" sz="1300" dirty="0">
                <a:solidFill>
                  <a:srgbClr val="93A1B3"/>
                </a:solidFill>
                <a:latin typeface="JetBrains Mono" pitchFamily="49" charset="0"/>
                <a:ea typeface="JetBrains Mono" pitchFamily="49" charset="-122"/>
                <a:cs typeface="JetBrains Mono" pitchFamily="49" charset="-120"/>
              </a:rPr>
              <a:t># print("B")</a:t>
            </a:r>
            <a:endParaRPr lang="en-US" sz="1300" dirty="0"/>
          </a:p>
          <a:p>
            <a:pPr algn="l" indent="0" marL="0">
              <a:lnSpc>
                <a:spcPts val="2080"/>
              </a:lnSpc>
              <a:buNone/>
            </a:pPr>
            <a:r>
              <a:rPr lang="en-US" sz="1300" dirty="0">
                <a:solidFill>
                  <a:srgbClr val="E8EDF3"/>
                </a:solidFill>
                <a:latin typeface="JetBrains Mono" pitchFamily="49" charset="0"/>
                <a:ea typeface="JetBrains Mono" pitchFamily="49" charset="-122"/>
                <a:cs typeface="JetBrains Mono" pitchFamily="49" charset="-120"/>
              </a:rPr>
              <a:t>print(</a:t>
            </a:r>
            <a:r>
              <a:rPr lang="en-US" sz="1300" dirty="0">
                <a:solidFill>
                  <a:srgbClr val="F2C94C"/>
                </a:solidFill>
                <a:latin typeface="JetBrains Mono" pitchFamily="49" charset="0"/>
                <a:ea typeface="JetBrains Mono" pitchFamily="49" charset="-122"/>
                <a:cs typeface="JetBrains Mono" pitchFamily="49" charset="-120"/>
              </a:rPr>
              <a:t>"C"</a:t>
            </a:r>
            <a:r>
              <a:rPr lang="en-US" sz="1300" dirty="0">
                <a:solidFill>
                  <a:srgbClr val="E8EDF3"/>
                </a:solidFill>
                <a:latin typeface="JetBrains Mono" pitchFamily="49" charset="0"/>
                <a:ea typeface="JetBrains Mono" pitchFamily="49" charset="-122"/>
                <a:cs typeface="JetBrains Mono" pitchFamily="49" charset="-120"/>
              </a:rPr>
              <a:t>)</a:t>
            </a:r>
            <a:endParaRPr lang="en-US" sz="1300" dirty="0"/>
          </a:p>
        </p:txBody>
      </p:sp>
      <p:sp>
        <p:nvSpPr>
          <p:cNvPr id="13" name="Text 11"/>
          <p:cNvSpPr/>
          <p:nvPr/>
        </p:nvSpPr>
        <p:spPr>
          <a:xfrm>
            <a:off x="8128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4A3"/>
                </a:solidFill>
                <a:latin typeface="DM Sans" pitchFamily="34" charset="0"/>
                <a:ea typeface="DM Sans" pitchFamily="34" charset="-122"/>
                <a:cs typeface="DM Sans" pitchFamily="34" charset="-120"/>
              </a:rPr>
              <a:t>Python for Beginners · Day 1: introduction</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8A94A3"/>
                </a:solidFill>
                <a:latin typeface="DM Sans" pitchFamily="34" charset="0"/>
                <a:ea typeface="DM Sans" pitchFamily="34" charset="-122"/>
                <a:cs typeface="DM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6"/>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3776AB"/>
          </a:solidFill>
          <a:ln/>
        </p:spPr>
      </p:sp>
      <p:sp>
        <p:nvSpPr>
          <p:cNvPr id="3" name="Text 1"/>
          <p:cNvSpPr/>
          <p:nvPr/>
        </p:nvSpPr>
        <p:spPr>
          <a:xfrm>
            <a:off x="812800" y="2147627"/>
            <a:ext cx="512775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776AB"/>
                </a:solidFill>
                <a:latin typeface="DM Sans" pitchFamily="34" charset="0"/>
                <a:ea typeface="DM Sans" pitchFamily="34" charset="-122"/>
                <a:cs typeface="DM Sans" pitchFamily="34" charset="-120"/>
              </a:rPr>
              <a:t>🏆 END OF CLASS CHALLENGE</a:t>
            </a:r>
            <a:endParaRPr lang="en-US" sz="1200" dirty="0"/>
          </a:p>
        </p:txBody>
      </p:sp>
      <p:sp>
        <p:nvSpPr>
          <p:cNvPr id="4" name="Text 2"/>
          <p:cNvSpPr/>
          <p:nvPr>
            <p:ph type="title"/>
          </p:nvPr>
        </p:nvSpPr>
        <p:spPr>
          <a:xfrm>
            <a:off x="812800" y="2564147"/>
            <a:ext cx="5127752" cy="1305454"/>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F2A37"/>
                </a:solidFill>
                <a:latin typeface="DM Sans" pitchFamily="34" charset="0"/>
                <a:ea typeface="DM Sans" pitchFamily="34" charset="-122"/>
                <a:cs typeface="DM Sans" pitchFamily="34" charset="-120"/>
              </a:rPr>
              <a:t>Well done on Day 1!</a:t>
            </a:r>
            <a:endParaRPr lang="en-US" sz="4800" dirty="0"/>
          </a:p>
        </p:txBody>
      </p:sp>
      <p:sp>
        <p:nvSpPr>
          <p:cNvPr id="5" name="Text 3"/>
          <p:cNvSpPr/>
          <p:nvPr/>
        </p:nvSpPr>
        <p:spPr>
          <a:xfrm>
            <a:off x="812800" y="4047406"/>
            <a:ext cx="5127752" cy="688314"/>
          </a:xfrm>
          <a:prstGeom prst="rect">
            <a:avLst/>
          </a:prstGeom>
          <a:noFill/>
          <a:ln/>
        </p:spPr>
        <p:txBody>
          <a:bodyPr wrap="square" lIns="0" tIns="0" rIns="0" bIns="0" rtlCol="0" anchor="t">
            <a:normAutofit/>
          </a:bodyPr>
          <a:lstStyle/>
          <a:p>
            <a:pPr algn="l" indent="0" marL="0">
              <a:lnSpc>
                <a:spcPts val="2610"/>
              </a:lnSpc>
              <a:buNone/>
            </a:pPr>
            <a:r>
              <a:rPr lang="en-US" sz="1800" dirty="0">
                <a:solidFill>
                  <a:srgbClr val="4A5568"/>
                </a:solidFill>
                <a:latin typeface="DM Sans" pitchFamily="34" charset="0"/>
                <a:ea typeface="DM Sans" pitchFamily="34" charset="-122"/>
                <a:cs typeface="DM Sans" pitchFamily="34" charset="-120"/>
              </a:rPr>
              <a:t>Create your own program using </a:t>
            </a:r>
            <a:r>
              <a:rPr lang="en-US" sz="1800" b="1" dirty="0">
                <a:solidFill>
                  <a:srgbClr val="4A5568"/>
                </a:solidFill>
                <a:latin typeface="DM Sans" pitchFamily="34" charset="0"/>
                <a:ea typeface="DM Sans" pitchFamily="34" charset="-122"/>
                <a:cs typeface="DM Sans" pitchFamily="34" charset="-120"/>
              </a:rPr>
              <a:t>print()</a:t>
            </a:r>
            <a:r>
              <a:rPr lang="en-US" sz="1800" dirty="0">
                <a:solidFill>
                  <a:srgbClr val="4A5568"/>
                </a:solidFill>
                <a:latin typeface="DM Sans" pitchFamily="34" charset="0"/>
                <a:ea typeface="DM Sans" pitchFamily="34" charset="-122"/>
                <a:cs typeface="DM Sans" pitchFamily="34" charset="-120"/>
              </a:rPr>
              <a:t>, then try </a:t>
            </a:r>
            <a:r>
              <a:rPr lang="en-US" sz="1800" b="1" dirty="0">
                <a:solidFill>
                  <a:srgbClr val="4A5568"/>
                </a:solidFill>
                <a:latin typeface="DM Sans" pitchFamily="34" charset="0"/>
                <a:ea typeface="DM Sans" pitchFamily="34" charset="-122"/>
                <a:cs typeface="DM Sans" pitchFamily="34" charset="-120"/>
              </a:rPr>
              <a:t>exercises.ipynb</a:t>
            </a:r>
            <a:r>
              <a:rPr lang="en-US" sz="1800" dirty="0">
                <a:solidFill>
                  <a:srgbClr val="4A5568"/>
                </a:solidFill>
                <a:latin typeface="DM Sans" pitchFamily="34" charset="0"/>
                <a:ea typeface="DM Sans" pitchFamily="34" charset="-122"/>
                <a:cs typeface="DM Sans" pitchFamily="34" charset="-120"/>
              </a:rPr>
              <a:t> in the Day 1 folder.</a:t>
            </a:r>
            <a:endParaRPr lang="en-US" sz="1800" dirty="0"/>
          </a:p>
        </p:txBody>
      </p:sp>
      <p:sp>
        <p:nvSpPr>
          <p:cNvPr id="6" name="Text 4"/>
          <p:cNvSpPr/>
          <p:nvPr/>
        </p:nvSpPr>
        <p:spPr>
          <a:xfrm>
            <a:off x="6403975" y="1910829"/>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Hello, my name is…</a:t>
            </a:r>
            <a:endParaRPr lang="en-US" sz="1600" dirty="0"/>
          </a:p>
        </p:txBody>
      </p:sp>
      <p:sp>
        <p:nvSpPr>
          <p:cNvPr id="7" name="Text 5"/>
          <p:cNvSpPr/>
          <p:nvPr/>
        </p:nvSpPr>
        <p:spPr>
          <a:xfrm>
            <a:off x="6403975" y="2711723"/>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Fix the bugs 🐛</a:t>
            </a:r>
            <a:endParaRPr lang="en-US" sz="1600" dirty="0"/>
          </a:p>
        </p:txBody>
      </p:sp>
      <p:sp>
        <p:nvSpPr>
          <p:cNvPr id="8" name="Text 6"/>
          <p:cNvSpPr/>
          <p:nvPr/>
        </p:nvSpPr>
        <p:spPr>
          <a:xfrm>
            <a:off x="6403975" y="3512617"/>
            <a:ext cx="4972050" cy="642144"/>
          </a:xfrm>
          <a:prstGeom prst="roundRect">
            <a:avLst>
              <a:gd name="adj" fmla="val 15328"/>
            </a:avLst>
          </a:prstGeom>
          <a:solidFill>
            <a:srgbClr val="FFFFFF"/>
          </a:solidFill>
          <a:ln w="6350">
            <a:solidFill>
              <a:srgbClr val="D5DEE8"/>
            </a:solidFill>
            <a:prstDash val="solid"/>
          </a:ln>
        </p:spPr>
        <p:txBody>
          <a:bodyPr wrap="square" lIns="200831" tIns="150031" rIns="65449" bIns="124631" rtlCol="0" anchor="t">
            <a:normAutofit/>
          </a:bodyPr>
          <a:lstStyle/>
          <a:p>
            <a:pPr algn="l" indent="0" marL="0">
              <a:lnSpc>
                <a:spcPts val="2240"/>
              </a:lnSpc>
              <a:buNone/>
            </a:pPr>
            <a:r>
              <a:rPr lang="en-US" sz="1600" dirty="0">
                <a:solidFill>
                  <a:srgbClr val="1F2A37"/>
                </a:solidFill>
                <a:latin typeface="DM Sans" pitchFamily="34" charset="0"/>
                <a:ea typeface="DM Sans" pitchFamily="34" charset="-122"/>
                <a:cs typeface="DM Sans" pitchFamily="34" charset="-120"/>
              </a:rPr>
              <a:t>⭐⭐⭐ Business card 🪪</a:t>
            </a:r>
            <a:endParaRPr lang="en-US" sz="1600" dirty="0"/>
          </a:p>
        </p:txBody>
      </p:sp>
      <p:sp>
        <p:nvSpPr>
          <p:cNvPr id="9" name="Text 7"/>
          <p:cNvSpPr/>
          <p:nvPr/>
        </p:nvSpPr>
        <p:spPr>
          <a:xfrm>
            <a:off x="6400800" y="4310335"/>
            <a:ext cx="4978400" cy="640027"/>
          </a:xfrm>
          <a:prstGeom prst="roundRect">
            <a:avLst>
              <a:gd name="adj" fmla="val 15874"/>
            </a:avLst>
          </a:prstGeom>
          <a:solidFill>
            <a:srgbClr val="E3ECF6"/>
          </a:solidFill>
          <a:ln/>
        </p:spPr>
        <p:txBody>
          <a:bodyPr wrap="square" lIns="198842" tIns="148042" rIns="63206" bIns="122642" rtlCol="0" anchor="t">
            <a:normAutofit/>
          </a:bodyPr>
          <a:lstStyle/>
          <a:p>
            <a:pPr algn="l" indent="0" marL="0">
              <a:lnSpc>
                <a:spcPts val="2240"/>
              </a:lnSpc>
              <a:buNone/>
            </a:pPr>
            <a:r>
              <a:rPr lang="en-US" sz="1600" b="1" dirty="0">
                <a:solidFill>
                  <a:srgbClr val="1F2A37"/>
                </a:solidFill>
                <a:latin typeface="DM Sans" pitchFamily="34" charset="0"/>
                <a:ea typeface="DM Sans" pitchFamily="34" charset="-122"/>
                <a:cs typeface="DM Sans" pitchFamily="34" charset="-120"/>
              </a:rPr>
              <a:t>Next lesson:</a:t>
            </a:r>
            <a:r>
              <a:rPr lang="en-US" sz="1600" dirty="0">
                <a:solidFill>
                  <a:srgbClr val="1F2A37"/>
                </a:solidFill>
                <a:latin typeface="DM Sans" pitchFamily="34" charset="0"/>
                <a:ea typeface="DM Sans" pitchFamily="34" charset="-122"/>
                <a:cs typeface="DM Sans" pitchFamily="34" charset="-120"/>
              </a:rPr>
              <a:t> Variables &amp; data types 📦</a:t>
            </a:r>
            <a:endParaRPr lang="en-US" sz="1600" dirty="0"/>
          </a:p>
        </p:txBody>
      </p:sp>
    </p:spTree>
  </p:cSld>
  <p:clrMapOvr>
    <a:masterClrMapping/>
  </p:clrMapOvr>
</p:sld>
</file>

<file path=ppt/theme/theme1.xml><?xml version="1.0" encoding="utf-8"?>
<a:theme xmlns:a="http://schemas.openxmlformats.org/drawingml/2006/main" name="Day 1 — Introduction to Python">
  <a:themeElements>
    <a:clrScheme name="Day 1 — Introduction to Python">
      <a:dk1>
        <a:srgbClr val="1F2A37"/>
      </a:dk1>
      <a:lt1>
        <a:srgbClr val="FAF9F6"/>
      </a:lt1>
      <a:dk2>
        <a:srgbClr val="565E67"/>
      </a:dk2>
      <a:lt2>
        <a:srgbClr val="E4E4E3"/>
      </a:lt2>
      <a:accent1>
        <a:srgbClr val="3776AB"/>
      </a:accent1>
      <a:accent2>
        <a:srgbClr val="2F5F8A"/>
      </a:accent2>
      <a:accent3>
        <a:srgbClr val="4A5568"/>
      </a:accent3>
      <a:accent4>
        <a:srgbClr val="8A94A3"/>
      </a:accent4>
      <a:accent5>
        <a:srgbClr val="CFE0F1"/>
      </a:accent5>
      <a:accent6>
        <a:srgbClr val="9AA0A6"/>
      </a:accent6>
      <a:hlink>
        <a:srgbClr val="0563C1"/>
      </a:hlink>
      <a:folHlink>
        <a:srgbClr val="954F72"/>
      </a:folHlink>
    </a:clrScheme>
    <a:fontScheme name="Day 1 — Introduction to Python">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 — Introduction to Python</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2026-10-24T05:10:57Z</dcterms:created>
  <dcterms:modified xsi:type="dcterms:W3CDTF">2026-10-24T05:10:57Z</dcterms:modified>
</cp:coreProperties>
</file>