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embeddedFontLst>
    <p:embeddedFont>
      <p:font typeface="DM Sans" pitchFamily="34" charset="0"/>
      <p:regular r:id="rId21"/>
      <p:bold r:id="rId22"/>
    </p:embeddedFont>
    <p:embeddedFont>
      <p:font typeface="JetBrains Mono" panose="02000009000000000000" pitchFamily="49" charset="0"/>
      <p:regular r:id="rId23"/>
      <p:bold r:id="rId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font" Target="fonts/font1.fntdata"/><Relationship Id="rId22" Type="http://schemas.openxmlformats.org/officeDocument/2006/relationships/font" Target="fonts/font2.fntdata"/><Relationship Id="rId23" Type="http://schemas.openxmlformats.org/officeDocument/2006/relationships/font" Target="fonts/font3.fntdata"/><Relationship Id="rId24"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Last time we used while loops. Today we learn the easiest way to repeat something a fixed number of times: the for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together. Tell students that for loops are the loop they will use most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print 1 to 5. Ask: what were the 3 parts of a while loop? (start, condition, update). The for loop handles all three for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as: "for each item in this sequence, do this". The variable name can be anything: i, number,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row by row. Ask students to predict the numbers before revealing them. The most common surprise is that the stop number is not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Live-code this. Then ask: how would you count down from 10? How would you print only even numbers from 2 to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simple: for letter in "Python": print(letter). Then show the vowel counter. "letter in 'aeiou'" is True if the letter is one of those characters.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how long would it take you to add 1 to 100 by hand? Python does it instantly. The same pattern works for averages, counting, and finding totals.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 the class: can you flip the triangle upside down? (range(5, 0, -1).) The notebook also shows a pyramid and a multiplication grid with nested loops.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range like a fence: you stop just before the stop number. This is the number one mistake beginners make with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few situations and let the class vote for or while: print a times table (for), a game menu that runs until Quit (while), check each student's score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 3, 4, 5, 6, 7 (8 is not included). Q2 = 10 (1+2+3+4). Q3 = 6 times (3 outer rounds × 2 inner 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row in their own words before you read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20–30 minutes. Walk around and help. Encourage them to predict the output before running each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9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F2A37"/>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1F2A37"/>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9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F2A37"/>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1F2A37"/>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3776AB"/>
          </a:solidFill>
          <a:ln/>
        </p:spPr>
      </p:sp>
      <p:pic>
        <p:nvPicPr>
          <p:cNvPr id="3" name="Image 0" descr="Python logo">    </p:cNvPr>
          <p:cNvPicPr>
            <a:picLocks noChangeAspect="1"/>
          </p:cNvPicPr>
          <p:nvPr/>
        </p:nvPicPr>
        <p:blipFill>
          <a:blip r:embed="rId1"/>
          <a:srcRect l="0" r="0" t="0" b="0"/>
          <a:stretch/>
        </p:blipFill>
        <p:spPr>
          <a:xfrm>
            <a:off x="812800" y="1557073"/>
            <a:ext cx="1270000" cy="1270000"/>
          </a:xfrm>
          <a:prstGeom prst="rect">
            <a:avLst/>
          </a:prstGeom>
        </p:spPr>
      </p:pic>
      <p:sp>
        <p:nvSpPr>
          <p:cNvPr id="4" name="Text 1"/>
          <p:cNvSpPr/>
          <p:nvPr/>
        </p:nvSpPr>
        <p:spPr>
          <a:xfrm>
            <a:off x="812800" y="3030273"/>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PYTHON FOR BEGINNERS · DAY 5</a:t>
            </a:r>
            <a:endParaRPr lang="en-US" sz="1200" dirty="0"/>
          </a:p>
        </p:txBody>
      </p:sp>
      <p:sp>
        <p:nvSpPr>
          <p:cNvPr id="5" name="Text 2"/>
          <p:cNvSpPr/>
          <p:nvPr>
            <p:ph type="title"/>
          </p:nvPr>
        </p:nvSpPr>
        <p:spPr>
          <a:xfrm>
            <a:off x="812800" y="3446793"/>
            <a:ext cx="512775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1F2A37"/>
                </a:solidFill>
                <a:latin typeface="DM Sans" pitchFamily="34" charset="0"/>
                <a:ea typeface="DM Sans" pitchFamily="34" charset="-122"/>
                <a:cs typeface="DM Sans" pitchFamily="34" charset="-120"/>
              </a:rPr>
              <a:t>For Loops</a:t>
            </a:r>
            <a:endParaRPr lang="en-US" sz="6000" dirty="0"/>
          </a:p>
        </p:txBody>
      </p:sp>
      <p:sp>
        <p:nvSpPr>
          <p:cNvPr id="6" name="Text 3"/>
          <p:cNvSpPr/>
          <p:nvPr/>
        </p:nvSpPr>
        <p:spPr>
          <a:xfrm>
            <a:off x="812800" y="4450093"/>
            <a:ext cx="5127752" cy="388607"/>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4A5568"/>
                </a:solidFill>
                <a:latin typeface="DM Sans" pitchFamily="34" charset="0"/>
                <a:ea typeface="DM Sans" pitchFamily="34" charset="-122"/>
                <a:cs typeface="DM Sans" pitchFamily="34" charset="-120"/>
              </a:rPr>
              <a:t>Repeating with range()</a:t>
            </a:r>
            <a:endParaRPr lang="en-US" sz="2200" dirty="0"/>
          </a:p>
        </p:txBody>
      </p:sp>
      <p:sp>
        <p:nvSpPr>
          <p:cNvPr id="7" name="Text 4"/>
          <p:cNvSpPr/>
          <p:nvPr/>
        </p:nvSpPr>
        <p:spPr>
          <a:xfrm>
            <a:off x="812800" y="5016500"/>
            <a:ext cx="512775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Instructor: Homaira Mohammadi</a:t>
            </a:r>
            <a:endParaRPr lang="en-US" sz="1600" dirty="0"/>
          </a:p>
        </p:txBody>
      </p:sp>
      <p:sp>
        <p:nvSpPr>
          <p:cNvPr id="8" name="Text 5"/>
          <p:cNvSpPr/>
          <p:nvPr/>
        </p:nvSpPr>
        <p:spPr>
          <a:xfrm>
            <a:off x="6400800" y="2159066"/>
            <a:ext cx="4978400" cy="2539802"/>
          </a:xfrm>
          <a:prstGeom prst="roundRect">
            <a:avLst>
              <a:gd name="adj" fmla="val 6000"/>
            </a:avLst>
          </a:prstGeom>
          <a:solidFill>
            <a:srgbClr val="1F2A37"/>
          </a:solidFill>
          <a:ln/>
          <a:effectLst>
            <a:outerShdw sx="100000" sy="100000" kx="0" ky="0" algn="bl" rotWithShape="0" blurRad="406400" dist="152400" dir="5400000">
              <a:srgbClr val="1F2A37">
                <a:alpha val="18000"/>
              </a:srgbClr>
            </a:outerShdw>
          </a:effectLst>
        </p:spPr>
        <p:txBody>
          <a:bodyPr wrap="square" lIns="361764" tIns="310964" rIns="236796" bIns="285564" rtlCol="0" anchor="t">
            <a:normAutofit/>
          </a:bodyPr>
          <a:lstStyle/>
          <a:p>
            <a:pPr algn="l" indent="0" marL="0">
              <a:lnSpc>
                <a:spcPts val="2880"/>
              </a:lnSpc>
              <a:buNone/>
            </a:pPr>
            <a:r>
              <a:rPr lang="en-US" sz="1800" dirty="0">
                <a:solidFill>
                  <a:srgbClr val="93A1B3"/>
                </a:solidFill>
                <a:latin typeface="JetBrains Mono" pitchFamily="49" charset="0"/>
                <a:ea typeface="JetBrains Mono" pitchFamily="49" charset="-122"/>
                <a:cs typeface="JetBrains Mono" pitchFamily="49" charset="-120"/>
              </a:rPr>
              <a:t># count to 3</a:t>
            </a:r>
            <a:endParaRPr lang="en-US" sz="1800" dirty="0"/>
          </a:p>
          <a:p>
            <a:pPr algn="l" indent="0" marL="0">
              <a:lnSpc>
                <a:spcPts val="2880"/>
              </a:lnSpc>
              <a:buNone/>
            </a:pPr>
            <a:r>
              <a:rPr lang="en-US" sz="1800" dirty="0">
                <a:solidFill>
                  <a:srgbClr val="8EC1F0"/>
                </a:solidFill>
                <a:latin typeface="JetBrains Mono" pitchFamily="49" charset="0"/>
                <a:ea typeface="JetBrains Mono" pitchFamily="49" charset="-122"/>
                <a:cs typeface="JetBrains Mono" pitchFamily="49" charset="-120"/>
              </a:rPr>
              <a:t>for</a:t>
            </a:r>
            <a:r>
              <a:rPr lang="en-US" sz="1800" dirty="0">
                <a:solidFill>
                  <a:srgbClr val="E8EDF3"/>
                </a:solidFill>
                <a:latin typeface="JetBrains Mono" pitchFamily="49" charset="0"/>
                <a:ea typeface="JetBrains Mono" pitchFamily="49" charset="-122"/>
                <a:cs typeface="JetBrains Mono" pitchFamily="49" charset="-120"/>
              </a:rPr>
              <a:t> i </a:t>
            </a:r>
            <a:r>
              <a:rPr lang="en-US" sz="1800" dirty="0">
                <a:solidFill>
                  <a:srgbClr val="8EC1F0"/>
                </a:solidFill>
                <a:latin typeface="JetBrains Mono" pitchFamily="49" charset="0"/>
                <a:ea typeface="JetBrains Mono" pitchFamily="49" charset="-122"/>
                <a:cs typeface="JetBrains Mono" pitchFamily="49" charset="-120"/>
              </a:rPr>
              <a:t>in</a:t>
            </a:r>
            <a:r>
              <a:rPr lang="en-US" sz="1800" dirty="0">
                <a:solidFill>
                  <a:srgbClr val="E8EDF3"/>
                </a:solidFill>
                <a:latin typeface="JetBrains Mono" pitchFamily="49" charset="0"/>
                <a:ea typeface="JetBrains Mono" pitchFamily="49" charset="-122"/>
                <a:cs typeface="JetBrains Mono" pitchFamily="49" charset="-120"/>
              </a:rPr>
              <a:t> range(1, 4):</a:t>
            </a:r>
            <a:endParaRPr lang="en-US" sz="1800" dirty="0"/>
          </a:p>
          <a:p>
            <a:pPr algn="l" indent="0" marL="0">
              <a:lnSpc>
                <a:spcPts val="2880"/>
              </a:lnSpc>
              <a:buNone/>
            </a:pPr>
            <a:r>
              <a:rPr lang="en-US" sz="1800" dirty="0">
                <a:solidFill>
                  <a:srgbClr val="E8EDF3"/>
                </a:solidFill>
                <a:latin typeface="JetBrains Mono" pitchFamily="49" charset="0"/>
                <a:ea typeface="JetBrains Mono" pitchFamily="49" charset="-122"/>
                <a:cs typeface="JetBrains Mono" pitchFamily="49" charset="-120"/>
              </a:rPr>
              <a:t>    print(i)</a:t>
            </a:r>
            <a:endParaRPr lang="en-US" sz="1800" dirty="0"/>
          </a:p>
          <a:p>
            <a:pPr algn="l" indent="0" marL="0">
              <a:lnSpc>
                <a:spcPts val="2880"/>
              </a:lnSpc>
              <a:buNone/>
            </a:pPr>
            <a:endParaRPr lang="en-US" sz="1800" dirty="0"/>
          </a:p>
          <a:p>
            <a:pPr algn="l" indent="0" marL="0">
              <a:lnSpc>
                <a:spcPts val="2880"/>
              </a:lnSpc>
              <a:buNone/>
            </a:pPr>
            <a:r>
              <a:rPr lang="en-US" sz="1800" dirty="0">
                <a:solidFill>
                  <a:srgbClr val="93A1B3"/>
                </a:solidFill>
                <a:latin typeface="JetBrains Mono" pitchFamily="49" charset="0"/>
                <a:ea typeface="JetBrains Mono" pitchFamily="49" charset="-122"/>
                <a:cs typeface="JetBrains Mono" pitchFamily="49" charset="-120"/>
              </a:rPr>
              <a:t># 1 2 3</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TODAY’S GOALS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By the end of today, you can…</a:t>
            </a:r>
            <a:endParaRPr lang="en-US" sz="3600" dirty="0"/>
          </a:p>
        </p:txBody>
      </p:sp>
      <p:pic>
        <p:nvPicPr>
          <p:cNvPr id="4" name="Image 0" descr="CheckCircle">    </p:cNvPr>
          <p:cNvPicPr>
            <a:picLocks noChangeAspect="1"/>
          </p:cNvPicPr>
          <p:nvPr/>
        </p:nvPicPr>
        <p:blipFill>
          <a:blip r:embed="rId1"/>
          <a:srcRect l="0" r="0" t="0" b="0"/>
          <a:stretch/>
        </p:blipFill>
        <p:spPr>
          <a:xfrm>
            <a:off x="812800" y="1993834"/>
            <a:ext cx="304800" cy="304800"/>
          </a:xfrm>
          <a:prstGeom prst="rect">
            <a:avLst/>
          </a:prstGeom>
        </p:spPr>
      </p:pic>
      <p:sp>
        <p:nvSpPr>
          <p:cNvPr id="5" name="Text 2"/>
          <p:cNvSpPr/>
          <p:nvPr/>
        </p:nvSpPr>
        <p:spPr>
          <a:xfrm>
            <a:off x="1270000" y="1986228"/>
            <a:ext cx="4285853"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A37"/>
                </a:solidFill>
                <a:latin typeface="DM Sans" pitchFamily="34" charset="0"/>
                <a:ea typeface="DM Sans" pitchFamily="34" charset="-122"/>
                <a:cs typeface="DM Sans" pitchFamily="34" charset="-120"/>
              </a:rPr>
              <a:t>Repeat code with </a:t>
            </a:r>
            <a:r>
              <a:rPr lang="en-US" sz="1800" b="1" dirty="0">
                <a:solidFill>
                  <a:srgbClr val="1F2A37"/>
                </a:solidFill>
                <a:latin typeface="DM Sans" pitchFamily="34" charset="0"/>
                <a:ea typeface="DM Sans" pitchFamily="34" charset="-122"/>
                <a:cs typeface="DM Sans" pitchFamily="34" charset="-120"/>
              </a:rPr>
              <a:t>for</a:t>
            </a:r>
            <a:r>
              <a:rPr lang="en-US" sz="1800" dirty="0">
                <a:solidFill>
                  <a:srgbClr val="1F2A37"/>
                </a:solidFill>
                <a:latin typeface="DM Sans" pitchFamily="34" charset="0"/>
                <a:ea typeface="DM Sans" pitchFamily="34" charset="-122"/>
                <a:cs typeface="DM Sans" pitchFamily="34" charset="-120"/>
              </a:rPr>
              <a:t> and </a:t>
            </a:r>
            <a:r>
              <a:rPr lang="en-US" sz="1800" b="1" dirty="0">
                <a:solidFill>
                  <a:srgbClr val="1F2A37"/>
                </a:solidFill>
                <a:latin typeface="DM Sans" pitchFamily="34" charset="0"/>
                <a:ea typeface="DM Sans" pitchFamily="34" charset="-122"/>
                <a:cs typeface="DM Sans" pitchFamily="34" charset="-120"/>
              </a:rPr>
              <a:t>range()</a:t>
            </a:r>
            <a:endParaRPr lang="en-US" sz="1800" dirty="0"/>
          </a:p>
        </p:txBody>
      </p:sp>
      <p:pic>
        <p:nvPicPr>
          <p:cNvPr id="6" name="Image 1" descr="CheckCircle">    </p:cNvPr>
          <p:cNvPicPr>
            <a:picLocks noChangeAspect="1"/>
          </p:cNvPicPr>
          <p:nvPr/>
        </p:nvPicPr>
        <p:blipFill>
          <a:blip r:embed="rId2"/>
          <a:srcRect l="0" r="0" t="0" b="0"/>
          <a:stretch/>
        </p:blipFill>
        <p:spPr>
          <a:xfrm>
            <a:off x="6299200" y="1993834"/>
            <a:ext cx="304800" cy="304800"/>
          </a:xfrm>
          <a:prstGeom prst="rect">
            <a:avLst/>
          </a:prstGeom>
        </p:spPr>
      </p:pic>
      <p:sp>
        <p:nvSpPr>
          <p:cNvPr id="7" name="Text 3"/>
          <p:cNvSpPr/>
          <p:nvPr/>
        </p:nvSpPr>
        <p:spPr>
          <a:xfrm>
            <a:off x="6756400" y="1986228"/>
            <a:ext cx="3038158"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A37"/>
                </a:solidFill>
                <a:latin typeface="DM Sans" pitchFamily="34" charset="0"/>
                <a:ea typeface="DM Sans" pitchFamily="34" charset="-122"/>
                <a:cs typeface="DM Sans" pitchFamily="34" charset="-120"/>
              </a:rPr>
              <a:t>Use start, stop and step</a:t>
            </a:r>
            <a:endParaRPr lang="en-US" sz="1800" dirty="0"/>
          </a:p>
        </p:txBody>
      </p:sp>
      <p:pic>
        <p:nvPicPr>
          <p:cNvPr id="8" name="Image 2" descr="CheckCircle">    </p:cNvPr>
          <p:cNvPicPr>
            <a:picLocks noChangeAspect="1"/>
          </p:cNvPicPr>
          <p:nvPr/>
        </p:nvPicPr>
        <p:blipFill>
          <a:blip r:embed="rId3"/>
          <a:srcRect l="0" r="0" t="0" b="0"/>
          <a:stretch/>
        </p:blipFill>
        <p:spPr>
          <a:xfrm>
            <a:off x="812800" y="2491648"/>
            <a:ext cx="304800" cy="304800"/>
          </a:xfrm>
          <a:prstGeom prst="rect">
            <a:avLst/>
          </a:prstGeom>
        </p:spPr>
      </p:pic>
      <p:sp>
        <p:nvSpPr>
          <p:cNvPr id="9" name="Text 4"/>
          <p:cNvSpPr/>
          <p:nvPr/>
        </p:nvSpPr>
        <p:spPr>
          <a:xfrm>
            <a:off x="1270000" y="2484041"/>
            <a:ext cx="4406741"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A37"/>
                </a:solidFill>
                <a:latin typeface="DM Sans" pitchFamily="34" charset="0"/>
                <a:ea typeface="DM Sans" pitchFamily="34" charset="-122"/>
                <a:cs typeface="DM Sans" pitchFamily="34" charset="-120"/>
              </a:rPr>
              <a:t>Loop through each letter of a word</a:t>
            </a:r>
            <a:endParaRPr lang="en-US" sz="1800" dirty="0"/>
          </a:p>
        </p:txBody>
      </p:sp>
      <p:pic>
        <p:nvPicPr>
          <p:cNvPr id="10" name="Image 3" descr="CheckCircle">    </p:cNvPr>
          <p:cNvPicPr>
            <a:picLocks noChangeAspect="1"/>
          </p:cNvPicPr>
          <p:nvPr/>
        </p:nvPicPr>
        <p:blipFill>
          <a:blip r:embed="rId4"/>
          <a:srcRect l="0" r="0" t="0" b="0"/>
          <a:stretch/>
        </p:blipFill>
        <p:spPr>
          <a:xfrm>
            <a:off x="6299200" y="2491648"/>
            <a:ext cx="304800" cy="304800"/>
          </a:xfrm>
          <a:prstGeom prst="rect">
            <a:avLst/>
          </a:prstGeom>
        </p:spPr>
      </p:pic>
      <p:sp>
        <p:nvSpPr>
          <p:cNvPr id="11" name="Text 5"/>
          <p:cNvSpPr/>
          <p:nvPr/>
        </p:nvSpPr>
        <p:spPr>
          <a:xfrm>
            <a:off x="6756400" y="2484041"/>
            <a:ext cx="2922667"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A37"/>
                </a:solidFill>
                <a:latin typeface="DM Sans" pitchFamily="34" charset="0"/>
                <a:ea typeface="DM Sans" pitchFamily="34" charset="-122"/>
                <a:cs typeface="DM Sans" pitchFamily="34" charset="-120"/>
              </a:rPr>
              <a:t>Add things up in a loop</a:t>
            </a:r>
            <a:endParaRPr lang="en-US" sz="1800" dirty="0"/>
          </a:p>
        </p:txBody>
      </p:sp>
      <p:pic>
        <p:nvPicPr>
          <p:cNvPr id="12" name="Image 4" descr="CheckCircle">    </p:cNvPr>
          <p:cNvPicPr>
            <a:picLocks noChangeAspect="1"/>
          </p:cNvPicPr>
          <p:nvPr/>
        </p:nvPicPr>
        <p:blipFill>
          <a:blip r:embed="rId5"/>
          <a:srcRect l="0" r="0" t="0" b="0"/>
          <a:stretch/>
        </p:blipFill>
        <p:spPr>
          <a:xfrm>
            <a:off x="812800" y="2989461"/>
            <a:ext cx="304800" cy="304800"/>
          </a:xfrm>
          <a:prstGeom prst="rect">
            <a:avLst/>
          </a:prstGeom>
        </p:spPr>
      </p:pic>
      <p:sp>
        <p:nvSpPr>
          <p:cNvPr id="13" name="Text 6"/>
          <p:cNvSpPr/>
          <p:nvPr/>
        </p:nvSpPr>
        <p:spPr>
          <a:xfrm>
            <a:off x="1270000" y="2981854"/>
            <a:ext cx="4131548"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A37"/>
                </a:solidFill>
                <a:latin typeface="DM Sans" pitchFamily="34" charset="0"/>
                <a:ea typeface="DM Sans" pitchFamily="34" charset="-122"/>
                <a:cs typeface="DM Sans" pitchFamily="34" charset="-120"/>
              </a:rPr>
              <a:t>Draw patterns with nested loops</a:t>
            </a:r>
            <a:endParaRPr lang="en-US" sz="1800" dirty="0"/>
          </a:p>
        </p:txBody>
      </p:sp>
      <p:pic>
        <p:nvPicPr>
          <p:cNvPr id="14" name="Image 5" descr="CheckCircle">    </p:cNvPr>
          <p:cNvPicPr>
            <a:picLocks noChangeAspect="1"/>
          </p:cNvPicPr>
          <p:nvPr/>
        </p:nvPicPr>
        <p:blipFill>
          <a:blip r:embed="rId6"/>
          <a:srcRect l="0" r="0" t="0" b="0"/>
          <a:stretch/>
        </p:blipFill>
        <p:spPr>
          <a:xfrm>
            <a:off x="6299200" y="2989461"/>
            <a:ext cx="304800" cy="304800"/>
          </a:xfrm>
          <a:prstGeom prst="rect">
            <a:avLst/>
          </a:prstGeom>
        </p:spPr>
      </p:pic>
      <p:sp>
        <p:nvSpPr>
          <p:cNvPr id="15" name="Text 7"/>
          <p:cNvSpPr/>
          <p:nvPr/>
        </p:nvSpPr>
        <p:spPr>
          <a:xfrm>
            <a:off x="6756400" y="2981854"/>
            <a:ext cx="3931365"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A37"/>
                </a:solidFill>
                <a:latin typeface="DM Sans" pitchFamily="34" charset="0"/>
                <a:ea typeface="DM Sans" pitchFamily="34" charset="-122"/>
                <a:cs typeface="DM Sans" pitchFamily="34" charset="-120"/>
              </a:rPr>
              <a:t>Choose between </a:t>
            </a:r>
            <a:r>
              <a:rPr lang="en-US" sz="1800" b="1" dirty="0">
                <a:solidFill>
                  <a:srgbClr val="1F2A37"/>
                </a:solidFill>
                <a:latin typeface="DM Sans" pitchFamily="34" charset="0"/>
                <a:ea typeface="DM Sans" pitchFamily="34" charset="-122"/>
                <a:cs typeface="DM Sans" pitchFamily="34" charset="-120"/>
              </a:rPr>
              <a:t>for</a:t>
            </a:r>
            <a:r>
              <a:rPr lang="en-US" sz="1800" dirty="0">
                <a:solidFill>
                  <a:srgbClr val="1F2A37"/>
                </a:solidFill>
                <a:latin typeface="DM Sans" pitchFamily="34" charset="0"/>
                <a:ea typeface="DM Sans" pitchFamily="34" charset="-122"/>
                <a:cs typeface="DM Sans" pitchFamily="34" charset="-120"/>
              </a:rPr>
              <a:t> and </a:t>
            </a:r>
            <a:r>
              <a:rPr lang="en-US" sz="1800" b="1" dirty="0">
                <a:solidFill>
                  <a:srgbClr val="1F2A37"/>
                </a:solidFill>
                <a:latin typeface="DM Sans" pitchFamily="34" charset="0"/>
                <a:ea typeface="DM Sans" pitchFamily="34" charset="-122"/>
                <a:cs typeface="DM Sans" pitchFamily="34" charset="-120"/>
              </a:rPr>
              <a:t>while</a:t>
            </a:r>
            <a:endParaRPr lang="en-US" sz="1800" dirty="0"/>
          </a:p>
        </p:txBody>
      </p:sp>
      <p:sp>
        <p:nvSpPr>
          <p:cNvPr id="16"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5: for loops</a:t>
            </a:r>
            <a:endParaRPr lang="en-US" sz="1200" dirty="0"/>
          </a:p>
        </p:txBody>
      </p:sp>
      <p:sp>
        <p:nvSpPr>
          <p:cNvPr id="17"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4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QUICK REVIEW · DAY 4</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Same job, less code</a:t>
            </a:r>
            <a:endParaRPr lang="en-US" sz="3600" dirty="0"/>
          </a:p>
        </p:txBody>
      </p:sp>
      <p:sp>
        <p:nvSpPr>
          <p:cNvPr id="4" name="Text 2"/>
          <p:cNvSpPr/>
          <p:nvPr/>
        </p:nvSpPr>
        <p:spPr>
          <a:xfrm>
            <a:off x="812800" y="1986228"/>
            <a:ext cx="523240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4A5568"/>
                </a:solidFill>
                <a:latin typeface="DM Sans" pitchFamily="34" charset="0"/>
                <a:ea typeface="DM Sans" pitchFamily="34" charset="-122"/>
                <a:cs typeface="DM Sans" pitchFamily="34" charset="-120"/>
              </a:rPr>
              <a:t>while loop · 4 lines</a:t>
            </a:r>
            <a:endParaRPr lang="en-US" sz="1600" dirty="0"/>
          </a:p>
        </p:txBody>
      </p:sp>
      <p:sp>
        <p:nvSpPr>
          <p:cNvPr id="5" name="Text 3"/>
          <p:cNvSpPr/>
          <p:nvPr/>
        </p:nvSpPr>
        <p:spPr>
          <a:xfrm>
            <a:off x="812800" y="2397655"/>
            <a:ext cx="5080000" cy="1859227"/>
          </a:xfrm>
          <a:prstGeom prst="roundRect">
            <a:avLst>
              <a:gd name="adj" fmla="val 6831"/>
            </a:avLst>
          </a:prstGeom>
          <a:solidFill>
            <a:srgbClr val="1F2A37"/>
          </a:solidFill>
          <a:ln/>
        </p:spPr>
        <p:txBody>
          <a:bodyPr wrap="square" lIns="293003" tIns="242203" rIns="160415" bIns="216803" rtlCol="0" anchor="t">
            <a:normAutofit/>
          </a:bodyPr>
          <a:lstStyle/>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count = 1</a:t>
            </a:r>
            <a:endParaRPr lang="en-US" sz="1600" dirty="0"/>
          </a:p>
          <a:p>
            <a:pPr algn="l" indent="0" marL="0">
              <a:lnSpc>
                <a:spcPts val="2560"/>
              </a:lnSpc>
              <a:buNone/>
            </a:pPr>
            <a:r>
              <a:rPr lang="en-US" sz="1600" dirty="0">
                <a:solidFill>
                  <a:srgbClr val="8EC1F0"/>
                </a:solidFill>
                <a:latin typeface="JetBrains Mono" pitchFamily="49" charset="0"/>
                <a:ea typeface="JetBrains Mono" pitchFamily="49" charset="-122"/>
                <a:cs typeface="JetBrains Mono" pitchFamily="49" charset="-120"/>
              </a:rPr>
              <a:t>while</a:t>
            </a:r>
            <a:r>
              <a:rPr lang="en-US" sz="1600" dirty="0">
                <a:solidFill>
                  <a:srgbClr val="E8EDF3"/>
                </a:solidFill>
                <a:latin typeface="JetBrains Mono" pitchFamily="49" charset="0"/>
                <a:ea typeface="JetBrains Mono" pitchFamily="49" charset="-122"/>
                <a:cs typeface="JetBrains Mono" pitchFamily="49" charset="-120"/>
              </a:rPr>
              <a:t> count &lt;= 5:</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    print(count)</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    count += 1</a:t>
            </a:r>
            <a:endParaRPr lang="en-US" sz="1600" dirty="0"/>
          </a:p>
        </p:txBody>
      </p:sp>
      <p:sp>
        <p:nvSpPr>
          <p:cNvPr id="6" name="Text 4"/>
          <p:cNvSpPr/>
          <p:nvPr/>
        </p:nvSpPr>
        <p:spPr>
          <a:xfrm>
            <a:off x="6299200" y="1986228"/>
            <a:ext cx="523240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776AB"/>
                </a:solidFill>
                <a:latin typeface="DM Sans" pitchFamily="34" charset="0"/>
                <a:ea typeface="DM Sans" pitchFamily="34" charset="-122"/>
                <a:cs typeface="DM Sans" pitchFamily="34" charset="-120"/>
              </a:rPr>
              <a:t>for loop · 2 lines</a:t>
            </a:r>
            <a:endParaRPr lang="en-US" sz="1600" dirty="0"/>
          </a:p>
        </p:txBody>
      </p:sp>
      <p:sp>
        <p:nvSpPr>
          <p:cNvPr id="7" name="Text 5"/>
          <p:cNvSpPr/>
          <p:nvPr/>
        </p:nvSpPr>
        <p:spPr>
          <a:xfrm>
            <a:off x="6299200" y="2397655"/>
            <a:ext cx="5080000" cy="1209014"/>
          </a:xfrm>
          <a:prstGeom prst="roundRect">
            <a:avLst>
              <a:gd name="adj" fmla="val 10504"/>
            </a:avLst>
          </a:prstGeom>
          <a:solidFill>
            <a:srgbClr val="1F2A37"/>
          </a:solidFill>
          <a:ln/>
        </p:spPr>
        <p:txBody>
          <a:bodyPr wrap="square" lIns="293003" tIns="242203" rIns="160415" bIns="216803" rtlCol="0" anchor="t">
            <a:normAutofit/>
          </a:bodyPr>
          <a:lstStyle/>
          <a:p>
            <a:pPr algn="l" indent="0" marL="0">
              <a:lnSpc>
                <a:spcPts val="2560"/>
              </a:lnSpc>
              <a:buNone/>
            </a:pPr>
            <a:r>
              <a:rPr lang="en-US" sz="1600" dirty="0">
                <a:solidFill>
                  <a:srgbClr val="8EC1F0"/>
                </a:solidFill>
                <a:latin typeface="JetBrains Mono" pitchFamily="49" charset="0"/>
                <a:ea typeface="JetBrains Mono" pitchFamily="49" charset="-122"/>
                <a:cs typeface="JetBrains Mono" pitchFamily="49" charset="-120"/>
              </a:rPr>
              <a:t>for</a:t>
            </a:r>
            <a:r>
              <a:rPr lang="en-US" sz="1600" dirty="0">
                <a:solidFill>
                  <a:srgbClr val="E8EDF3"/>
                </a:solidFill>
                <a:latin typeface="JetBrains Mono" pitchFamily="49" charset="0"/>
                <a:ea typeface="JetBrains Mono" pitchFamily="49" charset="-122"/>
                <a:cs typeface="JetBrains Mono" pitchFamily="49" charset="-120"/>
              </a:rPr>
              <a:t> count </a:t>
            </a:r>
            <a:r>
              <a:rPr lang="en-US" sz="1600" dirty="0">
                <a:solidFill>
                  <a:srgbClr val="8EC1F0"/>
                </a:solidFill>
                <a:latin typeface="JetBrains Mono" pitchFamily="49" charset="0"/>
                <a:ea typeface="JetBrains Mono" pitchFamily="49" charset="-122"/>
                <a:cs typeface="JetBrains Mono" pitchFamily="49" charset="-120"/>
              </a:rPr>
              <a:t>in</a:t>
            </a:r>
            <a:r>
              <a:rPr lang="en-US" sz="1600" dirty="0">
                <a:solidFill>
                  <a:srgbClr val="E8EDF3"/>
                </a:solidFill>
                <a:latin typeface="JetBrains Mono" pitchFamily="49" charset="0"/>
                <a:ea typeface="JetBrains Mono" pitchFamily="49" charset="-122"/>
                <a:cs typeface="JetBrains Mono" pitchFamily="49" charset="-120"/>
              </a:rPr>
              <a:t> range(1, 6):</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    print(count)</a:t>
            </a:r>
            <a:endParaRPr lang="en-US" sz="1600" dirty="0"/>
          </a:p>
        </p:txBody>
      </p:sp>
      <p:sp>
        <p:nvSpPr>
          <p:cNvPr id="8" name="Text 6"/>
          <p:cNvSpPr/>
          <p:nvPr/>
        </p:nvSpPr>
        <p:spPr>
          <a:xfrm>
            <a:off x="6299200" y="3733668"/>
            <a:ext cx="5232400"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No counter to create or update — and no infinite loops!</a:t>
            </a:r>
            <a:endParaRPr lang="en-US" sz="1600" dirty="0"/>
          </a:p>
        </p:txBody>
      </p:sp>
      <p:sp>
        <p:nvSpPr>
          <p:cNvPr id="9" name="Text 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5: for loops</a:t>
            </a:r>
            <a:endParaRPr lang="en-US" sz="1200" dirty="0"/>
          </a:p>
        </p:txBody>
      </p:sp>
      <p:sp>
        <p:nvSpPr>
          <p:cNvPr id="10"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THE FOR LOOP</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Once for each item in a sequence</a:t>
            </a:r>
            <a:endParaRPr lang="en-US" sz="3600" dirty="0"/>
          </a:p>
        </p:txBody>
      </p:sp>
      <p:sp>
        <p:nvSpPr>
          <p:cNvPr id="4" name="Text 2"/>
          <p:cNvSpPr/>
          <p:nvPr/>
        </p:nvSpPr>
        <p:spPr>
          <a:xfrm>
            <a:off x="812800" y="2276013"/>
            <a:ext cx="5029200" cy="1341041"/>
          </a:xfrm>
          <a:prstGeom prst="roundRect">
            <a:avLst>
              <a:gd name="adj" fmla="val 9470"/>
            </a:avLst>
          </a:prstGeom>
          <a:solidFill>
            <a:srgbClr val="1F2A37"/>
          </a:solidFill>
          <a:ln/>
        </p:spPr>
        <p:txBody>
          <a:bodyPr wrap="square" lIns="318403" tIns="267603" rIns="188863" bIns="242203" rtlCol="0" anchor="t">
            <a:normAutofit/>
          </a:bodyPr>
          <a:lstStyle/>
          <a:p>
            <a:pPr algn="l" indent="0" marL="0">
              <a:lnSpc>
                <a:spcPts val="2880"/>
              </a:lnSpc>
              <a:buNone/>
            </a:pPr>
            <a:r>
              <a:rPr lang="en-US" sz="1800" dirty="0">
                <a:solidFill>
                  <a:srgbClr val="8EC1F0"/>
                </a:solidFill>
                <a:latin typeface="JetBrains Mono" pitchFamily="49" charset="0"/>
                <a:ea typeface="JetBrains Mono" pitchFamily="49" charset="-122"/>
                <a:cs typeface="JetBrains Mono" pitchFamily="49" charset="-120"/>
              </a:rPr>
              <a:t>for</a:t>
            </a:r>
            <a:r>
              <a:rPr lang="en-US" sz="1800" dirty="0">
                <a:solidFill>
                  <a:srgbClr val="E8EDF3"/>
                </a:solidFill>
                <a:latin typeface="JetBrains Mono" pitchFamily="49" charset="0"/>
                <a:ea typeface="JetBrains Mono" pitchFamily="49" charset="-122"/>
                <a:cs typeface="JetBrains Mono" pitchFamily="49" charset="-120"/>
              </a:rPr>
              <a:t> variable </a:t>
            </a:r>
            <a:r>
              <a:rPr lang="en-US" sz="1800" dirty="0">
                <a:solidFill>
                  <a:srgbClr val="8EC1F0"/>
                </a:solidFill>
                <a:latin typeface="JetBrains Mono" pitchFamily="49" charset="0"/>
                <a:ea typeface="JetBrains Mono" pitchFamily="49" charset="-122"/>
                <a:cs typeface="JetBrains Mono" pitchFamily="49" charset="-120"/>
              </a:rPr>
              <a:t>in</a:t>
            </a:r>
            <a:r>
              <a:rPr lang="en-US" sz="1800" dirty="0">
                <a:solidFill>
                  <a:srgbClr val="E8EDF3"/>
                </a:solidFill>
                <a:latin typeface="JetBrains Mono" pitchFamily="49" charset="0"/>
                <a:ea typeface="JetBrains Mono" pitchFamily="49" charset="-122"/>
                <a:cs typeface="JetBrains Mono" pitchFamily="49" charset="-120"/>
              </a:rPr>
              <a:t> sequence:</a:t>
            </a:r>
            <a:endParaRPr lang="en-US" sz="1800" dirty="0"/>
          </a:p>
          <a:p>
            <a:pPr algn="l" indent="0" marL="0">
              <a:lnSpc>
                <a:spcPts val="2880"/>
              </a:lnSpc>
              <a:buNone/>
            </a:pPr>
            <a:r>
              <a:rPr lang="en-US" sz="1800" dirty="0">
                <a:solidFill>
                  <a:srgbClr val="E8EDF3"/>
                </a:solidFill>
                <a:latin typeface="JetBrains Mono" pitchFamily="49" charset="0"/>
                <a:ea typeface="JetBrains Mono" pitchFamily="49" charset="-122"/>
                <a:cs typeface="JetBrains Mono" pitchFamily="49" charset="-120"/>
              </a:rPr>
              <a:t>    statement</a:t>
            </a:r>
            <a:endParaRPr lang="en-US" sz="1800" dirty="0"/>
          </a:p>
        </p:txBody>
      </p:sp>
      <p:sp>
        <p:nvSpPr>
          <p:cNvPr id="5" name="Text 3"/>
          <p:cNvSpPr/>
          <p:nvPr/>
        </p:nvSpPr>
        <p:spPr>
          <a:xfrm>
            <a:off x="6350000" y="1986228"/>
            <a:ext cx="5180076" cy="651404"/>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1F2A37"/>
                </a:solidFill>
                <a:latin typeface="DM Sans" pitchFamily="34" charset="0"/>
                <a:ea typeface="DM Sans" pitchFamily="34" charset="-122"/>
                <a:cs typeface="DM Sans" pitchFamily="34" charset="-120"/>
              </a:rPr>
              <a:t>A </a:t>
            </a:r>
            <a:r>
              <a:rPr lang="en-US" sz="1700" b="1" dirty="0">
                <a:solidFill>
                  <a:srgbClr val="1F2A37"/>
                </a:solidFill>
                <a:latin typeface="DM Sans" pitchFamily="34" charset="0"/>
                <a:ea typeface="DM Sans" pitchFamily="34" charset="-122"/>
                <a:cs typeface="DM Sans" pitchFamily="34" charset="-120"/>
              </a:rPr>
              <a:t>sequence</a:t>
            </a:r>
            <a:r>
              <a:rPr lang="en-US" sz="1700" dirty="0">
                <a:solidFill>
                  <a:srgbClr val="1F2A37"/>
                </a:solidFill>
                <a:latin typeface="DM Sans" pitchFamily="34" charset="0"/>
                <a:ea typeface="DM Sans" pitchFamily="34" charset="-122"/>
                <a:cs typeface="DM Sans" pitchFamily="34" charset="-120"/>
              </a:rPr>
              <a:t> is a series of items — numbers, letters, and more.</a:t>
            </a:r>
            <a:endParaRPr lang="en-US" sz="1700" dirty="0"/>
          </a:p>
        </p:txBody>
      </p:sp>
      <p:sp>
        <p:nvSpPr>
          <p:cNvPr id="6" name="Text 4"/>
          <p:cNvSpPr/>
          <p:nvPr/>
        </p:nvSpPr>
        <p:spPr>
          <a:xfrm>
            <a:off x="6350000" y="2790031"/>
            <a:ext cx="5180076" cy="651404"/>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1F2A37"/>
                </a:solidFill>
                <a:latin typeface="DM Sans" pitchFamily="34" charset="0"/>
                <a:ea typeface="DM Sans" pitchFamily="34" charset="-122"/>
                <a:cs typeface="DM Sans" pitchFamily="34" charset="-120"/>
              </a:rPr>
              <a:t>Each round, the </a:t>
            </a:r>
            <a:r>
              <a:rPr lang="en-US" sz="1700" b="1" dirty="0">
                <a:solidFill>
                  <a:srgbClr val="1F2A37"/>
                </a:solidFill>
                <a:latin typeface="DM Sans" pitchFamily="34" charset="0"/>
                <a:ea typeface="DM Sans" pitchFamily="34" charset="-122"/>
                <a:cs typeface="DM Sans" pitchFamily="34" charset="-120"/>
              </a:rPr>
              <a:t>loop variable</a:t>
            </a:r>
            <a:r>
              <a:rPr lang="en-US" sz="1700" dirty="0">
                <a:solidFill>
                  <a:srgbClr val="1F2A37"/>
                </a:solidFill>
                <a:latin typeface="DM Sans" pitchFamily="34" charset="0"/>
                <a:ea typeface="DM Sans" pitchFamily="34" charset="-122"/>
                <a:cs typeface="DM Sans" pitchFamily="34" charset="-120"/>
              </a:rPr>
              <a:t> holds the current item.</a:t>
            </a:r>
            <a:endParaRPr lang="en-US" sz="1700" dirty="0"/>
          </a:p>
        </p:txBody>
      </p:sp>
      <p:sp>
        <p:nvSpPr>
          <p:cNvPr id="7" name="Text 5"/>
          <p:cNvSpPr/>
          <p:nvPr/>
        </p:nvSpPr>
        <p:spPr>
          <a:xfrm>
            <a:off x="6350000" y="3593836"/>
            <a:ext cx="5180076" cy="338402"/>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4A5568"/>
                </a:solidFill>
                <a:latin typeface="DM Sans" pitchFamily="34" charset="0"/>
                <a:ea typeface="DM Sans" pitchFamily="34" charset="-122"/>
                <a:cs typeface="DM Sans" pitchFamily="34" charset="-120"/>
              </a:rPr>
              <a:t>Same rules as before: colon </a:t>
            </a:r>
            <a:r>
              <a:rPr lang="en-US" sz="1700" b="1" dirty="0">
                <a:solidFill>
                  <a:srgbClr val="4A5568"/>
                </a:solidFill>
                <a:latin typeface="DM Sans" pitchFamily="34" charset="0"/>
                <a:ea typeface="DM Sans" pitchFamily="34" charset="-122"/>
                <a:cs typeface="DM Sans" pitchFamily="34" charset="-120"/>
              </a:rPr>
              <a:t>:</a:t>
            </a:r>
            <a:r>
              <a:rPr lang="en-US" sz="1700" dirty="0">
                <a:solidFill>
                  <a:srgbClr val="4A5568"/>
                </a:solidFill>
                <a:latin typeface="DM Sans" pitchFamily="34" charset="0"/>
                <a:ea typeface="DM Sans" pitchFamily="34" charset="-122"/>
                <a:cs typeface="DM Sans" pitchFamily="34" charset="-120"/>
              </a:rPr>
              <a:t> and 4 spaces.</a:t>
            </a:r>
            <a:endParaRPr lang="en-US" sz="1700" dirty="0"/>
          </a:p>
        </p:txBody>
      </p:sp>
      <p:sp>
        <p:nvSpPr>
          <p:cNvPr id="8" name="Text 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5: for loops</a:t>
            </a:r>
            <a:endParaRPr lang="en-US" sz="1200" dirty="0"/>
          </a:p>
        </p:txBody>
      </p:sp>
      <p:sp>
        <p:nvSpPr>
          <p:cNvPr id="9" name="Text 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RANGE()</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Making a sequence of numbers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129"/>
          <a:ext cx="10553700" cy="2196703"/>
        </p:xfrm>
        <a:graphic>
          <a:graphicData uri="http://schemas.openxmlformats.org/drawingml/2006/table">
            <a:tbl>
              <a:tblPr/>
              <a:tblGrid>
                <a:gridCol w="3166110"/>
                <a:gridCol w="3588258"/>
                <a:gridCol w="3799332"/>
              </a:tblGrid>
              <a:tr h="439341">
                <a:tc>
                  <a:txBody>
                    <a:bodyPr/>
                    <a:lstStyle/>
                    <a:p>
                      <a:pPr indent="0" marL="0">
                        <a:lnSpc>
                          <a:spcPts val="2240"/>
                        </a:lnSpc>
                        <a:buNone/>
                      </a:pPr>
                      <a:r>
                        <a:rPr lang="en-US" sz="1600" b="1" dirty="0">
                          <a:solidFill>
                            <a:srgbClr val="1F2A37"/>
                          </a:solidFill>
                          <a:latin typeface="DM Sans" pitchFamily="34" charset="0"/>
                          <a:ea typeface="DM Sans" pitchFamily="34" charset="-122"/>
                          <a:cs typeface="DM Sans" pitchFamily="34" charset="-120"/>
                        </a:rPr>
                        <a:t>Code</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2240"/>
                        </a:lnSpc>
                        <a:buNone/>
                      </a:pPr>
                      <a:r>
                        <a:rPr lang="en-US" sz="1600" b="1" dirty="0">
                          <a:solidFill>
                            <a:srgbClr val="1F2A37"/>
                          </a:solidFill>
                          <a:latin typeface="DM Sans" pitchFamily="34" charset="0"/>
                          <a:ea typeface="DM Sans" pitchFamily="34" charset="-122"/>
                          <a:cs typeface="DM Sans" pitchFamily="34" charset="-120"/>
                        </a:rPr>
                        <a:t>Numbers</a:t>
                      </a:r>
                      <a:endParaRPr lang="en-US" sz="1600" dirty="0">
                        <a:latin typeface="DM Sans" charset="0"/>
                        <a:ea typeface="DM Sans" charset="0"/>
                        <a:cs typeface="DM Sans" charset="0"/>
                      </a:endParaRPr>
                    </a:p>
                  </a:txBody>
                  <a:tcPr marL="71120" marR="71120" marT="71120" marB="7112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2240"/>
                        </a:lnSpc>
                        <a:buNone/>
                      </a:pPr>
                      <a:r>
                        <a:rPr lang="en-US" sz="1600" b="1" dirty="0">
                          <a:solidFill>
                            <a:srgbClr val="1F2A37"/>
                          </a:solidFill>
                          <a:latin typeface="DM Sans" pitchFamily="34" charset="0"/>
                          <a:ea typeface="DM Sans" pitchFamily="34" charset="-122"/>
                          <a:cs typeface="DM Sans" pitchFamily="34" charset="-120"/>
                        </a:rPr>
                        <a:t>Rule</a:t>
                      </a:r>
                      <a:endParaRPr lang="en-US" sz="1600" dirty="0">
                        <a:latin typeface="DM Sans" charset="0"/>
                        <a:ea typeface="DM Sans" charset="0"/>
                        <a:cs typeface="DM Sans" charset="0"/>
                      </a:endParaRPr>
                    </a:p>
                  </a:txBody>
                  <a:tcPr marL="71120" marR="71120" marT="71120" marB="7112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range(5)</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0, 1, 2, 3, 4</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starts at 0</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range(1, 6)</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1, 2, 3, 4, 5</a:t>
                      </a:r>
                      <a:endParaRPr lang="en-US" sz="1600" dirty="0">
                        <a:latin typeface="DM Sans" charset="0"/>
                        <a:ea typeface="DM Sans" charset="0"/>
                        <a:cs typeface="DM Sans" charset="0"/>
                      </a:endParaRPr>
                    </a:p>
                  </a:txBody>
                  <a:tcPr marL="71120" marR="71120" marT="71120" marB="7112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start, stop</a:t>
                      </a:r>
                      <a:endParaRPr lang="en-US" sz="1600" dirty="0">
                        <a:latin typeface="DM Sans" charset="0"/>
                        <a:ea typeface="DM Sans" charset="0"/>
                        <a:cs typeface="DM Sans" charset="0"/>
                      </a:endParaRPr>
                    </a:p>
                  </a:txBody>
                  <a:tcPr marL="71120" marR="71120" marT="71120" marB="7112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range(0, 11, 2)</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0, 2, 4, 6, 8, 10</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third number = step</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range(10, 0, -1)</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10, 9, … 1</a:t>
                      </a:r>
                      <a:endParaRPr lang="en-US" sz="1600" dirty="0">
                        <a:latin typeface="DM Sans" charset="0"/>
                        <a:ea typeface="DM Sans" charset="0"/>
                        <a:cs typeface="DM Sans" charset="0"/>
                      </a:endParaRPr>
                    </a:p>
                  </a:txBody>
                  <a:tcPr marL="71120" marR="71120" marT="71120" marB="7112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negative step counts down</a:t>
                      </a:r>
                      <a:endParaRPr lang="en-US" sz="1600" dirty="0">
                        <a:latin typeface="DM Sans" charset="0"/>
                        <a:ea typeface="DM Sans" charset="0"/>
                        <a:cs typeface="DM Sans" charset="0"/>
                      </a:endParaRPr>
                    </a:p>
                  </a:txBody>
                  <a:tcPr marL="71120" marR="71120" marT="71120" marB="7112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bl>
          </a:graphicData>
        </a:graphic>
      </p:graphicFrame>
      <p:sp>
        <p:nvSpPr>
          <p:cNvPr id="5" name="Text 2"/>
          <p:cNvSpPr/>
          <p:nvPr/>
        </p:nvSpPr>
        <p:spPr>
          <a:xfrm>
            <a:off x="812800" y="4449632"/>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The stop number is </a:t>
            </a:r>
            <a:r>
              <a:rPr lang="en-US" sz="1600" b="1" dirty="0">
                <a:solidFill>
                  <a:srgbClr val="4A5568"/>
                </a:solidFill>
                <a:latin typeface="DM Sans" pitchFamily="34" charset="0"/>
                <a:ea typeface="DM Sans" pitchFamily="34" charset="-122"/>
                <a:cs typeface="DM Sans" pitchFamily="34" charset="-120"/>
              </a:rPr>
              <a:t>never</a:t>
            </a:r>
            <a:r>
              <a:rPr lang="en-US" sz="1600" dirty="0">
                <a:solidFill>
                  <a:srgbClr val="4A5568"/>
                </a:solidFill>
                <a:latin typeface="DM Sans" pitchFamily="34" charset="0"/>
                <a:ea typeface="DM Sans" pitchFamily="34" charset="-122"/>
                <a:cs typeface="DM Sans" pitchFamily="34" charset="-120"/>
              </a:rPr>
              <a:t> included.</a:t>
            </a:r>
            <a:endParaRPr lang="en-US" sz="1600" dirty="0"/>
          </a:p>
        </p:txBody>
      </p:sp>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5: for loops</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EXAMPLE</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Counting down</a:t>
            </a:r>
            <a:endParaRPr lang="en-US" sz="3600" dirty="0"/>
          </a:p>
        </p:txBody>
      </p:sp>
      <p:sp>
        <p:nvSpPr>
          <p:cNvPr id="4" name="Text 2"/>
          <p:cNvSpPr/>
          <p:nvPr/>
        </p:nvSpPr>
        <p:spPr>
          <a:xfrm>
            <a:off x="812800" y="1986229"/>
            <a:ext cx="627888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Code</a:t>
            </a:r>
            <a:endParaRPr lang="en-US" sz="1400" dirty="0"/>
          </a:p>
        </p:txBody>
      </p:sp>
      <p:sp>
        <p:nvSpPr>
          <p:cNvPr id="5" name="Text 3"/>
          <p:cNvSpPr/>
          <p:nvPr/>
        </p:nvSpPr>
        <p:spPr>
          <a:xfrm>
            <a:off x="812800" y="2362135"/>
            <a:ext cx="6096000" cy="1991254"/>
          </a:xfrm>
          <a:prstGeom prst="roundRect">
            <a:avLst>
              <a:gd name="adj" fmla="val 6378"/>
            </a:avLst>
          </a:prstGeom>
          <a:solidFill>
            <a:srgbClr val="1F2A37"/>
          </a:solidFill>
          <a:ln/>
        </p:spPr>
        <p:txBody>
          <a:bodyPr wrap="square" lIns="318403" tIns="267603" rIns="156859" bIns="242203" rtlCol="0" anchor="t">
            <a:normAutofit/>
          </a:bodyPr>
          <a:lstStyle/>
          <a:p>
            <a:pPr algn="l" indent="0" marL="0">
              <a:lnSpc>
                <a:spcPts val="2720"/>
              </a:lnSpc>
              <a:buNone/>
            </a:pPr>
            <a:r>
              <a:rPr lang="en-US" sz="1700" dirty="0">
                <a:solidFill>
                  <a:srgbClr val="8EC1F0"/>
                </a:solidFill>
                <a:latin typeface="JetBrains Mono" pitchFamily="49" charset="0"/>
                <a:ea typeface="JetBrains Mono" pitchFamily="49" charset="-122"/>
                <a:cs typeface="JetBrains Mono" pitchFamily="49" charset="-120"/>
              </a:rPr>
              <a:t>for</a:t>
            </a:r>
            <a:r>
              <a:rPr lang="en-US" sz="1700" dirty="0">
                <a:solidFill>
                  <a:srgbClr val="E8EDF3"/>
                </a:solidFill>
                <a:latin typeface="JetBrains Mono" pitchFamily="49" charset="0"/>
                <a:ea typeface="JetBrains Mono" pitchFamily="49" charset="-122"/>
                <a:cs typeface="JetBrains Mono" pitchFamily="49" charset="-120"/>
              </a:rPr>
              <a:t> i </a:t>
            </a:r>
            <a:r>
              <a:rPr lang="en-US" sz="1700" dirty="0">
                <a:solidFill>
                  <a:srgbClr val="8EC1F0"/>
                </a:solidFill>
                <a:latin typeface="JetBrains Mono" pitchFamily="49" charset="0"/>
                <a:ea typeface="JetBrains Mono" pitchFamily="49" charset="-122"/>
                <a:cs typeface="JetBrains Mono" pitchFamily="49" charset="-120"/>
              </a:rPr>
              <a:t>in</a:t>
            </a:r>
            <a:r>
              <a:rPr lang="en-US" sz="1700" dirty="0">
                <a:solidFill>
                  <a:srgbClr val="E8EDF3"/>
                </a:solidFill>
                <a:latin typeface="JetBrains Mono" pitchFamily="49" charset="0"/>
                <a:ea typeface="JetBrains Mono" pitchFamily="49" charset="-122"/>
                <a:cs typeface="JetBrains Mono" pitchFamily="49" charset="-120"/>
              </a:rPr>
              <a:t> range(5, 0, -1):</a:t>
            </a:r>
            <a:endParaRPr lang="en-US" sz="1700" dirty="0"/>
          </a:p>
          <a:p>
            <a:pPr algn="l" indent="0" marL="0">
              <a:lnSpc>
                <a:spcPts val="2720"/>
              </a:lnSpc>
              <a:buNone/>
            </a:pPr>
            <a:r>
              <a:rPr lang="en-US" sz="1700" dirty="0">
                <a:solidFill>
                  <a:srgbClr val="E8EDF3"/>
                </a:solidFill>
                <a:latin typeface="JetBrains Mono" pitchFamily="49" charset="0"/>
                <a:ea typeface="JetBrains Mono" pitchFamily="49" charset="-122"/>
                <a:cs typeface="JetBrains Mono" pitchFamily="49" charset="-120"/>
              </a:rPr>
              <a:t>    print(i)</a:t>
            </a:r>
            <a:endParaRPr lang="en-US" sz="1700" dirty="0"/>
          </a:p>
          <a:p>
            <a:pPr algn="l" indent="0" marL="0">
              <a:lnSpc>
                <a:spcPts val="2720"/>
              </a:lnSpc>
              <a:buNone/>
            </a:pPr>
            <a:endParaRPr lang="en-US" sz="1700" dirty="0"/>
          </a:p>
          <a:p>
            <a:pPr algn="l" indent="0" marL="0">
              <a:lnSpc>
                <a:spcPts val="2720"/>
              </a:lnSpc>
              <a:buNone/>
            </a:pPr>
            <a:r>
              <a:rPr lang="en-US" sz="1700" dirty="0">
                <a:solidFill>
                  <a:srgbClr val="E8EDF3"/>
                </a:solidFill>
                <a:latin typeface="JetBrains Mono" pitchFamily="49" charset="0"/>
                <a:ea typeface="JetBrains Mono" pitchFamily="49" charset="-122"/>
                <a:cs typeface="JetBrains Mono" pitchFamily="49" charset="-120"/>
              </a:rPr>
              <a:t>print(</a:t>
            </a:r>
            <a:r>
              <a:rPr lang="en-US" sz="1700" dirty="0">
                <a:solidFill>
                  <a:srgbClr val="F2C94C"/>
                </a:solidFill>
                <a:latin typeface="JetBrains Mono" pitchFamily="49" charset="0"/>
                <a:ea typeface="JetBrains Mono" pitchFamily="49" charset="-122"/>
                <a:cs typeface="JetBrains Mono" pitchFamily="49" charset="-120"/>
              </a:rPr>
              <a:t>"Blast off! 🚀"</a:t>
            </a:r>
            <a:r>
              <a:rPr lang="en-US" sz="1700" dirty="0">
                <a:solidFill>
                  <a:srgbClr val="E8EDF3"/>
                </a:solidFill>
                <a:latin typeface="JetBrains Mono" pitchFamily="49" charset="0"/>
                <a:ea typeface="JetBrains Mono" pitchFamily="49" charset="-122"/>
                <a:cs typeface="JetBrains Mono" pitchFamily="49" charset="-120"/>
              </a:rPr>
              <a:t>)</a:t>
            </a:r>
            <a:endParaRPr lang="en-US" sz="1700" dirty="0"/>
          </a:p>
        </p:txBody>
      </p:sp>
      <p:sp>
        <p:nvSpPr>
          <p:cNvPr id="6" name="Text 4"/>
          <p:cNvSpPr/>
          <p:nvPr/>
        </p:nvSpPr>
        <p:spPr>
          <a:xfrm>
            <a:off x="7315200" y="1986229"/>
            <a:ext cx="418592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Output</a:t>
            </a:r>
            <a:endParaRPr lang="en-US" sz="1400" dirty="0"/>
          </a:p>
        </p:txBody>
      </p:sp>
      <p:sp>
        <p:nvSpPr>
          <p:cNvPr id="7" name="Text 5"/>
          <p:cNvSpPr/>
          <p:nvPr/>
        </p:nvSpPr>
        <p:spPr>
          <a:xfrm>
            <a:off x="7315200" y="2362135"/>
            <a:ext cx="4064000" cy="2682081"/>
          </a:xfrm>
          <a:prstGeom prst="roundRect">
            <a:avLst>
              <a:gd name="adj" fmla="val 4735"/>
            </a:avLst>
          </a:prstGeom>
          <a:solidFill>
            <a:srgbClr val="EEF2F6"/>
          </a:solidFill>
          <a:ln/>
        </p:spPr>
        <p:txBody>
          <a:bodyPr wrap="square" lIns="369203" tIns="267603" rIns="219343" bIns="242203" rtlCol="0" anchor="t">
            <a:normAutofit/>
          </a:bodyPr>
          <a:lstStyle/>
          <a:p>
            <a:pPr algn="l" indent="0" marL="0">
              <a:lnSpc>
                <a:spcPts val="2720"/>
              </a:lnSpc>
              <a:buNone/>
            </a:pPr>
            <a:r>
              <a:rPr lang="en-US" sz="1700" dirty="0">
                <a:solidFill>
                  <a:srgbClr val="1F2A37"/>
                </a:solidFill>
                <a:latin typeface="JetBrains Mono" pitchFamily="49" charset="0"/>
                <a:ea typeface="JetBrains Mono" pitchFamily="49" charset="-122"/>
                <a:cs typeface="JetBrains Mono" pitchFamily="49" charset="-120"/>
              </a:rPr>
              <a:t>5</a:t>
            </a:r>
            <a:endParaRPr lang="en-US" sz="1700" dirty="0"/>
          </a:p>
          <a:p>
            <a:pPr algn="l" indent="0" marL="0">
              <a:lnSpc>
                <a:spcPts val="2720"/>
              </a:lnSpc>
              <a:buNone/>
            </a:pPr>
            <a:r>
              <a:rPr lang="en-US" sz="1700" dirty="0">
                <a:solidFill>
                  <a:srgbClr val="1F2A37"/>
                </a:solidFill>
                <a:latin typeface="JetBrains Mono" pitchFamily="49" charset="0"/>
                <a:ea typeface="JetBrains Mono" pitchFamily="49" charset="-122"/>
                <a:cs typeface="JetBrains Mono" pitchFamily="49" charset="-120"/>
              </a:rPr>
              <a:t>4</a:t>
            </a:r>
            <a:endParaRPr lang="en-US" sz="1700" dirty="0"/>
          </a:p>
          <a:p>
            <a:pPr algn="l" indent="0" marL="0">
              <a:lnSpc>
                <a:spcPts val="2720"/>
              </a:lnSpc>
              <a:buNone/>
            </a:pPr>
            <a:r>
              <a:rPr lang="en-US" sz="1700" dirty="0">
                <a:solidFill>
                  <a:srgbClr val="1F2A37"/>
                </a:solidFill>
                <a:latin typeface="JetBrains Mono" pitchFamily="49" charset="0"/>
                <a:ea typeface="JetBrains Mono" pitchFamily="49" charset="-122"/>
                <a:cs typeface="JetBrains Mono" pitchFamily="49" charset="-120"/>
              </a:rPr>
              <a:t>3</a:t>
            </a:r>
            <a:endParaRPr lang="en-US" sz="1700" dirty="0"/>
          </a:p>
          <a:p>
            <a:pPr algn="l" indent="0" marL="0">
              <a:lnSpc>
                <a:spcPts val="2720"/>
              </a:lnSpc>
              <a:buNone/>
            </a:pPr>
            <a:r>
              <a:rPr lang="en-US" sz="1700" dirty="0">
                <a:solidFill>
                  <a:srgbClr val="1F2A37"/>
                </a:solidFill>
                <a:latin typeface="JetBrains Mono" pitchFamily="49" charset="0"/>
                <a:ea typeface="JetBrains Mono" pitchFamily="49" charset="-122"/>
                <a:cs typeface="JetBrains Mono" pitchFamily="49" charset="-120"/>
              </a:rPr>
              <a:t>2</a:t>
            </a:r>
            <a:endParaRPr lang="en-US" sz="1700" dirty="0"/>
          </a:p>
          <a:p>
            <a:pPr algn="l" indent="0" marL="0">
              <a:lnSpc>
                <a:spcPts val="2720"/>
              </a:lnSpc>
              <a:buNone/>
            </a:pPr>
            <a:r>
              <a:rPr lang="en-US" sz="1700" dirty="0">
                <a:solidFill>
                  <a:srgbClr val="1F2A37"/>
                </a:solidFill>
                <a:latin typeface="JetBrains Mono" pitchFamily="49" charset="0"/>
                <a:ea typeface="JetBrains Mono" pitchFamily="49" charset="-122"/>
                <a:cs typeface="JetBrains Mono" pitchFamily="49" charset="-120"/>
              </a:rPr>
              <a:t>1</a:t>
            </a:r>
            <a:endParaRPr lang="en-US" sz="1700" dirty="0"/>
          </a:p>
          <a:p>
            <a:pPr algn="l" indent="0" marL="0">
              <a:lnSpc>
                <a:spcPts val="2720"/>
              </a:lnSpc>
              <a:buNone/>
            </a:pPr>
            <a:r>
              <a:rPr lang="en-US" sz="1700" dirty="0">
                <a:solidFill>
                  <a:srgbClr val="1F2A37"/>
                </a:solidFill>
                <a:latin typeface="JetBrains Mono" pitchFamily="49" charset="0"/>
                <a:ea typeface="JetBrains Mono" pitchFamily="49" charset="-122"/>
                <a:cs typeface="JetBrains Mono" pitchFamily="49" charset="-120"/>
              </a:rPr>
              <a:t>Blast off! 🚀</a:t>
            </a:r>
            <a:endParaRPr lang="en-US" sz="1700" dirty="0"/>
          </a:p>
        </p:txBody>
      </p:sp>
      <p:sp>
        <p:nvSpPr>
          <p:cNvPr id="8" name="Shape 6"/>
          <p:cNvSpPr/>
          <p:nvPr/>
        </p:nvSpPr>
        <p:spPr>
          <a:xfrm>
            <a:off x="7315200" y="2362135"/>
            <a:ext cx="4064000" cy="2682081"/>
          </a:xfrm>
          <a:custGeom>
            <a:avLst/>
            <a:gdLst/>
            <a:ahLst/>
            <a:cxnLst/>
            <a:rect l="l" t="t" r="r" b="b"/>
            <a:pathLst>
              <a:path w="4064000" h="2682081">
                <a:moveTo>
                  <a:pt x="127000" y="2682081"/>
                </a:moveTo>
                <a:lnTo>
                  <a:pt x="127000" y="2682081"/>
                </a:lnTo>
                <a:arcTo hR="127000" wR="127000" stAng="5400000" swAng="5400000"/>
                <a:lnTo>
                  <a:pt x="0" y="127000"/>
                </a:lnTo>
                <a:arcTo hR="127000" wR="127000" stAng="10800000" swAng="5400000"/>
                <a:lnTo>
                  <a:pt x="127000" y="0"/>
                </a:lnTo>
                <a:arcTo hR="127000" wR="76200" stAng="16200000" swAng="-5400000"/>
                <a:lnTo>
                  <a:pt x="50800" y="2555081"/>
                </a:lnTo>
                <a:arcTo hR="127000" wR="76200" stAng="10800000" swAng="-5400000"/>
                <a:close/>
              </a:path>
            </a:pathLst>
          </a:custGeom>
          <a:solidFill>
            <a:srgbClr val="3776AB"/>
          </a:solidFill>
          <a:ln/>
        </p:spPr>
      </p:sp>
      <p:sp>
        <p:nvSpPr>
          <p:cNvPr id="9" name="Text 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5: for loops</a:t>
            </a:r>
            <a:endParaRPr lang="en-US" sz="1200" dirty="0"/>
          </a:p>
        </p:txBody>
      </p:sp>
      <p:sp>
        <p:nvSpPr>
          <p:cNvPr id="10"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LOOPING THROUGH TEXT</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A word is a sequence of letters</a:t>
            </a:r>
            <a:endParaRPr lang="en-US" sz="3600" dirty="0"/>
          </a:p>
        </p:txBody>
      </p:sp>
      <p:sp>
        <p:nvSpPr>
          <p:cNvPr id="4" name="Text 2"/>
          <p:cNvSpPr/>
          <p:nvPr/>
        </p:nvSpPr>
        <p:spPr>
          <a:xfrm>
            <a:off x="812800" y="1986229"/>
            <a:ext cx="627888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Count the vowels</a:t>
            </a:r>
            <a:endParaRPr lang="en-US" sz="1400" dirty="0"/>
          </a:p>
        </p:txBody>
      </p:sp>
      <p:sp>
        <p:nvSpPr>
          <p:cNvPr id="5" name="Text 3"/>
          <p:cNvSpPr/>
          <p:nvPr/>
        </p:nvSpPr>
        <p:spPr>
          <a:xfrm>
            <a:off x="812800" y="2362135"/>
            <a:ext cx="6096000" cy="2387600"/>
          </a:xfrm>
          <a:prstGeom prst="roundRect">
            <a:avLst>
              <a:gd name="adj" fmla="val 5319"/>
            </a:avLst>
          </a:prstGeom>
          <a:solidFill>
            <a:srgbClr val="1F2A37"/>
          </a:solidFill>
          <a:ln/>
        </p:spPr>
        <p:txBody>
          <a:bodyPr wrap="square" lIns="293003" tIns="242203" rIns="129935" bIns="216803" rtlCol="0" anchor="t">
            <a:normAutofit/>
          </a:bodyPr>
          <a:lstStyle/>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word = </a:t>
            </a:r>
            <a:r>
              <a:rPr lang="en-US" sz="1500" dirty="0">
                <a:solidFill>
                  <a:srgbClr val="F2C94C"/>
                </a:solidFill>
                <a:latin typeface="JetBrains Mono" pitchFamily="49" charset="0"/>
                <a:ea typeface="JetBrains Mono" pitchFamily="49" charset="-122"/>
                <a:cs typeface="JetBrains Mono" pitchFamily="49" charset="-120"/>
              </a:rPr>
              <a:t>"programming"</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vowels = 0</a:t>
            </a:r>
            <a:endParaRPr lang="en-US" sz="1500" dirty="0"/>
          </a:p>
          <a:p>
            <a:pPr algn="l" indent="0" marL="0">
              <a:lnSpc>
                <a:spcPts val="2400"/>
              </a:lnSpc>
              <a:buNone/>
            </a:pPr>
            <a:r>
              <a:rPr lang="en-US" sz="1500" dirty="0">
                <a:solidFill>
                  <a:srgbClr val="8EC1F0"/>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letter </a:t>
            </a:r>
            <a:r>
              <a:rPr lang="en-US" sz="1500" dirty="0">
                <a:solidFill>
                  <a:srgbClr val="8EC1F0"/>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word:</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8EC1F0"/>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letter </a:t>
            </a:r>
            <a:r>
              <a:rPr lang="en-US" sz="1500" dirty="0">
                <a:solidFill>
                  <a:srgbClr val="8EC1F0"/>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C94C"/>
                </a:solidFill>
                <a:latin typeface="JetBrains Mono" pitchFamily="49" charset="0"/>
                <a:ea typeface="JetBrains Mono" pitchFamily="49" charset="-122"/>
                <a:cs typeface="JetBrains Mono" pitchFamily="49" charset="-120"/>
              </a:rPr>
              <a:t>"aeiou"</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        vowels += 1</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print(word, </a:t>
            </a:r>
            <a:r>
              <a:rPr lang="en-US" sz="1500" dirty="0">
                <a:solidFill>
                  <a:srgbClr val="F2C94C"/>
                </a:solidFill>
                <a:latin typeface="JetBrains Mono" pitchFamily="49" charset="0"/>
                <a:ea typeface="JetBrains Mono" pitchFamily="49" charset="-122"/>
                <a:cs typeface="JetBrains Mono" pitchFamily="49" charset="-120"/>
              </a:rPr>
              <a:t>"has"</a:t>
            </a:r>
            <a:r>
              <a:rPr lang="en-US" sz="1500" dirty="0">
                <a:solidFill>
                  <a:srgbClr val="E8EDF3"/>
                </a:solidFill>
                <a:latin typeface="JetBrains Mono" pitchFamily="49" charset="0"/>
                <a:ea typeface="JetBrains Mono" pitchFamily="49" charset="-122"/>
                <a:cs typeface="JetBrains Mono" pitchFamily="49" charset="-120"/>
              </a:rPr>
              <a:t>, vowels, </a:t>
            </a:r>
            <a:r>
              <a:rPr lang="en-US" sz="1500" dirty="0">
                <a:solidFill>
                  <a:srgbClr val="F2C94C"/>
                </a:solidFill>
                <a:latin typeface="JetBrains Mono" pitchFamily="49" charset="0"/>
                <a:ea typeface="JetBrains Mono" pitchFamily="49" charset="-122"/>
                <a:cs typeface="JetBrains Mono" pitchFamily="49" charset="-120"/>
              </a:rPr>
              <a:t>"vowels"</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6" name="Text 4"/>
          <p:cNvSpPr/>
          <p:nvPr/>
        </p:nvSpPr>
        <p:spPr>
          <a:xfrm>
            <a:off x="7315200" y="1986229"/>
            <a:ext cx="418592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Output</a:t>
            </a:r>
            <a:endParaRPr lang="en-US" sz="1400" dirty="0"/>
          </a:p>
        </p:txBody>
      </p:sp>
      <p:sp>
        <p:nvSpPr>
          <p:cNvPr id="7" name="Text 5"/>
          <p:cNvSpPr/>
          <p:nvPr/>
        </p:nvSpPr>
        <p:spPr>
          <a:xfrm>
            <a:off x="7315200" y="2362135"/>
            <a:ext cx="4064000" cy="843227"/>
          </a:xfrm>
          <a:prstGeom prst="roundRect">
            <a:avLst>
              <a:gd name="adj" fmla="val 15061"/>
            </a:avLst>
          </a:prstGeom>
          <a:solidFill>
            <a:srgbClr val="EEF2F6"/>
          </a:solidFill>
          <a:ln/>
        </p:spPr>
        <p:txBody>
          <a:bodyPr wrap="square" lIns="318403" tIns="242203" rIns="165495" bIns="216803" rtlCol="0" anchor="t">
            <a:normAutofit/>
          </a:bodyPr>
          <a:lstStyle/>
          <a:p>
            <a:pPr algn="l" indent="0" marL="0">
              <a:lnSpc>
                <a:spcPts val="2240"/>
              </a:lnSpc>
              <a:buNone/>
            </a:pPr>
            <a:r>
              <a:rPr lang="en-US" sz="1400" dirty="0">
                <a:solidFill>
                  <a:srgbClr val="1F2A37"/>
                </a:solidFill>
                <a:latin typeface="JetBrains Mono" pitchFamily="49" charset="0"/>
                <a:ea typeface="JetBrains Mono" pitchFamily="49" charset="-122"/>
                <a:cs typeface="JetBrains Mono" pitchFamily="49" charset="-120"/>
              </a:rPr>
              <a:t>programming has 3 vowels</a:t>
            </a:r>
            <a:endParaRPr lang="en-US" sz="1400" dirty="0"/>
          </a:p>
        </p:txBody>
      </p:sp>
      <p:sp>
        <p:nvSpPr>
          <p:cNvPr id="8" name="Shape 6"/>
          <p:cNvSpPr/>
          <p:nvPr/>
        </p:nvSpPr>
        <p:spPr>
          <a:xfrm>
            <a:off x="7315200" y="2362135"/>
            <a:ext cx="4064000" cy="843227"/>
          </a:xfrm>
          <a:custGeom>
            <a:avLst/>
            <a:gdLst/>
            <a:ahLst/>
            <a:cxnLst/>
            <a:rect l="l" t="t" r="r" b="b"/>
            <a:pathLst>
              <a:path w="4064000" h="843227">
                <a:moveTo>
                  <a:pt x="127000" y="843227"/>
                </a:moveTo>
                <a:lnTo>
                  <a:pt x="127000" y="843227"/>
                </a:lnTo>
                <a:arcTo hR="127000" wR="127000" stAng="5400000" swAng="5400000"/>
                <a:lnTo>
                  <a:pt x="0" y="127000"/>
                </a:lnTo>
                <a:arcTo hR="127000" wR="127000" stAng="10800000" swAng="5400000"/>
                <a:lnTo>
                  <a:pt x="127000" y="0"/>
                </a:lnTo>
                <a:arcTo hR="127000" wR="76200" stAng="16200000" swAng="-5400000"/>
                <a:lnTo>
                  <a:pt x="50800" y="716227"/>
                </a:lnTo>
                <a:arcTo hR="127000" wR="76200" stAng="10800000" swAng="-5400000"/>
                <a:close/>
              </a:path>
            </a:pathLst>
          </a:custGeom>
          <a:solidFill>
            <a:srgbClr val="3776AB"/>
          </a:solidFill>
          <a:ln/>
        </p:spPr>
      </p:sp>
      <p:sp>
        <p:nvSpPr>
          <p:cNvPr id="9" name="Text 7"/>
          <p:cNvSpPr/>
          <p:nvPr/>
        </p:nvSpPr>
        <p:spPr>
          <a:xfrm>
            <a:off x="7315200" y="3332361"/>
            <a:ext cx="418592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DM Sans" pitchFamily="34" charset="0"/>
                <a:ea typeface="DM Sans" pitchFamily="34" charset="-122"/>
                <a:cs typeface="DM Sans" pitchFamily="34" charset="-120"/>
              </a:rPr>
              <a:t>Each round, </a:t>
            </a:r>
            <a:r>
              <a:rPr lang="en-US" sz="1500" b="1" dirty="0">
                <a:solidFill>
                  <a:srgbClr val="4A5568"/>
                </a:solidFill>
                <a:latin typeface="DM Sans" pitchFamily="34" charset="0"/>
                <a:ea typeface="DM Sans" pitchFamily="34" charset="-122"/>
                <a:cs typeface="DM Sans" pitchFamily="34" charset="-120"/>
              </a:rPr>
              <a:t>letter</a:t>
            </a:r>
            <a:r>
              <a:rPr lang="en-US" sz="1500" dirty="0">
                <a:solidFill>
                  <a:srgbClr val="4A5568"/>
                </a:solidFill>
                <a:latin typeface="DM Sans" pitchFamily="34" charset="0"/>
                <a:ea typeface="DM Sans" pitchFamily="34" charset="-122"/>
                <a:cs typeface="DM Sans" pitchFamily="34" charset="-120"/>
              </a:rPr>
              <a:t> holds the next character: p, r, o, g…</a:t>
            </a:r>
            <a:endParaRPr lang="en-US" sz="1500" dirty="0"/>
          </a:p>
        </p:txBody>
      </p:sp>
      <p:sp>
        <p:nvSpPr>
          <p:cNvPr id="10"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5: for loops</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4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THE ACCUMULATOR PATTERN</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Adding things up in a loop</a:t>
            </a:r>
            <a:endParaRPr lang="en-US" sz="3600" dirty="0"/>
          </a:p>
        </p:txBody>
      </p:sp>
      <p:sp>
        <p:nvSpPr>
          <p:cNvPr id="4" name="Text 2"/>
          <p:cNvSpPr/>
          <p:nvPr/>
        </p:nvSpPr>
        <p:spPr>
          <a:xfrm>
            <a:off x="812800" y="2054755"/>
            <a:ext cx="5080000" cy="1910027"/>
          </a:xfrm>
          <a:prstGeom prst="roundRect">
            <a:avLst>
              <a:gd name="adj" fmla="val 6649"/>
            </a:avLst>
          </a:prstGeom>
          <a:solidFill>
            <a:srgbClr val="1F2A37"/>
          </a:solidFill>
          <a:ln/>
        </p:spPr>
        <p:txBody>
          <a:bodyPr wrap="square" lIns="318403" tIns="267603" rIns="187339" bIns="242203" rtlCol="0" anchor="t">
            <a:normAutofit/>
          </a:bodyPr>
          <a:lstStyle/>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total = 0</a:t>
            </a:r>
            <a:endParaRPr lang="en-US" sz="1600" dirty="0"/>
          </a:p>
          <a:p>
            <a:pPr algn="l" indent="0" marL="0">
              <a:lnSpc>
                <a:spcPts val="2560"/>
              </a:lnSpc>
              <a:buNone/>
            </a:pPr>
            <a:r>
              <a:rPr lang="en-US" sz="1600" dirty="0">
                <a:solidFill>
                  <a:srgbClr val="8EC1F0"/>
                </a:solidFill>
                <a:latin typeface="JetBrains Mono" pitchFamily="49" charset="0"/>
                <a:ea typeface="JetBrains Mono" pitchFamily="49" charset="-122"/>
                <a:cs typeface="JetBrains Mono" pitchFamily="49" charset="-120"/>
              </a:rPr>
              <a:t>for</a:t>
            </a:r>
            <a:r>
              <a:rPr lang="en-US" sz="1600" dirty="0">
                <a:solidFill>
                  <a:srgbClr val="E8EDF3"/>
                </a:solidFill>
                <a:latin typeface="JetBrains Mono" pitchFamily="49" charset="0"/>
                <a:ea typeface="JetBrains Mono" pitchFamily="49" charset="-122"/>
                <a:cs typeface="JetBrains Mono" pitchFamily="49" charset="-120"/>
              </a:rPr>
              <a:t> n </a:t>
            </a:r>
            <a:r>
              <a:rPr lang="en-US" sz="1600" dirty="0">
                <a:solidFill>
                  <a:srgbClr val="8EC1F0"/>
                </a:solidFill>
                <a:latin typeface="JetBrains Mono" pitchFamily="49" charset="0"/>
                <a:ea typeface="JetBrains Mono" pitchFamily="49" charset="-122"/>
                <a:cs typeface="JetBrains Mono" pitchFamily="49" charset="-120"/>
              </a:rPr>
              <a:t>in</a:t>
            </a:r>
            <a:r>
              <a:rPr lang="en-US" sz="1600" dirty="0">
                <a:solidFill>
                  <a:srgbClr val="E8EDF3"/>
                </a:solidFill>
                <a:latin typeface="JetBrains Mono" pitchFamily="49" charset="0"/>
                <a:ea typeface="JetBrains Mono" pitchFamily="49" charset="-122"/>
                <a:cs typeface="JetBrains Mono" pitchFamily="49" charset="-120"/>
              </a:rPr>
              <a:t> range(1, 101):</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    total += n</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print(total)  </a:t>
            </a:r>
            <a:r>
              <a:rPr lang="en-US" sz="1600" dirty="0">
                <a:solidFill>
                  <a:srgbClr val="93A1B3"/>
                </a:solidFill>
                <a:latin typeface="JetBrains Mono" pitchFamily="49" charset="0"/>
                <a:ea typeface="JetBrains Mono" pitchFamily="49" charset="-122"/>
                <a:cs typeface="JetBrains Mono" pitchFamily="49" charset="-120"/>
              </a:rPr>
              <a:t># 5050</a:t>
            </a:r>
            <a:endParaRPr lang="en-US" sz="1600" dirty="0"/>
          </a:p>
        </p:txBody>
      </p:sp>
      <p:sp>
        <p:nvSpPr>
          <p:cNvPr id="5" name="Text 3"/>
          <p:cNvSpPr/>
          <p:nvPr/>
        </p:nvSpPr>
        <p:spPr>
          <a:xfrm>
            <a:off x="6302375" y="1989404"/>
            <a:ext cx="5073650" cy="591344"/>
          </a:xfrm>
          <a:prstGeom prst="roundRect">
            <a:avLst>
              <a:gd name="adj" fmla="val 16644"/>
            </a:avLst>
          </a:prstGeom>
          <a:solidFill>
            <a:srgbClr val="FFFFFF"/>
          </a:solidFill>
          <a:ln w="6350">
            <a:solidFill>
              <a:srgbClr val="D5DEE8"/>
            </a:solidFill>
            <a:prstDash val="solid"/>
          </a:ln>
        </p:spPr>
        <p:txBody>
          <a:bodyPr wrap="square" lIns="175431" tIns="124631" rIns="35477" bIns="99231" rtlCol="0" anchor="t">
            <a:normAutofit/>
          </a:bodyPr>
          <a:lstStyle/>
          <a:p>
            <a:pPr algn="l" indent="0" marL="0">
              <a:lnSpc>
                <a:spcPts val="2240"/>
              </a:lnSpc>
              <a:buNone/>
            </a:pPr>
            <a:r>
              <a:rPr lang="en-US" sz="1600" b="1" dirty="0">
                <a:solidFill>
                  <a:srgbClr val="3776AB"/>
                </a:solidFill>
                <a:latin typeface="DM Sans" pitchFamily="34" charset="0"/>
                <a:ea typeface="DM Sans" pitchFamily="34" charset="-122"/>
                <a:cs typeface="DM Sans" pitchFamily="34" charset="-120"/>
              </a:rPr>
              <a:t>1.</a:t>
            </a:r>
            <a:r>
              <a:rPr lang="en-US" sz="1600" dirty="0">
                <a:solidFill>
                  <a:srgbClr val="1F2A37"/>
                </a:solidFill>
                <a:latin typeface="DM Sans" pitchFamily="34" charset="0"/>
                <a:ea typeface="DM Sans" pitchFamily="34" charset="-122"/>
                <a:cs typeface="DM Sans" pitchFamily="34" charset="-120"/>
              </a:rPr>
              <a:t> Start at 0 </a:t>
            </a:r>
            <a:r>
              <a:rPr lang="en-US" sz="1600" b="1" dirty="0">
                <a:solidFill>
                  <a:srgbClr val="1F2A37"/>
                </a:solidFill>
                <a:latin typeface="DM Sans" pitchFamily="34" charset="0"/>
                <a:ea typeface="DM Sans" pitchFamily="34" charset="-122"/>
                <a:cs typeface="DM Sans" pitchFamily="34" charset="-120"/>
              </a:rPr>
              <a:t>before</a:t>
            </a:r>
            <a:r>
              <a:rPr lang="en-US" sz="1600" dirty="0">
                <a:solidFill>
                  <a:srgbClr val="1F2A37"/>
                </a:solidFill>
                <a:latin typeface="DM Sans" pitchFamily="34" charset="0"/>
                <a:ea typeface="DM Sans" pitchFamily="34" charset="-122"/>
                <a:cs typeface="DM Sans" pitchFamily="34" charset="-120"/>
              </a:rPr>
              <a:t> the loop</a:t>
            </a:r>
            <a:endParaRPr lang="en-US" sz="1600" dirty="0"/>
          </a:p>
        </p:txBody>
      </p:sp>
      <p:sp>
        <p:nvSpPr>
          <p:cNvPr id="6" name="Text 4"/>
          <p:cNvSpPr/>
          <p:nvPr/>
        </p:nvSpPr>
        <p:spPr>
          <a:xfrm>
            <a:off x="6302375" y="2714098"/>
            <a:ext cx="5073650" cy="591344"/>
          </a:xfrm>
          <a:prstGeom prst="roundRect">
            <a:avLst>
              <a:gd name="adj" fmla="val 16644"/>
            </a:avLst>
          </a:prstGeom>
          <a:solidFill>
            <a:srgbClr val="FFFFFF"/>
          </a:solidFill>
          <a:ln w="6350">
            <a:solidFill>
              <a:srgbClr val="D5DEE8"/>
            </a:solidFill>
            <a:prstDash val="solid"/>
          </a:ln>
        </p:spPr>
        <p:txBody>
          <a:bodyPr wrap="square" lIns="175431" tIns="124631" rIns="35477" bIns="99231" rtlCol="0" anchor="t">
            <a:normAutofit/>
          </a:bodyPr>
          <a:lstStyle/>
          <a:p>
            <a:pPr algn="l" indent="0" marL="0">
              <a:lnSpc>
                <a:spcPts val="2240"/>
              </a:lnSpc>
              <a:buNone/>
            </a:pPr>
            <a:r>
              <a:rPr lang="en-US" sz="1600" b="1" dirty="0">
                <a:solidFill>
                  <a:srgbClr val="3776AB"/>
                </a:solidFill>
                <a:latin typeface="DM Sans" pitchFamily="34" charset="0"/>
                <a:ea typeface="DM Sans" pitchFamily="34" charset="-122"/>
                <a:cs typeface="DM Sans" pitchFamily="34" charset="-120"/>
              </a:rPr>
              <a:t>2.</a:t>
            </a:r>
            <a:r>
              <a:rPr lang="en-US" sz="1600" dirty="0">
                <a:solidFill>
                  <a:srgbClr val="1F2A37"/>
                </a:solidFill>
                <a:latin typeface="DM Sans" pitchFamily="34" charset="0"/>
                <a:ea typeface="DM Sans" pitchFamily="34" charset="-122"/>
                <a:cs typeface="DM Sans" pitchFamily="34" charset="-120"/>
              </a:rPr>
              <a:t> Add to it </a:t>
            </a:r>
            <a:r>
              <a:rPr lang="en-US" sz="1600" b="1" dirty="0">
                <a:solidFill>
                  <a:srgbClr val="1F2A37"/>
                </a:solidFill>
                <a:latin typeface="DM Sans" pitchFamily="34" charset="0"/>
                <a:ea typeface="DM Sans" pitchFamily="34" charset="-122"/>
                <a:cs typeface="DM Sans" pitchFamily="34" charset="-120"/>
              </a:rPr>
              <a:t>inside</a:t>
            </a:r>
            <a:r>
              <a:rPr lang="en-US" sz="1600" dirty="0">
                <a:solidFill>
                  <a:srgbClr val="1F2A37"/>
                </a:solidFill>
                <a:latin typeface="DM Sans" pitchFamily="34" charset="0"/>
                <a:ea typeface="DM Sans" pitchFamily="34" charset="-122"/>
                <a:cs typeface="DM Sans" pitchFamily="34" charset="-120"/>
              </a:rPr>
              <a:t> the loop</a:t>
            </a:r>
            <a:endParaRPr lang="en-US" sz="1600" dirty="0"/>
          </a:p>
        </p:txBody>
      </p:sp>
      <p:sp>
        <p:nvSpPr>
          <p:cNvPr id="7" name="Text 5"/>
          <p:cNvSpPr/>
          <p:nvPr/>
        </p:nvSpPr>
        <p:spPr>
          <a:xfrm>
            <a:off x="6302375" y="3438792"/>
            <a:ext cx="5073650" cy="591344"/>
          </a:xfrm>
          <a:prstGeom prst="roundRect">
            <a:avLst>
              <a:gd name="adj" fmla="val 16644"/>
            </a:avLst>
          </a:prstGeom>
          <a:solidFill>
            <a:srgbClr val="FFFFFF"/>
          </a:solidFill>
          <a:ln w="6350">
            <a:solidFill>
              <a:srgbClr val="D5DEE8"/>
            </a:solidFill>
            <a:prstDash val="solid"/>
          </a:ln>
        </p:spPr>
        <p:txBody>
          <a:bodyPr wrap="square" lIns="175431" tIns="124631" rIns="35477" bIns="99231" rtlCol="0" anchor="t">
            <a:normAutofit/>
          </a:bodyPr>
          <a:lstStyle/>
          <a:p>
            <a:pPr algn="l" indent="0" marL="0">
              <a:lnSpc>
                <a:spcPts val="2240"/>
              </a:lnSpc>
              <a:buNone/>
            </a:pPr>
            <a:r>
              <a:rPr lang="en-US" sz="1600" b="1" dirty="0">
                <a:solidFill>
                  <a:srgbClr val="3776AB"/>
                </a:solidFill>
                <a:latin typeface="DM Sans" pitchFamily="34" charset="0"/>
                <a:ea typeface="DM Sans" pitchFamily="34" charset="-122"/>
                <a:cs typeface="DM Sans" pitchFamily="34" charset="-120"/>
              </a:rPr>
              <a:t>3.</a:t>
            </a:r>
            <a:r>
              <a:rPr lang="en-US" sz="1600" dirty="0">
                <a:solidFill>
                  <a:srgbClr val="1F2A37"/>
                </a:solidFill>
                <a:latin typeface="DM Sans" pitchFamily="34" charset="0"/>
                <a:ea typeface="DM Sans" pitchFamily="34" charset="-122"/>
                <a:cs typeface="DM Sans" pitchFamily="34" charset="-120"/>
              </a:rPr>
              <a:t> Use it </a:t>
            </a:r>
            <a:r>
              <a:rPr lang="en-US" sz="1600" b="1" dirty="0">
                <a:solidFill>
                  <a:srgbClr val="1F2A37"/>
                </a:solidFill>
                <a:latin typeface="DM Sans" pitchFamily="34" charset="0"/>
                <a:ea typeface="DM Sans" pitchFamily="34" charset="-122"/>
                <a:cs typeface="DM Sans" pitchFamily="34" charset="-120"/>
              </a:rPr>
              <a:t>after</a:t>
            </a:r>
            <a:r>
              <a:rPr lang="en-US" sz="1600" dirty="0">
                <a:solidFill>
                  <a:srgbClr val="1F2A37"/>
                </a:solidFill>
                <a:latin typeface="DM Sans" pitchFamily="34" charset="0"/>
                <a:ea typeface="DM Sans" pitchFamily="34" charset="-122"/>
                <a:cs typeface="DM Sans" pitchFamily="34" charset="-120"/>
              </a:rPr>
              <a:t> the loop</a:t>
            </a:r>
            <a:endParaRPr lang="en-US" sz="1600" dirty="0"/>
          </a:p>
        </p:txBody>
      </p:sp>
      <p:sp>
        <p:nvSpPr>
          <p:cNvPr id="8" name="Text 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5: for loops</a:t>
            </a:r>
            <a:endParaRPr lang="en-US" sz="1200" dirty="0"/>
          </a:p>
        </p:txBody>
      </p:sp>
      <p:sp>
        <p:nvSpPr>
          <p:cNvPr id="9" name="Text 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PATTERNS 🎨</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Drawing with loops</a:t>
            </a:r>
            <a:endParaRPr lang="en-US" sz="3600" dirty="0"/>
          </a:p>
        </p:txBody>
      </p:sp>
      <p:sp>
        <p:nvSpPr>
          <p:cNvPr id="4" name="Text 2"/>
          <p:cNvSpPr/>
          <p:nvPr/>
        </p:nvSpPr>
        <p:spPr>
          <a:xfrm>
            <a:off x="812800" y="1986229"/>
            <a:ext cx="627888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Code</a:t>
            </a:r>
            <a:endParaRPr lang="en-US" sz="1400" dirty="0"/>
          </a:p>
        </p:txBody>
      </p:sp>
      <p:sp>
        <p:nvSpPr>
          <p:cNvPr id="5" name="Text 3"/>
          <p:cNvSpPr/>
          <p:nvPr/>
        </p:nvSpPr>
        <p:spPr>
          <a:xfrm>
            <a:off x="812800" y="2362138"/>
            <a:ext cx="6096000" cy="1259814"/>
          </a:xfrm>
          <a:prstGeom prst="roundRect">
            <a:avLst>
              <a:gd name="adj" fmla="val 10081"/>
            </a:avLst>
          </a:prstGeom>
          <a:solidFill>
            <a:srgbClr val="1F2A37"/>
          </a:solidFill>
          <a:ln/>
        </p:spPr>
        <p:txBody>
          <a:bodyPr wrap="square" lIns="318403" tIns="267603" rIns="156859" bIns="242203" rtlCol="0" anchor="t">
            <a:normAutofit/>
          </a:bodyPr>
          <a:lstStyle/>
          <a:p>
            <a:pPr algn="l" indent="0" marL="0">
              <a:lnSpc>
                <a:spcPts val="2560"/>
              </a:lnSpc>
              <a:buNone/>
            </a:pPr>
            <a:r>
              <a:rPr lang="en-US" sz="1600" dirty="0">
                <a:solidFill>
                  <a:srgbClr val="8EC1F0"/>
                </a:solidFill>
                <a:latin typeface="JetBrains Mono" pitchFamily="49" charset="0"/>
                <a:ea typeface="JetBrains Mono" pitchFamily="49" charset="-122"/>
                <a:cs typeface="JetBrains Mono" pitchFamily="49" charset="-120"/>
              </a:rPr>
              <a:t>for</a:t>
            </a:r>
            <a:r>
              <a:rPr lang="en-US" sz="1600" dirty="0">
                <a:solidFill>
                  <a:srgbClr val="E8EDF3"/>
                </a:solidFill>
                <a:latin typeface="JetBrains Mono" pitchFamily="49" charset="0"/>
                <a:ea typeface="JetBrains Mono" pitchFamily="49" charset="-122"/>
                <a:cs typeface="JetBrains Mono" pitchFamily="49" charset="-120"/>
              </a:rPr>
              <a:t> row </a:t>
            </a:r>
            <a:r>
              <a:rPr lang="en-US" sz="1600" dirty="0">
                <a:solidFill>
                  <a:srgbClr val="8EC1F0"/>
                </a:solidFill>
                <a:latin typeface="JetBrains Mono" pitchFamily="49" charset="0"/>
                <a:ea typeface="JetBrains Mono" pitchFamily="49" charset="-122"/>
                <a:cs typeface="JetBrains Mono" pitchFamily="49" charset="-120"/>
              </a:rPr>
              <a:t>in</a:t>
            </a:r>
            <a:r>
              <a:rPr lang="en-US" sz="1600" dirty="0">
                <a:solidFill>
                  <a:srgbClr val="E8EDF3"/>
                </a:solidFill>
                <a:latin typeface="JetBrains Mono" pitchFamily="49" charset="0"/>
                <a:ea typeface="JetBrains Mono" pitchFamily="49" charset="-122"/>
                <a:cs typeface="JetBrains Mono" pitchFamily="49" charset="-120"/>
              </a:rPr>
              <a:t> range(1, 6):</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    print(</a:t>
            </a:r>
            <a:r>
              <a:rPr lang="en-US" sz="1600" dirty="0">
                <a:solidFill>
                  <a:srgbClr val="F2C94C"/>
                </a:solidFill>
                <a:latin typeface="JetBrains Mono" pitchFamily="49" charset="0"/>
                <a:ea typeface="JetBrains Mono" pitchFamily="49" charset="-122"/>
                <a:cs typeface="JetBrains Mono" pitchFamily="49" charset="-120"/>
              </a:rPr>
              <a:t>"*"</a:t>
            </a:r>
            <a:r>
              <a:rPr lang="en-US" sz="1600" dirty="0">
                <a:solidFill>
                  <a:srgbClr val="E8EDF3"/>
                </a:solidFill>
                <a:latin typeface="JetBrains Mono" pitchFamily="49" charset="0"/>
                <a:ea typeface="JetBrains Mono" pitchFamily="49" charset="-122"/>
                <a:cs typeface="JetBrains Mono" pitchFamily="49" charset="-120"/>
              </a:rPr>
              <a:t> * row)</a:t>
            </a:r>
            <a:endParaRPr lang="en-US" sz="1600" dirty="0"/>
          </a:p>
        </p:txBody>
      </p:sp>
      <p:sp>
        <p:nvSpPr>
          <p:cNvPr id="6" name="Text 4"/>
          <p:cNvSpPr/>
          <p:nvPr/>
        </p:nvSpPr>
        <p:spPr>
          <a:xfrm>
            <a:off x="812800" y="3748949"/>
            <a:ext cx="6278880" cy="301625"/>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4A5568"/>
                </a:solidFill>
                <a:latin typeface="DM Sans" pitchFamily="34" charset="0"/>
                <a:ea typeface="DM Sans" pitchFamily="34" charset="-122"/>
                <a:cs typeface="DM Sans" pitchFamily="34" charset="-120"/>
              </a:rPr>
              <a:t>"*" * 3</a:t>
            </a:r>
            <a:r>
              <a:rPr lang="en-US" sz="1500" dirty="0">
                <a:solidFill>
                  <a:srgbClr val="4A5568"/>
                </a:solidFill>
                <a:latin typeface="DM Sans" pitchFamily="34" charset="0"/>
                <a:ea typeface="DM Sans" pitchFamily="34" charset="-122"/>
                <a:cs typeface="DM Sans" pitchFamily="34" charset="-120"/>
              </a:rPr>
              <a:t> gives </a:t>
            </a:r>
            <a:r>
              <a:rPr lang="en-US" sz="1500" b="1" dirty="0">
                <a:solidFill>
                  <a:srgbClr val="4A5568"/>
                </a:solidFill>
                <a:latin typeface="DM Sans" pitchFamily="34" charset="0"/>
                <a:ea typeface="DM Sans" pitchFamily="34" charset="-122"/>
                <a:cs typeface="DM Sans" pitchFamily="34" charset="-120"/>
              </a:rPr>
              <a:t>***</a:t>
            </a:r>
            <a:r>
              <a:rPr lang="en-US" sz="1500" dirty="0">
                <a:solidFill>
                  <a:srgbClr val="4A5568"/>
                </a:solidFill>
                <a:latin typeface="DM Sans" pitchFamily="34" charset="0"/>
                <a:ea typeface="DM Sans" pitchFamily="34" charset="-122"/>
                <a:cs typeface="DM Sans" pitchFamily="34" charset="-120"/>
              </a:rPr>
              <a:t> — multiplying text repeats it!</a:t>
            </a:r>
            <a:endParaRPr lang="en-US" sz="1500" dirty="0"/>
          </a:p>
        </p:txBody>
      </p:sp>
      <p:sp>
        <p:nvSpPr>
          <p:cNvPr id="7" name="Text 5"/>
          <p:cNvSpPr/>
          <p:nvPr/>
        </p:nvSpPr>
        <p:spPr>
          <a:xfrm>
            <a:off x="812800" y="4152174"/>
            <a:ext cx="627888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DM Sans" pitchFamily="34" charset="0"/>
                <a:ea typeface="DM Sans" pitchFamily="34" charset="-122"/>
                <a:cs typeface="DM Sans" pitchFamily="34" charset="-120"/>
              </a:rPr>
              <a:t>A loop inside a loop is a </a:t>
            </a:r>
            <a:r>
              <a:rPr lang="en-US" sz="1500" b="1" dirty="0">
                <a:solidFill>
                  <a:srgbClr val="4A5568"/>
                </a:solidFill>
                <a:latin typeface="DM Sans" pitchFamily="34" charset="0"/>
                <a:ea typeface="DM Sans" pitchFamily="34" charset="-122"/>
                <a:cs typeface="DM Sans" pitchFamily="34" charset="-120"/>
              </a:rPr>
              <a:t>nested loop</a:t>
            </a:r>
            <a:r>
              <a:rPr lang="en-US" sz="1500" dirty="0">
                <a:solidFill>
                  <a:srgbClr val="4A5568"/>
                </a:solidFill>
                <a:latin typeface="DM Sans" pitchFamily="34" charset="0"/>
                <a:ea typeface="DM Sans" pitchFamily="34" charset="-122"/>
                <a:cs typeface="DM Sans" pitchFamily="34" charset="-120"/>
              </a:rPr>
              <a:t>: the inner loop runs fully for every outer round.</a:t>
            </a:r>
            <a:endParaRPr lang="en-US" sz="1500" dirty="0"/>
          </a:p>
        </p:txBody>
      </p:sp>
      <p:sp>
        <p:nvSpPr>
          <p:cNvPr id="8" name="Text 6"/>
          <p:cNvSpPr/>
          <p:nvPr/>
        </p:nvSpPr>
        <p:spPr>
          <a:xfrm>
            <a:off x="7315200" y="1986229"/>
            <a:ext cx="418592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Output</a:t>
            </a:r>
            <a:endParaRPr lang="en-US" sz="1400" dirty="0"/>
          </a:p>
        </p:txBody>
      </p:sp>
      <p:sp>
        <p:nvSpPr>
          <p:cNvPr id="9" name="Text 7"/>
          <p:cNvSpPr/>
          <p:nvPr/>
        </p:nvSpPr>
        <p:spPr>
          <a:xfrm>
            <a:off x="7315200" y="2362138"/>
            <a:ext cx="4064000" cy="2178050"/>
          </a:xfrm>
          <a:prstGeom prst="roundRect">
            <a:avLst>
              <a:gd name="adj" fmla="val 5831"/>
            </a:avLst>
          </a:prstGeom>
          <a:solidFill>
            <a:srgbClr val="EEF2F6"/>
          </a:solidFill>
          <a:ln/>
        </p:spPr>
        <p:txBody>
          <a:bodyPr wrap="square" lIns="369203" tIns="242203" rIns="219343" bIns="216803" rtlCol="0" anchor="t">
            <a:normAutofit/>
          </a:bodyPr>
          <a:lstStyle/>
          <a:p>
            <a:pPr algn="l" indent="0" marL="0">
              <a:lnSpc>
                <a:spcPts val="2550"/>
              </a:lnSpc>
              <a:buNone/>
            </a:pPr>
            <a:r>
              <a:rPr lang="en-US" sz="1700" dirty="0">
                <a:solidFill>
                  <a:srgbClr val="1F2A37"/>
                </a:solidFill>
                <a:latin typeface="JetBrains Mono" pitchFamily="49" charset="0"/>
                <a:ea typeface="JetBrains Mono" pitchFamily="49" charset="-122"/>
                <a:cs typeface="JetBrains Mono" pitchFamily="49" charset="-120"/>
              </a:rPr>
              <a:t>*</a:t>
            </a:r>
            <a:endParaRPr lang="en-US" sz="1700" dirty="0"/>
          </a:p>
          <a:p>
            <a:pPr algn="l" indent="0" marL="0">
              <a:lnSpc>
                <a:spcPts val="2550"/>
              </a:lnSpc>
              <a:buNone/>
            </a:pPr>
            <a:r>
              <a:rPr lang="en-US" sz="1700" dirty="0">
                <a:solidFill>
                  <a:srgbClr val="1F2A37"/>
                </a:solidFill>
                <a:latin typeface="JetBrains Mono" pitchFamily="49" charset="0"/>
                <a:ea typeface="JetBrains Mono" pitchFamily="49" charset="-122"/>
                <a:cs typeface="JetBrains Mono" pitchFamily="49" charset="-120"/>
              </a:rPr>
              <a:t>**</a:t>
            </a:r>
            <a:endParaRPr lang="en-US" sz="1700" dirty="0"/>
          </a:p>
          <a:p>
            <a:pPr algn="l" indent="0" marL="0">
              <a:lnSpc>
                <a:spcPts val="2550"/>
              </a:lnSpc>
              <a:buNone/>
            </a:pPr>
            <a:r>
              <a:rPr lang="en-US" sz="1700" dirty="0">
                <a:solidFill>
                  <a:srgbClr val="1F2A37"/>
                </a:solidFill>
                <a:latin typeface="JetBrains Mono" pitchFamily="49" charset="0"/>
                <a:ea typeface="JetBrains Mono" pitchFamily="49" charset="-122"/>
                <a:cs typeface="JetBrains Mono" pitchFamily="49" charset="-120"/>
              </a:rPr>
              <a:t>***</a:t>
            </a:r>
            <a:endParaRPr lang="en-US" sz="1700" dirty="0"/>
          </a:p>
          <a:p>
            <a:pPr algn="l" indent="0" marL="0">
              <a:lnSpc>
                <a:spcPts val="2550"/>
              </a:lnSpc>
              <a:buNone/>
            </a:pPr>
            <a:r>
              <a:rPr lang="en-US" sz="1700" dirty="0">
                <a:solidFill>
                  <a:srgbClr val="1F2A37"/>
                </a:solidFill>
                <a:latin typeface="JetBrains Mono" pitchFamily="49" charset="0"/>
                <a:ea typeface="JetBrains Mono" pitchFamily="49" charset="-122"/>
                <a:cs typeface="JetBrains Mono" pitchFamily="49" charset="-120"/>
              </a:rPr>
              <a:t>****</a:t>
            </a:r>
            <a:endParaRPr lang="en-US" sz="1700" dirty="0"/>
          </a:p>
          <a:p>
            <a:pPr algn="l" indent="0" marL="0">
              <a:lnSpc>
                <a:spcPts val="2550"/>
              </a:lnSpc>
              <a:buNone/>
            </a:pPr>
            <a:r>
              <a:rPr lang="en-US" sz="1700" dirty="0">
                <a:solidFill>
                  <a:srgbClr val="1F2A37"/>
                </a:solidFill>
                <a:latin typeface="JetBrains Mono" pitchFamily="49" charset="0"/>
                <a:ea typeface="JetBrains Mono" pitchFamily="49" charset="-122"/>
                <a:cs typeface="JetBrains Mono" pitchFamily="49" charset="-120"/>
              </a:rPr>
              <a:t>*****</a:t>
            </a:r>
            <a:endParaRPr lang="en-US" sz="1700" dirty="0"/>
          </a:p>
        </p:txBody>
      </p:sp>
      <p:sp>
        <p:nvSpPr>
          <p:cNvPr id="10" name="Shape 8"/>
          <p:cNvSpPr/>
          <p:nvPr/>
        </p:nvSpPr>
        <p:spPr>
          <a:xfrm>
            <a:off x="7315200" y="2362138"/>
            <a:ext cx="4064000" cy="2178050"/>
          </a:xfrm>
          <a:custGeom>
            <a:avLst/>
            <a:gdLst/>
            <a:ahLst/>
            <a:cxnLst/>
            <a:rect l="l" t="t" r="r" b="b"/>
            <a:pathLst>
              <a:path w="4064000" h="2178050">
                <a:moveTo>
                  <a:pt x="127000" y="2178050"/>
                </a:moveTo>
                <a:lnTo>
                  <a:pt x="127000" y="2178050"/>
                </a:lnTo>
                <a:arcTo hR="127000" wR="127000" stAng="5400000" swAng="5400000"/>
                <a:lnTo>
                  <a:pt x="0" y="127000"/>
                </a:lnTo>
                <a:arcTo hR="127000" wR="127000" stAng="10800000" swAng="5400000"/>
                <a:lnTo>
                  <a:pt x="127000" y="0"/>
                </a:lnTo>
                <a:arcTo hR="127000" wR="76200" stAng="16200000" swAng="-5400000"/>
                <a:lnTo>
                  <a:pt x="50800" y="2051050"/>
                </a:lnTo>
                <a:arcTo hR="127000" wR="76200" stAng="10800000" swAng="-5400000"/>
                <a:close/>
              </a:path>
            </a:pathLst>
          </a:custGeom>
          <a:solidFill>
            <a:srgbClr val="3776AB"/>
          </a:solidFill>
          <a:ln/>
        </p:spPr>
      </p:sp>
      <p:sp>
        <p:nvSpPr>
          <p:cNvPr id="11" name="Text 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5: for loops</a:t>
            </a:r>
            <a:endParaRPr lang="en-US" sz="1200" dirty="0"/>
          </a:p>
        </p:txBody>
      </p:sp>
      <p:sp>
        <p:nvSpPr>
          <p:cNvPr id="12" name="Text 1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F5F8A"/>
        </a:solidFill>
      </p:bgPr>
    </p:bg>
    <p:spTree>
      <p:nvGrpSpPr>
        <p:cNvPr id="1" name=""/>
        <p:cNvGrpSpPr/>
        <p:nvPr/>
      </p:nvGrpSpPr>
      <p:grpSpPr>
        <a:xfrm>
          <a:off x="0" y="0"/>
          <a:ext cx="0" cy="0"/>
          <a:chOff x="0" y="0"/>
          <a:chExt cx="0" cy="0"/>
        </a:xfrm>
      </p:grpSpPr>
      <p:sp>
        <p:nvSpPr>
          <p:cNvPr id="2" name="Text 0"/>
          <p:cNvSpPr/>
          <p:nvPr/>
        </p:nvSpPr>
        <p:spPr>
          <a:xfrm>
            <a:off x="812800" y="1891773"/>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FE0F1"/>
                </a:solidFill>
                <a:latin typeface="DM Sans" pitchFamily="34" charset="0"/>
                <a:ea typeface="DM Sans" pitchFamily="34" charset="-122"/>
                <a:cs typeface="DM Sans" pitchFamily="34" charset="-120"/>
              </a:rPr>
              <a:t>⚠️ MOST COMMON MISTAKE</a:t>
            </a:r>
            <a:endParaRPr lang="en-US" sz="1200" dirty="0"/>
          </a:p>
        </p:txBody>
      </p:sp>
      <p:sp>
        <p:nvSpPr>
          <p:cNvPr id="3" name="Text 1"/>
          <p:cNvSpPr/>
          <p:nvPr>
            <p:ph type="title"/>
          </p:nvPr>
        </p:nvSpPr>
        <p:spPr>
          <a:xfrm>
            <a:off x="812800" y="2308293"/>
            <a:ext cx="5127752" cy="1945481"/>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AF9F6"/>
                </a:solidFill>
                <a:latin typeface="DM Sans" pitchFamily="34" charset="0"/>
                <a:ea typeface="DM Sans" pitchFamily="34" charset="-122"/>
                <a:cs typeface="DM Sans" pitchFamily="34" charset="-120"/>
              </a:rPr>
              <a:t>The stop number is not included</a:t>
            </a:r>
            <a:endParaRPr lang="en-US" sz="4800" dirty="0"/>
          </a:p>
        </p:txBody>
      </p:sp>
      <p:sp>
        <p:nvSpPr>
          <p:cNvPr id="4" name="Text 2"/>
          <p:cNvSpPr/>
          <p:nvPr/>
        </p:nvSpPr>
        <p:spPr>
          <a:xfrm>
            <a:off x="812800" y="4431574"/>
            <a:ext cx="5127752" cy="356857"/>
          </a:xfrm>
          <a:prstGeom prst="rect">
            <a:avLst/>
          </a:prstGeom>
          <a:noFill/>
          <a:ln/>
        </p:spPr>
        <p:txBody>
          <a:bodyPr wrap="square" lIns="0" tIns="0" rIns="0" bIns="0" rtlCol="0" anchor="t">
            <a:normAutofit/>
          </a:bodyPr>
          <a:lstStyle/>
          <a:p>
            <a:pPr algn="l" indent="0" marL="0">
              <a:lnSpc>
                <a:spcPts val="2610"/>
              </a:lnSpc>
              <a:buNone/>
            </a:pPr>
            <a:r>
              <a:rPr lang="en-US" sz="1800" dirty="0">
                <a:solidFill>
                  <a:srgbClr val="E3ECF6"/>
                </a:solidFill>
                <a:latin typeface="DM Sans" pitchFamily="34" charset="0"/>
                <a:ea typeface="DM Sans" pitchFamily="34" charset="-122"/>
                <a:cs typeface="DM Sans" pitchFamily="34" charset="-120"/>
              </a:rPr>
              <a:t>To count to 10, the stop must be </a:t>
            </a:r>
            <a:r>
              <a:rPr lang="en-US" sz="1800" b="1" dirty="0">
                <a:solidFill>
                  <a:srgbClr val="E3ECF6"/>
                </a:solidFill>
                <a:latin typeface="DM Sans" pitchFamily="34" charset="0"/>
                <a:ea typeface="DM Sans" pitchFamily="34" charset="-122"/>
                <a:cs typeface="DM Sans" pitchFamily="34" charset="-120"/>
              </a:rPr>
              <a:t>11</a:t>
            </a:r>
            <a:r>
              <a:rPr lang="en-US" sz="1800" dirty="0">
                <a:solidFill>
                  <a:srgbClr val="E3ECF6"/>
                </a:solidFill>
                <a:latin typeface="DM Sans" pitchFamily="34" charset="0"/>
                <a:ea typeface="DM Sans" pitchFamily="34" charset="-122"/>
                <a:cs typeface="DM Sans" pitchFamily="34" charset="-120"/>
              </a:rPr>
              <a:t>.</a:t>
            </a:r>
            <a:endParaRPr lang="en-US" sz="1800" dirty="0"/>
          </a:p>
        </p:txBody>
      </p:sp>
      <p:sp>
        <p:nvSpPr>
          <p:cNvPr id="5" name="Text 3"/>
          <p:cNvSpPr/>
          <p:nvPr/>
        </p:nvSpPr>
        <p:spPr>
          <a:xfrm>
            <a:off x="6400800" y="2108268"/>
            <a:ext cx="4978400" cy="2438268"/>
          </a:xfrm>
          <a:prstGeom prst="roundRect">
            <a:avLst>
              <a:gd name="adj" fmla="val 6250"/>
            </a:avLst>
          </a:prstGeom>
          <a:solidFill>
            <a:srgbClr val="1F2A37"/>
          </a:solidFill>
          <a:ln/>
        </p:spPr>
        <p:txBody>
          <a:bodyPr wrap="square" lIns="361764" tIns="310964" rIns="236796" bIns="285564" rtlCol="0" anchor="t">
            <a:normAutofit/>
          </a:bodyPr>
          <a:lstStyle/>
          <a:p>
            <a:pPr algn="l" indent="0" marL="0">
              <a:lnSpc>
                <a:spcPts val="2720"/>
              </a:lnSpc>
              <a:buNone/>
            </a:pPr>
            <a:r>
              <a:rPr lang="en-US" sz="1700" dirty="0">
                <a:solidFill>
                  <a:srgbClr val="E8EDF3"/>
                </a:solidFill>
                <a:latin typeface="JetBrains Mono" pitchFamily="49" charset="0"/>
                <a:ea typeface="JetBrains Mono" pitchFamily="49" charset="-122"/>
                <a:cs typeface="JetBrains Mono" pitchFamily="49" charset="-120"/>
              </a:rPr>
              <a:t>range(1, 10)</a:t>
            </a:r>
            <a:endParaRPr lang="en-US" sz="1700" dirty="0"/>
          </a:p>
          <a:p>
            <a:pPr algn="l" indent="0" marL="0">
              <a:lnSpc>
                <a:spcPts val="2720"/>
              </a:lnSpc>
              <a:buNone/>
            </a:pPr>
            <a:r>
              <a:rPr lang="en-US" sz="1700" dirty="0">
                <a:solidFill>
                  <a:srgbClr val="93A1B3"/>
                </a:solidFill>
                <a:latin typeface="JetBrains Mono" pitchFamily="49" charset="0"/>
                <a:ea typeface="JetBrains Mono" pitchFamily="49" charset="-122"/>
                <a:cs typeface="JetBrains Mono" pitchFamily="49" charset="-120"/>
              </a:rPr>
              <a:t># 1 … 9  ❌</a:t>
            </a:r>
            <a:endParaRPr lang="en-US" sz="1700" dirty="0"/>
          </a:p>
          <a:p>
            <a:pPr algn="l" indent="0" marL="0">
              <a:lnSpc>
                <a:spcPts val="2720"/>
              </a:lnSpc>
              <a:buNone/>
            </a:pPr>
            <a:endParaRPr lang="en-US" sz="1700" dirty="0"/>
          </a:p>
          <a:p>
            <a:pPr algn="l" indent="0" marL="0">
              <a:lnSpc>
                <a:spcPts val="2720"/>
              </a:lnSpc>
              <a:buNone/>
            </a:pPr>
            <a:r>
              <a:rPr lang="en-US" sz="1700" dirty="0">
                <a:solidFill>
                  <a:srgbClr val="E8EDF3"/>
                </a:solidFill>
                <a:latin typeface="JetBrains Mono" pitchFamily="49" charset="0"/>
                <a:ea typeface="JetBrains Mono" pitchFamily="49" charset="-122"/>
                <a:cs typeface="JetBrains Mono" pitchFamily="49" charset="-120"/>
              </a:rPr>
              <a:t>range(1, 11)</a:t>
            </a:r>
            <a:endParaRPr lang="en-US" sz="1700" dirty="0"/>
          </a:p>
          <a:p>
            <a:pPr algn="l" indent="0" marL="0">
              <a:lnSpc>
                <a:spcPts val="2720"/>
              </a:lnSpc>
              <a:buNone/>
            </a:pPr>
            <a:r>
              <a:rPr lang="en-US" sz="1700" dirty="0">
                <a:solidFill>
                  <a:srgbClr val="93A1B3"/>
                </a:solidFill>
                <a:latin typeface="JetBrains Mono" pitchFamily="49" charset="0"/>
                <a:ea typeface="JetBrains Mono" pitchFamily="49" charset="-122"/>
                <a:cs typeface="JetBrains Mono" pitchFamily="49" charset="-120"/>
              </a:rPr>
              <a:t># 1 … 10 ✅</a:t>
            </a:r>
            <a:endParaRPr lang="en-US" sz="1700" dirty="0"/>
          </a:p>
        </p:txBody>
      </p:sp>
      <p:sp>
        <p:nvSpPr>
          <p:cNvPr id="6" name="Text 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E0F1"/>
                </a:solidFill>
                <a:latin typeface="DM Sans" pitchFamily="34" charset="0"/>
                <a:ea typeface="DM Sans" pitchFamily="34" charset="-122"/>
                <a:cs typeface="DM Sans" pitchFamily="34" charset="-120"/>
              </a:rPr>
              <a:t>Python for Beginners · Day 5: for loops</a:t>
            </a:r>
            <a:endParaRPr lang="en-US" sz="1200" dirty="0"/>
          </a:p>
        </p:txBody>
      </p:sp>
      <p:sp>
        <p:nvSpPr>
          <p:cNvPr id="7" name="Text 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FE0F1"/>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WHICH LOOP?</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for or while?</a:t>
            </a:r>
            <a:endParaRPr lang="en-US" sz="3600" dirty="0"/>
          </a:p>
        </p:txBody>
      </p:sp>
      <p:sp>
        <p:nvSpPr>
          <p:cNvPr id="4" name="Shape 2"/>
          <p:cNvSpPr/>
          <p:nvPr/>
        </p:nvSpPr>
        <p:spPr>
          <a:xfrm>
            <a:off x="815975" y="1989404"/>
            <a:ext cx="5124450" cy="2523596"/>
          </a:xfrm>
          <a:prstGeom prst="roundRect">
            <a:avLst>
              <a:gd name="adj" fmla="val 4907"/>
            </a:avLst>
          </a:prstGeom>
          <a:solidFill>
            <a:srgbClr val="FFFFFF"/>
          </a:solidFill>
          <a:ln w="6350">
            <a:solidFill>
              <a:srgbClr val="D5DEE8"/>
            </a:solidFill>
            <a:prstDash val="solid"/>
          </a:ln>
        </p:spPr>
      </p:sp>
      <p:sp>
        <p:nvSpPr>
          <p:cNvPr id="5" name="Text 3"/>
          <p:cNvSpPr/>
          <p:nvPr/>
        </p:nvSpPr>
        <p:spPr>
          <a:xfrm>
            <a:off x="1121833" y="2295265"/>
            <a:ext cx="4648115"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3776AB"/>
                </a:solidFill>
                <a:latin typeface="DM Sans" pitchFamily="34" charset="0"/>
                <a:ea typeface="DM Sans" pitchFamily="34" charset="-122"/>
                <a:cs typeface="DM Sans" pitchFamily="34" charset="-120"/>
              </a:rPr>
              <a:t>Use for when…</a:t>
            </a:r>
            <a:endParaRPr lang="en-US" sz="2200" dirty="0"/>
          </a:p>
        </p:txBody>
      </p:sp>
      <p:sp>
        <p:nvSpPr>
          <p:cNvPr id="6" name="Text 4"/>
          <p:cNvSpPr/>
          <p:nvPr/>
        </p:nvSpPr>
        <p:spPr>
          <a:xfrm>
            <a:off x="1121833" y="2782888"/>
            <a:ext cx="4648115" cy="320014"/>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1F2A37"/>
                </a:solidFill>
                <a:latin typeface="DM Sans" pitchFamily="34" charset="0"/>
                <a:ea typeface="DM Sans" pitchFamily="34" charset="-122"/>
                <a:cs typeface="DM Sans" pitchFamily="34" charset="-120"/>
              </a:rPr>
              <a:t>you know </a:t>
            </a:r>
            <a:r>
              <a:rPr lang="en-US" sz="1600" b="1" dirty="0">
                <a:solidFill>
                  <a:srgbClr val="1F2A37"/>
                </a:solidFill>
                <a:latin typeface="DM Sans" pitchFamily="34" charset="0"/>
                <a:ea typeface="DM Sans" pitchFamily="34" charset="-122"/>
                <a:cs typeface="DM Sans" pitchFamily="34" charset="-120"/>
              </a:rPr>
              <a:t>how many times</a:t>
            </a:r>
            <a:r>
              <a:rPr lang="en-US" sz="1600" dirty="0">
                <a:solidFill>
                  <a:srgbClr val="1F2A37"/>
                </a:solidFill>
                <a:latin typeface="DM Sans" pitchFamily="34" charset="0"/>
                <a:ea typeface="DM Sans" pitchFamily="34" charset="-122"/>
                <a:cs typeface="DM Sans" pitchFamily="34" charset="-120"/>
              </a:rPr>
              <a:t> to repeat</a:t>
            </a:r>
            <a:endParaRPr lang="en-US" sz="1600" dirty="0"/>
          </a:p>
        </p:txBody>
      </p:sp>
      <p:sp>
        <p:nvSpPr>
          <p:cNvPr id="7" name="Text 5"/>
          <p:cNvSpPr/>
          <p:nvPr/>
        </p:nvSpPr>
        <p:spPr>
          <a:xfrm>
            <a:off x="1121833" y="3229905"/>
            <a:ext cx="4648115" cy="320014"/>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1F2A37"/>
                </a:solidFill>
                <a:latin typeface="DM Sans" pitchFamily="34" charset="0"/>
                <a:ea typeface="DM Sans" pitchFamily="34" charset="-122"/>
                <a:cs typeface="DM Sans" pitchFamily="34" charset="-120"/>
              </a:rPr>
              <a:t>you go through </a:t>
            </a:r>
            <a:r>
              <a:rPr lang="en-US" sz="1600" b="1" dirty="0">
                <a:solidFill>
                  <a:srgbClr val="1F2A37"/>
                </a:solidFill>
                <a:latin typeface="DM Sans" pitchFamily="34" charset="0"/>
                <a:ea typeface="DM Sans" pitchFamily="34" charset="-122"/>
                <a:cs typeface="DM Sans" pitchFamily="34" charset="-120"/>
              </a:rPr>
              <a:t>each item</a:t>
            </a:r>
            <a:r>
              <a:rPr lang="en-US" sz="1600" dirty="0">
                <a:solidFill>
                  <a:srgbClr val="1F2A37"/>
                </a:solidFill>
                <a:latin typeface="DM Sans" pitchFamily="34" charset="0"/>
                <a:ea typeface="DM Sans" pitchFamily="34" charset="-122"/>
                <a:cs typeface="DM Sans" pitchFamily="34" charset="-120"/>
              </a:rPr>
              <a:t> of a sequence</a:t>
            </a:r>
            <a:endParaRPr lang="en-US" sz="1600" dirty="0"/>
          </a:p>
        </p:txBody>
      </p:sp>
      <p:sp>
        <p:nvSpPr>
          <p:cNvPr id="8" name="Text 6"/>
          <p:cNvSpPr/>
          <p:nvPr/>
        </p:nvSpPr>
        <p:spPr>
          <a:xfrm>
            <a:off x="1121833" y="3676917"/>
            <a:ext cx="4512733" cy="530225"/>
          </a:xfrm>
          <a:prstGeom prst="roundRect">
            <a:avLst>
              <a:gd name="adj" fmla="val 14371"/>
            </a:avLst>
          </a:prstGeom>
          <a:solidFill>
            <a:srgbClr val="EEF2F6"/>
          </a:solidFill>
          <a:ln/>
        </p:spPr>
        <p:txBody>
          <a:bodyPr wrap="square" lIns="155482" tIns="104682" rIns="30768" bIns="79282" rtlCol="0" anchor="t">
            <a:normAutofit/>
          </a:bodyPr>
          <a:lstStyle/>
          <a:p>
            <a:pPr algn="l" indent="0" marL="0">
              <a:lnSpc>
                <a:spcPts val="2175"/>
              </a:lnSpc>
              <a:buNone/>
            </a:pPr>
            <a:r>
              <a:rPr lang="en-US" sz="1500" dirty="0">
                <a:solidFill>
                  <a:srgbClr val="4A5568"/>
                </a:solidFill>
                <a:latin typeface="DM Sans" pitchFamily="34" charset="0"/>
                <a:ea typeface="DM Sans" pitchFamily="34" charset="-122"/>
                <a:cs typeface="DM Sans" pitchFamily="34" charset="-120"/>
              </a:rPr>
              <a:t>print 10 times · each letter of a word</a:t>
            </a:r>
            <a:endParaRPr lang="en-US" sz="1500" dirty="0"/>
          </a:p>
        </p:txBody>
      </p:sp>
      <p:sp>
        <p:nvSpPr>
          <p:cNvPr id="9" name="Shape 7"/>
          <p:cNvSpPr/>
          <p:nvPr/>
        </p:nvSpPr>
        <p:spPr>
          <a:xfrm>
            <a:off x="6251575" y="1989404"/>
            <a:ext cx="5124450" cy="2523596"/>
          </a:xfrm>
          <a:prstGeom prst="roundRect">
            <a:avLst>
              <a:gd name="adj" fmla="val 4907"/>
            </a:avLst>
          </a:prstGeom>
          <a:solidFill>
            <a:srgbClr val="FFFFFF"/>
          </a:solidFill>
          <a:ln w="6350">
            <a:solidFill>
              <a:srgbClr val="D5DEE8"/>
            </a:solidFill>
            <a:prstDash val="solid"/>
          </a:ln>
        </p:spPr>
      </p:sp>
      <p:sp>
        <p:nvSpPr>
          <p:cNvPr id="10" name="Text 8"/>
          <p:cNvSpPr/>
          <p:nvPr/>
        </p:nvSpPr>
        <p:spPr>
          <a:xfrm>
            <a:off x="6557434" y="2295265"/>
            <a:ext cx="4648115"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3776AB"/>
                </a:solidFill>
                <a:latin typeface="DM Sans" pitchFamily="34" charset="0"/>
                <a:ea typeface="DM Sans" pitchFamily="34" charset="-122"/>
                <a:cs typeface="DM Sans" pitchFamily="34" charset="-120"/>
              </a:rPr>
              <a:t>Use while when…</a:t>
            </a:r>
            <a:endParaRPr lang="en-US" sz="2200" dirty="0"/>
          </a:p>
        </p:txBody>
      </p:sp>
      <p:sp>
        <p:nvSpPr>
          <p:cNvPr id="11" name="Text 9"/>
          <p:cNvSpPr/>
          <p:nvPr/>
        </p:nvSpPr>
        <p:spPr>
          <a:xfrm>
            <a:off x="6557434" y="2782888"/>
            <a:ext cx="4648115" cy="320014"/>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1F2A37"/>
                </a:solidFill>
                <a:latin typeface="DM Sans" pitchFamily="34" charset="0"/>
                <a:ea typeface="DM Sans" pitchFamily="34" charset="-122"/>
                <a:cs typeface="DM Sans" pitchFamily="34" charset="-120"/>
              </a:rPr>
              <a:t>you repeat </a:t>
            </a:r>
            <a:r>
              <a:rPr lang="en-US" sz="1600" b="1" dirty="0">
                <a:solidFill>
                  <a:srgbClr val="1F2A37"/>
                </a:solidFill>
                <a:latin typeface="DM Sans" pitchFamily="34" charset="0"/>
                <a:ea typeface="DM Sans" pitchFamily="34" charset="-122"/>
                <a:cs typeface="DM Sans" pitchFamily="34" charset="-120"/>
              </a:rPr>
              <a:t>until something happens</a:t>
            </a:r>
            <a:endParaRPr lang="en-US" sz="1600" dirty="0"/>
          </a:p>
        </p:txBody>
      </p:sp>
      <p:sp>
        <p:nvSpPr>
          <p:cNvPr id="12" name="Text 10"/>
          <p:cNvSpPr/>
          <p:nvPr/>
        </p:nvSpPr>
        <p:spPr>
          <a:xfrm>
            <a:off x="6557434" y="3229905"/>
            <a:ext cx="4648115" cy="320014"/>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1F2A37"/>
                </a:solidFill>
                <a:latin typeface="DM Sans" pitchFamily="34" charset="0"/>
                <a:ea typeface="DM Sans" pitchFamily="34" charset="-122"/>
                <a:cs typeface="DM Sans" pitchFamily="34" charset="-120"/>
              </a:rPr>
              <a:t>you </a:t>
            </a:r>
            <a:r>
              <a:rPr lang="en-US" sz="1600" b="1" dirty="0">
                <a:solidFill>
                  <a:srgbClr val="1F2A37"/>
                </a:solidFill>
                <a:latin typeface="DM Sans" pitchFamily="34" charset="0"/>
                <a:ea typeface="DM Sans" pitchFamily="34" charset="-122"/>
                <a:cs typeface="DM Sans" pitchFamily="34" charset="-120"/>
              </a:rPr>
              <a:t>don’t know</a:t>
            </a:r>
            <a:r>
              <a:rPr lang="en-US" sz="1600" dirty="0">
                <a:solidFill>
                  <a:srgbClr val="1F2A37"/>
                </a:solidFill>
                <a:latin typeface="DM Sans" pitchFamily="34" charset="0"/>
                <a:ea typeface="DM Sans" pitchFamily="34" charset="-122"/>
                <a:cs typeface="DM Sans" pitchFamily="34" charset="-120"/>
              </a:rPr>
              <a:t> how many times</a:t>
            </a:r>
            <a:endParaRPr lang="en-US" sz="1600" dirty="0"/>
          </a:p>
        </p:txBody>
      </p:sp>
      <p:sp>
        <p:nvSpPr>
          <p:cNvPr id="13" name="Text 11"/>
          <p:cNvSpPr/>
          <p:nvPr/>
        </p:nvSpPr>
        <p:spPr>
          <a:xfrm>
            <a:off x="6557434" y="3676917"/>
            <a:ext cx="4512733" cy="530225"/>
          </a:xfrm>
          <a:prstGeom prst="roundRect">
            <a:avLst>
              <a:gd name="adj" fmla="val 14371"/>
            </a:avLst>
          </a:prstGeom>
          <a:solidFill>
            <a:srgbClr val="EEF2F6"/>
          </a:solidFill>
          <a:ln/>
        </p:spPr>
        <p:txBody>
          <a:bodyPr wrap="square" lIns="155482" tIns="104682" rIns="30768" bIns="79282" rtlCol="0" anchor="t">
            <a:normAutofit/>
          </a:bodyPr>
          <a:lstStyle/>
          <a:p>
            <a:pPr algn="l" indent="0" marL="0">
              <a:lnSpc>
                <a:spcPts val="2175"/>
              </a:lnSpc>
              <a:buNone/>
            </a:pPr>
            <a:r>
              <a:rPr lang="en-US" sz="1500" dirty="0">
                <a:solidFill>
                  <a:srgbClr val="4A5568"/>
                </a:solidFill>
                <a:latin typeface="DM Sans" pitchFamily="34" charset="0"/>
                <a:ea typeface="DM Sans" pitchFamily="34" charset="-122"/>
                <a:cs typeface="DM Sans" pitchFamily="34" charset="-120"/>
              </a:rPr>
              <a:t>keep asking until the password is right</a:t>
            </a:r>
            <a:endParaRPr lang="en-US" sz="1500" dirty="0"/>
          </a:p>
        </p:txBody>
      </p:sp>
      <p:sp>
        <p:nvSpPr>
          <p:cNvPr id="14"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5: for loops</a:t>
            </a:r>
            <a:endParaRPr lang="en-US" sz="1200" dirty="0"/>
          </a:p>
        </p:txBody>
      </p:sp>
      <p:sp>
        <p:nvSpPr>
          <p:cNvPr id="15"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F4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 QUICK CHECK</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Predict before you run!</a:t>
            </a:r>
            <a:endParaRPr lang="en-US" sz="3600" dirty="0"/>
          </a:p>
        </p:txBody>
      </p:sp>
      <p:sp>
        <p:nvSpPr>
          <p:cNvPr id="4" name="Shape 2"/>
          <p:cNvSpPr/>
          <p:nvPr/>
        </p:nvSpPr>
        <p:spPr>
          <a:xfrm>
            <a:off x="815975" y="1989404"/>
            <a:ext cx="3346450" cy="2348905"/>
          </a:xfrm>
          <a:prstGeom prst="roundRect">
            <a:avLst>
              <a:gd name="adj" fmla="val 5272"/>
            </a:avLst>
          </a:prstGeom>
          <a:solidFill>
            <a:srgbClr val="FFFFFF"/>
          </a:solidFill>
          <a:ln w="6350">
            <a:solidFill>
              <a:srgbClr val="D5DEE8"/>
            </a:solidFill>
            <a:prstDash val="solid"/>
          </a:ln>
        </p:spPr>
      </p:sp>
      <p:sp>
        <p:nvSpPr>
          <p:cNvPr id="5" name="Text 3"/>
          <p:cNvSpPr/>
          <p:nvPr/>
        </p:nvSpPr>
        <p:spPr>
          <a:xfrm>
            <a:off x="1071033" y="2244465"/>
            <a:ext cx="292142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7"/>
                </a:solidFill>
                <a:latin typeface="DM Sans" pitchFamily="34" charset="0"/>
                <a:ea typeface="DM Sans" pitchFamily="34" charset="-122"/>
                <a:cs typeface="DM Sans" pitchFamily="34" charset="-120"/>
              </a:rPr>
              <a:t>Q1. Which numbers?</a:t>
            </a:r>
            <a:endParaRPr lang="en-US" sz="1800" dirty="0"/>
          </a:p>
        </p:txBody>
      </p:sp>
      <p:sp>
        <p:nvSpPr>
          <p:cNvPr id="6" name="Text 4"/>
          <p:cNvSpPr/>
          <p:nvPr/>
        </p:nvSpPr>
        <p:spPr>
          <a:xfrm>
            <a:off x="1071033" y="2671167"/>
            <a:ext cx="2836333" cy="640027"/>
          </a:xfrm>
          <a:prstGeom prst="roundRect">
            <a:avLst>
              <a:gd name="adj" fmla="val 13890"/>
            </a:avLst>
          </a:prstGeom>
          <a:solidFill>
            <a:srgbClr val="1F2A37"/>
          </a:solidFill>
          <a:ln/>
        </p:spPr>
        <p:txBody>
          <a:bodyPr wrap="square" lIns="177162" tIns="151762" rIns="104264" bIns="126362" rtlCol="0" anchor="t">
            <a:normAutofit/>
          </a:bodyPr>
          <a:lstStyle/>
          <a:p>
            <a:pPr algn="l" indent="0" marL="0">
              <a:lnSpc>
                <a:spcPts val="2240"/>
              </a:lnSpc>
              <a:buNone/>
            </a:pPr>
            <a:r>
              <a:rPr lang="en-US" sz="1400" dirty="0">
                <a:solidFill>
                  <a:srgbClr val="E8EDF3"/>
                </a:solidFill>
                <a:latin typeface="JetBrains Mono" pitchFamily="49" charset="0"/>
                <a:ea typeface="JetBrains Mono" pitchFamily="49" charset="-122"/>
                <a:cs typeface="JetBrains Mono" pitchFamily="49" charset="-120"/>
              </a:rPr>
              <a:t>range(3, 8)</a:t>
            </a:r>
            <a:endParaRPr lang="en-US" sz="1400" dirty="0"/>
          </a:p>
        </p:txBody>
      </p:sp>
      <p:sp>
        <p:nvSpPr>
          <p:cNvPr id="7" name="Shape 5"/>
          <p:cNvSpPr/>
          <p:nvPr/>
        </p:nvSpPr>
        <p:spPr>
          <a:xfrm>
            <a:off x="4422775" y="1989404"/>
            <a:ext cx="3346450" cy="2348905"/>
          </a:xfrm>
          <a:prstGeom prst="roundRect">
            <a:avLst>
              <a:gd name="adj" fmla="val 5272"/>
            </a:avLst>
          </a:prstGeom>
          <a:solidFill>
            <a:srgbClr val="FFFFFF"/>
          </a:solidFill>
          <a:ln w="6350">
            <a:solidFill>
              <a:srgbClr val="D5DEE8"/>
            </a:solidFill>
            <a:prstDash val="solid"/>
          </a:ln>
        </p:spPr>
      </p:sp>
      <p:sp>
        <p:nvSpPr>
          <p:cNvPr id="8" name="Text 6"/>
          <p:cNvSpPr/>
          <p:nvPr/>
        </p:nvSpPr>
        <p:spPr>
          <a:xfrm>
            <a:off x="4677833" y="2244465"/>
            <a:ext cx="292142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7"/>
                </a:solidFill>
                <a:latin typeface="DM Sans" pitchFamily="34" charset="0"/>
                <a:ea typeface="DM Sans" pitchFamily="34" charset="-122"/>
                <a:cs typeface="DM Sans" pitchFamily="34" charset="-120"/>
              </a:rPr>
              <a:t>Q2. What is printed?</a:t>
            </a:r>
            <a:endParaRPr lang="en-US" sz="1800" dirty="0"/>
          </a:p>
        </p:txBody>
      </p:sp>
      <p:sp>
        <p:nvSpPr>
          <p:cNvPr id="9" name="Text 7"/>
          <p:cNvSpPr/>
          <p:nvPr/>
        </p:nvSpPr>
        <p:spPr>
          <a:xfrm>
            <a:off x="4677833" y="2671167"/>
            <a:ext cx="2836333" cy="1412081"/>
          </a:xfrm>
          <a:prstGeom prst="roundRect">
            <a:avLst>
              <a:gd name="adj" fmla="val 6296"/>
            </a:avLst>
          </a:prstGeom>
          <a:solidFill>
            <a:srgbClr val="1F2A37"/>
          </a:solidFill>
          <a:ln/>
        </p:spPr>
        <p:txBody>
          <a:bodyPr wrap="square" lIns="177162" tIns="151762" rIns="104264" bIns="126362" rtlCol="0" anchor="t">
            <a:normAutofit/>
          </a:bodyPr>
          <a:lstStyle/>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total = 0</a:t>
            </a:r>
            <a:endParaRPr lang="en-US" sz="1300" dirty="0"/>
          </a:p>
          <a:p>
            <a:pPr algn="l" indent="0" marL="0">
              <a:lnSpc>
                <a:spcPts val="2080"/>
              </a:lnSpc>
              <a:buNone/>
            </a:pPr>
            <a:r>
              <a:rPr lang="en-US" sz="1300" dirty="0">
                <a:solidFill>
                  <a:srgbClr val="8EC1F0"/>
                </a:solidFill>
                <a:latin typeface="JetBrains Mono" pitchFamily="49" charset="0"/>
                <a:ea typeface="JetBrains Mono" pitchFamily="49" charset="-122"/>
                <a:cs typeface="JetBrains Mono" pitchFamily="49" charset="-120"/>
              </a:rPr>
              <a:t>for</a:t>
            </a:r>
            <a:r>
              <a:rPr lang="en-US" sz="1300" dirty="0">
                <a:solidFill>
                  <a:srgbClr val="E8EDF3"/>
                </a:solidFill>
                <a:latin typeface="JetBrains Mono" pitchFamily="49" charset="0"/>
                <a:ea typeface="JetBrains Mono" pitchFamily="49" charset="-122"/>
                <a:cs typeface="JetBrains Mono" pitchFamily="49" charset="-120"/>
              </a:rPr>
              <a:t> i </a:t>
            </a:r>
            <a:r>
              <a:rPr lang="en-US" sz="1300" dirty="0">
                <a:solidFill>
                  <a:srgbClr val="8EC1F0"/>
                </a:solidFill>
                <a:latin typeface="JetBrains Mono" pitchFamily="49" charset="0"/>
                <a:ea typeface="JetBrains Mono" pitchFamily="49" charset="-122"/>
                <a:cs typeface="JetBrains Mono" pitchFamily="49" charset="-120"/>
              </a:rPr>
              <a:t>in</a:t>
            </a:r>
            <a:r>
              <a:rPr lang="en-US" sz="1300" dirty="0">
                <a:solidFill>
                  <a:srgbClr val="E8EDF3"/>
                </a:solidFill>
                <a:latin typeface="JetBrains Mono" pitchFamily="49" charset="0"/>
                <a:ea typeface="JetBrains Mono" pitchFamily="49" charset="-122"/>
                <a:cs typeface="JetBrains Mono" pitchFamily="49" charset="-120"/>
              </a:rPr>
              <a:t> range(1, 5):</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    total += i</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print(total)</a:t>
            </a:r>
            <a:endParaRPr lang="en-US" sz="1300" dirty="0"/>
          </a:p>
        </p:txBody>
      </p:sp>
      <p:sp>
        <p:nvSpPr>
          <p:cNvPr id="10" name="Shape 8"/>
          <p:cNvSpPr/>
          <p:nvPr/>
        </p:nvSpPr>
        <p:spPr>
          <a:xfrm>
            <a:off x="8029575" y="1989404"/>
            <a:ext cx="3346450" cy="2348905"/>
          </a:xfrm>
          <a:prstGeom prst="roundRect">
            <a:avLst>
              <a:gd name="adj" fmla="val 5272"/>
            </a:avLst>
          </a:prstGeom>
          <a:solidFill>
            <a:srgbClr val="FFFFFF"/>
          </a:solidFill>
          <a:ln w="6350">
            <a:solidFill>
              <a:srgbClr val="D5DEE8"/>
            </a:solidFill>
            <a:prstDash val="solid"/>
          </a:ln>
        </p:spPr>
      </p:sp>
      <p:sp>
        <p:nvSpPr>
          <p:cNvPr id="11" name="Text 9"/>
          <p:cNvSpPr/>
          <p:nvPr/>
        </p:nvSpPr>
        <p:spPr>
          <a:xfrm>
            <a:off x="8284634" y="2244465"/>
            <a:ext cx="292142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7"/>
                </a:solidFill>
                <a:latin typeface="DM Sans" pitchFamily="34" charset="0"/>
                <a:ea typeface="DM Sans" pitchFamily="34" charset="-122"/>
                <a:cs typeface="DM Sans" pitchFamily="34" charset="-120"/>
              </a:rPr>
              <a:t>Q3. How many “Hi”?</a:t>
            </a:r>
            <a:endParaRPr lang="en-US" sz="1800" dirty="0"/>
          </a:p>
        </p:txBody>
      </p:sp>
      <p:sp>
        <p:nvSpPr>
          <p:cNvPr id="12" name="Text 10"/>
          <p:cNvSpPr/>
          <p:nvPr/>
        </p:nvSpPr>
        <p:spPr>
          <a:xfrm>
            <a:off x="8284634" y="2671167"/>
            <a:ext cx="2836333" cy="1147961"/>
          </a:xfrm>
          <a:prstGeom prst="roundRect">
            <a:avLst>
              <a:gd name="adj" fmla="val 7744"/>
            </a:avLst>
          </a:prstGeom>
          <a:solidFill>
            <a:srgbClr val="1F2A37"/>
          </a:solidFill>
          <a:ln/>
        </p:spPr>
        <p:txBody>
          <a:bodyPr wrap="square" lIns="177162" tIns="151762" rIns="104264" bIns="126362" rtlCol="0" anchor="t">
            <a:normAutofit/>
          </a:bodyPr>
          <a:lstStyle/>
          <a:p>
            <a:pPr algn="l" indent="0" marL="0">
              <a:lnSpc>
                <a:spcPts val="2080"/>
              </a:lnSpc>
              <a:buNone/>
            </a:pPr>
            <a:r>
              <a:rPr lang="en-US" sz="1300" dirty="0">
                <a:solidFill>
                  <a:srgbClr val="8EC1F0"/>
                </a:solidFill>
                <a:latin typeface="JetBrains Mono" pitchFamily="49" charset="0"/>
                <a:ea typeface="JetBrains Mono" pitchFamily="49" charset="-122"/>
                <a:cs typeface="JetBrains Mono" pitchFamily="49" charset="-120"/>
              </a:rPr>
              <a:t>for</a:t>
            </a:r>
            <a:r>
              <a:rPr lang="en-US" sz="1300" dirty="0">
                <a:solidFill>
                  <a:srgbClr val="E8EDF3"/>
                </a:solidFill>
                <a:latin typeface="JetBrains Mono" pitchFamily="49" charset="0"/>
                <a:ea typeface="JetBrains Mono" pitchFamily="49" charset="-122"/>
                <a:cs typeface="JetBrains Mono" pitchFamily="49" charset="-120"/>
              </a:rPr>
              <a:t> i </a:t>
            </a:r>
            <a:r>
              <a:rPr lang="en-US" sz="1300" dirty="0">
                <a:solidFill>
                  <a:srgbClr val="8EC1F0"/>
                </a:solidFill>
                <a:latin typeface="JetBrains Mono" pitchFamily="49" charset="0"/>
                <a:ea typeface="JetBrains Mono" pitchFamily="49" charset="-122"/>
                <a:cs typeface="JetBrains Mono" pitchFamily="49" charset="-120"/>
              </a:rPr>
              <a:t>in</a:t>
            </a:r>
            <a:r>
              <a:rPr lang="en-US" sz="1300" dirty="0">
                <a:solidFill>
                  <a:srgbClr val="E8EDF3"/>
                </a:solidFill>
                <a:latin typeface="JetBrains Mono" pitchFamily="49" charset="0"/>
                <a:ea typeface="JetBrains Mono" pitchFamily="49" charset="-122"/>
                <a:cs typeface="JetBrains Mono" pitchFamily="49" charset="-120"/>
              </a:rPr>
              <a:t> range(3):</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  </a:t>
            </a:r>
            <a:r>
              <a:rPr lang="en-US" sz="1300" dirty="0">
                <a:solidFill>
                  <a:srgbClr val="8EC1F0"/>
                </a:solidFill>
                <a:latin typeface="JetBrains Mono" pitchFamily="49" charset="0"/>
                <a:ea typeface="JetBrains Mono" pitchFamily="49" charset="-122"/>
                <a:cs typeface="JetBrains Mono" pitchFamily="49" charset="-120"/>
              </a:rPr>
              <a:t>for</a:t>
            </a:r>
            <a:r>
              <a:rPr lang="en-US" sz="1300" dirty="0">
                <a:solidFill>
                  <a:srgbClr val="E8EDF3"/>
                </a:solidFill>
                <a:latin typeface="JetBrains Mono" pitchFamily="49" charset="0"/>
                <a:ea typeface="JetBrains Mono" pitchFamily="49" charset="-122"/>
                <a:cs typeface="JetBrains Mono" pitchFamily="49" charset="-120"/>
              </a:rPr>
              <a:t> j </a:t>
            </a:r>
            <a:r>
              <a:rPr lang="en-US" sz="1300" dirty="0">
                <a:solidFill>
                  <a:srgbClr val="8EC1F0"/>
                </a:solidFill>
                <a:latin typeface="JetBrains Mono" pitchFamily="49" charset="0"/>
                <a:ea typeface="JetBrains Mono" pitchFamily="49" charset="-122"/>
                <a:cs typeface="JetBrains Mono" pitchFamily="49" charset="-120"/>
              </a:rPr>
              <a:t>in</a:t>
            </a:r>
            <a:r>
              <a:rPr lang="en-US" sz="1300" dirty="0">
                <a:solidFill>
                  <a:srgbClr val="E8EDF3"/>
                </a:solidFill>
                <a:latin typeface="JetBrains Mono" pitchFamily="49" charset="0"/>
                <a:ea typeface="JetBrains Mono" pitchFamily="49" charset="-122"/>
                <a:cs typeface="JetBrains Mono" pitchFamily="49" charset="-120"/>
              </a:rPr>
              <a:t> range(2):</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    print(</a:t>
            </a:r>
            <a:r>
              <a:rPr lang="en-US" sz="1300" dirty="0">
                <a:solidFill>
                  <a:srgbClr val="F2C94C"/>
                </a:solidFill>
                <a:latin typeface="JetBrains Mono" pitchFamily="49" charset="0"/>
                <a:ea typeface="JetBrains Mono" pitchFamily="49" charset="-122"/>
                <a:cs typeface="JetBrains Mono" pitchFamily="49" charset="-120"/>
              </a:rPr>
              <a:t>"Hi"</a:t>
            </a:r>
            <a:r>
              <a:rPr lang="en-US" sz="1300" dirty="0">
                <a:solidFill>
                  <a:srgbClr val="E8EDF3"/>
                </a:solidFill>
                <a:latin typeface="JetBrains Mono" pitchFamily="49" charset="0"/>
                <a:ea typeface="JetBrains Mono" pitchFamily="49" charset="-122"/>
                <a:cs typeface="JetBrains Mono" pitchFamily="49" charset="-120"/>
              </a:rPr>
              <a:t>)</a:t>
            </a:r>
            <a:endParaRPr lang="en-US" sz="13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5: for loops</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SUMMARY</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What we learned today</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129"/>
          <a:ext cx="10553700" cy="3075384"/>
        </p:xfrm>
        <a:graphic>
          <a:graphicData uri="http://schemas.openxmlformats.org/drawingml/2006/table">
            <a:tbl>
              <a:tblPr/>
              <a:tblGrid>
                <a:gridCol w="4221480"/>
                <a:gridCol w="6332220"/>
              </a:tblGrid>
              <a:tr h="439341">
                <a:tc>
                  <a:txBody>
                    <a:bodyPr/>
                    <a:lstStyle/>
                    <a:p>
                      <a:pPr indent="0" marL="0">
                        <a:lnSpc>
                          <a:spcPts val="2240"/>
                        </a:lnSpc>
                        <a:buNone/>
                      </a:pPr>
                      <a:r>
                        <a:rPr lang="en-US" sz="1600" b="1" dirty="0">
                          <a:solidFill>
                            <a:srgbClr val="1F2A37"/>
                          </a:solidFill>
                          <a:latin typeface="DM Sans" pitchFamily="34" charset="0"/>
                          <a:ea typeface="DM Sans" pitchFamily="34" charset="-122"/>
                          <a:cs typeface="DM Sans" pitchFamily="34" charset="-120"/>
                        </a:rPr>
                        <a:t>Code</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2240"/>
                        </a:lnSpc>
                        <a:buNone/>
                      </a:pPr>
                      <a:r>
                        <a:rPr lang="en-US" sz="1600" b="1" dirty="0">
                          <a:solidFill>
                            <a:srgbClr val="1F2A37"/>
                          </a:solidFill>
                          <a:latin typeface="DM Sans" pitchFamily="34" charset="0"/>
                          <a:ea typeface="DM Sans" pitchFamily="34" charset="-122"/>
                          <a:cs typeface="DM Sans" pitchFamily="34" charset="-120"/>
                        </a:rPr>
                        <a:t>Meaning</a:t>
                      </a:r>
                      <a:endParaRPr lang="en-US" sz="1600" dirty="0">
                        <a:latin typeface="DM Sans" charset="0"/>
                        <a:ea typeface="DM Sans" charset="0"/>
                        <a:cs typeface="DM Sans" charset="0"/>
                      </a:endParaRPr>
                    </a:p>
                  </a:txBody>
                  <a:tcPr marL="71120" marR="71120" marT="71120" marB="7112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for i in range(5):</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repeat 5 times (0 to 4)</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range(1, 11, 2)</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start, stop, step → 1, 3, 5, 7, 9</a:t>
                      </a:r>
                      <a:endParaRPr lang="en-US" sz="1600" dirty="0">
                        <a:latin typeface="DM Sans" charset="0"/>
                        <a:ea typeface="DM Sans" charset="0"/>
                        <a:cs typeface="DM Sans" charset="0"/>
                      </a:endParaRPr>
                    </a:p>
                  </a:txBody>
                  <a:tcPr marL="71120" marR="71120" marT="71120" marB="7112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range(10, 0, -1)</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count down from 10 to 1</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for letter in "hi":</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loop through each letter</a:t>
                      </a:r>
                      <a:endParaRPr lang="en-US" sz="1600" dirty="0">
                        <a:latin typeface="DM Sans" charset="0"/>
                        <a:ea typeface="DM Sans" charset="0"/>
                        <a:cs typeface="DM Sans" charset="0"/>
                      </a:endParaRPr>
                    </a:p>
                  </a:txBody>
                  <a:tcPr marL="71120" marR="71120" marT="71120" marB="7112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total += n</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add up inside a loop</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 * 5</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repeat text → *****</a:t>
                      </a:r>
                      <a:endParaRPr lang="en-US" sz="1600" dirty="0">
                        <a:latin typeface="DM Sans" charset="0"/>
                        <a:ea typeface="DM Sans" charset="0"/>
                        <a:cs typeface="DM Sans" charset="0"/>
                      </a:endParaRPr>
                    </a:p>
                  </a:txBody>
                  <a:tcPr marL="71120" marR="71120" marT="71120" marB="7112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5: for loops</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3776AB"/>
          </a:solidFill>
          <a:ln/>
        </p:spPr>
      </p:sp>
      <p:sp>
        <p:nvSpPr>
          <p:cNvPr id="3" name="Text 1"/>
          <p:cNvSpPr/>
          <p:nvPr/>
        </p:nvSpPr>
        <p:spPr>
          <a:xfrm>
            <a:off x="812800" y="2467639"/>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 YOUR TURN</a:t>
            </a:r>
            <a:endParaRPr lang="en-US" sz="1200" dirty="0"/>
          </a:p>
        </p:txBody>
      </p:sp>
      <p:sp>
        <p:nvSpPr>
          <p:cNvPr id="4" name="Text 2"/>
          <p:cNvSpPr/>
          <p:nvPr>
            <p:ph type="title"/>
          </p:nvPr>
        </p:nvSpPr>
        <p:spPr>
          <a:xfrm>
            <a:off x="812800" y="2884159"/>
            <a:ext cx="5127752" cy="665427"/>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F2A37"/>
                </a:solidFill>
                <a:latin typeface="DM Sans" pitchFamily="34" charset="0"/>
                <a:ea typeface="DM Sans" pitchFamily="34" charset="-122"/>
                <a:cs typeface="DM Sans" pitchFamily="34" charset="-120"/>
              </a:rPr>
              <a:t>Practice time!</a:t>
            </a:r>
            <a:endParaRPr lang="en-US" sz="4800" dirty="0"/>
          </a:p>
        </p:txBody>
      </p:sp>
      <p:sp>
        <p:nvSpPr>
          <p:cNvPr id="5" name="Text 3"/>
          <p:cNvSpPr/>
          <p:nvPr/>
        </p:nvSpPr>
        <p:spPr>
          <a:xfrm>
            <a:off x="812800" y="3727388"/>
            <a:ext cx="5127752" cy="688314"/>
          </a:xfrm>
          <a:prstGeom prst="rect">
            <a:avLst/>
          </a:prstGeom>
          <a:noFill/>
          <a:ln/>
        </p:spPr>
        <p:txBody>
          <a:bodyPr wrap="square" lIns="0" tIns="0" rIns="0" bIns="0" rtlCol="0" anchor="t">
            <a:normAutofit/>
          </a:bodyPr>
          <a:lstStyle/>
          <a:p>
            <a:pPr algn="l" indent="0" marL="0">
              <a:lnSpc>
                <a:spcPts val="2610"/>
              </a:lnSpc>
              <a:buNone/>
            </a:pPr>
            <a:r>
              <a:rPr lang="en-US" sz="1800" dirty="0">
                <a:solidFill>
                  <a:srgbClr val="4A5568"/>
                </a:solidFill>
                <a:latin typeface="DM Sans" pitchFamily="34" charset="0"/>
                <a:ea typeface="DM Sans" pitchFamily="34" charset="-122"/>
                <a:cs typeface="DM Sans" pitchFamily="34" charset="-120"/>
              </a:rPr>
              <a:t>Open </a:t>
            </a:r>
            <a:r>
              <a:rPr lang="en-US" sz="1800" b="1" dirty="0">
                <a:solidFill>
                  <a:srgbClr val="4A5568"/>
                </a:solidFill>
                <a:latin typeface="DM Sans" pitchFamily="34" charset="0"/>
                <a:ea typeface="DM Sans" pitchFamily="34" charset="-122"/>
                <a:cs typeface="DM Sans" pitchFamily="34" charset="-120"/>
              </a:rPr>
              <a:t>exercises.ipynb</a:t>
            </a:r>
            <a:r>
              <a:rPr lang="en-US" sz="1800" dirty="0">
                <a:solidFill>
                  <a:srgbClr val="4A5568"/>
                </a:solidFill>
                <a:latin typeface="DM Sans" pitchFamily="34" charset="0"/>
                <a:ea typeface="DM Sans" pitchFamily="34" charset="-122"/>
                <a:cs typeface="DM Sans" pitchFamily="34" charset="-120"/>
              </a:rPr>
              <a:t> in the Day 5 folder and solve the 10 tasks, from ⭐ to ⭐⭐⭐.</a:t>
            </a:r>
            <a:endParaRPr lang="en-US" sz="1800" dirty="0"/>
          </a:p>
        </p:txBody>
      </p:sp>
      <p:sp>
        <p:nvSpPr>
          <p:cNvPr id="6" name="Text 4"/>
          <p:cNvSpPr/>
          <p:nvPr/>
        </p:nvSpPr>
        <p:spPr>
          <a:xfrm>
            <a:off x="6403975" y="1910823"/>
            <a:ext cx="4972050" cy="642144"/>
          </a:xfrm>
          <a:prstGeom prst="roundRect">
            <a:avLst>
              <a:gd name="adj" fmla="val 15328"/>
            </a:avLst>
          </a:prstGeom>
          <a:solidFill>
            <a:srgbClr val="FFFFFF"/>
          </a:solidFill>
          <a:ln w="6350">
            <a:solidFill>
              <a:srgbClr val="D5DEE8"/>
            </a:solidFill>
            <a:prstDash val="solid"/>
          </a:ln>
        </p:spPr>
        <p:txBody>
          <a:bodyPr wrap="square" lIns="200831" tIns="150031" rIns="65449" bIns="124631"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 Multiples of 5 up to 50</a:t>
            </a:r>
            <a:endParaRPr lang="en-US" sz="1600" dirty="0"/>
          </a:p>
        </p:txBody>
      </p:sp>
      <p:sp>
        <p:nvSpPr>
          <p:cNvPr id="7" name="Text 5"/>
          <p:cNvSpPr/>
          <p:nvPr/>
        </p:nvSpPr>
        <p:spPr>
          <a:xfrm>
            <a:off x="6403975" y="2711717"/>
            <a:ext cx="4972050" cy="642144"/>
          </a:xfrm>
          <a:prstGeom prst="roundRect">
            <a:avLst>
              <a:gd name="adj" fmla="val 15328"/>
            </a:avLst>
          </a:prstGeom>
          <a:solidFill>
            <a:srgbClr val="FFFFFF"/>
          </a:solidFill>
          <a:ln w="6350">
            <a:solidFill>
              <a:srgbClr val="D5DEE8"/>
            </a:solidFill>
            <a:prstDash val="solid"/>
          </a:ln>
        </p:spPr>
        <p:txBody>
          <a:bodyPr wrap="square" lIns="200831" tIns="150031" rIns="65449" bIns="124631"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 Class average and highest score</a:t>
            </a:r>
            <a:endParaRPr lang="en-US" sz="1600" dirty="0"/>
          </a:p>
        </p:txBody>
      </p:sp>
      <p:sp>
        <p:nvSpPr>
          <p:cNvPr id="8" name="Text 6"/>
          <p:cNvSpPr/>
          <p:nvPr/>
        </p:nvSpPr>
        <p:spPr>
          <a:xfrm>
            <a:off x="6403975" y="3512610"/>
            <a:ext cx="4972050" cy="642144"/>
          </a:xfrm>
          <a:prstGeom prst="roundRect">
            <a:avLst>
              <a:gd name="adj" fmla="val 15328"/>
            </a:avLst>
          </a:prstGeom>
          <a:solidFill>
            <a:srgbClr val="FFFFFF"/>
          </a:solidFill>
          <a:ln w="6350">
            <a:solidFill>
              <a:srgbClr val="D5DEE8"/>
            </a:solidFill>
            <a:prstDash val="solid"/>
          </a:ln>
        </p:spPr>
        <p:txBody>
          <a:bodyPr wrap="square" lIns="200831" tIns="150031" rIns="65449" bIns="124631"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 Prime number finder 🔍</a:t>
            </a:r>
            <a:endParaRPr lang="en-US" sz="1600" dirty="0"/>
          </a:p>
        </p:txBody>
      </p:sp>
      <p:sp>
        <p:nvSpPr>
          <p:cNvPr id="9" name="Text 7"/>
          <p:cNvSpPr/>
          <p:nvPr/>
        </p:nvSpPr>
        <p:spPr>
          <a:xfrm>
            <a:off x="6400800" y="4310329"/>
            <a:ext cx="4978400" cy="640027"/>
          </a:xfrm>
          <a:prstGeom prst="roundRect">
            <a:avLst>
              <a:gd name="adj" fmla="val 15874"/>
            </a:avLst>
          </a:prstGeom>
          <a:solidFill>
            <a:srgbClr val="E3ECF6"/>
          </a:solidFill>
          <a:ln/>
        </p:spPr>
        <p:txBody>
          <a:bodyPr wrap="square" lIns="198842" tIns="148042" rIns="63206" bIns="122642" rtlCol="0" anchor="t">
            <a:normAutofit/>
          </a:bodyPr>
          <a:lstStyle/>
          <a:p>
            <a:pPr algn="l" indent="0" marL="0">
              <a:lnSpc>
                <a:spcPts val="2240"/>
              </a:lnSpc>
              <a:buNone/>
            </a:pPr>
            <a:r>
              <a:rPr lang="en-US" sz="1600" b="1" dirty="0">
                <a:solidFill>
                  <a:srgbClr val="1F2A37"/>
                </a:solidFill>
                <a:latin typeface="DM Sans" pitchFamily="34" charset="0"/>
                <a:ea typeface="DM Sans" pitchFamily="34" charset="-122"/>
                <a:cs typeface="DM Sans" pitchFamily="34" charset="-120"/>
              </a:rPr>
              <a:t>Next lesson:</a:t>
            </a:r>
            <a:r>
              <a:rPr lang="en-US" sz="1600" dirty="0">
                <a:solidFill>
                  <a:srgbClr val="1F2A37"/>
                </a:solidFill>
                <a:latin typeface="DM Sans" pitchFamily="34" charset="0"/>
                <a:ea typeface="DM Sans" pitchFamily="34" charset="-122"/>
                <a:cs typeface="DM Sans" pitchFamily="34" charset="-120"/>
              </a:rPr>
              <a:t> Strings 🔤</a:t>
            </a:r>
            <a:endParaRPr lang="en-US" sz="1600" dirty="0"/>
          </a:p>
        </p:txBody>
      </p:sp>
    </p:spTree>
  </p:cSld>
  <p:clrMapOvr>
    <a:masterClrMapping/>
  </p:clrMapOvr>
</p:sld>
</file>

<file path=ppt/theme/theme1.xml><?xml version="1.0" encoding="utf-8"?>
<a:theme xmlns:a="http://schemas.openxmlformats.org/drawingml/2006/main" name="Day 5 — For Loops and range()">
  <a:themeElements>
    <a:clrScheme name="Day 5 — For Loops and range()">
      <a:dk1>
        <a:srgbClr val="1F2A37"/>
      </a:dk1>
      <a:lt1>
        <a:srgbClr val="FAF9F6"/>
      </a:lt1>
      <a:dk2>
        <a:srgbClr val="565E67"/>
      </a:dk2>
      <a:lt2>
        <a:srgbClr val="E4E4E3"/>
      </a:lt2>
      <a:accent1>
        <a:srgbClr val="3776AB"/>
      </a:accent1>
      <a:accent2>
        <a:srgbClr val="2F5F8A"/>
      </a:accent2>
      <a:accent3>
        <a:srgbClr val="8A94A3"/>
      </a:accent3>
      <a:accent4>
        <a:srgbClr val="4A5568"/>
      </a:accent4>
      <a:accent5>
        <a:srgbClr val="CFE0F1"/>
      </a:accent5>
      <a:accent6>
        <a:srgbClr val="9AA0A6"/>
      </a:accent6>
      <a:hlink>
        <a:srgbClr val="0563C1"/>
      </a:hlink>
      <a:folHlink>
        <a:srgbClr val="954F72"/>
      </a:folHlink>
    </a:clrScheme>
    <a:fontScheme name="Day 5 — For Loops and range()">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5 — For Loops and range()</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2026-10-24T05:09:11Z</dcterms:created>
  <dcterms:modified xsi:type="dcterms:W3CDTF">2026-10-24T05:09:11Z</dcterms:modified>
</cp:coreProperties>
</file>